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Calibri"/>
              </a:defRPr>
            </a:pPr>
            <a:r>
              <a:rPr lang="en-IN" sz="1200" b="0" i="0" u="none" strike="noStrike">
                <a:solidFill>
                  <a:srgbClr val="000000"/>
                </a:solidFill>
                <a:latin typeface="Calibri"/>
              </a:rPr>
              <a:t>Clock Rate Comparison</a:t>
            </a:r>
          </a:p>
        </c:rich>
      </c:tx>
      <c:overlay val="0"/>
    </c:title>
    <c:autoTitleDeleted val="0"/>
    <c:plotArea>
      <c:layout/>
      <c:barChart>
        <c:barDir val="col"/>
        <c:grouping val="clustered"/>
        <c:varyColors val="0"/>
        <c:ser>
          <c:idx val="0"/>
          <c:order val="0"/>
          <c:tx>
            <c:strRef>
              <c:f>Sheet1!$B$1</c:f>
              <c:strCache>
                <c:ptCount val="1"/>
                <c:pt idx="0">
                  <c:v>Relative Clock Rate (GHz, normalized)</c:v>
                </c:pt>
              </c:strCache>
            </c:strRef>
          </c:tx>
          <c:spPr>
            <a:solidFill>
              <a:srgbClr val="3E7CB1"/>
            </a:solidFill>
            <a:effectLst/>
          </c:spPr>
          <c:invertIfNegative val="0"/>
          <c:dLbls>
            <c:numFmt formatCode="0.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Mobile SoC</c:v>
                </c:pt>
                <c:pt idx="1">
                  <c:v>Desktop CPU</c:v>
                </c:pt>
              </c:strCache>
            </c:strRef>
          </c:cat>
          <c:val>
            <c:numRef>
              <c:f>Sheet1!$B$2:$B$3</c:f>
              <c:numCache>
                <c:formatCode>General</c:formatCode>
                <c:ptCount val="2"/>
                <c:pt idx="0">
                  <c:v>2.8</c:v>
                </c:pt>
                <c:pt idx="1">
                  <c:v>5</c:v>
                </c:pt>
              </c:numCache>
            </c:numRef>
          </c:val>
          <c:extLst>
            <c:ext xmlns:c16="http://schemas.microsoft.com/office/drawing/2014/chart" uri="{C3380CC4-5D6E-409C-BE32-E72D297353CC}">
              <c16:uniqueId val="{00000000-22DA-42C9-AA18-DCFC8D3B0A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DE4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Calibri"/>
              </a:defRPr>
            </a:pPr>
            <a:r>
              <a:rPr lang="en-US" sz="1200" b="0" i="0" u="none" strike="noStrike">
                <a:solidFill>
                  <a:srgbClr val="000000"/>
                </a:solidFill>
                <a:latin typeface="Calibri"/>
              </a:rPr>
              <a:t>Lower is Better — Execution Time (ns)</a:t>
            </a:r>
          </a:p>
        </c:rich>
      </c:tx>
      <c:overlay val="0"/>
    </c:title>
    <c:autoTitleDeleted val="0"/>
    <c:plotArea>
      <c:layout/>
      <c:barChart>
        <c:barDir val="col"/>
        <c:grouping val="clustered"/>
        <c:varyColors val="0"/>
        <c:ser>
          <c:idx val="0"/>
          <c:order val="0"/>
          <c:tx>
            <c:strRef>
              <c:f>Sheet1!$B$1</c:f>
              <c:strCache>
                <c:ptCount val="1"/>
                <c:pt idx="0">
                  <c:v>CPU Time (ns)</c:v>
                </c:pt>
              </c:strCache>
            </c:strRef>
          </c:tx>
          <c:spPr>
            <a:solidFill>
              <a:srgbClr val="00C2CB"/>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Design A</c:v>
                </c:pt>
                <c:pt idx="1">
                  <c:v>Design B</c:v>
                </c:pt>
              </c:strCache>
            </c:strRef>
          </c:cat>
          <c:val>
            <c:numRef>
              <c:f>Sheet1!$B$2:$B$3</c:f>
              <c:numCache>
                <c:formatCode>General</c:formatCode>
                <c:ptCount val="2"/>
                <c:pt idx="0">
                  <c:v>40000</c:v>
                </c:pt>
                <c:pt idx="1">
                  <c:v>30000</c:v>
                </c:pt>
              </c:numCache>
            </c:numRef>
          </c:val>
          <c:extLst>
            <c:ext xmlns:c16="http://schemas.microsoft.com/office/drawing/2014/chart" uri="{C3380CC4-5D6E-409C-BE32-E72D297353CC}">
              <c16:uniqueId val="{00000000-F117-402E-9476-B70586E6C7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DE4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320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as they settle in. Introduce yourself, the course code CSS2257, and briefly state that today's lecture builds the mathematical foundation for reasoning about processor speed: the Basic Performance Equation, then extends it into pipelining concepts -- stalls, penalties, and the number of pipeline stages. Mention this is foundational for every later topic in Computer Organization and Architecture, including cache design and multicore performance. Keep energy high and pace brisk since this sets the tone for the full hour.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to orient students to the course context: this is CSS2257, Computer Organization and Architecture, taught within the Department of AI and Robotics under PSAIAC. Explain briefly why architecture matters even for AI and Robotics students -- every model they train, every robot controller they write, ultimately runs on hardware whose speed is governed by exactly the principles covered today. This framing helps freshers see relevance beyond a 'core CS' subject.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at a natural pace, framing them as skills rather than facts. Tell students these five objectives map directly onto the numerical problems and quiz at the end, so if they can do those problems confidently, they have mastered today's session. Encourage them to keep a notebook open for the formulas, since we will build up to the full performance equation step by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raise hands after thinking for 20 seconds. Take 2-3 quick verbal responses from volunteers -- do not let this run long. Most students will mention clock speed (GHz) or RAM. Acknowledge every answer positively, then say: 'Great instincts -- today we will find out that clock speed alone never tells the full story. There is a precise equation that explains exactly why one machine feels faster than another.' Use their answers to segue directly into the motivation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light rhetorical icebreaker -- pose the question and let a couple of students answer quickly (journey takes longer, obviously). Do not spend more than a minute here. Use it purely as a bridge: point out that the everyday word 'stall' is exactly the technical word we will use later in the lecture when a pipeline stage has to wait. This plants the vocabulary early so it feels familiar when it reappears formally.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raw clock speed comparisons are a trap freshers commonly fall into -- a 2019 phone at 2.8GHz can outperform an older 3.2GHz laptop chip because of architecture and instruction efficiency. Give a concrete example: a mid-range smartphone SoC versus an older desktop CPU, and note how CPI and instruction count differences dominate. Emphasize that engineers at companies designing chips or AI accelerators use exactly this equation, scaled up, to make billion-dollar design trade-offs.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Freshers often have never formally seen instruction execution, so ground this in the fetch-decode-execute cycle briefly without going too deep -- that is a topic for another lecture. Use the recipe analogy: a program is a recipe, instructions are steps, and the clock is like a metronome or kitchen timer keeping everyone in sync. Reassure them: 'You don't need to know assembly language today -- you only need to know that a program is a sequence of steps, and each step costs time.' This sets up the next three slides on clock cycle time, instruction count, and CPI.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f = 1/Tc on the board and walk through the 2 GHz example live: Tc = 1 / (2 x 10^9 Hz) = 0.5 x 10^-9 seconds = 0.5 nanoseconds. Ask a quick check-your-understanding question: 'If a processor runs at 4 GHz, what is its cycle time?' Let a student answer (0.25 ns) before moving on. Emphasize that clock rate alone, like a car's engine RPM, tells you nothing about how far the car actually travels per minute -- that depends on how many 'revolutions' each useful action takes.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very common fresher misconception that instruction count equals lines of source code. Give a small example: a single C statement like 'c = a + b * d;' may compile into a load, a multiply, an add, and a store -- four machine instructions from one source line. Mention that compilers optimize IC through techniques like loop unrolling or instruction selection, and that different ISAs (CISC vs RISC) can produce very different instruction counts for the same algorithm. Keep this connected to their future courses -- IC is why compiler optimization matters for performance.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worked mini-example on the slide live: with 50% of instructions costing 1 cycle and 50% costing 3 cycles, average CPI = 0.5x1 + 0.5x3 = 2. Stress that CPI is a weighted average across the whole program's instruction mix, not a fixed hardware constant -- the same processor can show different CPI values for different programs depending on which instruction types dominate. This naturally sets up the idea that stalls will later increase this CPI beyond its 'ideal' value.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formula of the entire lecture -- write it large and clear, and have students copy it down. Say it out loud slowly: 'CPU time equals Instruction Count, times CPI, times Clock Cycle Time.' Point to each term as you say it. Note the units check: IC is a pure count (instructions), CPI is cycles per instruction, and Tc is seconds per cycle -- when multiplied, instructions cancel with instructions and cycles cancel with cycles, leaving pure seconds. This unit-cancellation trick is a great way to help freshers verify they remember the formula correctly.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formula on the board rather than just stating it -- freshers retain formulas far better when they see where they come from. Start from 'total clock cycles = IC times CPI' and build up. Show the alternate form using clock rate f = 1/Tc, since some textbooks and exam questions present it that way. Do the units-check explicitly: instructions cancel, cycles cancel, leaving seconds -- this dimensional-analysis trick is something students can use to catch formula mistakes for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flow diagram to reinforce the equation spatially: a program flows left to right through three multiplying factors -- IC, CPI, and Tc -- to produce total CPU time. Point out that improving performance means attacking one or more of these three levers: reduce IC (better compiler/algorithm), reduce CPI (better microarchitecture, pipelining), or reduce Tc (higher clock rate, though this has physical limits). This diagram is a good one for students to sketch in their notes as a memory aid.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three variables in the equation are not arbitrary -- each is owned by a different community of engineers: chip fabrication teams control clock rate limits, computer architects control CPI through pipelining and caching, and compiler/ISA designers control instruction count. Emphasize the key insight: a brilliant compiler cannot save a badly pipelined chip, and a fast clock cannot save a program full of cache misses. Real performance engineering means all three layers must be considered together -- this is why computer architecture is a genuinely interdisciplinary field.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historical story of the 'Megahertz Myth' from the early 2000s -- Intel's Pentium 4 was marketed heavily on raw clock speed, while AMD's Athlon and later processors often won real-world benchmarks despite lower advertised GHz, because their pipeline design gave better CPI on typical code. This is a great real anecdote for freshers because it is concrete and shows the equation in action in a marketing battle they can look up. Reinforce: reviewers today always benchmark actual applications, precisely because Tc alone is not the whole story.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to visually reinforce that desktop CPUs typically run at higher clock rates than mobile SoCs, yet phones still feel responsive for everyday tasks. Explain that mobile chip designers cannot rely on raw clock speed due to battery and thermal limits, so they invest heavily in reducing CPI (efficient pipelines, dedicated accelerators for camera/AI tasks) and reducing IC (specialized instructions). This is a great moment to connect back to the department's AI and Robotics focus -- edge AI chips make exactly these trade-offs.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that CPI is not fixed at 1 -- modern superscalar processors can achieve CPI below 1 by issuing multiple instructions per cycle when there is enough independent work available. This naturally raises the question: what happens when there isn't independent work, or when something goes wrong, like a cache miss or a wrong branch prediction? Tell students this is exactly the bridge into the second half of today's lecture: stalls and penalties, which push CPI upward from its ideal value. This is a good transition slide before moving into numerical worked examples.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bridging formula clearly and have students copy it: Effective CPI equals Ideal CPI plus average stall cycles per instruction. Explain that everything in the second half of the lecture -- hazards, stalls, branch penalties, pipeline depth trade-offs -- exists to explain and quantify that one added term. Tell them to keep this equation next to the Basic Performance Equation in their notes, because the two together let us reason about any real processor's performance.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problem clearly and give students 60-90 seconds of silent work time to attempt it individually or with a neighbor before revealing the solution. This active-recall pause improves retention far more than watching a solved example passively. Walk around (or ask verbally) to gauge how many students have set up the multiplication correctly. Do not reveal the answer yet -- build anticipation for the step-by-step walkthrough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five steps out loud, pausing after step 2 to make sure everyone correctly computed Tc = 0.4 ns from the 2.5 GHz clock rate -- this is the step where fresher arithmetic mistakes most often occur. When you reach step 4, explicitly separate the two multiplications: first total cycles (IC times CPI), then convert to time (cycles times Tc) -- doing it in two clean stages avoids calculator errors. Finish by connecting the unit conversion from nanoseconds to milliseconds, since students often lose marks purely on unit conversion in exams.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two competing processor designs with the same instruction count but different CPI and clock rate trade-offs -- Design A has a higher clock rate but higher CPI, Design B has a lower clock rate but lower CPI. Ask students to predict, by intuition alone, which one will be faster before calculating. This is deliberately designed to feel ambiguous, echoing the Megahertz Myth example from earlier, so students must actually compute both CPU times rather than guess from clock rate alone.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Solve both designs on the board step by step, computing Tc first for each, then total cycles, then time -- keep the two calculations visually side by side so students can compare the arithmetic directly. When you reveal that Design B (lower clock, lower CPI) wins, pause on this result: it is the single most important intuition of the whole lecture, that clock rate and CPI must always be considered together, never separately. Relate this back to the icebreaker and the Megahertz Myth slide to close the loop.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section-divider slide -- slow the pace slightly and signal a topic shift. Introduce pipelining with the classic laundry analogy: washing, drying, and folding multiple loads of laundry overlapped in time is far faster than doing one load completely before starting the next. Tell students that a CPU pipeline works the same way -- instruction fetch, decode, execute, memory access, and write-back stages overlap across multiple instructions. Mention that ideally, pipelining lets many instructions be 'in flight' simultaneously, dramatically improving throughput -- but perfect overlap is rarely achievable, which motivates the rest of today's material.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or point to the 5-stage pipeline diagram: Instruction Fetch, Instruction Decode, Execute, Memory access, Write-back. Explain that in the best case, once the pipeline is full, one instruction completes every single cycle instead of every N cycles -- giving an ideal speedup approximately equal to N, the number of stages. Emphasize the trade-off that will dominate the rest of the lecture: more stages can allow a higher clock rate (each stage is simpler and faster), but also multiplies the chances something goes wrong between stages, which is exactly what stalls and hazards are about.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canonical hazard categories with one relatable analogy each: a structural hazard is like two cooks needing the same single oven at once; a data hazard is like needing an ingredient that hasn't finished being chopped yet; a control hazard is like not knowing which recipe to start next until you've tasted the current dish. Reassure students they do not need to memorize deep hardware detail today -- the key learning outcome is recognizing that all three types force the pipeline to wait, and 'waiting' is precisely what we call a stall, defined formally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back to the second icebreaker slide: just as a car stopped at a red light delays the whole journey even though the engine keeps running, a stalled pipeline stage delays the whole program even though the clock keeps ticking. Define a stall formally as an inserted idle cycle, often visualized as a 'bubble' moving through the pipeline diagram. Make the crucial connection explicit: every stall cycle is added directly into the effective CPI formula from slide 18 -- this is the mechanism by which hazards translate into real, measurable slowdown.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'wrong turn while driving' analogy: branch prediction is like guessing which road to take at a fork before you can see the sign; if you guess wrong, you must reverse all the way back before continuing correctly. Explain that the deeper the pipeline (more stages), the further ahead the CPU has already fetched and started processing incorrect instructions, so the penalty for a misprediction grows with pipeline depth. This is the crucial link between 'number of pipeline stages' and 'stall/penalty cost' that the lecture title promises to connect -- make this connection very explicit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fuses everything taught so far into one master formula. Write it clearly: Effective CPI equals Ideal CPI plus the product of stalls-per-instruction and cycles-per-stall (the penalty). Explain that 'stalls per instruction' is a program- and hardware-dependent number combining all hazard sources, while 'cycles per stall' is the penalty size, which architects try hard to minimize through techniques like forwarding, branch prediction, and out-of-order execution -- topics for a later lecture. Tell students that plugging this Effective CPI back into CPU Time = IC x CPI x Tc gives the complete, realistic performance model that industry architects actually use.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90 seconds to attempt this in pairs, using the hint provided: stalls per instruction equals the probability an instruction is a branch, times the misprediction rate, times the penalty in cycles. This problem deliberately combines the Effective CPI formula from the previous slide with the Basic Performance Equation from earlier, forcing students to chain both formulas together -- exactly the integrative skill listed in today's learning objectives. Circulate or ask for a show of hands on who has set up the multiplication correctly before revealing the solution.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all five steps aloud, pausing at step 3 to highlight that Effective CPI (1.20) is 20% higher than Ideal CPI (1.0) purely because of branch mispredictions -- this is the tangible cost of control hazards. At step 5, note that this 20% CPI increase translates directly into a 20% longer execution time, since IC and Tc are unchanged -- a very clean illustration of how the two formulas from today interact. Ask students: 'What single change would reduce this penalty the most -- fewer branches, better prediction, or fewer stall cycles per mispredict?' to prime the discussion for the trade-off slide next.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central design tension of the whole lecture: more pipeline stages give a higher achievable clock rate and higher ideal throughput, but simultaneously increase the branch misprediction penalty, add pipeline-register overhead per stage, and make data hazards harder to avoid. Mention real numbers if helpful: classic RISC pipelines used around 5 stages, while the Pentium 4 famously pushed to over 20 stages chasing clock speed, and later Intel designs pulled back closer to 14-19 stages once the diminishing returns became clear. The key takeaway: there is no single 'best' number of stages -- it is always a balance point specific to workload and technology.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misconception briskly, since students have already seen the reasoning behind each earlier in the lecture -- this slide is a consolidation, not new material. Spend a little extra time on the two 'pitfalls', since these are the most common sources of lost marks in assessments: unit conversion errors (GHz to seconds) and confusing ideal versus effective CPI. Suggest a simple exam habit: always write out units next to every number, and always label which CPI you are using, ideal or effective, before substituting into any formula.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60 seconds to discuss with a neighbor before taking a few verbal answers. Guide them to notice that since IC and Tc are identical for both chips, CPU time is directly proportional to CPI, so Chip Y is faster by the ratio 1.8/1.3, roughly 1.38x, or about 38% faster. Use this as a final, low-stakes formative check before the formal quiz, and reassure students that this is 'to check understanding, not for grading' so they answer honestly rather than anxiously.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all four key points briskly, pointing back to the specific slide/example where each was introduced -- the Megahertz Myth for the performance equation, the CPI averaging example, Worked Problem 3 for stalls and penalties, and the trade-off slide for pipeline stages. Ask if there are any final questions before the quiz. Frame the upcoming quiz positively: 'This is your chance to confirm you have truly internalized today's equations before we move on next class to how these ideas extend into caching and memory hierarchy.'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4-5 minutes to attempt all seven questions individually, encouraging honest effort since this checks understanding rather than contributing to grades. Suggest they attempt Q1, Q4, and Q6 (the recall questions) first since those are the fastest wins, then spend remaining time on Q3 and Q7, which require calculation and reasoning respectively. Circulate the room or invite questions if anyone is stuck on the units in Q3. When time is up, move to the answers slide and reveal answers one at a time.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one at a time rather than all at once, giving students a moment to self-check each before moving to the next. Spend the most time on A2 and A7, since these test conceptual understanding rather than recall and are where misconceptions are most likely to surface. Ask a show of hands for each question to gauge overall class understanding, and note down (informally) any question the majority got wrong, since that signals a concept to revisit briefly at the start of next class. Close by clarifying any common mistakes you observed while circulating during the quiz.</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by clearly stating the assignment and reading expectations, and write the LMS assignment reference on the board if applicable. Preview next lecture briefly: cache memory and the memory hierarchy, explaining in one sentence that cache misses are actually one of the biggest real-world contributors to the 'stall cycles' term learned today, so today's material is direct preparation for next class. Thank students for their engagement, remind them of office hours, and end on an encouraging note about how far they've come in one hour — from a vague sense of 'speed' to a precise, three-variable equation they can apply anywhere.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412480" y="-2011680"/>
            <a:ext cx="6400800" cy="6400800"/>
          </a:xfrm>
          <a:prstGeom prst="ellipse">
            <a:avLst/>
          </a:prstGeom>
          <a:solidFill>
            <a:srgbClr val="121D33"/>
          </a:solidFill>
          <a:ln/>
        </p:spPr>
      </p:sp>
      <p:sp>
        <p:nvSpPr>
          <p:cNvPr id="3" name="Shape 1"/>
          <p:cNvSpPr/>
          <p:nvPr/>
        </p:nvSpPr>
        <p:spPr>
          <a:xfrm>
            <a:off x="-1828800" y="4206240"/>
            <a:ext cx="5029200" cy="5029200"/>
          </a:xfrm>
          <a:prstGeom prst="ellipse">
            <a:avLst/>
          </a:prstGeom>
          <a:solidFill>
            <a:srgbClr val="121D33"/>
          </a:solidFill>
          <a:ln/>
        </p:spPr>
      </p:sp>
      <p:sp>
        <p:nvSpPr>
          <p:cNvPr id="4" name="Shape 2"/>
          <p:cNvSpPr/>
          <p:nvPr/>
        </p:nvSpPr>
        <p:spPr>
          <a:xfrm>
            <a:off x="0" y="0"/>
            <a:ext cx="164592" cy="6858000"/>
          </a:xfrm>
          <a:prstGeom prst="rect">
            <a:avLst/>
          </a:prstGeom>
          <a:solidFill>
            <a:srgbClr val="00C2CB"/>
          </a:solidFill>
          <a:ln/>
        </p:spPr>
      </p:sp>
      <p:sp>
        <p:nvSpPr>
          <p:cNvPr id="5" name="Text 3"/>
          <p:cNvSpPr/>
          <p:nvPr/>
        </p:nvSpPr>
        <p:spPr>
          <a:xfrm>
            <a:off x="640080" y="502920"/>
            <a:ext cx="5486400" cy="365760"/>
          </a:xfrm>
          <a:prstGeom prst="rect">
            <a:avLst/>
          </a:prstGeom>
          <a:noFill/>
          <a:ln/>
        </p:spPr>
        <p:txBody>
          <a:bodyPr wrap="square" rtlCol="0" anchor="ctr"/>
          <a:lstStyle/>
          <a:p>
            <a:pPr marL="0" indent="0">
              <a:buNone/>
            </a:pPr>
            <a:r>
              <a:rPr lang="en-US" sz="1400" b="1" kern="0" spc="300" dirty="0">
                <a:solidFill>
                  <a:srgbClr val="00C2CB"/>
                </a:solidFill>
                <a:latin typeface="Calibri" pitchFamily="34" charset="0"/>
                <a:ea typeface="Calibri" pitchFamily="34" charset="-122"/>
                <a:cs typeface="Calibri" pitchFamily="34" charset="-120"/>
              </a:rPr>
              <a:t>PSAIAC</a:t>
            </a:r>
            <a:endParaRPr lang="en-US" sz="1400" dirty="0"/>
          </a:p>
        </p:txBody>
      </p:sp>
      <p:sp>
        <p:nvSpPr>
          <p:cNvPr id="6" name="Text 4"/>
          <p:cNvSpPr/>
          <p:nvPr/>
        </p:nvSpPr>
        <p:spPr>
          <a:xfrm>
            <a:off x="640080" y="868680"/>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Presidency University</a:t>
            </a:r>
            <a:endParaRPr lang="en-US" sz="2200" dirty="0"/>
          </a:p>
        </p:txBody>
      </p:sp>
      <p:sp>
        <p:nvSpPr>
          <p:cNvPr id="7" name="Text 5"/>
          <p:cNvSpPr/>
          <p:nvPr/>
        </p:nvSpPr>
        <p:spPr>
          <a:xfrm>
            <a:off x="640080" y="1298448"/>
            <a:ext cx="8229600" cy="365760"/>
          </a:xfrm>
          <a:prstGeom prst="rect">
            <a:avLst/>
          </a:prstGeom>
          <a:noFill/>
          <a:ln/>
        </p:spPr>
        <p:txBody>
          <a:bodyPr wrap="square" rtlCol="0" anchor="ctr"/>
          <a:lstStyle/>
          <a:p>
            <a:pPr marL="0" indent="0">
              <a:buNone/>
            </a:pPr>
            <a:r>
              <a:rPr lang="en-US" sz="1300" dirty="0">
                <a:solidFill>
                  <a:srgbClr val="AFC3DE"/>
                </a:solidFill>
                <a:latin typeface="Calibri" pitchFamily="34" charset="0"/>
                <a:ea typeface="Calibri" pitchFamily="34" charset="-122"/>
                <a:cs typeface="Calibri" pitchFamily="34" charset="-120"/>
              </a:rPr>
              <a:t>Department of AI and Robotics</a:t>
            </a:r>
            <a:endParaRPr lang="en-US" sz="1300" dirty="0"/>
          </a:p>
        </p:txBody>
      </p:sp>
      <p:sp>
        <p:nvSpPr>
          <p:cNvPr id="8" name="Text 6"/>
          <p:cNvSpPr/>
          <p:nvPr/>
        </p:nvSpPr>
        <p:spPr>
          <a:xfrm>
            <a:off x="640080" y="2514600"/>
            <a:ext cx="9875520" cy="2103120"/>
          </a:xfrm>
          <a:prstGeom prst="rect">
            <a:avLst/>
          </a:prstGeom>
          <a:noFill/>
          <a:ln/>
        </p:spPr>
        <p:txBody>
          <a:bodyPr wrap="square"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Basic Performance Equation, Effects of Stalls &amp; Penalties, Number of Pipeline Stages</a:t>
            </a:r>
            <a:endParaRPr lang="en-US" sz="3400" dirty="0"/>
          </a:p>
        </p:txBody>
      </p:sp>
      <p:sp>
        <p:nvSpPr>
          <p:cNvPr id="9" name="Shape 7"/>
          <p:cNvSpPr/>
          <p:nvPr/>
        </p:nvSpPr>
        <p:spPr>
          <a:xfrm>
            <a:off x="640080" y="4800600"/>
            <a:ext cx="6766560" cy="594360"/>
          </a:xfrm>
          <a:prstGeom prst="roundRect">
            <a:avLst>
              <a:gd name="adj" fmla="val 15385"/>
            </a:avLst>
          </a:prstGeom>
          <a:solidFill>
            <a:srgbClr val="121D33"/>
          </a:solidFill>
          <a:ln w="12700">
            <a:solidFill>
              <a:srgbClr val="00C2CB"/>
            </a:solidFill>
            <a:prstDash val="solid"/>
          </a:ln>
        </p:spPr>
      </p:sp>
      <p:sp>
        <p:nvSpPr>
          <p:cNvPr id="10" name="Text 8"/>
          <p:cNvSpPr/>
          <p:nvPr/>
        </p:nvSpPr>
        <p:spPr>
          <a:xfrm>
            <a:off x="822960" y="4800600"/>
            <a:ext cx="640080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Computer Organization and Architecture   |   CSS2257</a:t>
            </a:r>
            <a:endParaRPr lang="en-US" sz="1400" dirty="0"/>
          </a:p>
        </p:txBody>
      </p:sp>
      <p:sp>
        <p:nvSpPr>
          <p:cNvPr id="11" name="Text 9"/>
          <p:cNvSpPr/>
          <p:nvPr/>
        </p:nvSpPr>
        <p:spPr>
          <a:xfrm>
            <a:off x="640080" y="5623560"/>
            <a:ext cx="5486400" cy="320040"/>
          </a:xfrm>
          <a:prstGeom prst="rect">
            <a:avLst/>
          </a:prstGeom>
          <a:noFill/>
          <a:ln/>
        </p:spPr>
        <p:txBody>
          <a:bodyPr wrap="square" rtlCol="0" anchor="ctr"/>
          <a:lstStyle/>
          <a:p>
            <a:pPr marL="0" indent="0">
              <a:buNone/>
            </a:pPr>
            <a:r>
              <a:rPr lang="en-US" sz="1300" dirty="0">
                <a:solidFill>
                  <a:srgbClr val="AFC3DE"/>
                </a:solidFill>
                <a:latin typeface="Calibri" pitchFamily="34" charset="0"/>
                <a:ea typeface="Calibri" pitchFamily="34" charset="-122"/>
                <a:cs typeface="Calibri" pitchFamily="34" charset="-120"/>
              </a:rPr>
              <a:t>Faculty: </a:t>
            </a:r>
            <a:r>
              <a:rPr lang="en-US" sz="1300" b="1" dirty="0">
                <a:solidFill>
                  <a:srgbClr val="FFFFFF"/>
                </a:solidFill>
                <a:latin typeface="Calibri" pitchFamily="34" charset="0"/>
                <a:ea typeface="Calibri" pitchFamily="34" charset="-122"/>
                <a:cs typeface="Calibri" pitchFamily="34" charset="-120"/>
              </a:rPr>
              <a:t>D. Venkatesan</a:t>
            </a:r>
            <a:endParaRPr lang="en-US" sz="1300" dirty="0"/>
          </a:p>
        </p:txBody>
      </p:sp>
      <p:sp>
        <p:nvSpPr>
          <p:cNvPr id="12" name="Text 10"/>
          <p:cNvSpPr/>
          <p:nvPr/>
        </p:nvSpPr>
        <p:spPr>
          <a:xfrm>
            <a:off x="640080" y="5943600"/>
            <a:ext cx="5486400" cy="320040"/>
          </a:xfrm>
          <a:prstGeom prst="rect">
            <a:avLst/>
          </a:prstGeom>
          <a:noFill/>
          <a:ln/>
        </p:spPr>
        <p:txBody>
          <a:bodyPr wrap="square" rtlCol="0" anchor="ctr"/>
          <a:lstStyle/>
          <a:p>
            <a:pPr marL="0" indent="0">
              <a:buNone/>
            </a:pPr>
            <a:r>
              <a:rPr lang="en-US" sz="1200" dirty="0">
                <a:solidFill>
                  <a:srgbClr val="AFC3DE"/>
                </a:solidFill>
                <a:latin typeface="Calibri" pitchFamily="34" charset="0"/>
                <a:ea typeface="Calibri" pitchFamily="34" charset="-122"/>
                <a:cs typeface="Calibri" pitchFamily="34" charset="-120"/>
              </a:rPr>
              <a:t>Semester I  |  B.Tech (AI &amp; Robotics)</a:t>
            </a:r>
            <a:endParaRPr lang="en-US" sz="12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COURSE INFORMATION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Welcome to the Session</a:t>
            </a:r>
            <a:endParaRPr lang="en-US" sz="3000" dirty="0"/>
          </a:p>
        </p:txBody>
      </p:sp>
      <p:sp>
        <p:nvSpPr>
          <p:cNvPr id="4" name="Shape 2"/>
          <p:cNvSpPr/>
          <p:nvPr/>
        </p:nvSpPr>
        <p:spPr>
          <a:xfrm>
            <a:off x="548640" y="1691640"/>
            <a:ext cx="534924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5" name="Shape 3"/>
          <p:cNvSpPr/>
          <p:nvPr/>
        </p:nvSpPr>
        <p:spPr>
          <a:xfrm>
            <a:off x="822960" y="2057400"/>
            <a:ext cx="914400" cy="914400"/>
          </a:xfrm>
          <a:prstGeom prst="ellipse">
            <a:avLst/>
          </a:prstGeom>
          <a:solidFill>
            <a:srgbClr val="3E7CB1"/>
          </a:solidFill>
          <a:ln/>
        </p:spPr>
      </p:sp>
      <p:sp>
        <p:nvSpPr>
          <p:cNvPr id="6" name="Text 4"/>
          <p:cNvSpPr/>
          <p:nvPr/>
        </p:nvSpPr>
        <p:spPr>
          <a:xfrm>
            <a:off x="822960" y="205740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20240" y="2011680"/>
            <a:ext cx="3657600" cy="320040"/>
          </a:xfrm>
          <a:prstGeom prst="rect">
            <a:avLst/>
          </a:prstGeom>
          <a:noFill/>
          <a:ln/>
        </p:spPr>
        <p:txBody>
          <a:bodyPr wrap="square" rtlCol="0" anchor="ctr"/>
          <a:lstStyle/>
          <a:p>
            <a:pPr marL="0" indent="0">
              <a:buNone/>
            </a:pPr>
            <a:r>
              <a:rPr lang="en-US" sz="1100" b="1" kern="0" spc="100" dirty="0">
                <a:solidFill>
                  <a:srgbClr val="00C2CB"/>
                </a:solidFill>
                <a:latin typeface="Calibri" pitchFamily="34" charset="0"/>
                <a:ea typeface="Calibri" pitchFamily="34" charset="-122"/>
                <a:cs typeface="Calibri" pitchFamily="34" charset="-120"/>
              </a:rPr>
              <a:t>UNIVERSITY</a:t>
            </a:r>
            <a:endParaRPr lang="en-US" sz="1100" dirty="0"/>
          </a:p>
        </p:txBody>
      </p:sp>
      <p:sp>
        <p:nvSpPr>
          <p:cNvPr id="8" name="Text 6"/>
          <p:cNvSpPr/>
          <p:nvPr/>
        </p:nvSpPr>
        <p:spPr>
          <a:xfrm>
            <a:off x="1920240" y="2313432"/>
            <a:ext cx="3840480" cy="105156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Presidency University</a:t>
            </a:r>
            <a:endParaRPr lang="en-US" sz="1450" dirty="0"/>
          </a:p>
        </p:txBody>
      </p:sp>
      <p:sp>
        <p:nvSpPr>
          <p:cNvPr id="9" name="Shape 7"/>
          <p:cNvSpPr/>
          <p:nvPr/>
        </p:nvSpPr>
        <p:spPr>
          <a:xfrm>
            <a:off x="6172200" y="1691640"/>
            <a:ext cx="534924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10" name="Shape 8"/>
          <p:cNvSpPr/>
          <p:nvPr/>
        </p:nvSpPr>
        <p:spPr>
          <a:xfrm>
            <a:off x="6446520" y="2057400"/>
            <a:ext cx="914400" cy="914400"/>
          </a:xfrm>
          <a:prstGeom prst="ellipse">
            <a:avLst/>
          </a:prstGeom>
          <a:solidFill>
            <a:srgbClr val="3E7CB1"/>
          </a:solidFill>
          <a:ln/>
        </p:spPr>
      </p:sp>
      <p:sp>
        <p:nvSpPr>
          <p:cNvPr id="11" name="Text 9"/>
          <p:cNvSpPr/>
          <p:nvPr/>
        </p:nvSpPr>
        <p:spPr>
          <a:xfrm>
            <a:off x="6446520" y="205740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7543800" y="2011680"/>
            <a:ext cx="3657600" cy="320040"/>
          </a:xfrm>
          <a:prstGeom prst="rect">
            <a:avLst/>
          </a:prstGeom>
          <a:noFill/>
          <a:ln/>
        </p:spPr>
        <p:txBody>
          <a:bodyPr wrap="square" rtlCol="0" anchor="ctr"/>
          <a:lstStyle/>
          <a:p>
            <a:pPr marL="0" indent="0">
              <a:buNone/>
            </a:pPr>
            <a:r>
              <a:rPr lang="en-US" sz="1100" b="1" kern="0" spc="100" dirty="0">
                <a:solidFill>
                  <a:srgbClr val="00C2CB"/>
                </a:solidFill>
                <a:latin typeface="Calibri" pitchFamily="34" charset="0"/>
                <a:ea typeface="Calibri" pitchFamily="34" charset="-122"/>
                <a:cs typeface="Calibri" pitchFamily="34" charset="-120"/>
              </a:rPr>
              <a:t>SCHOOL</a:t>
            </a:r>
            <a:endParaRPr lang="en-US" sz="1100" dirty="0"/>
          </a:p>
        </p:txBody>
      </p:sp>
      <p:sp>
        <p:nvSpPr>
          <p:cNvPr id="13" name="Text 11"/>
          <p:cNvSpPr/>
          <p:nvPr/>
        </p:nvSpPr>
        <p:spPr>
          <a:xfrm>
            <a:off x="7543800" y="2313432"/>
            <a:ext cx="3840480" cy="105156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PSAIAC</a:t>
            </a:r>
            <a:endParaRPr lang="en-US" sz="1450" dirty="0"/>
          </a:p>
        </p:txBody>
      </p:sp>
      <p:sp>
        <p:nvSpPr>
          <p:cNvPr id="14" name="Shape 12"/>
          <p:cNvSpPr/>
          <p:nvPr/>
        </p:nvSpPr>
        <p:spPr>
          <a:xfrm>
            <a:off x="548640" y="3840480"/>
            <a:ext cx="534924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15" name="Shape 13"/>
          <p:cNvSpPr/>
          <p:nvPr/>
        </p:nvSpPr>
        <p:spPr>
          <a:xfrm>
            <a:off x="822960" y="4206240"/>
            <a:ext cx="914400" cy="914400"/>
          </a:xfrm>
          <a:prstGeom prst="ellipse">
            <a:avLst/>
          </a:prstGeom>
          <a:solidFill>
            <a:srgbClr val="3E7CB1"/>
          </a:solidFill>
          <a:ln/>
        </p:spPr>
      </p:sp>
      <p:sp>
        <p:nvSpPr>
          <p:cNvPr id="16" name="Text 14"/>
          <p:cNvSpPr/>
          <p:nvPr/>
        </p:nvSpPr>
        <p:spPr>
          <a:xfrm>
            <a:off x="822960" y="420624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7" name="Text 15"/>
          <p:cNvSpPr/>
          <p:nvPr/>
        </p:nvSpPr>
        <p:spPr>
          <a:xfrm>
            <a:off x="1920240" y="4160520"/>
            <a:ext cx="3657600" cy="320040"/>
          </a:xfrm>
          <a:prstGeom prst="rect">
            <a:avLst/>
          </a:prstGeom>
          <a:noFill/>
          <a:ln/>
        </p:spPr>
        <p:txBody>
          <a:bodyPr wrap="square" rtlCol="0" anchor="ctr"/>
          <a:lstStyle/>
          <a:p>
            <a:pPr marL="0" indent="0">
              <a:buNone/>
            </a:pPr>
            <a:r>
              <a:rPr lang="en-US" sz="1100" b="1" kern="0" spc="100" dirty="0">
                <a:solidFill>
                  <a:srgbClr val="00C2CB"/>
                </a:solidFill>
                <a:latin typeface="Calibri" pitchFamily="34" charset="0"/>
                <a:ea typeface="Calibri" pitchFamily="34" charset="-122"/>
                <a:cs typeface="Calibri" pitchFamily="34" charset="-120"/>
              </a:rPr>
              <a:t>DEPARTMENT</a:t>
            </a:r>
            <a:endParaRPr lang="en-US" sz="1100" dirty="0"/>
          </a:p>
        </p:txBody>
      </p:sp>
      <p:sp>
        <p:nvSpPr>
          <p:cNvPr id="18" name="Text 16"/>
          <p:cNvSpPr/>
          <p:nvPr/>
        </p:nvSpPr>
        <p:spPr>
          <a:xfrm>
            <a:off x="1920240" y="4462272"/>
            <a:ext cx="3840480" cy="105156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Department of AI and Robotics</a:t>
            </a:r>
            <a:endParaRPr lang="en-US" sz="1450" dirty="0"/>
          </a:p>
        </p:txBody>
      </p:sp>
      <p:sp>
        <p:nvSpPr>
          <p:cNvPr id="19" name="Shape 17"/>
          <p:cNvSpPr/>
          <p:nvPr/>
        </p:nvSpPr>
        <p:spPr>
          <a:xfrm>
            <a:off x="6172200" y="3840480"/>
            <a:ext cx="534924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20" name="Shape 18"/>
          <p:cNvSpPr/>
          <p:nvPr/>
        </p:nvSpPr>
        <p:spPr>
          <a:xfrm>
            <a:off x="6446520" y="4206240"/>
            <a:ext cx="914400" cy="914400"/>
          </a:xfrm>
          <a:prstGeom prst="ellipse">
            <a:avLst/>
          </a:prstGeom>
          <a:solidFill>
            <a:srgbClr val="3E7CB1"/>
          </a:solidFill>
          <a:ln/>
        </p:spPr>
      </p:sp>
      <p:sp>
        <p:nvSpPr>
          <p:cNvPr id="21" name="Text 19"/>
          <p:cNvSpPr/>
          <p:nvPr/>
        </p:nvSpPr>
        <p:spPr>
          <a:xfrm>
            <a:off x="6446520" y="420624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2" name="Text 20"/>
          <p:cNvSpPr/>
          <p:nvPr/>
        </p:nvSpPr>
        <p:spPr>
          <a:xfrm>
            <a:off x="7543800" y="4160520"/>
            <a:ext cx="3657600" cy="320040"/>
          </a:xfrm>
          <a:prstGeom prst="rect">
            <a:avLst/>
          </a:prstGeom>
          <a:noFill/>
          <a:ln/>
        </p:spPr>
        <p:txBody>
          <a:bodyPr wrap="square" rtlCol="0" anchor="ctr"/>
          <a:lstStyle/>
          <a:p>
            <a:pPr marL="0" indent="0">
              <a:buNone/>
            </a:pPr>
            <a:r>
              <a:rPr lang="en-US" sz="1100" b="1" kern="0" spc="100" dirty="0">
                <a:solidFill>
                  <a:srgbClr val="00C2CB"/>
                </a:solidFill>
                <a:latin typeface="Calibri" pitchFamily="34" charset="0"/>
                <a:ea typeface="Calibri" pitchFamily="34" charset="-122"/>
                <a:cs typeface="Calibri" pitchFamily="34" charset="-120"/>
              </a:rPr>
              <a:t>SUBJECT</a:t>
            </a:r>
            <a:endParaRPr lang="en-US" sz="1100" dirty="0"/>
          </a:p>
        </p:txBody>
      </p:sp>
      <p:sp>
        <p:nvSpPr>
          <p:cNvPr id="23" name="Text 21"/>
          <p:cNvSpPr/>
          <p:nvPr/>
        </p:nvSpPr>
        <p:spPr>
          <a:xfrm>
            <a:off x="7543800" y="4462272"/>
            <a:ext cx="3840480" cy="105156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Computer Organization and Architecture (CSS2257)</a:t>
            </a:r>
            <a:endParaRPr lang="en-US" sz="1450" dirty="0"/>
          </a:p>
        </p:txBody>
      </p:sp>
      <p:sp>
        <p:nvSpPr>
          <p:cNvPr id="24" name="Text 22"/>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TODAY'S ROADMAP</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Learning Objectives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State and apply the Basic Performance Equation to compute CPU execution time.</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Distinguish Clock Cycle Time, Instruction Count (IC), and CPI, and explain how each affects performance.</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Explain how pipeline stalls and penalties increase effective CPI.</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Reason about how the number of pipeline stages affects ideal speedup and overhead.</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Solve numerical problems comparing processor designs using these concepts.</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00C2CB"/>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By the end of this hour</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You will be able to confidently compute and compare CPU performance for any two processor designs given their IC, CPI, and clock rate.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4206240"/>
            <a:ext cx="4114800" cy="4114800"/>
          </a:xfrm>
          <a:prstGeom prst="ellipse">
            <a:avLst/>
          </a:prstGeom>
          <a:solidFill>
            <a:srgbClr val="121D33"/>
          </a:solidFill>
          <a:ln/>
        </p:spPr>
      </p:sp>
      <p:sp>
        <p:nvSpPr>
          <p:cNvPr id="3" name="Shape 1"/>
          <p:cNvSpPr/>
          <p:nvPr/>
        </p:nvSpPr>
        <p:spPr>
          <a:xfrm>
            <a:off x="548640" y="777240"/>
            <a:ext cx="1005840" cy="1005840"/>
          </a:xfrm>
          <a:prstGeom prst="ellipse">
            <a:avLst/>
          </a:prstGeom>
          <a:solidFill>
            <a:srgbClr val="00C2CB"/>
          </a:solidFill>
          <a:ln/>
        </p:spPr>
      </p:sp>
      <p:sp>
        <p:nvSpPr>
          <p:cNvPr id="4" name="Text 2"/>
          <p:cNvSpPr/>
          <p:nvPr/>
        </p:nvSpPr>
        <p:spPr>
          <a:xfrm>
            <a:off x="548640" y="777240"/>
            <a:ext cx="1005840" cy="1005840"/>
          </a:xfrm>
          <a:prstGeom prst="rect">
            <a:avLst/>
          </a:prstGeom>
          <a:noFill/>
          <a:ln/>
        </p:spPr>
        <p:txBody>
          <a:bodyPr wrap="square" rtlCol="0" anchor="ctr"/>
          <a:lstStyle/>
          <a:p>
            <a:pPr marL="0" indent="0" algn="ctr">
              <a:buNone/>
            </a:pPr>
            <a:r>
              <a:rPr lang="en-US" sz="3400" b="1" dirty="0">
                <a:solidFill>
                  <a:srgbClr val="121D33"/>
                </a:solidFill>
                <a:latin typeface="Calibri" pitchFamily="34" charset="0"/>
                <a:ea typeface="Calibri" pitchFamily="34" charset="-122"/>
                <a:cs typeface="Calibri" pitchFamily="34" charset="-120"/>
              </a:rPr>
              <a:t>💬</a:t>
            </a:r>
            <a:endParaRPr lang="en-US" sz="3400" dirty="0"/>
          </a:p>
        </p:txBody>
      </p:sp>
      <p:sp>
        <p:nvSpPr>
          <p:cNvPr id="5" name="Text 3"/>
          <p:cNvSpPr/>
          <p:nvPr/>
        </p:nvSpPr>
        <p:spPr>
          <a:xfrm>
            <a:off x="548640" y="1920240"/>
            <a:ext cx="5486400" cy="365760"/>
          </a:xfrm>
          <a:prstGeom prst="rect">
            <a:avLst/>
          </a:prstGeom>
          <a:noFill/>
          <a:ln/>
        </p:spPr>
        <p:txBody>
          <a:bodyPr wrap="square" rtlCol="0" anchor="ctr"/>
          <a:lstStyle/>
          <a:p>
            <a:pPr marL="0" indent="0">
              <a:buNone/>
            </a:pPr>
            <a:r>
              <a:rPr lang="en-US" sz="1400" b="1" kern="0" spc="200" dirty="0">
                <a:solidFill>
                  <a:srgbClr val="00C2CB"/>
                </a:solidFill>
                <a:latin typeface="Calibri" pitchFamily="34" charset="0"/>
                <a:ea typeface="Calibri" pitchFamily="34" charset="-122"/>
                <a:cs typeface="Calibri" pitchFamily="34" charset="-120"/>
              </a:rPr>
              <a:t>ICEBREAKER</a:t>
            </a:r>
            <a:endParaRPr lang="en-US" sz="1400" dirty="0"/>
          </a:p>
        </p:txBody>
      </p:sp>
      <p:sp>
        <p:nvSpPr>
          <p:cNvPr id="6" name="Text 4"/>
          <p:cNvSpPr/>
          <p:nvPr/>
        </p:nvSpPr>
        <p:spPr>
          <a:xfrm>
            <a:off x="548640" y="2331720"/>
            <a:ext cx="10515600" cy="12801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Which phone or laptop “feels” faster — and why?</a:t>
            </a:r>
            <a:endParaRPr lang="en-US" sz="2800" dirty="0"/>
          </a:p>
        </p:txBody>
      </p:sp>
      <p:sp>
        <p:nvSpPr>
          <p:cNvPr id="7" name="Text 5"/>
          <p:cNvSpPr/>
          <p:nvPr/>
        </p:nvSpPr>
        <p:spPr>
          <a:xfrm>
            <a:off x="548640" y="3749040"/>
            <a:ext cx="9875520" cy="2011680"/>
          </a:xfrm>
          <a:prstGeom prst="rect">
            <a:avLst/>
          </a:prstGeom>
          <a:noFill/>
          <a:ln/>
        </p:spPr>
        <p:txBody>
          <a:bodyPr wrap="square" rtlCol="0" anchor="ctr"/>
          <a:lstStyle/>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Think of two devices you have used (e.g., an old laptop vs a new one).</a:t>
            </a:r>
            <a:endParaRPr lang="en-US" sz="1600" dirty="0"/>
          </a:p>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Which one felt faster when opening apps or running programs?</a:t>
            </a:r>
            <a:endParaRPr lang="en-US" sz="1600" dirty="0"/>
          </a:p>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Was it the higher ‘GHz’ number, or something else you noticed?</a:t>
            </a:r>
            <a:endParaRPr lang="en-US" sz="1600" dirty="0"/>
          </a:p>
        </p:txBody>
      </p:sp>
      <p:sp>
        <p:nvSpPr>
          <p:cNvPr id="8" name="Text 6"/>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AFC3D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9" name="Text 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0" name="Text 8"/>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21D33"/>
          </a:solidFill>
          <a:ln/>
        </p:spPr>
      </p:sp>
      <p:sp>
        <p:nvSpPr>
          <p:cNvPr id="3" name="Shape 1"/>
          <p:cNvSpPr/>
          <p:nvPr/>
        </p:nvSpPr>
        <p:spPr>
          <a:xfrm>
            <a:off x="548640" y="777240"/>
            <a:ext cx="1005840" cy="1005840"/>
          </a:xfrm>
          <a:prstGeom prst="ellipse">
            <a:avLst/>
          </a:prstGeom>
          <a:solidFill>
            <a:srgbClr val="00C2CB"/>
          </a:solidFill>
          <a:ln/>
        </p:spPr>
      </p:sp>
      <p:sp>
        <p:nvSpPr>
          <p:cNvPr id="4" name="Text 2"/>
          <p:cNvSpPr/>
          <p:nvPr/>
        </p:nvSpPr>
        <p:spPr>
          <a:xfrm>
            <a:off x="548640" y="777240"/>
            <a:ext cx="1005840" cy="1005840"/>
          </a:xfrm>
          <a:prstGeom prst="rect">
            <a:avLst/>
          </a:prstGeom>
          <a:noFill/>
          <a:ln/>
        </p:spPr>
        <p:txBody>
          <a:bodyPr wrap="square" rtlCol="0" anchor="ctr"/>
          <a:lstStyle/>
          <a:p>
            <a:pPr marL="0" indent="0" algn="ctr">
              <a:buNone/>
            </a:pPr>
            <a:r>
              <a:rPr lang="en-US" sz="3200" b="1" dirty="0">
                <a:solidFill>
                  <a:srgbClr val="121D33"/>
                </a:solidFill>
                <a:latin typeface="Calibri" pitchFamily="34" charset="0"/>
                <a:ea typeface="Calibri" pitchFamily="34" charset="-122"/>
                <a:cs typeface="Calibri" pitchFamily="34" charset="-120"/>
              </a:rPr>
              <a:t>🏎</a:t>
            </a:r>
            <a:endParaRPr lang="en-US" sz="3200" dirty="0"/>
          </a:p>
        </p:txBody>
      </p:sp>
      <p:sp>
        <p:nvSpPr>
          <p:cNvPr id="5" name="Text 3"/>
          <p:cNvSpPr/>
          <p:nvPr/>
        </p:nvSpPr>
        <p:spPr>
          <a:xfrm>
            <a:off x="548640" y="1920240"/>
            <a:ext cx="7315200" cy="365760"/>
          </a:xfrm>
          <a:prstGeom prst="rect">
            <a:avLst/>
          </a:prstGeom>
          <a:noFill/>
          <a:ln/>
        </p:spPr>
        <p:txBody>
          <a:bodyPr wrap="square" rtlCol="0" anchor="ctr"/>
          <a:lstStyle/>
          <a:p>
            <a:pPr marL="0" indent="0">
              <a:buNone/>
            </a:pPr>
            <a:r>
              <a:rPr lang="en-US" sz="1400" b="1" kern="0" spc="200" dirty="0">
                <a:solidFill>
                  <a:srgbClr val="00C2CB"/>
                </a:solidFill>
                <a:latin typeface="Calibri" pitchFamily="34" charset="0"/>
                <a:ea typeface="Calibri" pitchFamily="34" charset="-122"/>
                <a:cs typeface="Calibri" pitchFamily="34" charset="-120"/>
              </a:rPr>
              <a:t>ICEBREAKER — QUICK POLL</a:t>
            </a:r>
            <a:endParaRPr lang="en-US" sz="1400" dirty="0"/>
          </a:p>
        </p:txBody>
      </p:sp>
      <p:sp>
        <p:nvSpPr>
          <p:cNvPr id="6" name="Text 4"/>
          <p:cNvSpPr/>
          <p:nvPr/>
        </p:nvSpPr>
        <p:spPr>
          <a:xfrm>
            <a:off x="548640" y="2331720"/>
            <a:ext cx="10789920" cy="13716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If a car engine “stalls” at a red light, what happens to your journey time?</a:t>
            </a:r>
            <a:endParaRPr lang="en-US" sz="2600" dirty="0"/>
          </a:p>
        </p:txBody>
      </p:sp>
      <p:sp>
        <p:nvSpPr>
          <p:cNvPr id="7" name="Text 5"/>
          <p:cNvSpPr/>
          <p:nvPr/>
        </p:nvSpPr>
        <p:spPr>
          <a:xfrm>
            <a:off x="548640" y="4023360"/>
            <a:ext cx="9601200" cy="10972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Hold that thought — we will see today that processors ‘stall’ too, and it affects performance in a very similar way.</a:t>
            </a:r>
            <a:endParaRPr lang="en-US" sz="1600" dirty="0"/>
          </a:p>
        </p:txBody>
      </p:sp>
      <p:sp>
        <p:nvSpPr>
          <p:cNvPr id="8" name="Text 6"/>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AFC3D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9" name="Text 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0" name="Text 8"/>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Why the Performance Equation Matters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Every purchasing and design decision in computing comes down to: “which system finishes the job faster?”</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Marketing numbers like GHz or ‘number of cores’ alone can be misleading.</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Architects use the Basic Performance Equation to predict speed before hardware is even built.</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The same equation explains why smartphones, servers, and AI accelerators are designed so differently.</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Understanding this equation is the first step toward understanding pipelining, caching, and parallelism.</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00C2CB"/>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One Equation, Every Decision</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From choosing a laptop to designing a supercomputer, the same three quantities decide who wins the race.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BACKGROUND CONCEPTS</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 Quick Recap: How a CPU Executes Instructions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 program is a sequence of machine instructions (add, load, store, branch, etc.).</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The CPU fetches, decodes, and executes each instruction, one after another.</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Executing an instruction takes a certain number of clock cycles — like ticks of a metronome.</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Performance ultimately means: how much real (wall-clock) time does the whole program take?</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To answer that, we need exactly three quantities — which we will meet one at a time.</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Analogy: A Recipe</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A program is like a recipe. Each instruction is one cooking step. The clock is your kitchen timer ticking at a fixed rate.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KEY METRIC 1 OF 3</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Clock Cycle Time &amp; Clock Rate</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Clock Cycle Time (Tc) is the duration of one ‘tick’ of the processor clock, measured in nanoseconds (ns).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Clock Rate (f) is the number of ticks per second, measured in Hertz (GHz today).</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Clock Rate and Clock Cycle Time are reciprocals: f = 1 / Tc.</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Example: a 2 GHz processor has Tc = 1 / (2 × 10⁹) = 0.5 ns per cycle.</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 higher clock rate means shorter cycles — but NOT automatically a faster program (we will see why).</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f = 1 / Tc</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2 GHz clock  →  0.5 nanoseconds per cycle. Think of it as the tick rate of the processor's internal metronome.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KEY METRIC 2 OF 3</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Instruction Count (IC)</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Instruction Count (IC) is the total number of machine instructions executed to run a program.</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IC depends on the program's source code, the compiler, and the instruction set architecture (ISA).</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 well-optimized compiler can reduce IC for the same task — fewer, smarter instructions.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IC is NOT the number of lines of code — one line of C can compile to several machine instructions.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 change in ISA (e.g., x86 vs ARM) can change IC for the identical program logic.</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Same Task, Different IC</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A ‘for loop’ that adds 100 numbers might compile to 500 instructions on one ISA and 350 on another — same result, different IC.</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KEY METRIC 3 OF 3</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Cycles Per Instruction (CPI)</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CPI is the average number of clock cycles needed to execute one instruction.</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Different instruction types take different cycles: an ADD may take 1 cycle, a MULTIPLY may take 4, a memory LOAD may take 5+.</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CPI (average) = Σ (cycles for instruction type × frequency of that type) across all instruction types.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Lower CPI generally means the processor is executing instructions more efficiently.</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Pipelining, caching, and better instruction scheduling are all techniques to reduce effective CPI.</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CPI is an Average</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If 50% of instructions take 1 cycle and 50% take 3 cycles, average CPI = 0.5(1) + 0.5(3) = 2 cycles/instruction.</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THE CORE FORMULA</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Basic Performance Equation</a:t>
            </a:r>
            <a:endParaRPr lang="en-US" sz="3000" dirty="0"/>
          </a:p>
        </p:txBody>
      </p:sp>
      <p:sp>
        <p:nvSpPr>
          <p:cNvPr id="4" name="Shape 2"/>
          <p:cNvSpPr/>
          <p:nvPr/>
        </p:nvSpPr>
        <p:spPr>
          <a:xfrm>
            <a:off x="1280160" y="1828800"/>
            <a:ext cx="9601200" cy="1828800"/>
          </a:xfrm>
          <a:prstGeom prst="roundRect">
            <a:avLst>
              <a:gd name="adj" fmla="val 6000"/>
            </a:avLst>
          </a:prstGeom>
          <a:solidFill>
            <a:srgbClr val="1B2A4A"/>
          </a:solidFill>
          <a:ln/>
          <a:effectLst>
            <a:outerShdw blurRad="127000" dist="38100" dir="5400000" algn="bl" rotWithShape="0">
              <a:srgbClr val="1B2A4A">
                <a:alpha val="25000"/>
              </a:srgbClr>
            </a:outerShdw>
          </a:effectLst>
        </p:spPr>
      </p:sp>
      <p:sp>
        <p:nvSpPr>
          <p:cNvPr id="5" name="Text 3"/>
          <p:cNvSpPr/>
          <p:nvPr/>
        </p:nvSpPr>
        <p:spPr>
          <a:xfrm>
            <a:off x="1280160" y="2331720"/>
            <a:ext cx="9601200" cy="82296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CPU Time  =  </a:t>
            </a:r>
            <a:r>
              <a:rPr lang="en-US" sz="3000" b="1" dirty="0">
                <a:solidFill>
                  <a:srgbClr val="00C2CB"/>
                </a:solidFill>
                <a:latin typeface="Cambria" pitchFamily="34" charset="0"/>
                <a:ea typeface="Cambria" pitchFamily="34" charset="-122"/>
                <a:cs typeface="Cambria" pitchFamily="34" charset="-120"/>
              </a:rPr>
              <a:t>IC</a:t>
            </a:r>
            <a:r>
              <a:rPr lang="en-US" sz="3000" b="1" dirty="0">
                <a:solidFill>
                  <a:srgbClr val="FFFFFF"/>
                </a:solidFill>
                <a:latin typeface="Cambria" pitchFamily="34" charset="0"/>
                <a:ea typeface="Cambria" pitchFamily="34" charset="-122"/>
                <a:cs typeface="Cambria" pitchFamily="34" charset="-120"/>
              </a:rPr>
              <a:t>  ×  </a:t>
            </a:r>
            <a:r>
              <a:rPr lang="en-US" sz="3000" b="1" dirty="0">
                <a:solidFill>
                  <a:srgbClr val="00C2CB"/>
                </a:solidFill>
                <a:latin typeface="Cambria" pitchFamily="34" charset="0"/>
                <a:ea typeface="Cambria" pitchFamily="34" charset="-122"/>
                <a:cs typeface="Cambria" pitchFamily="34" charset="-120"/>
              </a:rPr>
              <a:t>CPI</a:t>
            </a:r>
            <a:r>
              <a:rPr lang="en-US" sz="3000" b="1" dirty="0">
                <a:solidFill>
                  <a:srgbClr val="FFFFFF"/>
                </a:solidFill>
                <a:latin typeface="Cambria" pitchFamily="34" charset="0"/>
                <a:ea typeface="Cambria" pitchFamily="34" charset="-122"/>
                <a:cs typeface="Cambria" pitchFamily="34" charset="-120"/>
              </a:rPr>
              <a:t>  ×  </a:t>
            </a:r>
            <a:r>
              <a:rPr lang="en-US" sz="3000" b="1" dirty="0">
                <a:solidFill>
                  <a:srgbClr val="00C2CB"/>
                </a:solidFill>
                <a:latin typeface="Cambria" pitchFamily="34" charset="0"/>
                <a:ea typeface="Cambria" pitchFamily="34" charset="-122"/>
                <a:cs typeface="Cambria" pitchFamily="34" charset="-120"/>
              </a:rPr>
              <a:t>Tc</a:t>
            </a:r>
            <a:endParaRPr lang="en-US" sz="3000" dirty="0"/>
          </a:p>
        </p:txBody>
      </p:sp>
      <p:sp>
        <p:nvSpPr>
          <p:cNvPr id="6" name="Shape 4"/>
          <p:cNvSpPr/>
          <p:nvPr/>
        </p:nvSpPr>
        <p:spPr>
          <a:xfrm>
            <a:off x="1280160" y="3977640"/>
            <a:ext cx="3017520" cy="1737360"/>
          </a:xfrm>
          <a:prstGeom prst="roundRect">
            <a:avLst>
              <a:gd name="adj" fmla="val 5263"/>
            </a:avLst>
          </a:prstGeom>
          <a:solidFill>
            <a:srgbClr val="FFFFFF"/>
          </a:solidFill>
          <a:ln/>
          <a:effectLst>
            <a:outerShdw blurRad="63500" dist="25400" dir="5400000" algn="bl" rotWithShape="0">
              <a:srgbClr val="1B2A4A">
                <a:alpha val="12000"/>
              </a:srgbClr>
            </a:outerShdw>
          </a:effectLst>
        </p:spPr>
      </p:sp>
      <p:sp>
        <p:nvSpPr>
          <p:cNvPr id="7" name="Text 5"/>
          <p:cNvSpPr/>
          <p:nvPr/>
        </p:nvSpPr>
        <p:spPr>
          <a:xfrm>
            <a:off x="1280160" y="4160520"/>
            <a:ext cx="3017520" cy="457200"/>
          </a:xfrm>
          <a:prstGeom prst="rect">
            <a:avLst/>
          </a:prstGeom>
          <a:noFill/>
          <a:ln/>
        </p:spPr>
        <p:txBody>
          <a:bodyPr wrap="square" rtlCol="0" anchor="ctr"/>
          <a:lstStyle/>
          <a:p>
            <a:pPr marL="0" indent="0" algn="ctr">
              <a:buNone/>
            </a:pPr>
            <a:r>
              <a:rPr lang="en-US" sz="2000" b="1" dirty="0">
                <a:solidFill>
                  <a:srgbClr val="3E7CB1"/>
                </a:solidFill>
                <a:latin typeface="Cambria" pitchFamily="34" charset="0"/>
                <a:ea typeface="Cambria" pitchFamily="34" charset="-122"/>
                <a:cs typeface="Cambria" pitchFamily="34" charset="-120"/>
              </a:rPr>
              <a:t>IC</a:t>
            </a:r>
            <a:endParaRPr lang="en-US" sz="2000" dirty="0"/>
          </a:p>
        </p:txBody>
      </p:sp>
      <p:sp>
        <p:nvSpPr>
          <p:cNvPr id="8" name="Text 6"/>
          <p:cNvSpPr/>
          <p:nvPr/>
        </p:nvSpPr>
        <p:spPr>
          <a:xfrm>
            <a:off x="1463040" y="4617720"/>
            <a:ext cx="2651760" cy="1005840"/>
          </a:xfrm>
          <a:prstGeom prst="rect">
            <a:avLst/>
          </a:prstGeom>
          <a:noFill/>
          <a:ln/>
        </p:spPr>
        <p:txBody>
          <a:bodyPr wrap="square" rtlCol="0" anchor="t"/>
          <a:lstStyle/>
          <a:p>
            <a:pPr marL="0" indent="0" algn="ctr">
              <a:buNone/>
            </a:pPr>
            <a:r>
              <a:rPr lang="en-US" sz="1200" dirty="0">
                <a:solidFill>
                  <a:srgbClr val="5B6B82"/>
                </a:solidFill>
                <a:latin typeface="Calibri" pitchFamily="34" charset="0"/>
                <a:ea typeface="Calibri" pitchFamily="34" charset="-122"/>
                <a:cs typeface="Calibri" pitchFamily="34" charset="-120"/>
              </a:rPr>
              <a:t>Instruction Count — how many instructions run</a:t>
            </a:r>
            <a:endParaRPr lang="en-US" sz="1200" dirty="0"/>
          </a:p>
        </p:txBody>
      </p:sp>
      <p:sp>
        <p:nvSpPr>
          <p:cNvPr id="9" name="Shape 7"/>
          <p:cNvSpPr/>
          <p:nvPr/>
        </p:nvSpPr>
        <p:spPr>
          <a:xfrm>
            <a:off x="4526280" y="3977640"/>
            <a:ext cx="3017520" cy="1737360"/>
          </a:xfrm>
          <a:prstGeom prst="roundRect">
            <a:avLst>
              <a:gd name="adj" fmla="val 5263"/>
            </a:avLst>
          </a:prstGeom>
          <a:solidFill>
            <a:srgbClr val="FFFFFF"/>
          </a:solidFill>
          <a:ln/>
          <a:effectLst>
            <a:outerShdw blurRad="63500" dist="25400" dir="5400000" algn="bl" rotWithShape="0">
              <a:srgbClr val="1B2A4A">
                <a:alpha val="12000"/>
              </a:srgbClr>
            </a:outerShdw>
          </a:effectLst>
        </p:spPr>
      </p:sp>
      <p:sp>
        <p:nvSpPr>
          <p:cNvPr id="10" name="Text 8"/>
          <p:cNvSpPr/>
          <p:nvPr/>
        </p:nvSpPr>
        <p:spPr>
          <a:xfrm>
            <a:off x="4526280" y="4160520"/>
            <a:ext cx="3017520" cy="457200"/>
          </a:xfrm>
          <a:prstGeom prst="rect">
            <a:avLst/>
          </a:prstGeom>
          <a:noFill/>
          <a:ln/>
        </p:spPr>
        <p:txBody>
          <a:bodyPr wrap="square" rtlCol="0" anchor="ctr"/>
          <a:lstStyle/>
          <a:p>
            <a:pPr marL="0" indent="0" algn="ctr">
              <a:buNone/>
            </a:pPr>
            <a:r>
              <a:rPr lang="en-US" sz="2000" b="1" dirty="0">
                <a:solidFill>
                  <a:srgbClr val="3E7CB1"/>
                </a:solidFill>
                <a:latin typeface="Cambria" pitchFamily="34" charset="0"/>
                <a:ea typeface="Cambria" pitchFamily="34" charset="-122"/>
                <a:cs typeface="Cambria" pitchFamily="34" charset="-120"/>
              </a:rPr>
              <a:t>CPI</a:t>
            </a:r>
            <a:endParaRPr lang="en-US" sz="2000" dirty="0"/>
          </a:p>
        </p:txBody>
      </p:sp>
      <p:sp>
        <p:nvSpPr>
          <p:cNvPr id="11" name="Text 9"/>
          <p:cNvSpPr/>
          <p:nvPr/>
        </p:nvSpPr>
        <p:spPr>
          <a:xfrm>
            <a:off x="4709160" y="4617720"/>
            <a:ext cx="2651760" cy="1005840"/>
          </a:xfrm>
          <a:prstGeom prst="rect">
            <a:avLst/>
          </a:prstGeom>
          <a:noFill/>
          <a:ln/>
        </p:spPr>
        <p:txBody>
          <a:bodyPr wrap="square" rtlCol="0" anchor="t"/>
          <a:lstStyle/>
          <a:p>
            <a:pPr marL="0" indent="0" algn="ctr">
              <a:buNone/>
            </a:pPr>
            <a:r>
              <a:rPr lang="en-US" sz="1200" dirty="0">
                <a:solidFill>
                  <a:srgbClr val="5B6B82"/>
                </a:solidFill>
                <a:latin typeface="Calibri" pitchFamily="34" charset="0"/>
                <a:ea typeface="Calibri" pitchFamily="34" charset="-122"/>
                <a:cs typeface="Calibri" pitchFamily="34" charset="-120"/>
              </a:rPr>
              <a:t>Cycles per Instruction — average cost per instruction</a:t>
            </a:r>
            <a:endParaRPr lang="en-US" sz="1200" dirty="0"/>
          </a:p>
        </p:txBody>
      </p:sp>
      <p:sp>
        <p:nvSpPr>
          <p:cNvPr id="12" name="Shape 10"/>
          <p:cNvSpPr/>
          <p:nvPr/>
        </p:nvSpPr>
        <p:spPr>
          <a:xfrm>
            <a:off x="7772400" y="3977640"/>
            <a:ext cx="3017520" cy="1737360"/>
          </a:xfrm>
          <a:prstGeom prst="roundRect">
            <a:avLst>
              <a:gd name="adj" fmla="val 5263"/>
            </a:avLst>
          </a:prstGeom>
          <a:solidFill>
            <a:srgbClr val="FFFFFF"/>
          </a:solidFill>
          <a:ln/>
          <a:effectLst>
            <a:outerShdw blurRad="63500" dist="25400" dir="5400000" algn="bl" rotWithShape="0">
              <a:srgbClr val="1B2A4A">
                <a:alpha val="12000"/>
              </a:srgbClr>
            </a:outerShdw>
          </a:effectLst>
        </p:spPr>
      </p:sp>
      <p:sp>
        <p:nvSpPr>
          <p:cNvPr id="13" name="Text 11"/>
          <p:cNvSpPr/>
          <p:nvPr/>
        </p:nvSpPr>
        <p:spPr>
          <a:xfrm>
            <a:off x="7772400" y="4160520"/>
            <a:ext cx="3017520" cy="457200"/>
          </a:xfrm>
          <a:prstGeom prst="rect">
            <a:avLst/>
          </a:prstGeom>
          <a:noFill/>
          <a:ln/>
        </p:spPr>
        <p:txBody>
          <a:bodyPr wrap="square" rtlCol="0" anchor="ctr"/>
          <a:lstStyle/>
          <a:p>
            <a:pPr marL="0" indent="0" algn="ctr">
              <a:buNone/>
            </a:pPr>
            <a:r>
              <a:rPr lang="en-US" sz="2000" b="1" dirty="0">
                <a:solidFill>
                  <a:srgbClr val="3E7CB1"/>
                </a:solidFill>
                <a:latin typeface="Cambria" pitchFamily="34" charset="0"/>
                <a:ea typeface="Cambria" pitchFamily="34" charset="-122"/>
                <a:cs typeface="Cambria" pitchFamily="34" charset="-120"/>
              </a:rPr>
              <a:t>Tc</a:t>
            </a:r>
            <a:endParaRPr lang="en-US" sz="2000" dirty="0"/>
          </a:p>
        </p:txBody>
      </p:sp>
      <p:sp>
        <p:nvSpPr>
          <p:cNvPr id="14" name="Text 12"/>
          <p:cNvSpPr/>
          <p:nvPr/>
        </p:nvSpPr>
        <p:spPr>
          <a:xfrm>
            <a:off x="7955280" y="4617720"/>
            <a:ext cx="2651760" cy="1005840"/>
          </a:xfrm>
          <a:prstGeom prst="rect">
            <a:avLst/>
          </a:prstGeom>
          <a:noFill/>
          <a:ln/>
        </p:spPr>
        <p:txBody>
          <a:bodyPr wrap="square" rtlCol="0" anchor="t"/>
          <a:lstStyle/>
          <a:p>
            <a:pPr marL="0" indent="0" algn="ctr">
              <a:buNone/>
            </a:pPr>
            <a:r>
              <a:rPr lang="en-US" sz="1200" dirty="0">
                <a:solidFill>
                  <a:srgbClr val="5B6B82"/>
                </a:solidFill>
                <a:latin typeface="Calibri" pitchFamily="34" charset="0"/>
                <a:ea typeface="Calibri" pitchFamily="34" charset="-122"/>
                <a:cs typeface="Calibri" pitchFamily="34" charset="-120"/>
              </a:rPr>
              <a:t>Clock Cycle Time — duration of one cycle (seconds)</a:t>
            </a:r>
            <a:endParaRPr lang="en-US" sz="1200" dirty="0"/>
          </a:p>
        </p:txBody>
      </p:sp>
      <p:sp>
        <p:nvSpPr>
          <p:cNvPr id="15" name="Text 13"/>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6" name="Text 1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STEP BY STEP</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Deriving the Equation from First Principles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Step 1: Total clock cycles used by the program = IC × CPI.</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Step 2: Each clock cycle lasts Tc seconds.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Step 3: Total time = (Total clock cycles) × (Time per cycle) = (IC × CPI) × Tc.</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This gives: CPU Time = IC × CPI × Tc.</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Alternative form using Clock Rate (f): CPU Time = (IC × CPI) / f, since f = 1/Tc.</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Units Check</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instructions × (cycles / instruction) × (seconds / cycle) = seconds. The units cancel perfectly — a handy way to remember the formula.</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VISUAL INTUITION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Understanding Each Term Visually</a:t>
            </a:r>
            <a:endParaRPr lang="en-US" sz="3000" dirty="0"/>
          </a:p>
        </p:txBody>
      </p:sp>
      <p:sp>
        <p:nvSpPr>
          <p:cNvPr id="4" name="Shape 2"/>
          <p:cNvSpPr/>
          <p:nvPr/>
        </p:nvSpPr>
        <p:spPr>
          <a:xfrm>
            <a:off x="548640" y="2103120"/>
            <a:ext cx="2331720" cy="2286000"/>
          </a:xfrm>
          <a:prstGeom prst="roundRect">
            <a:avLst>
              <a:gd name="adj" fmla="val 4000"/>
            </a:avLst>
          </a:prstGeom>
          <a:solidFill>
            <a:srgbClr val="1B2A4A"/>
          </a:solidFill>
          <a:ln/>
        </p:spPr>
      </p:sp>
      <p:sp>
        <p:nvSpPr>
          <p:cNvPr id="5" name="Shape 3"/>
          <p:cNvSpPr/>
          <p:nvPr/>
        </p:nvSpPr>
        <p:spPr>
          <a:xfrm>
            <a:off x="1303020" y="2377440"/>
            <a:ext cx="822960" cy="822960"/>
          </a:xfrm>
          <a:prstGeom prst="ellipse">
            <a:avLst/>
          </a:prstGeom>
          <a:solidFill>
            <a:srgbClr val="00C2CB"/>
          </a:solidFill>
          <a:ln/>
        </p:spPr>
      </p:sp>
      <p:sp>
        <p:nvSpPr>
          <p:cNvPr id="6" name="Text 4"/>
          <p:cNvSpPr/>
          <p:nvPr/>
        </p:nvSpPr>
        <p:spPr>
          <a:xfrm>
            <a:off x="1303020" y="237744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548640" y="3337560"/>
            <a:ext cx="233172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Program</a:t>
            </a:r>
            <a:endParaRPr lang="en-US" sz="1600" dirty="0"/>
          </a:p>
        </p:txBody>
      </p:sp>
      <p:sp>
        <p:nvSpPr>
          <p:cNvPr id="8" name="Text 6"/>
          <p:cNvSpPr/>
          <p:nvPr/>
        </p:nvSpPr>
        <p:spPr>
          <a:xfrm>
            <a:off x="685800" y="3703320"/>
            <a:ext cx="2057400" cy="64008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A task made of</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instructions</a:t>
            </a:r>
            <a:endParaRPr lang="en-US" sz="1050" dirty="0"/>
          </a:p>
        </p:txBody>
      </p:sp>
      <p:sp>
        <p:nvSpPr>
          <p:cNvPr id="9" name="Text 7"/>
          <p:cNvSpPr/>
          <p:nvPr/>
        </p:nvSpPr>
        <p:spPr>
          <a:xfrm>
            <a:off x="2880360" y="2880360"/>
            <a:ext cx="320040" cy="54864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200400" y="2103120"/>
            <a:ext cx="2331720" cy="2286000"/>
          </a:xfrm>
          <a:prstGeom prst="roundRect">
            <a:avLst>
              <a:gd name="adj" fmla="val 4000"/>
            </a:avLst>
          </a:prstGeom>
          <a:solidFill>
            <a:srgbClr val="E8EEF6"/>
          </a:solidFill>
          <a:ln/>
        </p:spPr>
      </p:sp>
      <p:sp>
        <p:nvSpPr>
          <p:cNvPr id="11" name="Shape 9"/>
          <p:cNvSpPr/>
          <p:nvPr/>
        </p:nvSpPr>
        <p:spPr>
          <a:xfrm>
            <a:off x="3954780" y="2377440"/>
            <a:ext cx="822960" cy="822960"/>
          </a:xfrm>
          <a:prstGeom prst="ellipse">
            <a:avLst/>
          </a:prstGeom>
          <a:solidFill>
            <a:srgbClr val="3E7CB1"/>
          </a:solidFill>
          <a:ln/>
        </p:spPr>
      </p:sp>
      <p:sp>
        <p:nvSpPr>
          <p:cNvPr id="12" name="Text 10"/>
          <p:cNvSpPr/>
          <p:nvPr/>
        </p:nvSpPr>
        <p:spPr>
          <a:xfrm>
            <a:off x="3954780" y="237744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3" name="Text 11"/>
          <p:cNvSpPr/>
          <p:nvPr/>
        </p:nvSpPr>
        <p:spPr>
          <a:xfrm>
            <a:off x="3200400" y="3337560"/>
            <a:ext cx="2331720" cy="3657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IC</a:t>
            </a:r>
            <a:endParaRPr lang="en-US" sz="1600" dirty="0"/>
          </a:p>
        </p:txBody>
      </p:sp>
      <p:sp>
        <p:nvSpPr>
          <p:cNvPr id="14" name="Text 12"/>
          <p:cNvSpPr/>
          <p:nvPr/>
        </p:nvSpPr>
        <p:spPr>
          <a:xfrm>
            <a:off x="3337560" y="3703320"/>
            <a:ext cx="2057400" cy="640080"/>
          </a:xfrm>
          <a:prstGeom prst="rect">
            <a:avLst/>
          </a:prstGeom>
          <a:noFill/>
          <a:ln/>
        </p:spPr>
        <p:txBody>
          <a:bodyPr wrap="square"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How many</a:t>
            </a:r>
            <a:endParaRPr lang="en-US" sz="1050" dirty="0"/>
          </a:p>
          <a:p>
            <a:pPr marL="0" indent="0" algn="ctr">
              <a:buNone/>
            </a:pPr>
            <a:r>
              <a:rPr lang="en-US" sz="1050" dirty="0">
                <a:solidFill>
                  <a:srgbClr val="5B6B82"/>
                </a:solidFill>
                <a:latin typeface="Calibri" pitchFamily="34" charset="0"/>
                <a:ea typeface="Calibri" pitchFamily="34" charset="-122"/>
                <a:cs typeface="Calibri" pitchFamily="34" charset="-120"/>
              </a:rPr>
              <a:t>instructions run</a:t>
            </a:r>
            <a:endParaRPr lang="en-US" sz="1050" dirty="0"/>
          </a:p>
        </p:txBody>
      </p:sp>
      <p:sp>
        <p:nvSpPr>
          <p:cNvPr id="15" name="Text 13"/>
          <p:cNvSpPr/>
          <p:nvPr/>
        </p:nvSpPr>
        <p:spPr>
          <a:xfrm>
            <a:off x="5532120" y="2880360"/>
            <a:ext cx="320040" cy="54864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852160" y="2103120"/>
            <a:ext cx="2331720" cy="2286000"/>
          </a:xfrm>
          <a:prstGeom prst="roundRect">
            <a:avLst>
              <a:gd name="adj" fmla="val 4000"/>
            </a:avLst>
          </a:prstGeom>
          <a:solidFill>
            <a:srgbClr val="E8EEF6"/>
          </a:solidFill>
          <a:ln/>
        </p:spPr>
      </p:sp>
      <p:sp>
        <p:nvSpPr>
          <p:cNvPr id="17" name="Shape 15"/>
          <p:cNvSpPr/>
          <p:nvPr/>
        </p:nvSpPr>
        <p:spPr>
          <a:xfrm>
            <a:off x="6606540" y="2377440"/>
            <a:ext cx="822960" cy="822960"/>
          </a:xfrm>
          <a:prstGeom prst="ellipse">
            <a:avLst/>
          </a:prstGeom>
          <a:solidFill>
            <a:srgbClr val="3E7CB1"/>
          </a:solidFill>
          <a:ln/>
        </p:spPr>
      </p:sp>
      <p:sp>
        <p:nvSpPr>
          <p:cNvPr id="18" name="Text 16"/>
          <p:cNvSpPr/>
          <p:nvPr/>
        </p:nvSpPr>
        <p:spPr>
          <a:xfrm>
            <a:off x="6606540" y="237744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5852160" y="3337560"/>
            <a:ext cx="2331720" cy="3657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CPI</a:t>
            </a:r>
            <a:endParaRPr lang="en-US" sz="1600" dirty="0"/>
          </a:p>
        </p:txBody>
      </p:sp>
      <p:sp>
        <p:nvSpPr>
          <p:cNvPr id="20" name="Text 18"/>
          <p:cNvSpPr/>
          <p:nvPr/>
        </p:nvSpPr>
        <p:spPr>
          <a:xfrm>
            <a:off x="5989320" y="3703320"/>
            <a:ext cx="2057400" cy="640080"/>
          </a:xfrm>
          <a:prstGeom prst="rect">
            <a:avLst/>
          </a:prstGeom>
          <a:noFill/>
          <a:ln/>
        </p:spPr>
        <p:txBody>
          <a:bodyPr wrap="square"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Avg cycles</a:t>
            </a:r>
            <a:endParaRPr lang="en-US" sz="1050" dirty="0"/>
          </a:p>
          <a:p>
            <a:pPr marL="0" indent="0" algn="ctr">
              <a:buNone/>
            </a:pPr>
            <a:r>
              <a:rPr lang="en-US" sz="1050" dirty="0">
                <a:solidFill>
                  <a:srgbClr val="5B6B82"/>
                </a:solidFill>
                <a:latin typeface="Calibri" pitchFamily="34" charset="0"/>
                <a:ea typeface="Calibri" pitchFamily="34" charset="-122"/>
                <a:cs typeface="Calibri" pitchFamily="34" charset="-120"/>
              </a:rPr>
              <a:t>per instruction</a:t>
            </a:r>
            <a:endParaRPr lang="en-US" sz="1050" dirty="0"/>
          </a:p>
        </p:txBody>
      </p:sp>
      <p:sp>
        <p:nvSpPr>
          <p:cNvPr id="21" name="Text 19"/>
          <p:cNvSpPr/>
          <p:nvPr/>
        </p:nvSpPr>
        <p:spPr>
          <a:xfrm>
            <a:off x="8183880" y="2880360"/>
            <a:ext cx="320040" cy="54864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8503920" y="2103120"/>
            <a:ext cx="2331720" cy="2286000"/>
          </a:xfrm>
          <a:prstGeom prst="roundRect">
            <a:avLst>
              <a:gd name="adj" fmla="val 4000"/>
            </a:avLst>
          </a:prstGeom>
          <a:solidFill>
            <a:srgbClr val="E8EEF6"/>
          </a:solidFill>
          <a:ln/>
        </p:spPr>
      </p:sp>
      <p:sp>
        <p:nvSpPr>
          <p:cNvPr id="23" name="Shape 21"/>
          <p:cNvSpPr/>
          <p:nvPr/>
        </p:nvSpPr>
        <p:spPr>
          <a:xfrm>
            <a:off x="9258300" y="2377440"/>
            <a:ext cx="822960" cy="822960"/>
          </a:xfrm>
          <a:prstGeom prst="ellipse">
            <a:avLst/>
          </a:prstGeom>
          <a:solidFill>
            <a:srgbClr val="3E7CB1"/>
          </a:solidFill>
          <a:ln/>
        </p:spPr>
      </p:sp>
      <p:sp>
        <p:nvSpPr>
          <p:cNvPr id="24" name="Text 22"/>
          <p:cNvSpPr/>
          <p:nvPr/>
        </p:nvSpPr>
        <p:spPr>
          <a:xfrm>
            <a:off x="9258300" y="237744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5" name="Text 23"/>
          <p:cNvSpPr/>
          <p:nvPr/>
        </p:nvSpPr>
        <p:spPr>
          <a:xfrm>
            <a:off x="8503920" y="3337560"/>
            <a:ext cx="2331720" cy="3657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Tc</a:t>
            </a:r>
            <a:endParaRPr lang="en-US" sz="1600" dirty="0"/>
          </a:p>
        </p:txBody>
      </p:sp>
      <p:sp>
        <p:nvSpPr>
          <p:cNvPr id="26" name="Text 24"/>
          <p:cNvSpPr/>
          <p:nvPr/>
        </p:nvSpPr>
        <p:spPr>
          <a:xfrm>
            <a:off x="8641080" y="3703320"/>
            <a:ext cx="2057400" cy="640080"/>
          </a:xfrm>
          <a:prstGeom prst="rect">
            <a:avLst/>
          </a:prstGeom>
          <a:noFill/>
          <a:ln/>
        </p:spPr>
        <p:txBody>
          <a:bodyPr wrap="square"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Seconds</a:t>
            </a:r>
            <a:endParaRPr lang="en-US" sz="1050" dirty="0"/>
          </a:p>
          <a:p>
            <a:pPr marL="0" indent="0" algn="ctr">
              <a:buNone/>
            </a:pPr>
            <a:r>
              <a:rPr lang="en-US" sz="1050" dirty="0">
                <a:solidFill>
                  <a:srgbClr val="5B6B82"/>
                </a:solidFill>
                <a:latin typeface="Calibri" pitchFamily="34" charset="0"/>
                <a:ea typeface="Calibri" pitchFamily="34" charset="-122"/>
                <a:cs typeface="Calibri" pitchFamily="34" charset="-120"/>
              </a:rPr>
              <a:t>per cycle</a:t>
            </a:r>
            <a:endParaRPr lang="en-US" sz="1050" dirty="0"/>
          </a:p>
        </p:txBody>
      </p:sp>
      <p:sp>
        <p:nvSpPr>
          <p:cNvPr id="27" name="Text 25"/>
          <p:cNvSpPr/>
          <p:nvPr/>
        </p:nvSpPr>
        <p:spPr>
          <a:xfrm>
            <a:off x="548640" y="4754880"/>
            <a:ext cx="10515600" cy="640080"/>
          </a:xfrm>
          <a:prstGeom prst="rect">
            <a:avLst/>
          </a:prstGeom>
          <a:noFill/>
          <a:ln/>
        </p:spPr>
        <p:txBody>
          <a:bodyPr wrap="square" rtlCol="0" anchor="ctr"/>
          <a:lstStyle/>
          <a:p>
            <a:pPr marL="0" indent="0" algn="ctr">
              <a:buNone/>
            </a:pPr>
            <a:r>
              <a:rPr lang="en-US" sz="2200" b="1" dirty="0">
                <a:solidFill>
                  <a:srgbClr val="1B2A4A"/>
                </a:solidFill>
                <a:latin typeface="Cambria" pitchFamily="34" charset="0"/>
                <a:ea typeface="Cambria" pitchFamily="34" charset="-122"/>
                <a:cs typeface="Cambria" pitchFamily="34" charset="-120"/>
              </a:rPr>
              <a:t>CPU Time = IC × CPI × Tc</a:t>
            </a:r>
            <a:endParaRPr lang="en-US" sz="2200" dirty="0"/>
          </a:p>
        </p:txBody>
      </p:sp>
      <p:sp>
        <p:nvSpPr>
          <p:cNvPr id="28" name="Text 26"/>
          <p:cNvSpPr/>
          <p:nvPr/>
        </p:nvSpPr>
        <p:spPr>
          <a:xfrm>
            <a:off x="548640" y="5349240"/>
            <a:ext cx="10515600" cy="457200"/>
          </a:xfrm>
          <a:prstGeom prst="rect">
            <a:avLst/>
          </a:prstGeom>
          <a:noFill/>
          <a:ln/>
        </p:spPr>
        <p:txBody>
          <a:bodyPr wrap="square" rtlCol="0" anchor="ctr"/>
          <a:lstStyle/>
          <a:p>
            <a:pPr marL="0" indent="0" algn="ctr">
              <a:buNone/>
            </a:pPr>
            <a:r>
              <a:rPr lang="en-US" sz="1300" i="1" dirty="0">
                <a:solidFill>
                  <a:srgbClr val="5B6B82"/>
                </a:solidFill>
                <a:latin typeface="Calibri" pitchFamily="34" charset="0"/>
                <a:ea typeface="Calibri" pitchFamily="34" charset="-122"/>
                <a:cs typeface="Calibri" pitchFamily="34" charset="-120"/>
              </a:rPr>
              <a:t>A program flows through these three multipliers to produce total execution time.</a:t>
            </a:r>
            <a:endParaRPr lang="en-US" sz="1300" dirty="0"/>
          </a:p>
        </p:txBody>
      </p:sp>
      <p:sp>
        <p:nvSpPr>
          <p:cNvPr id="29" name="Text 27"/>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30" name="Text 28"/>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31" name="Text 29"/>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BIG PICTURE</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‘Iron Law’ of Performance</a:t>
            </a:r>
            <a:endParaRPr lang="en-US" sz="3000" dirty="0"/>
          </a:p>
        </p:txBody>
      </p:sp>
      <p:sp>
        <p:nvSpPr>
          <p:cNvPr id="4" name="Shape 2"/>
          <p:cNvSpPr/>
          <p:nvPr/>
        </p:nvSpPr>
        <p:spPr>
          <a:xfrm>
            <a:off x="9052560" y="1600200"/>
            <a:ext cx="914400" cy="914400"/>
          </a:xfrm>
          <a:prstGeom prst="ellipse">
            <a:avLst/>
          </a:prstGeom>
          <a:solidFill>
            <a:srgbClr val="1B2A4A"/>
          </a:solidFill>
          <a:ln/>
        </p:spPr>
      </p:sp>
      <p:sp>
        <p:nvSpPr>
          <p:cNvPr id="5" name="Text 3"/>
          <p:cNvSpPr/>
          <p:nvPr/>
        </p:nvSpPr>
        <p:spPr>
          <a:xfrm>
            <a:off x="9052560" y="1600200"/>
            <a:ext cx="914400" cy="914400"/>
          </a:xfrm>
          <a:prstGeom prst="rect">
            <a:avLst/>
          </a:prstGeom>
          <a:noFill/>
          <a:ln/>
        </p:spPr>
        <p:txBody>
          <a:bodyPr wrap="square" rtlCol="0" anchor="ctr"/>
          <a:lstStyle/>
          <a:p>
            <a:pPr marL="0" indent="0" algn="ctr">
              <a:buNone/>
            </a:pPr>
            <a:r>
              <a:rPr lang="en-US" sz="2600" b="1" dirty="0">
                <a:solidFill>
                  <a:srgbClr val="00C2CB"/>
                </a:solidFill>
                <a:latin typeface="Calibri" pitchFamily="34" charset="0"/>
                <a:ea typeface="Calibri" pitchFamily="34" charset="-122"/>
                <a:cs typeface="Calibri" pitchFamily="34" charset="-120"/>
              </a:rPr>
              <a:t>⚖️</a:t>
            </a:r>
            <a:endParaRPr lang="en-US" sz="2600" dirty="0"/>
          </a:p>
        </p:txBody>
      </p:sp>
      <p:sp>
        <p:nvSpPr>
          <p:cNvPr id="6" name="Shape 4"/>
          <p:cNvSpPr/>
          <p:nvPr/>
        </p:nvSpPr>
        <p:spPr>
          <a:xfrm>
            <a:off x="7040880" y="2697480"/>
            <a:ext cx="4572000" cy="1051560"/>
          </a:xfrm>
          <a:prstGeom prst="roundRect">
            <a:avLst>
              <a:gd name="adj" fmla="val 8696"/>
            </a:avLst>
          </a:prstGeom>
          <a:solidFill>
            <a:srgbClr val="FFFFFF"/>
          </a:solidFill>
          <a:ln/>
          <a:effectLst>
            <a:outerShdw blurRad="76200" dist="25400" dir="5400000" algn="bl" rotWithShape="0">
              <a:srgbClr val="1B2A4A">
                <a:alpha val="14000"/>
              </a:srgbClr>
            </a:outerShdw>
          </a:effectLst>
        </p:spPr>
      </p:sp>
      <p:sp>
        <p:nvSpPr>
          <p:cNvPr id="7" name="Text 5"/>
          <p:cNvSpPr/>
          <p:nvPr/>
        </p:nvSpPr>
        <p:spPr>
          <a:xfrm>
            <a:off x="7269480" y="2807208"/>
            <a:ext cx="4114800" cy="347472"/>
          </a:xfrm>
          <a:prstGeom prst="rect">
            <a:avLst/>
          </a:prstGeom>
          <a:noFill/>
          <a:ln/>
        </p:spPr>
        <p:txBody>
          <a:bodyPr wrap="square" rtlCol="0" anchor="ctr"/>
          <a:lstStyle/>
          <a:p>
            <a:pPr marL="0" indent="0">
              <a:buNone/>
            </a:pPr>
            <a:r>
              <a:rPr lang="en-US" sz="1400" b="1" dirty="0">
                <a:solidFill>
                  <a:srgbClr val="3E7CB1"/>
                </a:solidFill>
                <a:latin typeface="Cambria" pitchFamily="34" charset="0"/>
                <a:ea typeface="Cambria" pitchFamily="34" charset="-122"/>
                <a:cs typeface="Cambria" pitchFamily="34" charset="-120"/>
              </a:rPr>
              <a:t>Technology</a:t>
            </a:r>
            <a:endParaRPr lang="en-US" sz="1400" dirty="0"/>
          </a:p>
        </p:txBody>
      </p:sp>
      <p:sp>
        <p:nvSpPr>
          <p:cNvPr id="8" name="Text 6"/>
          <p:cNvSpPr/>
          <p:nvPr/>
        </p:nvSpPr>
        <p:spPr>
          <a:xfrm>
            <a:off x="7269480" y="3172968"/>
            <a:ext cx="4114800" cy="502920"/>
          </a:xfrm>
          <a:prstGeom prst="rect">
            <a:avLst/>
          </a:prstGeom>
          <a:noFill/>
          <a:ln/>
        </p:spPr>
        <p:txBody>
          <a:bodyPr wrap="square" rtlCol="0" anchor="t"/>
          <a:lstStyle/>
          <a:p>
            <a:pPr marL="0" indent="0">
              <a:buNone/>
            </a:pPr>
            <a:r>
              <a:rPr lang="en-US" sz="1100" dirty="0">
                <a:solidFill>
                  <a:srgbClr val="5B6B82"/>
                </a:solidFill>
                <a:latin typeface="Calibri" pitchFamily="34" charset="0"/>
                <a:ea typeface="Calibri" pitchFamily="34" charset="-122"/>
                <a:cs typeface="Calibri" pitchFamily="34" charset="-120"/>
              </a:rPr>
              <a:t>Clock rate limits set by fabrication &amp; transistor physics</a:t>
            </a:r>
            <a:endParaRPr lang="en-US" sz="1100" dirty="0"/>
          </a:p>
        </p:txBody>
      </p:sp>
      <p:sp>
        <p:nvSpPr>
          <p:cNvPr id="9" name="Shape 7"/>
          <p:cNvSpPr/>
          <p:nvPr/>
        </p:nvSpPr>
        <p:spPr>
          <a:xfrm>
            <a:off x="7040880" y="3931920"/>
            <a:ext cx="4572000" cy="1051560"/>
          </a:xfrm>
          <a:prstGeom prst="roundRect">
            <a:avLst>
              <a:gd name="adj" fmla="val 8696"/>
            </a:avLst>
          </a:prstGeom>
          <a:solidFill>
            <a:srgbClr val="FFFFFF"/>
          </a:solidFill>
          <a:ln/>
          <a:effectLst>
            <a:outerShdw blurRad="76200" dist="25400" dir="5400000" algn="bl" rotWithShape="0">
              <a:srgbClr val="1B2A4A">
                <a:alpha val="14000"/>
              </a:srgbClr>
            </a:outerShdw>
          </a:effectLst>
        </p:spPr>
      </p:sp>
      <p:sp>
        <p:nvSpPr>
          <p:cNvPr id="10" name="Text 8"/>
          <p:cNvSpPr/>
          <p:nvPr/>
        </p:nvSpPr>
        <p:spPr>
          <a:xfrm>
            <a:off x="7269480" y="4041648"/>
            <a:ext cx="4114800" cy="347472"/>
          </a:xfrm>
          <a:prstGeom prst="rect">
            <a:avLst/>
          </a:prstGeom>
          <a:noFill/>
          <a:ln/>
        </p:spPr>
        <p:txBody>
          <a:bodyPr wrap="square" rtlCol="0" anchor="ctr"/>
          <a:lstStyle/>
          <a:p>
            <a:pPr marL="0" indent="0">
              <a:buNone/>
            </a:pPr>
            <a:r>
              <a:rPr lang="en-US" sz="1400" b="1" dirty="0">
                <a:solidFill>
                  <a:srgbClr val="3E7CB1"/>
                </a:solidFill>
                <a:latin typeface="Cambria" pitchFamily="34" charset="0"/>
                <a:ea typeface="Cambria" pitchFamily="34" charset="-122"/>
                <a:cs typeface="Cambria" pitchFamily="34" charset="-120"/>
              </a:rPr>
              <a:t>Architecture</a:t>
            </a:r>
            <a:endParaRPr lang="en-US" sz="1400" dirty="0"/>
          </a:p>
        </p:txBody>
      </p:sp>
      <p:sp>
        <p:nvSpPr>
          <p:cNvPr id="11" name="Text 9"/>
          <p:cNvSpPr/>
          <p:nvPr/>
        </p:nvSpPr>
        <p:spPr>
          <a:xfrm>
            <a:off x="7269480" y="4407408"/>
            <a:ext cx="4114800" cy="502920"/>
          </a:xfrm>
          <a:prstGeom prst="rect">
            <a:avLst/>
          </a:prstGeom>
          <a:noFill/>
          <a:ln/>
        </p:spPr>
        <p:txBody>
          <a:bodyPr wrap="square" rtlCol="0" anchor="t"/>
          <a:lstStyle/>
          <a:p>
            <a:pPr marL="0" indent="0">
              <a:buNone/>
            </a:pPr>
            <a:r>
              <a:rPr lang="en-US" sz="1100" dirty="0">
                <a:solidFill>
                  <a:srgbClr val="5B6B82"/>
                </a:solidFill>
                <a:latin typeface="Calibri" pitchFamily="34" charset="0"/>
                <a:ea typeface="Calibri" pitchFamily="34" charset="-122"/>
                <a:cs typeface="Calibri" pitchFamily="34" charset="-120"/>
              </a:rPr>
              <a:t>CPI shaped by pipelining, caching, hazards</a:t>
            </a:r>
            <a:endParaRPr lang="en-US" sz="1100" dirty="0"/>
          </a:p>
        </p:txBody>
      </p:sp>
      <p:sp>
        <p:nvSpPr>
          <p:cNvPr id="12" name="Shape 10"/>
          <p:cNvSpPr/>
          <p:nvPr/>
        </p:nvSpPr>
        <p:spPr>
          <a:xfrm>
            <a:off x="7040880" y="5166360"/>
            <a:ext cx="4572000" cy="1051560"/>
          </a:xfrm>
          <a:prstGeom prst="roundRect">
            <a:avLst>
              <a:gd name="adj" fmla="val 8696"/>
            </a:avLst>
          </a:prstGeom>
          <a:solidFill>
            <a:srgbClr val="FFFFFF"/>
          </a:solidFill>
          <a:ln/>
          <a:effectLst>
            <a:outerShdw blurRad="76200" dist="25400" dir="5400000" algn="bl" rotWithShape="0">
              <a:srgbClr val="1B2A4A">
                <a:alpha val="14000"/>
              </a:srgbClr>
            </a:outerShdw>
          </a:effectLst>
        </p:spPr>
      </p:sp>
      <p:sp>
        <p:nvSpPr>
          <p:cNvPr id="13" name="Text 11"/>
          <p:cNvSpPr/>
          <p:nvPr/>
        </p:nvSpPr>
        <p:spPr>
          <a:xfrm>
            <a:off x="7269480" y="5276088"/>
            <a:ext cx="4114800" cy="347472"/>
          </a:xfrm>
          <a:prstGeom prst="rect">
            <a:avLst/>
          </a:prstGeom>
          <a:noFill/>
          <a:ln/>
        </p:spPr>
        <p:txBody>
          <a:bodyPr wrap="square" rtlCol="0" anchor="ctr"/>
          <a:lstStyle/>
          <a:p>
            <a:pPr marL="0" indent="0">
              <a:buNone/>
            </a:pPr>
            <a:r>
              <a:rPr lang="en-US" sz="1400" b="1" dirty="0">
                <a:solidFill>
                  <a:srgbClr val="3E7CB1"/>
                </a:solidFill>
                <a:latin typeface="Cambria" pitchFamily="34" charset="0"/>
                <a:ea typeface="Cambria" pitchFamily="34" charset="-122"/>
                <a:cs typeface="Cambria" pitchFamily="34" charset="-120"/>
              </a:rPr>
              <a:t>Compiler / ISA</a:t>
            </a:r>
            <a:endParaRPr lang="en-US" sz="1400" dirty="0"/>
          </a:p>
        </p:txBody>
      </p:sp>
      <p:sp>
        <p:nvSpPr>
          <p:cNvPr id="14" name="Text 12"/>
          <p:cNvSpPr/>
          <p:nvPr/>
        </p:nvSpPr>
        <p:spPr>
          <a:xfrm>
            <a:off x="7269480" y="5641848"/>
            <a:ext cx="4114800" cy="502920"/>
          </a:xfrm>
          <a:prstGeom prst="rect">
            <a:avLst/>
          </a:prstGeom>
          <a:noFill/>
          <a:ln/>
        </p:spPr>
        <p:txBody>
          <a:bodyPr wrap="square" rtlCol="0" anchor="t"/>
          <a:lstStyle/>
          <a:p>
            <a:pPr marL="0" indent="0">
              <a:buNone/>
            </a:pPr>
            <a:r>
              <a:rPr lang="en-US" sz="1100" dirty="0">
                <a:solidFill>
                  <a:srgbClr val="5B6B82"/>
                </a:solidFill>
                <a:latin typeface="Calibri" pitchFamily="34" charset="0"/>
                <a:ea typeface="Calibri" pitchFamily="34" charset="-122"/>
                <a:cs typeface="Calibri" pitchFamily="34" charset="-120"/>
              </a:rPr>
              <a:t>IC shaped by instruction set &amp; compiler quality</a:t>
            </a:r>
            <a:endParaRPr lang="en-US" sz="1100" dirty="0"/>
          </a:p>
        </p:txBody>
      </p:sp>
      <p:sp>
        <p:nvSpPr>
          <p:cNvPr id="15" name="Text 13"/>
          <p:cNvSpPr/>
          <p:nvPr/>
        </p:nvSpPr>
        <p:spPr>
          <a:xfrm>
            <a:off x="548640" y="1691640"/>
            <a:ext cx="6035040" cy="4389120"/>
          </a:xfrm>
          <a:prstGeom prst="rect">
            <a:avLst/>
          </a:prstGeom>
          <a:noFill/>
          <a:ln/>
        </p:spPr>
        <p:txBody>
          <a:bodyPr wrap="square" rtlCol="0" anchor="ctr"/>
          <a:lstStyle/>
          <a:p>
            <a:pPr marL="342900" indent="-342900">
              <a:spcAft>
                <a:spcPts val="800"/>
              </a:spcAft>
              <a:buSzPct val="100000"/>
              <a:buChar char="•"/>
            </a:pPr>
            <a:r>
              <a:rPr lang="en-US" sz="2000" dirty="0">
                <a:solidFill>
                  <a:srgbClr val="1B2A4A"/>
                </a:solidFill>
                <a:latin typeface="Calibri" pitchFamily="34" charset="0"/>
                <a:ea typeface="Calibri" pitchFamily="34" charset="-122"/>
                <a:cs typeface="Calibri" pitchFamily="34" charset="-120"/>
              </a:rPr>
              <a:t>Performance is never one team's job alone — it is shared across three layers.</a:t>
            </a:r>
            <a:endParaRPr lang="en-US" sz="2000" dirty="0"/>
          </a:p>
          <a:p>
            <a:pPr marL="342900" indent="-342900">
              <a:spcAft>
                <a:spcPts val="800"/>
              </a:spcAft>
              <a:buSzPct val="100000"/>
              <a:buChar char="•"/>
            </a:pPr>
            <a:r>
              <a:rPr lang="en-US" sz="2000" dirty="0">
                <a:solidFill>
                  <a:srgbClr val="1B2A4A"/>
                </a:solidFill>
                <a:latin typeface="Calibri" pitchFamily="34" charset="0"/>
                <a:ea typeface="Calibri" pitchFamily="34" charset="-122"/>
                <a:cs typeface="Calibri" pitchFamily="34" charset="-120"/>
              </a:rPr>
              <a:t>Technology sets the ceiling on clock rate (Tc).</a:t>
            </a:r>
            <a:endParaRPr lang="en-US" sz="2000" dirty="0"/>
          </a:p>
          <a:p>
            <a:pPr marL="342900" indent="-342900">
              <a:spcAft>
                <a:spcPts val="800"/>
              </a:spcAft>
              <a:buSzPct val="100000"/>
              <a:buChar char="•"/>
            </a:pPr>
            <a:r>
              <a:rPr lang="en-US" sz="2000" dirty="0">
                <a:solidFill>
                  <a:srgbClr val="1B2A4A"/>
                </a:solidFill>
                <a:latin typeface="Calibri" pitchFamily="34" charset="0"/>
                <a:ea typeface="Calibri" pitchFamily="34" charset="-122"/>
                <a:cs typeface="Calibri" pitchFamily="34" charset="-120"/>
              </a:rPr>
              <a:t>Micro-architecture (pipelining, caching, hazards) sets CPI.</a:t>
            </a:r>
            <a:endParaRPr lang="en-US" sz="2000" dirty="0"/>
          </a:p>
          <a:p>
            <a:pPr marL="342900" indent="-342900">
              <a:spcAft>
                <a:spcPts val="800"/>
              </a:spcAft>
              <a:buSzPct val="100000"/>
              <a:buChar char="•"/>
            </a:pPr>
            <a:r>
              <a:rPr lang="en-US" sz="2000" dirty="0">
                <a:solidFill>
                  <a:srgbClr val="1B2A4A"/>
                </a:solidFill>
                <a:latin typeface="Calibri" pitchFamily="34" charset="0"/>
                <a:ea typeface="Calibri" pitchFamily="34" charset="-122"/>
                <a:cs typeface="Calibri" pitchFamily="34" charset="-120"/>
              </a:rPr>
              <a:t>Compiler and ISA design set the Instruction Count (IC).</a:t>
            </a:r>
            <a:endParaRPr lang="en-US" sz="2000" dirty="0"/>
          </a:p>
          <a:p>
            <a:pPr marL="342900" indent="-342900">
              <a:spcAft>
                <a:spcPts val="800"/>
              </a:spcAft>
              <a:buSzPct val="100000"/>
              <a:buChar char="•"/>
            </a:pPr>
            <a:r>
              <a:rPr lang="en-US" sz="2000" dirty="0">
                <a:solidFill>
                  <a:srgbClr val="1B2A4A"/>
                </a:solidFill>
                <a:latin typeface="Calibri" pitchFamily="34" charset="0"/>
                <a:ea typeface="Calibri" pitchFamily="34" charset="-122"/>
                <a:cs typeface="Calibri" pitchFamily="34" charset="-120"/>
              </a:rPr>
              <a:t>A gain in one layer can be wiped out by a loss in another — they must be co-designed.</a:t>
            </a:r>
            <a:endParaRPr lang="en-US" sz="2000" dirty="0"/>
          </a:p>
        </p:txBody>
      </p:sp>
      <p:sp>
        <p:nvSpPr>
          <p:cNvPr id="16" name="Text 14"/>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Why Clock Speed Alone Is Misleading</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In the early 2000s, marketing focused heavily on GHz — the ‘Megahertz Myth’.</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 Pentium 4 ran at higher GHz than a competing AMD Athlon, yet often ran slower in real tasks.</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The reason: Pentium 4 had a much longer pipeline, raising CPI for many workloads.</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Modern reviews now benchmark real applications, not just clock rate, for exactly this reason.</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Lesson: always evaluate IC × CPI × Tc together, never Tc (or GHz) in isolation.</a:t>
            </a:r>
            <a:endParaRPr lang="en-US" sz="20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The ‘Megahertz Myth’</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Higher GHz does not guarantee a faster CPU — CPI and IC can easily outweigh a clock-rate advantage.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Mobile SoCs vs Desktop CPUs</a:t>
            </a:r>
            <a:endParaRPr lang="en-US" sz="3000" dirty="0"/>
          </a:p>
        </p:txBody>
      </p:sp>
      <p:graphicFrame>
        <p:nvGraphicFramePr>
          <p:cNvPr id="4" name="Chart 0"/>
          <p:cNvGraphicFramePr/>
          <p:nvPr/>
        </p:nvGraphicFramePr>
        <p:xfrm>
          <a:off x="548640" y="173736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943600" y="1783080"/>
            <a:ext cx="5669280" cy="3840480"/>
          </a:xfrm>
          <a:prstGeom prst="rect">
            <a:avLst/>
          </a:prstGeom>
          <a:noFill/>
          <a:ln/>
        </p:spPr>
        <p:txBody>
          <a:bodyPr wrap="square" rtlCol="0" anchor="ctr"/>
          <a:lstStyle/>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Desktop CPUs often run at higher clock rates (higher f, lower Tc).</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Mobile SoCs compensate with efficient, low-CPI cores tuned for common app instructions.</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Mobile chips also use smaller IC per task via specialized accelerators (e.g., for image processing).</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Result: a mobile chip can feel snappy despite a much lower clock rate.</a:t>
            </a:r>
            <a:endParaRPr lang="en-US" dirty="0"/>
          </a:p>
        </p:txBody>
      </p:sp>
      <p:sp>
        <p:nvSpPr>
          <p:cNvPr id="6" name="Text 3"/>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7"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8" name="Text 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Effective CPI in Modern Processors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Modern CPUs use superscalar and out-of-order execution to push CPI below 1.0 for some workloads.</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 CPI below 1 means more than one instruction completes, on average, per clock cycle.</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This is achieved by executing independent instructions in parallel inside the same core.</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But CPI rises sharply during cache misses, branch mispredictions, or memory stalls — our next topic.</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Engineers report both ‘ideal CPI’ (best case) and ‘effective CPI’ (real, with stalls) for a chip.</a:t>
            </a:r>
            <a:endParaRPr lang="en-US" sz="20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CPI &lt; 1 is Real</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Superscalar processors can retire multiple instructions per cycle — but only when there are no stalls.</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BRIDGING CONCEPT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Ideal CPI vs Effective (Real) CPI</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Ideal CPI: cycles per instruction assuming no stalls, no hazards — the best-case design number.</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Effective CPI: the real, measured CPI once stalls, cache misses, and hazards are included.</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Effective CPI = Ideal CPI + Average Stall Cycles per Instruction.</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This single equation is the bridge between the Basic Performance Equation and pipelining.</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Everything from here onward is about understanding and minimizing that stall term.</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00C2CB"/>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Effective CPI</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Effective CPI = Ideal CPI + Stalls per Instruction. This is the formula we will use for every pipeline problem from here on.</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1</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Compute CPU Execution Time</a:t>
            </a:r>
            <a:endParaRPr lang="en-US" sz="3000" dirty="0"/>
          </a:p>
        </p:txBody>
      </p:sp>
      <p:sp>
        <p:nvSpPr>
          <p:cNvPr id="4" name="Shape 2"/>
          <p:cNvSpPr/>
          <p:nvPr/>
        </p:nvSpPr>
        <p:spPr>
          <a:xfrm>
            <a:off x="548640" y="1691640"/>
            <a:ext cx="6949440" cy="3566160"/>
          </a:xfrm>
          <a:prstGeom prst="roundRect">
            <a:avLst>
              <a:gd name="adj" fmla="val 2564"/>
            </a:avLst>
          </a:prstGeom>
          <a:solidFill>
            <a:srgbClr val="FFFFFF"/>
          </a:solidFill>
          <a:ln/>
          <a:effectLst>
            <a:outerShdw blurRad="76200" dist="25400" dir="5400000" algn="bl" rotWithShape="0">
              <a:srgbClr val="1B2A4A">
                <a:alpha val="12000"/>
              </a:srgbClr>
            </a:outerShdw>
          </a:effectLst>
        </p:spPr>
      </p:sp>
      <p:sp>
        <p:nvSpPr>
          <p:cNvPr id="5" name="Text 3"/>
          <p:cNvSpPr/>
          <p:nvPr/>
        </p:nvSpPr>
        <p:spPr>
          <a:xfrm>
            <a:off x="822960" y="1920240"/>
            <a:ext cx="5486400" cy="365760"/>
          </a:xfrm>
          <a:prstGeom prst="rect">
            <a:avLst/>
          </a:prstGeom>
          <a:noFill/>
          <a:ln/>
        </p:spPr>
        <p:txBody>
          <a:bodyPr wrap="square" rtlCol="0" anchor="ctr"/>
          <a:lstStyle/>
          <a:p>
            <a:pPr marL="0" indent="0">
              <a:buNone/>
            </a:pPr>
            <a:r>
              <a:rPr lang="en-US" sz="1500" b="1" dirty="0">
                <a:solidFill>
                  <a:srgbClr val="3E7CB1"/>
                </a:solidFill>
                <a:latin typeface="Cambria" pitchFamily="34" charset="0"/>
                <a:ea typeface="Cambria" pitchFamily="34" charset="-122"/>
                <a:cs typeface="Cambria" pitchFamily="34" charset="-120"/>
              </a:rPr>
              <a:t>Given:</a:t>
            </a:r>
            <a:endParaRPr lang="en-US" sz="1500" dirty="0"/>
          </a:p>
        </p:txBody>
      </p:sp>
      <p:sp>
        <p:nvSpPr>
          <p:cNvPr id="6" name="Text 4"/>
          <p:cNvSpPr/>
          <p:nvPr/>
        </p:nvSpPr>
        <p:spPr>
          <a:xfrm>
            <a:off x="822960" y="2331720"/>
            <a:ext cx="6400800" cy="1645920"/>
          </a:xfrm>
          <a:prstGeom prst="rect">
            <a:avLst/>
          </a:prstGeom>
          <a:noFill/>
          <a:ln/>
        </p:spPr>
        <p:txBody>
          <a:bodyPr wrap="square" rtlCol="0" anchor="ctr"/>
          <a:lstStyle/>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A program executes IC = 50,000 instructions.</a:t>
            </a:r>
            <a:endParaRPr lang="en-US" sz="1400" dirty="0"/>
          </a:p>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The processor achieves an average CPI = 2.2 cycles/instruction.</a:t>
            </a:r>
            <a:endParaRPr lang="en-US" sz="1400" dirty="0"/>
          </a:p>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The processor's clock rate is 2.5 GHz (so Tc = 0.4 ns).</a:t>
            </a:r>
            <a:endParaRPr lang="en-US" sz="1400" dirty="0"/>
          </a:p>
        </p:txBody>
      </p:sp>
      <p:sp>
        <p:nvSpPr>
          <p:cNvPr id="7" name="Text 5"/>
          <p:cNvSpPr/>
          <p:nvPr/>
        </p:nvSpPr>
        <p:spPr>
          <a:xfrm>
            <a:off x="822960" y="4160520"/>
            <a:ext cx="6400800" cy="822960"/>
          </a:xfrm>
          <a:prstGeom prst="rect">
            <a:avLst/>
          </a:prstGeom>
          <a:noFill/>
          <a:ln/>
        </p:spPr>
        <p:txBody>
          <a:bodyPr wrap="square"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Find: Total CPU execution time, in milliseconds.</a:t>
            </a:r>
            <a:endParaRPr lang="en-US" sz="1450" dirty="0"/>
          </a:p>
        </p:txBody>
      </p:sp>
      <p:sp>
        <p:nvSpPr>
          <p:cNvPr id="8" name="Shape 6"/>
          <p:cNvSpPr/>
          <p:nvPr/>
        </p:nvSpPr>
        <p:spPr>
          <a:xfrm>
            <a:off x="7955280" y="1691640"/>
            <a:ext cx="3657600" cy="3566160"/>
          </a:xfrm>
          <a:prstGeom prst="roundRect">
            <a:avLst>
              <a:gd name="adj" fmla="val 3077"/>
            </a:avLst>
          </a:prstGeom>
          <a:solidFill>
            <a:srgbClr val="E8EEF6"/>
          </a:solidFill>
          <a:ln/>
        </p:spPr>
      </p:sp>
      <p:sp>
        <p:nvSpPr>
          <p:cNvPr id="9" name="Shape 7"/>
          <p:cNvSpPr/>
          <p:nvPr/>
        </p:nvSpPr>
        <p:spPr>
          <a:xfrm>
            <a:off x="9281160" y="2057400"/>
            <a:ext cx="1005840" cy="1005840"/>
          </a:xfrm>
          <a:prstGeom prst="ellipse">
            <a:avLst/>
          </a:prstGeom>
          <a:solidFill>
            <a:srgbClr val="3E7CB1"/>
          </a:solidFill>
          <a:ln/>
        </p:spPr>
      </p:sp>
      <p:sp>
        <p:nvSpPr>
          <p:cNvPr id="10" name="Text 8"/>
          <p:cNvSpPr/>
          <p:nvPr/>
        </p:nvSpPr>
        <p:spPr>
          <a:xfrm>
            <a:off x="9281160" y="2057400"/>
            <a:ext cx="1005840" cy="10058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11" name="Text 9"/>
          <p:cNvSpPr/>
          <p:nvPr/>
        </p:nvSpPr>
        <p:spPr>
          <a:xfrm>
            <a:off x="8229600" y="3246120"/>
            <a:ext cx="3108960" cy="457200"/>
          </a:xfrm>
          <a:prstGeom prst="rect">
            <a:avLst/>
          </a:prstGeom>
          <a:noFill/>
          <a:ln/>
        </p:spPr>
        <p:txBody>
          <a:bodyPr wrap="square"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Try It Yourself</a:t>
            </a:r>
            <a:endParaRPr lang="en-US" sz="1500" dirty="0"/>
          </a:p>
        </p:txBody>
      </p:sp>
      <p:sp>
        <p:nvSpPr>
          <p:cNvPr id="12" name="Text 10"/>
          <p:cNvSpPr/>
          <p:nvPr/>
        </p:nvSpPr>
        <p:spPr>
          <a:xfrm>
            <a:off x="8229600" y="3749040"/>
            <a:ext cx="3108960" cy="1280160"/>
          </a:xfrm>
          <a:prstGeom prst="rect">
            <a:avLst/>
          </a:prstGeom>
          <a:noFill/>
          <a:ln/>
        </p:spPr>
        <p:txBody>
          <a:bodyPr wrap="square" rtlCol="0" anchor="t"/>
          <a:lstStyle/>
          <a:p>
            <a:pPr marL="0" indent="0" algn="ctr">
              <a:buNone/>
            </a:pPr>
            <a:r>
              <a:rPr lang="en-US" sz="1200" dirty="0">
                <a:solidFill>
                  <a:srgbClr val="5B6B82"/>
                </a:solidFill>
                <a:latin typeface="Calibri" pitchFamily="34" charset="0"/>
                <a:ea typeface="Calibri" pitchFamily="34" charset="-122"/>
                <a:cs typeface="Calibri" pitchFamily="34" charset="-120"/>
              </a:rPr>
              <a:t>Pause and attempt the calculation before the next slide reveals the step-by-step solution.</a:t>
            </a:r>
            <a:endParaRPr lang="en-US" sz="1200" dirty="0"/>
          </a:p>
        </p:txBody>
      </p:sp>
      <p:sp>
        <p:nvSpPr>
          <p:cNvPr id="13" name="Text 11"/>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4" name="Text 12"/>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5" name="Text 1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1 — SOLUTION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Step-by-Step Solution</a:t>
            </a:r>
            <a:endParaRPr lang="en-US" sz="3000" dirty="0"/>
          </a:p>
        </p:txBody>
      </p:sp>
      <p:sp>
        <p:nvSpPr>
          <p:cNvPr id="4" name="Shape 2"/>
          <p:cNvSpPr/>
          <p:nvPr/>
        </p:nvSpPr>
        <p:spPr>
          <a:xfrm>
            <a:off x="548640" y="1691640"/>
            <a:ext cx="502920" cy="502920"/>
          </a:xfrm>
          <a:prstGeom prst="ellipse">
            <a:avLst/>
          </a:prstGeom>
          <a:solidFill>
            <a:srgbClr val="00C2CB"/>
          </a:solidFill>
          <a:ln/>
        </p:spPr>
      </p:sp>
      <p:sp>
        <p:nvSpPr>
          <p:cNvPr id="5" name="Text 3"/>
          <p:cNvSpPr/>
          <p:nvPr/>
        </p:nvSpPr>
        <p:spPr>
          <a:xfrm>
            <a:off x="548640" y="169164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234440" y="1664208"/>
            <a:ext cx="2743200" cy="548640"/>
          </a:xfrm>
          <a:prstGeom prst="rect">
            <a:avLst/>
          </a:prstGeom>
          <a:noFill/>
          <a:ln/>
        </p:spPr>
        <p:txBody>
          <a:bodyPr wrap="square" rtlCol="0" anchor="ctr"/>
          <a:lstStyle/>
          <a:p>
            <a:pPr marL="0" indent="0">
              <a:buNone/>
            </a:pPr>
            <a:r>
              <a:rPr lang="en-US" sz="1350" b="1" dirty="0">
                <a:solidFill>
                  <a:srgbClr val="3E7CB1"/>
                </a:solidFill>
                <a:latin typeface="Cambria" pitchFamily="34" charset="0"/>
                <a:ea typeface="Cambria" pitchFamily="34" charset="-122"/>
                <a:cs typeface="Cambria" pitchFamily="34" charset="-120"/>
              </a:rPr>
              <a:t>Identify knowns</a:t>
            </a:r>
            <a:endParaRPr lang="en-US" sz="1350" dirty="0"/>
          </a:p>
        </p:txBody>
      </p:sp>
      <p:sp>
        <p:nvSpPr>
          <p:cNvPr id="7" name="Text 5"/>
          <p:cNvSpPr/>
          <p:nvPr/>
        </p:nvSpPr>
        <p:spPr>
          <a:xfrm>
            <a:off x="4023360" y="1664208"/>
            <a:ext cx="7589520" cy="548640"/>
          </a:xfrm>
          <a:prstGeom prst="rect">
            <a:avLst/>
          </a:prstGeom>
          <a:noFill/>
          <a:ln/>
        </p:spPr>
        <p:txBody>
          <a:bodyPr wrap="square" rtlCol="0" anchor="ctr"/>
          <a:lstStyle/>
          <a:p>
            <a:pPr marL="0" indent="0">
              <a:buNone/>
            </a:pPr>
            <a:r>
              <a:rPr lang="en-US" sz="1300" dirty="0">
                <a:solidFill>
                  <a:srgbClr val="1B2A4A"/>
                </a:solidFill>
                <a:latin typeface="Calibri" pitchFamily="34" charset="0"/>
                <a:ea typeface="Calibri" pitchFamily="34" charset="-122"/>
                <a:cs typeface="Calibri" pitchFamily="34" charset="-120"/>
              </a:rPr>
              <a:t>IC = 50,000;  CPI = 2.2;  Clock rate = 2.5 GHz</a:t>
            </a:r>
            <a:endParaRPr lang="en-US" sz="1300" dirty="0"/>
          </a:p>
        </p:txBody>
      </p:sp>
      <p:sp>
        <p:nvSpPr>
          <p:cNvPr id="8" name="Shape 6"/>
          <p:cNvSpPr/>
          <p:nvPr/>
        </p:nvSpPr>
        <p:spPr>
          <a:xfrm>
            <a:off x="548640" y="2514600"/>
            <a:ext cx="502920" cy="502920"/>
          </a:xfrm>
          <a:prstGeom prst="ellipse">
            <a:avLst/>
          </a:prstGeom>
          <a:solidFill>
            <a:srgbClr val="00C2CB"/>
          </a:solidFill>
          <a:ln/>
        </p:spPr>
      </p:sp>
      <p:sp>
        <p:nvSpPr>
          <p:cNvPr id="9" name="Text 7"/>
          <p:cNvSpPr/>
          <p:nvPr/>
        </p:nvSpPr>
        <p:spPr>
          <a:xfrm>
            <a:off x="548640" y="251460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234440" y="2487168"/>
            <a:ext cx="2743200" cy="548640"/>
          </a:xfrm>
          <a:prstGeom prst="rect">
            <a:avLst/>
          </a:prstGeom>
          <a:noFill/>
          <a:ln/>
        </p:spPr>
        <p:txBody>
          <a:bodyPr wrap="square" rtlCol="0" anchor="ctr"/>
          <a:lstStyle/>
          <a:p>
            <a:pPr marL="0" indent="0">
              <a:buNone/>
            </a:pPr>
            <a:r>
              <a:rPr lang="en-US" sz="1350" b="1" dirty="0">
                <a:solidFill>
                  <a:srgbClr val="3E7CB1"/>
                </a:solidFill>
                <a:latin typeface="Cambria" pitchFamily="34" charset="0"/>
                <a:ea typeface="Cambria" pitchFamily="34" charset="-122"/>
                <a:cs typeface="Cambria" pitchFamily="34" charset="-120"/>
              </a:rPr>
              <a:t>Find Tc</a:t>
            </a:r>
            <a:endParaRPr lang="en-US" sz="1350" dirty="0"/>
          </a:p>
        </p:txBody>
      </p:sp>
      <p:sp>
        <p:nvSpPr>
          <p:cNvPr id="11" name="Text 9"/>
          <p:cNvSpPr/>
          <p:nvPr/>
        </p:nvSpPr>
        <p:spPr>
          <a:xfrm>
            <a:off x="4023360" y="2487168"/>
            <a:ext cx="7589520" cy="548640"/>
          </a:xfrm>
          <a:prstGeom prst="rect">
            <a:avLst/>
          </a:prstGeom>
          <a:noFill/>
          <a:ln/>
        </p:spPr>
        <p:txBody>
          <a:bodyPr wrap="square" rtlCol="0" anchor="ctr"/>
          <a:lstStyle/>
          <a:p>
            <a:pPr marL="0" indent="0">
              <a:buNone/>
            </a:pPr>
            <a:r>
              <a:rPr lang="en-US" sz="1300" dirty="0">
                <a:solidFill>
                  <a:srgbClr val="1B2A4A"/>
                </a:solidFill>
                <a:latin typeface="Calibri" pitchFamily="34" charset="0"/>
                <a:ea typeface="Calibri" pitchFamily="34" charset="-122"/>
                <a:cs typeface="Calibri" pitchFamily="34" charset="-120"/>
              </a:rPr>
              <a:t>Tc = 1 / (2.5 × 10⁹) = 0.4 × 10⁻⁹ s = 0.4 ns</a:t>
            </a:r>
            <a:endParaRPr lang="en-US" sz="1300" dirty="0"/>
          </a:p>
        </p:txBody>
      </p:sp>
      <p:sp>
        <p:nvSpPr>
          <p:cNvPr id="12" name="Shape 10"/>
          <p:cNvSpPr/>
          <p:nvPr/>
        </p:nvSpPr>
        <p:spPr>
          <a:xfrm>
            <a:off x="548640" y="3337560"/>
            <a:ext cx="502920" cy="502920"/>
          </a:xfrm>
          <a:prstGeom prst="ellipse">
            <a:avLst/>
          </a:prstGeom>
          <a:solidFill>
            <a:srgbClr val="00C2CB"/>
          </a:solidFill>
          <a:ln/>
        </p:spPr>
      </p:sp>
      <p:sp>
        <p:nvSpPr>
          <p:cNvPr id="13" name="Text 11"/>
          <p:cNvSpPr/>
          <p:nvPr/>
        </p:nvSpPr>
        <p:spPr>
          <a:xfrm>
            <a:off x="548640" y="333756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234440" y="3310128"/>
            <a:ext cx="2743200" cy="548640"/>
          </a:xfrm>
          <a:prstGeom prst="rect">
            <a:avLst/>
          </a:prstGeom>
          <a:noFill/>
          <a:ln/>
        </p:spPr>
        <p:txBody>
          <a:bodyPr wrap="square" rtlCol="0" anchor="ctr"/>
          <a:lstStyle/>
          <a:p>
            <a:pPr marL="0" indent="0">
              <a:buNone/>
            </a:pPr>
            <a:r>
              <a:rPr lang="en-US" sz="1350" b="1" dirty="0">
                <a:solidFill>
                  <a:srgbClr val="3E7CB1"/>
                </a:solidFill>
                <a:latin typeface="Cambria" pitchFamily="34" charset="0"/>
                <a:ea typeface="Cambria" pitchFamily="34" charset="-122"/>
                <a:cs typeface="Cambria" pitchFamily="34" charset="-120"/>
              </a:rPr>
              <a:t>Apply the equation</a:t>
            </a:r>
            <a:endParaRPr lang="en-US" sz="1350" dirty="0"/>
          </a:p>
        </p:txBody>
      </p:sp>
      <p:sp>
        <p:nvSpPr>
          <p:cNvPr id="15" name="Text 13"/>
          <p:cNvSpPr/>
          <p:nvPr/>
        </p:nvSpPr>
        <p:spPr>
          <a:xfrm>
            <a:off x="4023360" y="3310128"/>
            <a:ext cx="7589520" cy="548640"/>
          </a:xfrm>
          <a:prstGeom prst="rect">
            <a:avLst/>
          </a:prstGeom>
          <a:noFill/>
          <a:ln/>
        </p:spPr>
        <p:txBody>
          <a:bodyPr wrap="square" rtlCol="0" anchor="ctr"/>
          <a:lstStyle/>
          <a:p>
            <a:pPr marL="0" indent="0">
              <a:buNone/>
            </a:pPr>
            <a:r>
              <a:rPr lang="en-US" sz="1300" dirty="0">
                <a:solidFill>
                  <a:srgbClr val="1B2A4A"/>
                </a:solidFill>
                <a:latin typeface="Calibri" pitchFamily="34" charset="0"/>
                <a:ea typeface="Calibri" pitchFamily="34" charset="-122"/>
                <a:cs typeface="Calibri" pitchFamily="34" charset="-120"/>
              </a:rPr>
              <a:t>CPU Time = IC × CPI × Tc = 50,000 × 2.2 × 0.4 ns</a:t>
            </a:r>
            <a:endParaRPr lang="en-US" sz="1300" dirty="0"/>
          </a:p>
        </p:txBody>
      </p:sp>
      <p:sp>
        <p:nvSpPr>
          <p:cNvPr id="16" name="Shape 14"/>
          <p:cNvSpPr/>
          <p:nvPr/>
        </p:nvSpPr>
        <p:spPr>
          <a:xfrm>
            <a:off x="548640" y="4160520"/>
            <a:ext cx="502920" cy="502920"/>
          </a:xfrm>
          <a:prstGeom prst="ellipse">
            <a:avLst/>
          </a:prstGeom>
          <a:solidFill>
            <a:srgbClr val="00C2CB"/>
          </a:solidFill>
          <a:ln/>
        </p:spPr>
      </p:sp>
      <p:sp>
        <p:nvSpPr>
          <p:cNvPr id="17" name="Text 15"/>
          <p:cNvSpPr/>
          <p:nvPr/>
        </p:nvSpPr>
        <p:spPr>
          <a:xfrm>
            <a:off x="548640" y="416052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234440" y="4133088"/>
            <a:ext cx="2743200" cy="548640"/>
          </a:xfrm>
          <a:prstGeom prst="rect">
            <a:avLst/>
          </a:prstGeom>
          <a:noFill/>
          <a:ln/>
        </p:spPr>
        <p:txBody>
          <a:bodyPr wrap="square" rtlCol="0" anchor="ctr"/>
          <a:lstStyle/>
          <a:p>
            <a:pPr marL="0" indent="0">
              <a:buNone/>
            </a:pPr>
            <a:r>
              <a:rPr lang="en-US" sz="1350" b="1" dirty="0">
                <a:solidFill>
                  <a:srgbClr val="3E7CB1"/>
                </a:solidFill>
                <a:latin typeface="Cambria" pitchFamily="34" charset="0"/>
                <a:ea typeface="Cambria" pitchFamily="34" charset="-122"/>
                <a:cs typeface="Cambria" pitchFamily="34" charset="-120"/>
              </a:rPr>
              <a:t>Compute</a:t>
            </a:r>
            <a:endParaRPr lang="en-US" sz="1350" dirty="0"/>
          </a:p>
        </p:txBody>
      </p:sp>
      <p:sp>
        <p:nvSpPr>
          <p:cNvPr id="19" name="Text 17"/>
          <p:cNvSpPr/>
          <p:nvPr/>
        </p:nvSpPr>
        <p:spPr>
          <a:xfrm>
            <a:off x="4023360" y="4133088"/>
            <a:ext cx="7589520" cy="548640"/>
          </a:xfrm>
          <a:prstGeom prst="rect">
            <a:avLst/>
          </a:prstGeom>
          <a:noFill/>
          <a:ln/>
        </p:spPr>
        <p:txBody>
          <a:bodyPr wrap="square" rtlCol="0" anchor="ctr"/>
          <a:lstStyle/>
          <a:p>
            <a:pPr marL="0" indent="0">
              <a:buNone/>
            </a:pPr>
            <a:r>
              <a:rPr lang="en-US" sz="1300" dirty="0">
                <a:solidFill>
                  <a:srgbClr val="1B2A4A"/>
                </a:solidFill>
                <a:latin typeface="Calibri" pitchFamily="34" charset="0"/>
                <a:ea typeface="Calibri" pitchFamily="34" charset="-122"/>
                <a:cs typeface="Calibri" pitchFamily="34" charset="-120"/>
              </a:rPr>
              <a:t>= 50,000 × 2.2 = 110,000 cycles;  110,000 × 0.4 ns = 44,000 ns</a:t>
            </a:r>
            <a:endParaRPr lang="en-US" sz="1300" dirty="0"/>
          </a:p>
        </p:txBody>
      </p:sp>
      <p:sp>
        <p:nvSpPr>
          <p:cNvPr id="20" name="Shape 18"/>
          <p:cNvSpPr/>
          <p:nvPr/>
        </p:nvSpPr>
        <p:spPr>
          <a:xfrm>
            <a:off x="548640" y="4983480"/>
            <a:ext cx="502920" cy="502920"/>
          </a:xfrm>
          <a:prstGeom prst="ellipse">
            <a:avLst/>
          </a:prstGeom>
          <a:solidFill>
            <a:srgbClr val="00C2CB"/>
          </a:solidFill>
          <a:ln/>
        </p:spPr>
      </p:sp>
      <p:sp>
        <p:nvSpPr>
          <p:cNvPr id="21" name="Text 19"/>
          <p:cNvSpPr/>
          <p:nvPr/>
        </p:nvSpPr>
        <p:spPr>
          <a:xfrm>
            <a:off x="548640" y="498348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234440" y="4956048"/>
            <a:ext cx="2743200" cy="548640"/>
          </a:xfrm>
          <a:prstGeom prst="rect">
            <a:avLst/>
          </a:prstGeom>
          <a:noFill/>
          <a:ln/>
        </p:spPr>
        <p:txBody>
          <a:bodyPr wrap="square" rtlCol="0" anchor="ctr"/>
          <a:lstStyle/>
          <a:p>
            <a:pPr marL="0" indent="0">
              <a:buNone/>
            </a:pPr>
            <a:r>
              <a:rPr lang="en-US" sz="1350" b="1" dirty="0">
                <a:solidFill>
                  <a:srgbClr val="3E7CB1"/>
                </a:solidFill>
                <a:latin typeface="Cambria" pitchFamily="34" charset="0"/>
                <a:ea typeface="Cambria" pitchFamily="34" charset="-122"/>
                <a:cs typeface="Cambria" pitchFamily="34" charset="-120"/>
              </a:rPr>
              <a:t>Convert &amp; conclude</a:t>
            </a:r>
            <a:endParaRPr lang="en-US" sz="1350" dirty="0"/>
          </a:p>
        </p:txBody>
      </p:sp>
      <p:sp>
        <p:nvSpPr>
          <p:cNvPr id="23" name="Text 21"/>
          <p:cNvSpPr/>
          <p:nvPr/>
        </p:nvSpPr>
        <p:spPr>
          <a:xfrm>
            <a:off x="4023360" y="4956048"/>
            <a:ext cx="7589520" cy="548640"/>
          </a:xfrm>
          <a:prstGeom prst="rect">
            <a:avLst/>
          </a:prstGeom>
          <a:noFill/>
          <a:ln/>
        </p:spPr>
        <p:txBody>
          <a:bodyPr wrap="square" rtlCol="0" anchor="ctr"/>
          <a:lstStyle/>
          <a:p>
            <a:pPr marL="0" indent="0">
              <a:buNone/>
            </a:pPr>
            <a:r>
              <a:rPr lang="en-US" sz="1300" dirty="0">
                <a:solidFill>
                  <a:srgbClr val="1B2A4A"/>
                </a:solidFill>
                <a:latin typeface="Calibri" pitchFamily="34" charset="0"/>
                <a:ea typeface="Calibri" pitchFamily="34" charset="-122"/>
                <a:cs typeface="Calibri" pitchFamily="34" charset="-120"/>
              </a:rPr>
              <a:t>44,000 ns = 44 microseconds = 0.044 milliseconds</a:t>
            </a:r>
            <a:endParaRPr lang="en-US" sz="1300" dirty="0"/>
          </a:p>
        </p:txBody>
      </p:sp>
      <p:sp>
        <p:nvSpPr>
          <p:cNvPr id="24" name="Shape 22"/>
          <p:cNvSpPr/>
          <p:nvPr/>
        </p:nvSpPr>
        <p:spPr>
          <a:xfrm>
            <a:off x="548640" y="5532120"/>
            <a:ext cx="10149840" cy="548640"/>
          </a:xfrm>
          <a:prstGeom prst="roundRect">
            <a:avLst>
              <a:gd name="adj" fmla="val 13333"/>
            </a:avLst>
          </a:prstGeom>
          <a:solidFill>
            <a:srgbClr val="1B2A4A"/>
          </a:solidFill>
          <a:ln/>
        </p:spPr>
      </p:sp>
      <p:sp>
        <p:nvSpPr>
          <p:cNvPr id="25" name="Text 23"/>
          <p:cNvSpPr/>
          <p:nvPr/>
        </p:nvSpPr>
        <p:spPr>
          <a:xfrm>
            <a:off x="548640" y="5532120"/>
            <a:ext cx="101498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Answer: CPU Time ≈ 0.044 ms  (44,000 nanoseconds)</a:t>
            </a:r>
            <a:endParaRPr lang="en-US" sz="1500"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2</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Compare Two Processor Designs</a:t>
            </a:r>
            <a:endParaRPr lang="en-US" sz="3000" dirty="0"/>
          </a:p>
        </p:txBody>
      </p:sp>
      <p:sp>
        <p:nvSpPr>
          <p:cNvPr id="4" name="Shape 2"/>
          <p:cNvSpPr/>
          <p:nvPr/>
        </p:nvSpPr>
        <p:spPr>
          <a:xfrm>
            <a:off x="548640" y="1737360"/>
            <a:ext cx="3383280" cy="2651760"/>
          </a:xfrm>
          <a:prstGeom prst="roundRect">
            <a:avLst>
              <a:gd name="adj" fmla="val 3448"/>
            </a:avLst>
          </a:prstGeom>
          <a:solidFill>
            <a:srgbClr val="E8EEF6"/>
          </a:solidFill>
          <a:ln/>
        </p:spPr>
      </p:sp>
      <p:sp>
        <p:nvSpPr>
          <p:cNvPr id="5" name="Text 3"/>
          <p:cNvSpPr/>
          <p:nvPr/>
        </p:nvSpPr>
        <p:spPr>
          <a:xfrm>
            <a:off x="731520" y="1920240"/>
            <a:ext cx="3017520" cy="411480"/>
          </a:xfrm>
          <a:prstGeom prst="rect">
            <a:avLst/>
          </a:prstGeom>
          <a:noFill/>
          <a:ln/>
        </p:spPr>
        <p:txBody>
          <a:bodyPr wrap="square" rtlCol="0" anchor="ctr"/>
          <a:lstStyle/>
          <a:p>
            <a:pPr marL="0" indent="0">
              <a:buNone/>
            </a:pPr>
            <a:r>
              <a:rPr lang="en-US" sz="1600" b="1" dirty="0">
                <a:solidFill>
                  <a:srgbClr val="3E7CB1"/>
                </a:solidFill>
                <a:latin typeface="Cambria" pitchFamily="34" charset="0"/>
                <a:ea typeface="Cambria" pitchFamily="34" charset="-122"/>
                <a:cs typeface="Cambria" pitchFamily="34" charset="-120"/>
              </a:rPr>
              <a:t>Design A</a:t>
            </a:r>
            <a:endParaRPr lang="en-US" sz="1600" dirty="0"/>
          </a:p>
        </p:txBody>
      </p:sp>
      <p:sp>
        <p:nvSpPr>
          <p:cNvPr id="6" name="Text 4"/>
          <p:cNvSpPr/>
          <p:nvPr/>
        </p:nvSpPr>
        <p:spPr>
          <a:xfrm>
            <a:off x="731520" y="2423160"/>
            <a:ext cx="3017520" cy="1737360"/>
          </a:xfrm>
          <a:prstGeom prst="rect">
            <a:avLst/>
          </a:prstGeom>
          <a:noFill/>
          <a:ln/>
        </p:spPr>
        <p:txBody>
          <a:bodyPr wrap="square" rtlCol="0" anchor="ctr"/>
          <a:lstStyle/>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IC = 40,000</a:t>
            </a:r>
            <a:endParaRPr lang="en-US" sz="1350" dirty="0"/>
          </a:p>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CPI = 3.0</a:t>
            </a:r>
            <a:endParaRPr lang="en-US" sz="1350" dirty="0"/>
          </a:p>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Clock = 3.0 GHz</a:t>
            </a:r>
            <a:endParaRPr lang="en-US" sz="1350" dirty="0"/>
          </a:p>
        </p:txBody>
      </p:sp>
      <p:sp>
        <p:nvSpPr>
          <p:cNvPr id="7" name="Shape 5"/>
          <p:cNvSpPr/>
          <p:nvPr/>
        </p:nvSpPr>
        <p:spPr>
          <a:xfrm>
            <a:off x="4206240" y="1737360"/>
            <a:ext cx="3383280" cy="2651760"/>
          </a:xfrm>
          <a:prstGeom prst="roundRect">
            <a:avLst>
              <a:gd name="adj" fmla="val 3448"/>
            </a:avLst>
          </a:prstGeom>
          <a:solidFill>
            <a:srgbClr val="DDF4F4"/>
          </a:solidFill>
          <a:ln/>
        </p:spPr>
      </p:sp>
      <p:sp>
        <p:nvSpPr>
          <p:cNvPr id="8" name="Text 6"/>
          <p:cNvSpPr/>
          <p:nvPr/>
        </p:nvSpPr>
        <p:spPr>
          <a:xfrm>
            <a:off x="4389120" y="1920240"/>
            <a:ext cx="3017520" cy="411480"/>
          </a:xfrm>
          <a:prstGeom prst="rect">
            <a:avLst/>
          </a:prstGeom>
          <a:noFill/>
          <a:ln/>
        </p:spPr>
        <p:txBody>
          <a:bodyPr wrap="square" rtlCol="0" anchor="ctr"/>
          <a:lstStyle/>
          <a:p>
            <a:pPr marL="0" indent="0">
              <a:buNone/>
            </a:pPr>
            <a:r>
              <a:rPr lang="en-US" sz="1600" b="1" dirty="0">
                <a:solidFill>
                  <a:srgbClr val="0A8F94"/>
                </a:solidFill>
                <a:latin typeface="Cambria" pitchFamily="34" charset="0"/>
                <a:ea typeface="Cambria" pitchFamily="34" charset="-122"/>
                <a:cs typeface="Cambria" pitchFamily="34" charset="-120"/>
              </a:rPr>
              <a:t>Design B</a:t>
            </a:r>
            <a:endParaRPr lang="en-US" sz="1600" dirty="0"/>
          </a:p>
        </p:txBody>
      </p:sp>
      <p:sp>
        <p:nvSpPr>
          <p:cNvPr id="9" name="Text 7"/>
          <p:cNvSpPr/>
          <p:nvPr/>
        </p:nvSpPr>
        <p:spPr>
          <a:xfrm>
            <a:off x="4389120" y="2423160"/>
            <a:ext cx="3017520" cy="1737360"/>
          </a:xfrm>
          <a:prstGeom prst="rect">
            <a:avLst/>
          </a:prstGeom>
          <a:noFill/>
          <a:ln/>
        </p:spPr>
        <p:txBody>
          <a:bodyPr wrap="square" rtlCol="0" anchor="ctr"/>
          <a:lstStyle/>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IC = 40,000</a:t>
            </a:r>
            <a:endParaRPr lang="en-US" sz="1350" dirty="0"/>
          </a:p>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CPI = 1.5</a:t>
            </a:r>
            <a:endParaRPr lang="en-US" sz="1350" dirty="0"/>
          </a:p>
          <a:p>
            <a:pPr marL="342900" indent="-342900">
              <a:spcAft>
                <a:spcPts val="800"/>
              </a:spcAft>
              <a:buSzPct val="100000"/>
              <a:buChar char="•"/>
            </a:pPr>
            <a:r>
              <a:rPr lang="en-US" sz="1350" dirty="0">
                <a:solidFill>
                  <a:srgbClr val="1B2A4A"/>
                </a:solidFill>
                <a:latin typeface="Calibri" pitchFamily="34" charset="0"/>
                <a:ea typeface="Calibri" pitchFamily="34" charset="-122"/>
                <a:cs typeface="Calibri" pitchFamily="34" charset="-120"/>
              </a:rPr>
              <a:t>Clock = 2.0 GHz</a:t>
            </a:r>
            <a:endParaRPr lang="en-US" sz="1350" dirty="0"/>
          </a:p>
        </p:txBody>
      </p:sp>
      <p:sp>
        <p:nvSpPr>
          <p:cNvPr id="10" name="Shape 8"/>
          <p:cNvSpPr/>
          <p:nvPr/>
        </p:nvSpPr>
        <p:spPr>
          <a:xfrm>
            <a:off x="7955280" y="1737360"/>
            <a:ext cx="3657600" cy="2651760"/>
          </a:xfrm>
          <a:prstGeom prst="roundRect">
            <a:avLst>
              <a:gd name="adj" fmla="val 4138"/>
            </a:avLst>
          </a:prstGeom>
          <a:solidFill>
            <a:srgbClr val="1B2A4A"/>
          </a:solidFill>
          <a:ln/>
        </p:spPr>
      </p:sp>
      <p:sp>
        <p:nvSpPr>
          <p:cNvPr id="11" name="Shape 9"/>
          <p:cNvSpPr/>
          <p:nvPr/>
        </p:nvSpPr>
        <p:spPr>
          <a:xfrm>
            <a:off x="9326880" y="1965960"/>
            <a:ext cx="914400" cy="914400"/>
          </a:xfrm>
          <a:prstGeom prst="ellipse">
            <a:avLst/>
          </a:prstGeom>
          <a:solidFill>
            <a:srgbClr val="00C2CB"/>
          </a:solidFill>
          <a:ln/>
        </p:spPr>
      </p:sp>
      <p:sp>
        <p:nvSpPr>
          <p:cNvPr id="12" name="Text 10"/>
          <p:cNvSpPr/>
          <p:nvPr/>
        </p:nvSpPr>
        <p:spPr>
          <a:xfrm>
            <a:off x="9326880" y="1965960"/>
            <a:ext cx="914400" cy="914400"/>
          </a:xfrm>
          <a:prstGeom prst="rect">
            <a:avLst/>
          </a:prstGeom>
          <a:noFill/>
          <a:ln/>
        </p:spPr>
        <p:txBody>
          <a:bodyPr wrap="square" rtlCol="0" anchor="ctr"/>
          <a:lstStyle/>
          <a:p>
            <a:pPr marL="0" indent="0" algn="ctr">
              <a:buNone/>
            </a:pPr>
            <a:r>
              <a:rPr lang="en-US" sz="2600" b="1" dirty="0">
                <a:solidFill>
                  <a:srgbClr val="121D33"/>
                </a:solidFill>
                <a:latin typeface="Calibri" pitchFamily="34" charset="0"/>
                <a:ea typeface="Calibri" pitchFamily="34" charset="-122"/>
                <a:cs typeface="Calibri" pitchFamily="34" charset="-120"/>
              </a:rPr>
              <a:t>❓</a:t>
            </a:r>
            <a:endParaRPr lang="en-US" sz="2600" dirty="0"/>
          </a:p>
        </p:txBody>
      </p:sp>
      <p:sp>
        <p:nvSpPr>
          <p:cNvPr id="13" name="Text 11"/>
          <p:cNvSpPr/>
          <p:nvPr/>
        </p:nvSpPr>
        <p:spPr>
          <a:xfrm>
            <a:off x="8183880" y="3017520"/>
            <a:ext cx="3200400" cy="822960"/>
          </a:xfrm>
          <a:prstGeom prst="rect">
            <a:avLst/>
          </a:prstGeom>
          <a:noFill/>
          <a:ln/>
        </p:spPr>
        <p:txBody>
          <a:bodyPr wrap="square" rtlCol="0" anchor="t"/>
          <a:lstStyle/>
          <a:p>
            <a:pPr marL="0" indent="0" algn="ctr">
              <a:buNone/>
            </a:pPr>
            <a:r>
              <a:rPr lang="en-US" sz="1500" b="1" dirty="0">
                <a:solidFill>
                  <a:srgbClr val="FFFFFF"/>
                </a:solidFill>
                <a:latin typeface="Cambria" pitchFamily="34" charset="0"/>
                <a:ea typeface="Cambria" pitchFamily="34" charset="-122"/>
                <a:cs typeface="Cambria" pitchFamily="34" charset="-120"/>
              </a:rPr>
              <a:t>Which design finishes faster?</a:t>
            </a:r>
            <a:endParaRPr lang="en-US" sz="1500" dirty="0"/>
          </a:p>
        </p:txBody>
      </p:sp>
      <p:sp>
        <p:nvSpPr>
          <p:cNvPr id="14" name="Text 12"/>
          <p:cNvSpPr/>
          <p:nvPr/>
        </p:nvSpPr>
        <p:spPr>
          <a:xfrm>
            <a:off x="8183880" y="3703320"/>
            <a:ext cx="3200400" cy="548640"/>
          </a:xfrm>
          <a:prstGeom prst="rect">
            <a:avLst/>
          </a:prstGeom>
          <a:noFill/>
          <a:ln/>
        </p:spPr>
        <p:txBody>
          <a:bodyPr wrap="square"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Higher clock rate vs. lower CPI — which wins?</a:t>
            </a:r>
            <a:endParaRPr lang="en-US" sz="1150" dirty="0"/>
          </a:p>
        </p:txBody>
      </p:sp>
      <p:sp>
        <p:nvSpPr>
          <p:cNvPr id="15" name="Text 13"/>
          <p:cNvSpPr/>
          <p:nvPr/>
        </p:nvSpPr>
        <p:spPr>
          <a:xfrm>
            <a:off x="548640" y="4617720"/>
            <a:ext cx="10149840" cy="640080"/>
          </a:xfrm>
          <a:prstGeom prst="rect">
            <a:avLst/>
          </a:prstGeom>
          <a:noFill/>
          <a:ln/>
        </p:spPr>
        <p:txBody>
          <a:bodyPr wrap="square" rtlCol="0" anchor="ctr"/>
          <a:lstStyle/>
          <a:p>
            <a:pPr marL="0" indent="0">
              <a:buNone/>
            </a:pPr>
            <a:r>
              <a:rPr lang="en-US" sz="1400" i="1" dirty="0">
                <a:solidFill>
                  <a:srgbClr val="5B6B82"/>
                </a:solidFill>
                <a:latin typeface="Calibri" pitchFamily="34" charset="0"/>
                <a:ea typeface="Calibri" pitchFamily="34" charset="-122"/>
                <a:cs typeface="Calibri" pitchFamily="34" charset="-120"/>
              </a:rPr>
              <a:t>This is exactly the trap marketing numbers set: never compare clock rate alone.</a:t>
            </a:r>
            <a:endParaRPr lang="en-US" sz="1400" dirty="0"/>
          </a:p>
        </p:txBody>
      </p:sp>
      <p:sp>
        <p:nvSpPr>
          <p:cNvPr id="16" name="Text 14"/>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2 — SOLUTION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Step-by-Step Comparison</a:t>
            </a:r>
            <a:endParaRPr lang="en-US" sz="3000" dirty="0"/>
          </a:p>
        </p:txBody>
      </p:sp>
      <p:sp>
        <p:nvSpPr>
          <p:cNvPr id="4" name="Text 2"/>
          <p:cNvSpPr/>
          <p:nvPr/>
        </p:nvSpPr>
        <p:spPr>
          <a:xfrm>
            <a:off x="548640" y="1691640"/>
            <a:ext cx="5394960" cy="2926080"/>
          </a:xfrm>
          <a:prstGeom prst="rect">
            <a:avLst/>
          </a:prstGeom>
          <a:noFill/>
          <a:ln/>
        </p:spPr>
        <p:txBody>
          <a:bodyPr wrap="square" rtlCol="0" anchor="ctr"/>
          <a:lstStyle/>
          <a:p>
            <a:pPr marL="342900" indent="-342900">
              <a:spcAft>
                <a:spcPts val="1200"/>
              </a:spcAft>
              <a:buSzPct val="100000"/>
              <a:buChar char="•"/>
            </a:pPr>
            <a:r>
              <a:rPr lang="en-US" sz="1400" dirty="0">
                <a:solidFill>
                  <a:srgbClr val="1B2A4A"/>
                </a:solidFill>
                <a:latin typeface="Calibri" pitchFamily="34" charset="0"/>
                <a:ea typeface="Calibri" pitchFamily="34" charset="-122"/>
                <a:cs typeface="Calibri" pitchFamily="34" charset="-120"/>
              </a:rPr>
              <a:t>Design A: Tc = 1/3.0GHz = 0.333 ns. Time = 40,000 × 3.0 × 0.333 ns = 40,000 ns</a:t>
            </a:r>
            <a:endParaRPr lang="en-US" sz="1400" dirty="0"/>
          </a:p>
          <a:p>
            <a:pPr marL="342900" indent="-342900">
              <a:spcAft>
                <a:spcPts val="1200"/>
              </a:spcAft>
              <a:buSzPct val="100000"/>
              <a:buChar char="•"/>
            </a:pPr>
            <a:r>
              <a:rPr lang="en-US" sz="1400" dirty="0">
                <a:solidFill>
                  <a:srgbClr val="1B2A4A"/>
                </a:solidFill>
                <a:latin typeface="Calibri" pitchFamily="34" charset="0"/>
                <a:ea typeface="Calibri" pitchFamily="34" charset="-122"/>
                <a:cs typeface="Calibri" pitchFamily="34" charset="-120"/>
              </a:rPr>
              <a:t>Design B: Tc = 1/2.0GHz = 0.5 ns. Time = 40,000 × 1.5 × 0.5 ns = 30,000 ns</a:t>
            </a:r>
            <a:endParaRPr lang="en-US" sz="1400" dirty="0"/>
          </a:p>
          <a:p>
            <a:pPr marL="342900" indent="-342900">
              <a:spcAft>
                <a:spcPts val="1200"/>
              </a:spcAft>
              <a:buSzPct val="100000"/>
              <a:buChar char="•"/>
            </a:pPr>
            <a:r>
              <a:rPr lang="en-US" sz="1400" dirty="0">
                <a:solidFill>
                  <a:srgbClr val="1B2A4A"/>
                </a:solidFill>
                <a:latin typeface="Calibri" pitchFamily="34" charset="0"/>
                <a:ea typeface="Calibri" pitchFamily="34" charset="-122"/>
                <a:cs typeface="Calibri" pitchFamily="34" charset="-120"/>
              </a:rPr>
              <a:t>Design B is faster, despite a lower clock rate — its lower CPI more than compensates.</a:t>
            </a:r>
            <a:endParaRPr lang="en-US" sz="1400" dirty="0"/>
          </a:p>
        </p:txBody>
      </p:sp>
      <p:graphicFrame>
        <p:nvGraphicFramePr>
          <p:cNvPr id="5" name="Chart 0"/>
          <p:cNvGraphicFramePr/>
          <p:nvPr/>
        </p:nvGraphicFramePr>
        <p:xfrm>
          <a:off x="6217920" y="169164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48640" y="4846320"/>
            <a:ext cx="5394960" cy="1188720"/>
          </a:xfrm>
          <a:prstGeom prst="roundRect">
            <a:avLst>
              <a:gd name="adj" fmla="val 7692"/>
            </a:avLst>
          </a:prstGeom>
          <a:solidFill>
            <a:srgbClr val="1B2A4A"/>
          </a:solidFill>
          <a:ln/>
        </p:spPr>
      </p:sp>
      <p:sp>
        <p:nvSpPr>
          <p:cNvPr id="7" name="Text 4"/>
          <p:cNvSpPr/>
          <p:nvPr/>
        </p:nvSpPr>
        <p:spPr>
          <a:xfrm>
            <a:off x="731520" y="4846320"/>
            <a:ext cx="5029200" cy="11887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Design B wins: 30,000 ns vs 40,000 ns — a 25% speed advantage.</a:t>
            </a:r>
            <a:endParaRPr lang="en-US" sz="1350" dirty="0"/>
          </a:p>
        </p:txBody>
      </p:sp>
      <p:sp>
        <p:nvSpPr>
          <p:cNvPr id="8" name="Text 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21D33"/>
          </a:solidFill>
          <a:ln/>
        </p:spPr>
      </p:sp>
      <p:sp>
        <p:nvSpPr>
          <p:cNvPr id="3" name="Shape 1"/>
          <p:cNvSpPr/>
          <p:nvPr/>
        </p:nvSpPr>
        <p:spPr>
          <a:xfrm>
            <a:off x="-1371600" y="4754880"/>
            <a:ext cx="4114800" cy="4114800"/>
          </a:xfrm>
          <a:prstGeom prst="ellipse">
            <a:avLst/>
          </a:prstGeom>
          <a:solidFill>
            <a:srgbClr val="121D33"/>
          </a:solidFill>
          <a:ln/>
        </p:spPr>
      </p:sp>
      <p:sp>
        <p:nvSpPr>
          <p:cNvPr id="4" name="Shape 2"/>
          <p:cNvSpPr/>
          <p:nvPr/>
        </p:nvSpPr>
        <p:spPr>
          <a:xfrm>
            <a:off x="548640" y="822960"/>
            <a:ext cx="1005840" cy="1005840"/>
          </a:xfrm>
          <a:prstGeom prst="ellipse">
            <a:avLst/>
          </a:prstGeom>
          <a:solidFill>
            <a:srgbClr val="00C2CB"/>
          </a:solidFill>
          <a:ln/>
        </p:spPr>
      </p:sp>
      <p:sp>
        <p:nvSpPr>
          <p:cNvPr id="5" name="Text 3"/>
          <p:cNvSpPr/>
          <p:nvPr/>
        </p:nvSpPr>
        <p:spPr>
          <a:xfrm>
            <a:off x="548640" y="822960"/>
            <a:ext cx="1005840" cy="1005840"/>
          </a:xfrm>
          <a:prstGeom prst="rect">
            <a:avLst/>
          </a:prstGeom>
          <a:noFill/>
          <a:ln/>
        </p:spPr>
        <p:txBody>
          <a:bodyPr wrap="square" rtlCol="0" anchor="ctr"/>
          <a:lstStyle/>
          <a:p>
            <a:pPr marL="0" indent="0" algn="ctr">
              <a:buNone/>
            </a:pPr>
            <a:r>
              <a:rPr lang="en-US" sz="3400" b="1" dirty="0">
                <a:solidFill>
                  <a:srgbClr val="121D33"/>
                </a:solidFill>
                <a:latin typeface="Calibri" pitchFamily="34" charset="0"/>
                <a:ea typeface="Calibri" pitchFamily="34" charset="-122"/>
                <a:cs typeface="Calibri" pitchFamily="34" charset="-120"/>
              </a:rPr>
              <a:t>🏭</a:t>
            </a:r>
            <a:endParaRPr lang="en-US" sz="3400" dirty="0"/>
          </a:p>
        </p:txBody>
      </p:sp>
      <p:sp>
        <p:nvSpPr>
          <p:cNvPr id="6" name="Text 4"/>
          <p:cNvSpPr/>
          <p:nvPr/>
        </p:nvSpPr>
        <p:spPr>
          <a:xfrm>
            <a:off x="548640" y="1965960"/>
            <a:ext cx="9144000" cy="365760"/>
          </a:xfrm>
          <a:prstGeom prst="rect">
            <a:avLst/>
          </a:prstGeom>
          <a:noFill/>
          <a:ln/>
        </p:spPr>
        <p:txBody>
          <a:bodyPr wrap="square" rtlCol="0" anchor="ctr"/>
          <a:lstStyle/>
          <a:p>
            <a:pPr marL="0" indent="0">
              <a:buNone/>
            </a:pPr>
            <a:r>
              <a:rPr lang="en-US" sz="1400" b="1" kern="0" spc="200" dirty="0">
                <a:solidFill>
                  <a:srgbClr val="00C2CB"/>
                </a:solidFill>
                <a:latin typeface="Calibri" pitchFamily="34" charset="0"/>
                <a:ea typeface="Calibri" pitchFamily="34" charset="-122"/>
                <a:cs typeface="Calibri" pitchFamily="34" charset="-120"/>
              </a:rPr>
              <a:t>NEW CONCEPT</a:t>
            </a:r>
            <a:endParaRPr lang="en-US" sz="1400" dirty="0"/>
          </a:p>
        </p:txBody>
      </p:sp>
      <p:sp>
        <p:nvSpPr>
          <p:cNvPr id="7" name="Text 5"/>
          <p:cNvSpPr/>
          <p:nvPr/>
        </p:nvSpPr>
        <p:spPr>
          <a:xfrm>
            <a:off x="548640" y="2377440"/>
            <a:ext cx="10515600" cy="17373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Introducing Pipelining</a:t>
            </a:r>
            <a:endParaRPr lang="en-US" sz="3400" dirty="0"/>
          </a:p>
        </p:txBody>
      </p:sp>
      <p:sp>
        <p:nvSpPr>
          <p:cNvPr id="8" name="Text 6"/>
          <p:cNvSpPr/>
          <p:nvPr/>
        </p:nvSpPr>
        <p:spPr>
          <a:xfrm>
            <a:off x="548640" y="3977640"/>
            <a:ext cx="9601200" cy="14630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So far we treated CPI as a single average number. Now we open the hood: how does pipelining shape that number, and what happens when it goes wrong?</a:t>
            </a:r>
            <a:endParaRPr lang="en-US" sz="1600" dirty="0"/>
          </a:p>
        </p:txBody>
      </p:sp>
      <p:sp>
        <p:nvSpPr>
          <p:cNvPr id="9" name="Text 7"/>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AFC3D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0" name="Text 8"/>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1" name="Text 9"/>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Number of Pipeline Stages &amp; Ideal Speedup</a:t>
            </a:r>
            <a:endParaRPr lang="en-US" sz="3000" dirty="0"/>
          </a:p>
        </p:txBody>
      </p:sp>
      <p:sp>
        <p:nvSpPr>
          <p:cNvPr id="4" name="Shape 2"/>
          <p:cNvSpPr/>
          <p:nvPr/>
        </p:nvSpPr>
        <p:spPr>
          <a:xfrm>
            <a:off x="548640" y="1783080"/>
            <a:ext cx="1874520" cy="914400"/>
          </a:xfrm>
          <a:prstGeom prst="roundRect">
            <a:avLst>
              <a:gd name="adj" fmla="val 8000"/>
            </a:avLst>
          </a:prstGeom>
          <a:solidFill>
            <a:srgbClr val="3E7CB1"/>
          </a:solidFill>
          <a:ln/>
        </p:spPr>
      </p:sp>
      <p:sp>
        <p:nvSpPr>
          <p:cNvPr id="5" name="Text 3"/>
          <p:cNvSpPr/>
          <p:nvPr/>
        </p:nvSpPr>
        <p:spPr>
          <a:xfrm>
            <a:off x="548640" y="1783080"/>
            <a:ext cx="1874520" cy="9144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IF</a:t>
            </a:r>
            <a:endParaRPr lang="en-US" sz="1800" dirty="0"/>
          </a:p>
        </p:txBody>
      </p:sp>
      <p:sp>
        <p:nvSpPr>
          <p:cNvPr id="6" name="Text 4"/>
          <p:cNvSpPr/>
          <p:nvPr/>
        </p:nvSpPr>
        <p:spPr>
          <a:xfrm>
            <a:off x="2423160" y="1920240"/>
            <a:ext cx="320040" cy="64008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743200" y="1783080"/>
            <a:ext cx="1874520" cy="914400"/>
          </a:xfrm>
          <a:prstGeom prst="roundRect">
            <a:avLst>
              <a:gd name="adj" fmla="val 8000"/>
            </a:avLst>
          </a:prstGeom>
          <a:solidFill>
            <a:srgbClr val="3585B8"/>
          </a:solidFill>
          <a:ln/>
        </p:spPr>
      </p:sp>
      <p:sp>
        <p:nvSpPr>
          <p:cNvPr id="8" name="Text 6"/>
          <p:cNvSpPr/>
          <p:nvPr/>
        </p:nvSpPr>
        <p:spPr>
          <a:xfrm>
            <a:off x="2743200" y="1783080"/>
            <a:ext cx="1874520" cy="9144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ID</a:t>
            </a:r>
            <a:endParaRPr lang="en-US" sz="1800" dirty="0"/>
          </a:p>
        </p:txBody>
      </p:sp>
      <p:sp>
        <p:nvSpPr>
          <p:cNvPr id="9" name="Text 7"/>
          <p:cNvSpPr/>
          <p:nvPr/>
        </p:nvSpPr>
        <p:spPr>
          <a:xfrm>
            <a:off x="4617720" y="1920240"/>
            <a:ext cx="320040" cy="64008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937760" y="1783080"/>
            <a:ext cx="1874520" cy="914400"/>
          </a:xfrm>
          <a:prstGeom prst="roundRect">
            <a:avLst>
              <a:gd name="adj" fmla="val 8000"/>
            </a:avLst>
          </a:prstGeom>
          <a:solidFill>
            <a:srgbClr val="2E93BF"/>
          </a:solidFill>
          <a:ln/>
        </p:spPr>
      </p:sp>
      <p:sp>
        <p:nvSpPr>
          <p:cNvPr id="11" name="Text 9"/>
          <p:cNvSpPr/>
          <p:nvPr/>
        </p:nvSpPr>
        <p:spPr>
          <a:xfrm>
            <a:off x="4937760" y="1783080"/>
            <a:ext cx="1874520" cy="9144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EX</a:t>
            </a:r>
            <a:endParaRPr lang="en-US" sz="1800" dirty="0"/>
          </a:p>
        </p:txBody>
      </p:sp>
      <p:sp>
        <p:nvSpPr>
          <p:cNvPr id="12" name="Text 10"/>
          <p:cNvSpPr/>
          <p:nvPr/>
        </p:nvSpPr>
        <p:spPr>
          <a:xfrm>
            <a:off x="6812280" y="1920240"/>
            <a:ext cx="320040" cy="64008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132320" y="1783080"/>
            <a:ext cx="1874520" cy="914400"/>
          </a:xfrm>
          <a:prstGeom prst="roundRect">
            <a:avLst>
              <a:gd name="adj" fmla="val 8000"/>
            </a:avLst>
          </a:prstGeom>
          <a:solidFill>
            <a:srgbClr val="27A1C6"/>
          </a:solidFill>
          <a:ln/>
        </p:spPr>
      </p:sp>
      <p:sp>
        <p:nvSpPr>
          <p:cNvPr id="14" name="Text 12"/>
          <p:cNvSpPr/>
          <p:nvPr/>
        </p:nvSpPr>
        <p:spPr>
          <a:xfrm>
            <a:off x="7132320" y="1783080"/>
            <a:ext cx="1874520" cy="9144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a:t>
            </a:r>
            <a:endParaRPr lang="en-US" sz="1800" dirty="0"/>
          </a:p>
        </p:txBody>
      </p:sp>
      <p:sp>
        <p:nvSpPr>
          <p:cNvPr id="15" name="Text 13"/>
          <p:cNvSpPr/>
          <p:nvPr/>
        </p:nvSpPr>
        <p:spPr>
          <a:xfrm>
            <a:off x="9006840" y="1920240"/>
            <a:ext cx="320040" cy="640080"/>
          </a:xfrm>
          <a:prstGeom prst="rect">
            <a:avLst/>
          </a:prstGeom>
          <a:noFill/>
          <a:ln/>
        </p:spPr>
        <p:txBody>
          <a:bodyPr wrap="square" rtlCol="0" anchor="ctr"/>
          <a:lstStyle/>
          <a:p>
            <a:pPr marL="0" indent="0" algn="ctr">
              <a:buNone/>
            </a:pPr>
            <a:r>
              <a:rPr lang="en-US" sz="2200" b="1" dirty="0">
                <a:solidFill>
                  <a:srgbClr val="3E7CB1"/>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326880" y="1783080"/>
            <a:ext cx="1874520" cy="914400"/>
          </a:xfrm>
          <a:prstGeom prst="roundRect">
            <a:avLst>
              <a:gd name="adj" fmla="val 8000"/>
            </a:avLst>
          </a:prstGeom>
          <a:solidFill>
            <a:srgbClr val="00C2CB"/>
          </a:solidFill>
          <a:ln/>
        </p:spPr>
      </p:sp>
      <p:sp>
        <p:nvSpPr>
          <p:cNvPr id="17" name="Text 15"/>
          <p:cNvSpPr/>
          <p:nvPr/>
        </p:nvSpPr>
        <p:spPr>
          <a:xfrm>
            <a:off x="9326880" y="1783080"/>
            <a:ext cx="1874520" cy="9144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WB</a:t>
            </a:r>
            <a:endParaRPr lang="en-US" sz="1800" dirty="0"/>
          </a:p>
        </p:txBody>
      </p:sp>
      <p:sp>
        <p:nvSpPr>
          <p:cNvPr id="18" name="Text 16"/>
          <p:cNvSpPr/>
          <p:nvPr/>
        </p:nvSpPr>
        <p:spPr>
          <a:xfrm>
            <a:off x="548640" y="2834640"/>
            <a:ext cx="960120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A classic 5-stage pipeline: Fetch → Decode → Execute → Memory → Write-back</a:t>
            </a:r>
            <a:endParaRPr lang="en-US" sz="1250" dirty="0"/>
          </a:p>
        </p:txBody>
      </p:sp>
      <p:sp>
        <p:nvSpPr>
          <p:cNvPr id="19" name="Text 17"/>
          <p:cNvSpPr/>
          <p:nvPr/>
        </p:nvSpPr>
        <p:spPr>
          <a:xfrm>
            <a:off x="548640" y="3383280"/>
            <a:ext cx="10149840" cy="2743200"/>
          </a:xfrm>
          <a:prstGeom prst="rect">
            <a:avLst/>
          </a:prstGeom>
          <a:noFill/>
          <a:ln/>
        </p:spPr>
        <p:txBody>
          <a:bodyPr wrap="square" rtlCol="0" anchor="ctr"/>
          <a:lstStyle/>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Splitting instruction execution into N stages lets N instructions overlap in the pipeline at once.</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Ideal speedup from pipelining ≈ N (the number of pipeline stages), under perfect, hazard-free conditions.</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More stages generally means each stage does less work → shorter Tc → higher clock rate is possible.</a:t>
            </a:r>
            <a:endParaRPr lang="en-US" dirty="0"/>
          </a:p>
          <a:p>
            <a:pPr marL="342900" indent="-342900">
              <a:spcAft>
                <a:spcPts val="1000"/>
              </a:spcAft>
              <a:buSzPct val="100000"/>
              <a:buChar char="•"/>
            </a:pPr>
            <a:r>
              <a:rPr lang="en-US" dirty="0">
                <a:solidFill>
                  <a:srgbClr val="1B2A4A"/>
                </a:solidFill>
                <a:latin typeface="Calibri" pitchFamily="34" charset="0"/>
                <a:ea typeface="Calibri" pitchFamily="34" charset="-122"/>
                <a:cs typeface="Calibri" pitchFamily="34" charset="-120"/>
              </a:rPr>
              <a:t>But more stages also means more opportunities for hazards — the ideal speedup is rarely fully achieved.</a:t>
            </a:r>
            <a:endParaRPr lang="en-US" dirty="0"/>
          </a:p>
        </p:txBody>
      </p:sp>
      <p:sp>
        <p:nvSpPr>
          <p:cNvPr id="20" name="Text 1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1" name="Text 1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2" name="Text 2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What Are Pipeline Hazards?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2400" dirty="0">
                <a:solidFill>
                  <a:srgbClr val="1B2A4A"/>
                </a:solidFill>
                <a:latin typeface="Calibri" pitchFamily="34" charset="0"/>
                <a:ea typeface="Calibri" pitchFamily="34" charset="-122"/>
                <a:cs typeface="Calibri" pitchFamily="34" charset="-120"/>
              </a:rPr>
              <a:t>A hazard is any situation that prevents the next instruction from executing in its designated clock cycle.</a:t>
            </a:r>
            <a:endParaRPr lang="en-US" sz="2400" dirty="0"/>
          </a:p>
          <a:p>
            <a:pPr marL="228600" indent="-228600">
              <a:spcAft>
                <a:spcPts val="1200"/>
              </a:spcAft>
              <a:buSzPct val="100000"/>
              <a:buChar char="•"/>
            </a:pPr>
            <a:r>
              <a:rPr lang="en-US" sz="2400" dirty="0">
                <a:solidFill>
                  <a:srgbClr val="1B2A4A"/>
                </a:solidFill>
                <a:latin typeface="Calibri" pitchFamily="34" charset="0"/>
                <a:ea typeface="Calibri" pitchFamily="34" charset="-122"/>
                <a:cs typeface="Calibri" pitchFamily="34" charset="-120"/>
              </a:rPr>
              <a:t>Structural hazard: two instructions need the same hardware resource at the same time.</a:t>
            </a:r>
            <a:endParaRPr lang="en-US" sz="2400" dirty="0"/>
          </a:p>
          <a:p>
            <a:pPr marL="228600" indent="-228600">
              <a:spcAft>
                <a:spcPts val="1200"/>
              </a:spcAft>
              <a:buSzPct val="100000"/>
              <a:buChar char="•"/>
            </a:pPr>
            <a:r>
              <a:rPr lang="en-US" sz="2400" dirty="0">
                <a:solidFill>
                  <a:srgbClr val="1B2A4A"/>
                </a:solidFill>
                <a:latin typeface="Calibri" pitchFamily="34" charset="0"/>
                <a:ea typeface="Calibri" pitchFamily="34" charset="-122"/>
                <a:cs typeface="Calibri" pitchFamily="34" charset="-120"/>
              </a:rPr>
              <a:t>Data hazard: an instruction needs a result that a previous instruction has not yet produced.</a:t>
            </a:r>
            <a:endParaRPr lang="en-US" sz="2400" dirty="0"/>
          </a:p>
          <a:p>
            <a:pPr marL="228600" indent="-228600">
              <a:spcAft>
                <a:spcPts val="1200"/>
              </a:spcAft>
              <a:buSzPct val="100000"/>
              <a:buChar char="•"/>
            </a:pPr>
            <a:r>
              <a:rPr lang="en-US" sz="2400" dirty="0">
                <a:solidFill>
                  <a:srgbClr val="1B2A4A"/>
                </a:solidFill>
                <a:latin typeface="Calibri" pitchFamily="34" charset="0"/>
                <a:ea typeface="Calibri" pitchFamily="34" charset="-122"/>
                <a:cs typeface="Calibri" pitchFamily="34" charset="-120"/>
              </a:rPr>
              <a:t>Control hazard: the pipeline does not yet know which instruction to fetch next (e.g., after a branch).</a:t>
            </a:r>
            <a:endParaRPr lang="en-US" sz="2400" dirty="0"/>
          </a:p>
          <a:p>
            <a:pPr marL="228600" indent="-228600">
              <a:spcAft>
                <a:spcPts val="1200"/>
              </a:spcAft>
              <a:buSzPct val="100000"/>
              <a:buChar char="•"/>
            </a:pPr>
            <a:r>
              <a:rPr lang="en-US" sz="2400" dirty="0">
                <a:solidFill>
                  <a:srgbClr val="1B2A4A"/>
                </a:solidFill>
                <a:latin typeface="Calibri" pitchFamily="34" charset="0"/>
                <a:ea typeface="Calibri" pitchFamily="34" charset="-122"/>
                <a:cs typeface="Calibri" pitchFamily="34" charset="-120"/>
              </a:rPr>
              <a:t>Each hazard type, if unresolved, forces the pipeline to pause — this pause is called a stall.</a:t>
            </a:r>
            <a:endParaRPr lang="en-US" sz="24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D9534F"/>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Three Hazard Types</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Structural (resource clash), Data (waiting for a value), Control (waiting to know the next instruction).</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Pipeline Stalls — Definition &amp; Cause</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 stall (or ‘bubble’) is an idle clock cycle inserted into the pipeline to resolve a hazard.</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During a stall, one or more pipeline stages do no useful work for that cycle.</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Stalls are the hardware's way of saying ‘wait — not safe to proceed yet’.</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Every stall cycle directly adds to the effective CPI of the program.</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Goal of good pipeline design: minimize the number and length of stalls, not eliminate pipelining.</a:t>
            </a:r>
            <a:endParaRPr lang="en-US" sz="20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D9534F"/>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Recall the Icebreaker</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Just like a car stalled at a red light, a pipeline stage that stalls makes the whole journey (program) take longer — even though the engine (clock) keeps ticking.</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Branch Penalty (Control Hazard Cost)</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 branch instruction (if/loop) may change which instruction executes next.</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The pipeline often guesses (predicts) the next instruction before the branch is resolved.</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If the guess is wrong (misprediction), all incorrectly fetched instructions must be discarded (‘flushed’).</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Branch Penalty = number of cycles wasted per misprediction × misprediction rate.</a:t>
            </a:r>
            <a:endParaRPr lang="en-US" sz="2000" dirty="0"/>
          </a:p>
          <a:p>
            <a:pPr marL="228600" indent="-228600">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Deeper pipelines fetch further ahead, so a misprediction wastes MORE cycles — a key stage-count trade-off.</a:t>
            </a:r>
            <a:endParaRPr lang="en-US" sz="20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D9534F"/>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Wrong Turn = Wasted Work</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Guessing the wrong branch is like driving several blocks down the wrong street before realizing your mistake — you must reverse all that distance.</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CORE FORMULA</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Effect of Stalls on CPI — The Full Picture</a:t>
            </a:r>
            <a:endParaRPr lang="en-US" sz="3000" dirty="0"/>
          </a:p>
        </p:txBody>
      </p:sp>
      <p:sp>
        <p:nvSpPr>
          <p:cNvPr id="4" name="Shape 2"/>
          <p:cNvSpPr/>
          <p:nvPr/>
        </p:nvSpPr>
        <p:spPr>
          <a:xfrm>
            <a:off x="822960" y="1737360"/>
            <a:ext cx="10515600" cy="1371600"/>
          </a:xfrm>
          <a:prstGeom prst="roundRect">
            <a:avLst>
              <a:gd name="adj" fmla="val 8000"/>
            </a:avLst>
          </a:prstGeom>
          <a:solidFill>
            <a:srgbClr val="1B2A4A"/>
          </a:solidFill>
          <a:ln/>
          <a:effectLst>
            <a:outerShdw blurRad="101600" dist="38100" dir="5400000" algn="bl" rotWithShape="0">
              <a:srgbClr val="1B2A4A">
                <a:alpha val="20000"/>
              </a:srgbClr>
            </a:outerShdw>
          </a:effectLst>
        </p:spPr>
      </p:sp>
      <p:sp>
        <p:nvSpPr>
          <p:cNvPr id="5" name="Text 3"/>
          <p:cNvSpPr/>
          <p:nvPr/>
        </p:nvSpPr>
        <p:spPr>
          <a:xfrm>
            <a:off x="822960" y="1737360"/>
            <a:ext cx="10515600" cy="13716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Effective CPI  =  Ideal CPI  +  ( Stalls per Instruction × Cycles per Stall )</a:t>
            </a:r>
            <a:endParaRPr lang="en-US" sz="2100" dirty="0"/>
          </a:p>
        </p:txBody>
      </p:sp>
      <p:sp>
        <p:nvSpPr>
          <p:cNvPr id="6" name="Text 4"/>
          <p:cNvSpPr/>
          <p:nvPr/>
        </p:nvSpPr>
        <p:spPr>
          <a:xfrm>
            <a:off x="822960" y="3383280"/>
            <a:ext cx="10241280" cy="2743200"/>
          </a:xfrm>
          <a:prstGeom prst="rect">
            <a:avLst/>
          </a:prstGeom>
          <a:noFill/>
          <a:ln/>
        </p:spPr>
        <p:txBody>
          <a:bodyPr wrap="square" rtlCol="0" anchor="ctr"/>
          <a:lstStyle/>
          <a:p>
            <a:pPr marL="342900" indent="-3429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‘Stalls per instruction’ combines all hazard types: structural, data, and control.</a:t>
            </a:r>
            <a:endParaRPr lang="en-US" sz="1500" dirty="0"/>
          </a:p>
          <a:p>
            <a:pPr marL="342900" indent="-3429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‘Cycles per stall’ (penalty) depends on hazard type and pipeline depth — deeper pipelines often mean bigger penalties.</a:t>
            </a:r>
            <a:endParaRPr lang="en-US" sz="1500" dirty="0"/>
          </a:p>
          <a:p>
            <a:pPr marL="342900" indent="-3429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Substitute this Effective CPI into the Basic Performance Equation to get a REAL execution time estimate.</a:t>
            </a:r>
            <a:endParaRPr lang="en-US" sz="1500" dirty="0"/>
          </a:p>
          <a:p>
            <a:pPr marL="342900" indent="-3429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This is how architects predict real chip performance long before silicon is fabricated.</a:t>
            </a:r>
            <a:endParaRPr lang="en-US" sz="1500" dirty="0"/>
          </a:p>
        </p:txBody>
      </p:sp>
      <p:sp>
        <p:nvSpPr>
          <p:cNvPr id="7" name="Text 5"/>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3</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Pipeline CPI With Stalls</a:t>
            </a:r>
            <a:endParaRPr lang="en-US" sz="3000" dirty="0"/>
          </a:p>
        </p:txBody>
      </p:sp>
      <p:sp>
        <p:nvSpPr>
          <p:cNvPr id="4" name="Shape 2"/>
          <p:cNvSpPr/>
          <p:nvPr/>
        </p:nvSpPr>
        <p:spPr>
          <a:xfrm>
            <a:off x="548640" y="1691640"/>
            <a:ext cx="6949440" cy="3566160"/>
          </a:xfrm>
          <a:prstGeom prst="roundRect">
            <a:avLst>
              <a:gd name="adj" fmla="val 2564"/>
            </a:avLst>
          </a:prstGeom>
          <a:solidFill>
            <a:srgbClr val="FFFFFF"/>
          </a:solidFill>
          <a:ln/>
          <a:effectLst>
            <a:outerShdw blurRad="76200" dist="25400" dir="5400000" algn="bl" rotWithShape="0">
              <a:srgbClr val="1B2A4A">
                <a:alpha val="12000"/>
              </a:srgbClr>
            </a:outerShdw>
          </a:effectLst>
        </p:spPr>
      </p:sp>
      <p:sp>
        <p:nvSpPr>
          <p:cNvPr id="5" name="Text 3"/>
          <p:cNvSpPr/>
          <p:nvPr/>
        </p:nvSpPr>
        <p:spPr>
          <a:xfrm>
            <a:off x="822960" y="1920240"/>
            <a:ext cx="5486400" cy="365760"/>
          </a:xfrm>
          <a:prstGeom prst="rect">
            <a:avLst/>
          </a:prstGeom>
          <a:noFill/>
          <a:ln/>
        </p:spPr>
        <p:txBody>
          <a:bodyPr wrap="square" rtlCol="0" anchor="ctr"/>
          <a:lstStyle/>
          <a:p>
            <a:pPr marL="0" indent="0">
              <a:buNone/>
            </a:pPr>
            <a:r>
              <a:rPr lang="en-US" sz="1500" b="1" dirty="0">
                <a:solidFill>
                  <a:srgbClr val="3E7CB1"/>
                </a:solidFill>
                <a:latin typeface="Cambria" pitchFamily="34" charset="0"/>
                <a:ea typeface="Cambria" pitchFamily="34" charset="-122"/>
                <a:cs typeface="Cambria" pitchFamily="34" charset="-120"/>
              </a:rPr>
              <a:t>Given:</a:t>
            </a:r>
            <a:endParaRPr lang="en-US" sz="1500" dirty="0"/>
          </a:p>
        </p:txBody>
      </p:sp>
      <p:sp>
        <p:nvSpPr>
          <p:cNvPr id="6" name="Text 4"/>
          <p:cNvSpPr/>
          <p:nvPr/>
        </p:nvSpPr>
        <p:spPr>
          <a:xfrm>
            <a:off x="822960" y="2331720"/>
            <a:ext cx="6400800" cy="1828800"/>
          </a:xfrm>
          <a:prstGeom prst="rect">
            <a:avLst/>
          </a:prstGeom>
          <a:noFill/>
          <a:ln/>
        </p:spPr>
        <p:txBody>
          <a:bodyPr wrap="square" rtlCol="0" anchor="ctr"/>
          <a:lstStyle/>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Ideal CPI (no hazards) = 1.0</a:t>
            </a:r>
            <a:endParaRPr lang="en-US" sz="1400" dirty="0"/>
          </a:p>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20% of instructions are branches; branch misprediction rate = 25%</a:t>
            </a:r>
            <a:endParaRPr lang="en-US" sz="1400" dirty="0"/>
          </a:p>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Each misprediction costs a penalty of 4 stall cycles</a:t>
            </a:r>
            <a:endParaRPr lang="en-US" sz="1400" dirty="0"/>
          </a:p>
          <a:p>
            <a:pPr marL="342900" indent="-342900">
              <a:spcAft>
                <a:spcPts val="1000"/>
              </a:spcAft>
              <a:buSzPct val="100000"/>
              <a:buChar char="•"/>
            </a:pPr>
            <a:r>
              <a:rPr lang="en-US" sz="1400" dirty="0">
                <a:solidFill>
                  <a:srgbClr val="1B2A4A"/>
                </a:solidFill>
                <a:latin typeface="Calibri" pitchFamily="34" charset="0"/>
                <a:ea typeface="Calibri" pitchFamily="34" charset="-122"/>
                <a:cs typeface="Calibri" pitchFamily="34" charset="-120"/>
              </a:rPr>
              <a:t>Clock rate = 2.0 GHz,  IC = 10,000 instructions</a:t>
            </a:r>
            <a:endParaRPr lang="en-US" sz="1400" dirty="0"/>
          </a:p>
        </p:txBody>
      </p:sp>
      <p:sp>
        <p:nvSpPr>
          <p:cNvPr id="7" name="Text 5"/>
          <p:cNvSpPr/>
          <p:nvPr/>
        </p:nvSpPr>
        <p:spPr>
          <a:xfrm>
            <a:off x="822960" y="4343400"/>
            <a:ext cx="6400800" cy="640080"/>
          </a:xfrm>
          <a:prstGeom prst="rect">
            <a:avLst/>
          </a:prstGeom>
          <a:noFill/>
          <a:ln/>
        </p:spPr>
        <p:txBody>
          <a:bodyPr wrap="square"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Find: Effective CPI, and total CPU execution time.</a:t>
            </a:r>
            <a:endParaRPr lang="en-US" sz="1450" dirty="0"/>
          </a:p>
        </p:txBody>
      </p:sp>
      <p:sp>
        <p:nvSpPr>
          <p:cNvPr id="8" name="Shape 6"/>
          <p:cNvSpPr/>
          <p:nvPr/>
        </p:nvSpPr>
        <p:spPr>
          <a:xfrm>
            <a:off x="7955280" y="1691640"/>
            <a:ext cx="3657600" cy="3566160"/>
          </a:xfrm>
          <a:prstGeom prst="roundRect">
            <a:avLst>
              <a:gd name="adj" fmla="val 3077"/>
            </a:avLst>
          </a:prstGeom>
          <a:solidFill>
            <a:srgbClr val="E8EEF6"/>
          </a:solidFill>
          <a:ln/>
        </p:spPr>
      </p:sp>
      <p:sp>
        <p:nvSpPr>
          <p:cNvPr id="9" name="Shape 7"/>
          <p:cNvSpPr/>
          <p:nvPr/>
        </p:nvSpPr>
        <p:spPr>
          <a:xfrm>
            <a:off x="9281160" y="2057400"/>
            <a:ext cx="1005840" cy="1005840"/>
          </a:xfrm>
          <a:prstGeom prst="ellipse">
            <a:avLst/>
          </a:prstGeom>
          <a:solidFill>
            <a:srgbClr val="3E7CB1"/>
          </a:solidFill>
          <a:ln/>
        </p:spPr>
      </p:sp>
      <p:sp>
        <p:nvSpPr>
          <p:cNvPr id="10" name="Text 8"/>
          <p:cNvSpPr/>
          <p:nvPr/>
        </p:nvSpPr>
        <p:spPr>
          <a:xfrm>
            <a:off x="9281160" y="2057400"/>
            <a:ext cx="1005840" cy="10058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11" name="Text 9"/>
          <p:cNvSpPr/>
          <p:nvPr/>
        </p:nvSpPr>
        <p:spPr>
          <a:xfrm>
            <a:off x="8229600" y="3246120"/>
            <a:ext cx="3108960" cy="457200"/>
          </a:xfrm>
          <a:prstGeom prst="rect">
            <a:avLst/>
          </a:prstGeom>
          <a:noFill/>
          <a:ln/>
        </p:spPr>
        <p:txBody>
          <a:bodyPr wrap="square"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Hint</a:t>
            </a:r>
            <a:endParaRPr lang="en-US" sz="1500" dirty="0"/>
          </a:p>
        </p:txBody>
      </p:sp>
      <p:sp>
        <p:nvSpPr>
          <p:cNvPr id="12" name="Text 10"/>
          <p:cNvSpPr/>
          <p:nvPr/>
        </p:nvSpPr>
        <p:spPr>
          <a:xfrm>
            <a:off x="8229600" y="3749040"/>
            <a:ext cx="3108960" cy="1280160"/>
          </a:xfrm>
          <a:prstGeom prst="rect">
            <a:avLst/>
          </a:prstGeom>
          <a:noFill/>
          <a:ln/>
        </p:spPr>
        <p:txBody>
          <a:bodyPr wrap="square" rtlCol="0" anchor="t"/>
          <a:lstStyle/>
          <a:p>
            <a:pPr marL="0" indent="0" algn="ctr">
              <a:buNone/>
            </a:pPr>
            <a:r>
              <a:rPr lang="en-US" sz="1200" dirty="0">
                <a:solidFill>
                  <a:srgbClr val="5B6B82"/>
                </a:solidFill>
                <a:latin typeface="Calibri" pitchFamily="34" charset="0"/>
                <a:ea typeface="Calibri" pitchFamily="34" charset="-122"/>
                <a:cs typeface="Calibri" pitchFamily="34" charset="-120"/>
              </a:rPr>
              <a:t>Stalls per instruction = P(branch) × P(mispredict) × penalty. Then add to Ideal CPI.</a:t>
            </a:r>
            <a:endParaRPr lang="en-US" sz="1200" dirty="0"/>
          </a:p>
        </p:txBody>
      </p:sp>
      <p:sp>
        <p:nvSpPr>
          <p:cNvPr id="13" name="Text 11"/>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4" name="Text 12"/>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5" name="Text 1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WORKED PROBLEM 3 — SOLUTION</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Step-by-Step Solution</a:t>
            </a:r>
            <a:endParaRPr lang="en-US" sz="2800" dirty="0"/>
          </a:p>
        </p:txBody>
      </p:sp>
      <p:sp>
        <p:nvSpPr>
          <p:cNvPr id="4" name="Shape 2"/>
          <p:cNvSpPr/>
          <p:nvPr/>
        </p:nvSpPr>
        <p:spPr>
          <a:xfrm>
            <a:off x="548640" y="1600200"/>
            <a:ext cx="502920" cy="502920"/>
          </a:xfrm>
          <a:prstGeom prst="ellipse">
            <a:avLst/>
          </a:prstGeom>
          <a:solidFill>
            <a:srgbClr val="00C2CB"/>
          </a:solidFill>
          <a:ln/>
        </p:spPr>
      </p:sp>
      <p:sp>
        <p:nvSpPr>
          <p:cNvPr id="5" name="Text 3"/>
          <p:cNvSpPr/>
          <p:nvPr/>
        </p:nvSpPr>
        <p:spPr>
          <a:xfrm>
            <a:off x="548640" y="160020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234440" y="1572768"/>
            <a:ext cx="3017520" cy="548640"/>
          </a:xfrm>
          <a:prstGeom prst="rect">
            <a:avLst/>
          </a:prstGeom>
          <a:noFill/>
          <a:ln/>
        </p:spPr>
        <p:txBody>
          <a:bodyPr wrap="square" rtlCol="0" anchor="ctr"/>
          <a:lstStyle/>
          <a:p>
            <a:pPr marL="0" indent="0">
              <a:buNone/>
            </a:pPr>
            <a:r>
              <a:rPr lang="en-US" sz="1300" b="1" dirty="0">
                <a:solidFill>
                  <a:srgbClr val="3E7CB1"/>
                </a:solidFill>
                <a:latin typeface="Cambria" pitchFamily="34" charset="0"/>
                <a:ea typeface="Cambria" pitchFamily="34" charset="-122"/>
                <a:cs typeface="Cambria" pitchFamily="34" charset="-120"/>
              </a:rPr>
              <a:t>Stall probability per instruction</a:t>
            </a:r>
            <a:endParaRPr lang="en-US" sz="1300" dirty="0"/>
          </a:p>
        </p:txBody>
      </p:sp>
      <p:sp>
        <p:nvSpPr>
          <p:cNvPr id="7" name="Text 5"/>
          <p:cNvSpPr/>
          <p:nvPr/>
        </p:nvSpPr>
        <p:spPr>
          <a:xfrm>
            <a:off x="4297680" y="1572768"/>
            <a:ext cx="7315200" cy="548640"/>
          </a:xfrm>
          <a:prstGeom prst="rect">
            <a:avLst/>
          </a:prstGeom>
          <a:noFill/>
          <a:ln/>
        </p:spPr>
        <p:txBody>
          <a:bodyPr wrap="square" rtlCol="0" anchor="ctr"/>
          <a:lstStyle/>
          <a:p>
            <a:pPr marL="0" indent="0">
              <a:buNone/>
            </a:pPr>
            <a:r>
              <a:rPr lang="en-US" sz="1250" dirty="0">
                <a:solidFill>
                  <a:srgbClr val="1B2A4A"/>
                </a:solidFill>
                <a:latin typeface="Calibri" pitchFamily="34" charset="0"/>
                <a:ea typeface="Calibri" pitchFamily="34" charset="-122"/>
                <a:cs typeface="Calibri" pitchFamily="34" charset="-120"/>
              </a:rPr>
              <a:t>0.20 (branch) × 0.25 (mispredict) = 0.05</a:t>
            </a:r>
            <a:endParaRPr lang="en-US" sz="1250" dirty="0"/>
          </a:p>
        </p:txBody>
      </p:sp>
      <p:sp>
        <p:nvSpPr>
          <p:cNvPr id="8" name="Shape 6"/>
          <p:cNvSpPr/>
          <p:nvPr/>
        </p:nvSpPr>
        <p:spPr>
          <a:xfrm>
            <a:off x="548640" y="2377440"/>
            <a:ext cx="502920" cy="502920"/>
          </a:xfrm>
          <a:prstGeom prst="ellipse">
            <a:avLst/>
          </a:prstGeom>
          <a:solidFill>
            <a:srgbClr val="00C2CB"/>
          </a:solidFill>
          <a:ln/>
        </p:spPr>
      </p:sp>
      <p:sp>
        <p:nvSpPr>
          <p:cNvPr id="9" name="Text 7"/>
          <p:cNvSpPr/>
          <p:nvPr/>
        </p:nvSpPr>
        <p:spPr>
          <a:xfrm>
            <a:off x="548640" y="237744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234440" y="2350008"/>
            <a:ext cx="3017520" cy="548640"/>
          </a:xfrm>
          <a:prstGeom prst="rect">
            <a:avLst/>
          </a:prstGeom>
          <a:noFill/>
          <a:ln/>
        </p:spPr>
        <p:txBody>
          <a:bodyPr wrap="square" rtlCol="0" anchor="ctr"/>
          <a:lstStyle/>
          <a:p>
            <a:pPr marL="0" indent="0">
              <a:buNone/>
            </a:pPr>
            <a:r>
              <a:rPr lang="en-US" sz="1300" b="1" dirty="0">
                <a:solidFill>
                  <a:srgbClr val="3E7CB1"/>
                </a:solidFill>
                <a:latin typeface="Cambria" pitchFamily="34" charset="0"/>
                <a:ea typeface="Cambria" pitchFamily="34" charset="-122"/>
                <a:cs typeface="Cambria" pitchFamily="34" charset="-120"/>
              </a:rPr>
              <a:t>Stall cycles per instruction</a:t>
            </a:r>
            <a:endParaRPr lang="en-US" sz="1300" dirty="0"/>
          </a:p>
        </p:txBody>
      </p:sp>
      <p:sp>
        <p:nvSpPr>
          <p:cNvPr id="11" name="Text 9"/>
          <p:cNvSpPr/>
          <p:nvPr/>
        </p:nvSpPr>
        <p:spPr>
          <a:xfrm>
            <a:off x="4297680" y="2350008"/>
            <a:ext cx="7315200" cy="548640"/>
          </a:xfrm>
          <a:prstGeom prst="rect">
            <a:avLst/>
          </a:prstGeom>
          <a:noFill/>
          <a:ln/>
        </p:spPr>
        <p:txBody>
          <a:bodyPr wrap="square" rtlCol="0" anchor="ctr"/>
          <a:lstStyle/>
          <a:p>
            <a:pPr marL="0" indent="0">
              <a:buNone/>
            </a:pPr>
            <a:r>
              <a:rPr lang="en-US" sz="1250" dirty="0">
                <a:solidFill>
                  <a:srgbClr val="1B2A4A"/>
                </a:solidFill>
                <a:latin typeface="Calibri" pitchFamily="34" charset="0"/>
                <a:ea typeface="Calibri" pitchFamily="34" charset="-122"/>
                <a:cs typeface="Calibri" pitchFamily="34" charset="-120"/>
              </a:rPr>
              <a:t>0.05 × 4 cycles penalty = 0.20 cycles/instruction</a:t>
            </a:r>
            <a:endParaRPr lang="en-US" sz="1250" dirty="0"/>
          </a:p>
        </p:txBody>
      </p:sp>
      <p:sp>
        <p:nvSpPr>
          <p:cNvPr id="12" name="Shape 10"/>
          <p:cNvSpPr/>
          <p:nvPr/>
        </p:nvSpPr>
        <p:spPr>
          <a:xfrm>
            <a:off x="548640" y="3154680"/>
            <a:ext cx="502920" cy="502920"/>
          </a:xfrm>
          <a:prstGeom prst="ellipse">
            <a:avLst/>
          </a:prstGeom>
          <a:solidFill>
            <a:srgbClr val="00C2CB"/>
          </a:solidFill>
          <a:ln/>
        </p:spPr>
      </p:sp>
      <p:sp>
        <p:nvSpPr>
          <p:cNvPr id="13" name="Text 11"/>
          <p:cNvSpPr/>
          <p:nvPr/>
        </p:nvSpPr>
        <p:spPr>
          <a:xfrm>
            <a:off x="548640" y="315468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234440" y="3127248"/>
            <a:ext cx="3017520" cy="548640"/>
          </a:xfrm>
          <a:prstGeom prst="rect">
            <a:avLst/>
          </a:prstGeom>
          <a:noFill/>
          <a:ln/>
        </p:spPr>
        <p:txBody>
          <a:bodyPr wrap="square" rtlCol="0" anchor="ctr"/>
          <a:lstStyle/>
          <a:p>
            <a:pPr marL="0" indent="0">
              <a:buNone/>
            </a:pPr>
            <a:r>
              <a:rPr lang="en-US" sz="1300" b="1" dirty="0">
                <a:solidFill>
                  <a:srgbClr val="3E7CB1"/>
                </a:solidFill>
                <a:latin typeface="Cambria" pitchFamily="34" charset="0"/>
                <a:ea typeface="Cambria" pitchFamily="34" charset="-122"/>
                <a:cs typeface="Cambria" pitchFamily="34" charset="-120"/>
              </a:rPr>
              <a:t>Effective CPI</a:t>
            </a:r>
            <a:endParaRPr lang="en-US" sz="1300" dirty="0"/>
          </a:p>
        </p:txBody>
      </p:sp>
      <p:sp>
        <p:nvSpPr>
          <p:cNvPr id="15" name="Text 13"/>
          <p:cNvSpPr/>
          <p:nvPr/>
        </p:nvSpPr>
        <p:spPr>
          <a:xfrm>
            <a:off x="4297680" y="3127248"/>
            <a:ext cx="7315200" cy="548640"/>
          </a:xfrm>
          <a:prstGeom prst="rect">
            <a:avLst/>
          </a:prstGeom>
          <a:noFill/>
          <a:ln/>
        </p:spPr>
        <p:txBody>
          <a:bodyPr wrap="square" rtlCol="0" anchor="ctr"/>
          <a:lstStyle/>
          <a:p>
            <a:pPr marL="0" indent="0">
              <a:buNone/>
            </a:pPr>
            <a:r>
              <a:rPr lang="en-US" sz="1250" dirty="0">
                <a:solidFill>
                  <a:srgbClr val="1B2A4A"/>
                </a:solidFill>
                <a:latin typeface="Calibri" pitchFamily="34" charset="0"/>
                <a:ea typeface="Calibri" pitchFamily="34" charset="-122"/>
                <a:cs typeface="Calibri" pitchFamily="34" charset="-120"/>
              </a:rPr>
              <a:t>1.0 (ideal) + 0.20 = 1.20 cycles/instruction</a:t>
            </a:r>
            <a:endParaRPr lang="en-US" sz="1250" dirty="0"/>
          </a:p>
        </p:txBody>
      </p:sp>
      <p:sp>
        <p:nvSpPr>
          <p:cNvPr id="16" name="Shape 14"/>
          <p:cNvSpPr/>
          <p:nvPr/>
        </p:nvSpPr>
        <p:spPr>
          <a:xfrm>
            <a:off x="548640" y="3931920"/>
            <a:ext cx="502920" cy="502920"/>
          </a:xfrm>
          <a:prstGeom prst="ellipse">
            <a:avLst/>
          </a:prstGeom>
          <a:solidFill>
            <a:srgbClr val="00C2CB"/>
          </a:solidFill>
          <a:ln/>
        </p:spPr>
      </p:sp>
      <p:sp>
        <p:nvSpPr>
          <p:cNvPr id="17" name="Text 15"/>
          <p:cNvSpPr/>
          <p:nvPr/>
        </p:nvSpPr>
        <p:spPr>
          <a:xfrm>
            <a:off x="548640" y="393192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234440" y="3904488"/>
            <a:ext cx="3017520" cy="548640"/>
          </a:xfrm>
          <a:prstGeom prst="rect">
            <a:avLst/>
          </a:prstGeom>
          <a:noFill/>
          <a:ln/>
        </p:spPr>
        <p:txBody>
          <a:bodyPr wrap="square" rtlCol="0" anchor="ctr"/>
          <a:lstStyle/>
          <a:p>
            <a:pPr marL="0" indent="0">
              <a:buNone/>
            </a:pPr>
            <a:r>
              <a:rPr lang="en-US" sz="1300" b="1" dirty="0">
                <a:solidFill>
                  <a:srgbClr val="3E7CB1"/>
                </a:solidFill>
                <a:latin typeface="Cambria" pitchFamily="34" charset="0"/>
                <a:ea typeface="Cambria" pitchFamily="34" charset="-122"/>
                <a:cs typeface="Cambria" pitchFamily="34" charset="-120"/>
              </a:rPr>
              <a:t>Tc from clock rate</a:t>
            </a:r>
            <a:endParaRPr lang="en-US" sz="1300" dirty="0"/>
          </a:p>
        </p:txBody>
      </p:sp>
      <p:sp>
        <p:nvSpPr>
          <p:cNvPr id="19" name="Text 17"/>
          <p:cNvSpPr/>
          <p:nvPr/>
        </p:nvSpPr>
        <p:spPr>
          <a:xfrm>
            <a:off x="4297680" y="3904488"/>
            <a:ext cx="7315200" cy="548640"/>
          </a:xfrm>
          <a:prstGeom prst="rect">
            <a:avLst/>
          </a:prstGeom>
          <a:noFill/>
          <a:ln/>
        </p:spPr>
        <p:txBody>
          <a:bodyPr wrap="square" rtlCol="0" anchor="ctr"/>
          <a:lstStyle/>
          <a:p>
            <a:pPr marL="0" indent="0">
              <a:buNone/>
            </a:pPr>
            <a:r>
              <a:rPr lang="en-US" sz="1250" dirty="0">
                <a:solidFill>
                  <a:srgbClr val="1B2A4A"/>
                </a:solidFill>
                <a:latin typeface="Calibri" pitchFamily="34" charset="0"/>
                <a:ea typeface="Calibri" pitchFamily="34" charset="-122"/>
                <a:cs typeface="Calibri" pitchFamily="34" charset="-120"/>
              </a:rPr>
              <a:t>Tc = 1 / 2.0GHz = 0.5 ns</a:t>
            </a:r>
            <a:endParaRPr lang="en-US" sz="1250" dirty="0"/>
          </a:p>
        </p:txBody>
      </p:sp>
      <p:sp>
        <p:nvSpPr>
          <p:cNvPr id="20" name="Shape 18"/>
          <p:cNvSpPr/>
          <p:nvPr/>
        </p:nvSpPr>
        <p:spPr>
          <a:xfrm>
            <a:off x="548640" y="4709160"/>
            <a:ext cx="502920" cy="502920"/>
          </a:xfrm>
          <a:prstGeom prst="ellipse">
            <a:avLst/>
          </a:prstGeom>
          <a:solidFill>
            <a:srgbClr val="00C2CB"/>
          </a:solidFill>
          <a:ln/>
        </p:spPr>
      </p:sp>
      <p:sp>
        <p:nvSpPr>
          <p:cNvPr id="21" name="Text 19"/>
          <p:cNvSpPr/>
          <p:nvPr/>
        </p:nvSpPr>
        <p:spPr>
          <a:xfrm>
            <a:off x="548640" y="4709160"/>
            <a:ext cx="502920" cy="502920"/>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234440" y="4681728"/>
            <a:ext cx="3017520" cy="548640"/>
          </a:xfrm>
          <a:prstGeom prst="rect">
            <a:avLst/>
          </a:prstGeom>
          <a:noFill/>
          <a:ln/>
        </p:spPr>
        <p:txBody>
          <a:bodyPr wrap="square" rtlCol="0" anchor="ctr"/>
          <a:lstStyle/>
          <a:p>
            <a:pPr marL="0" indent="0">
              <a:buNone/>
            </a:pPr>
            <a:r>
              <a:rPr lang="en-US" sz="1300" b="1" dirty="0">
                <a:solidFill>
                  <a:srgbClr val="3E7CB1"/>
                </a:solidFill>
                <a:latin typeface="Cambria" pitchFamily="34" charset="0"/>
                <a:ea typeface="Cambria" pitchFamily="34" charset="-122"/>
                <a:cs typeface="Cambria" pitchFamily="34" charset="-120"/>
              </a:rPr>
              <a:t>CPU Time</a:t>
            </a:r>
            <a:endParaRPr lang="en-US" sz="1300" dirty="0"/>
          </a:p>
        </p:txBody>
      </p:sp>
      <p:sp>
        <p:nvSpPr>
          <p:cNvPr id="23" name="Text 21"/>
          <p:cNvSpPr/>
          <p:nvPr/>
        </p:nvSpPr>
        <p:spPr>
          <a:xfrm>
            <a:off x="4297680" y="4681728"/>
            <a:ext cx="7315200" cy="548640"/>
          </a:xfrm>
          <a:prstGeom prst="rect">
            <a:avLst/>
          </a:prstGeom>
          <a:noFill/>
          <a:ln/>
        </p:spPr>
        <p:txBody>
          <a:bodyPr wrap="square" rtlCol="0" anchor="ctr"/>
          <a:lstStyle/>
          <a:p>
            <a:pPr marL="0" indent="0">
              <a:buNone/>
            </a:pPr>
            <a:r>
              <a:rPr lang="en-US" sz="1250" dirty="0">
                <a:solidFill>
                  <a:srgbClr val="1B2A4A"/>
                </a:solidFill>
                <a:latin typeface="Calibri" pitchFamily="34" charset="0"/>
                <a:ea typeface="Calibri" pitchFamily="34" charset="-122"/>
                <a:cs typeface="Calibri" pitchFamily="34" charset="-120"/>
              </a:rPr>
              <a:t>10,000 × 1.20 × 0.5 ns = 6,000 ns = 6 μs</a:t>
            </a:r>
            <a:endParaRPr lang="en-US" sz="1250" dirty="0"/>
          </a:p>
        </p:txBody>
      </p:sp>
      <p:sp>
        <p:nvSpPr>
          <p:cNvPr id="24" name="Shape 22"/>
          <p:cNvSpPr/>
          <p:nvPr/>
        </p:nvSpPr>
        <p:spPr>
          <a:xfrm>
            <a:off x="548640" y="5532120"/>
            <a:ext cx="10149840" cy="594360"/>
          </a:xfrm>
          <a:prstGeom prst="roundRect">
            <a:avLst>
              <a:gd name="adj" fmla="val 12308"/>
            </a:avLst>
          </a:prstGeom>
          <a:solidFill>
            <a:srgbClr val="1B2A4A"/>
          </a:solidFill>
          <a:ln/>
        </p:spPr>
      </p:sp>
      <p:sp>
        <p:nvSpPr>
          <p:cNvPr id="25" name="Text 23"/>
          <p:cNvSpPr/>
          <p:nvPr/>
        </p:nvSpPr>
        <p:spPr>
          <a:xfrm>
            <a:off x="548640" y="5532120"/>
            <a:ext cx="10149840" cy="5943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Answer: Effective CPI = 1.20  |  CPU Time = 6,000 ns (a 20% slowdown from stalls)</a:t>
            </a:r>
            <a:endParaRPr lang="en-US" sz="1400"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DESIGN TRADE-OFF</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More Pipeline Stages: Benefit vs Overhead</a:t>
            </a:r>
            <a:endParaRPr lang="en-US" sz="3000" dirty="0"/>
          </a:p>
        </p:txBody>
      </p:sp>
      <p:sp>
        <p:nvSpPr>
          <p:cNvPr id="4" name="Shape 2"/>
          <p:cNvSpPr/>
          <p:nvPr/>
        </p:nvSpPr>
        <p:spPr>
          <a:xfrm>
            <a:off x="548640" y="1737360"/>
            <a:ext cx="5212080" cy="3108960"/>
          </a:xfrm>
          <a:prstGeom prst="roundRect">
            <a:avLst>
              <a:gd name="adj" fmla="val 2941"/>
            </a:avLst>
          </a:prstGeom>
          <a:solidFill>
            <a:srgbClr val="E4F3EA"/>
          </a:solidFill>
          <a:ln/>
        </p:spPr>
      </p:sp>
      <p:sp>
        <p:nvSpPr>
          <p:cNvPr id="5" name="Shape 3"/>
          <p:cNvSpPr/>
          <p:nvPr/>
        </p:nvSpPr>
        <p:spPr>
          <a:xfrm>
            <a:off x="822960" y="1965960"/>
            <a:ext cx="640080" cy="640080"/>
          </a:xfrm>
          <a:prstGeom prst="ellipse">
            <a:avLst/>
          </a:prstGeom>
          <a:solidFill>
            <a:srgbClr val="2E8B57"/>
          </a:solidFill>
          <a:ln/>
        </p:spPr>
      </p:sp>
      <p:sp>
        <p:nvSpPr>
          <p:cNvPr id="6" name="Text 4"/>
          <p:cNvSpPr/>
          <p:nvPr/>
        </p:nvSpPr>
        <p:spPr>
          <a:xfrm>
            <a:off x="822960" y="196596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00200" y="1965960"/>
            <a:ext cx="3931920" cy="640080"/>
          </a:xfrm>
          <a:prstGeom prst="rect">
            <a:avLst/>
          </a:prstGeom>
          <a:noFill/>
          <a:ln/>
        </p:spPr>
        <p:txBody>
          <a:bodyPr wrap="square" rtlCol="0" anchor="ctr"/>
          <a:lstStyle/>
          <a:p>
            <a:pPr marL="0" indent="0">
              <a:buNone/>
            </a:pPr>
            <a:r>
              <a:rPr lang="en-US" sz="1500" b="1" dirty="0">
                <a:solidFill>
                  <a:srgbClr val="2E8B57"/>
                </a:solidFill>
                <a:latin typeface="Cambria" pitchFamily="34" charset="0"/>
                <a:ea typeface="Cambria" pitchFamily="34" charset="-122"/>
                <a:cs typeface="Cambria" pitchFamily="34" charset="-120"/>
              </a:rPr>
              <a:t>Benefits of More Stages</a:t>
            </a:r>
            <a:endParaRPr lang="en-US" sz="1500" dirty="0"/>
          </a:p>
        </p:txBody>
      </p:sp>
      <p:sp>
        <p:nvSpPr>
          <p:cNvPr id="8" name="Text 6"/>
          <p:cNvSpPr/>
          <p:nvPr/>
        </p:nvSpPr>
        <p:spPr>
          <a:xfrm>
            <a:off x="868680" y="2743200"/>
            <a:ext cx="4572000" cy="2011680"/>
          </a:xfrm>
          <a:prstGeom prst="rect">
            <a:avLst/>
          </a:prstGeom>
          <a:noFill/>
          <a:ln/>
        </p:spPr>
        <p:txBody>
          <a:bodyPr wrap="square" rtlCol="0" anchor="ctr"/>
          <a:lstStyle/>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Each stage does less work → shorter Tc</a:t>
            </a:r>
            <a:endParaRPr lang="en-US" sz="1250" dirty="0"/>
          </a:p>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Higher achievable clock rate</a:t>
            </a:r>
            <a:endParaRPr lang="en-US" sz="1250" dirty="0"/>
          </a:p>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Higher ideal throughput (≈ N)</a:t>
            </a:r>
            <a:endParaRPr lang="en-US" sz="1250" dirty="0"/>
          </a:p>
        </p:txBody>
      </p:sp>
      <p:sp>
        <p:nvSpPr>
          <p:cNvPr id="9" name="Shape 7"/>
          <p:cNvSpPr/>
          <p:nvPr/>
        </p:nvSpPr>
        <p:spPr>
          <a:xfrm>
            <a:off x="6126480" y="1737360"/>
            <a:ext cx="5212080" cy="3108960"/>
          </a:xfrm>
          <a:prstGeom prst="roundRect">
            <a:avLst>
              <a:gd name="adj" fmla="val 2941"/>
            </a:avLst>
          </a:prstGeom>
          <a:solidFill>
            <a:srgbClr val="FBE7E5"/>
          </a:solidFill>
          <a:ln/>
        </p:spPr>
      </p:sp>
      <p:sp>
        <p:nvSpPr>
          <p:cNvPr id="10" name="Shape 8"/>
          <p:cNvSpPr/>
          <p:nvPr/>
        </p:nvSpPr>
        <p:spPr>
          <a:xfrm>
            <a:off x="6400800" y="1965960"/>
            <a:ext cx="640080" cy="640080"/>
          </a:xfrm>
          <a:prstGeom prst="ellipse">
            <a:avLst/>
          </a:prstGeom>
          <a:solidFill>
            <a:srgbClr val="C0392B"/>
          </a:solidFill>
          <a:ln/>
        </p:spPr>
      </p:sp>
      <p:sp>
        <p:nvSpPr>
          <p:cNvPr id="11" name="Text 9"/>
          <p:cNvSpPr/>
          <p:nvPr/>
        </p:nvSpPr>
        <p:spPr>
          <a:xfrm>
            <a:off x="6400800" y="196596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178040" y="1965960"/>
            <a:ext cx="3931920" cy="640080"/>
          </a:xfrm>
          <a:prstGeom prst="rect">
            <a:avLst/>
          </a:prstGeom>
          <a:noFill/>
          <a:ln/>
        </p:spPr>
        <p:txBody>
          <a:bodyPr wrap="square" rtlCol="0" anchor="ctr"/>
          <a:lstStyle/>
          <a:p>
            <a:pPr marL="0" indent="0">
              <a:buNone/>
            </a:pPr>
            <a:r>
              <a:rPr lang="en-US" sz="1500" b="1" dirty="0">
                <a:solidFill>
                  <a:srgbClr val="C0392B"/>
                </a:solidFill>
                <a:latin typeface="Cambria" pitchFamily="34" charset="0"/>
                <a:ea typeface="Cambria" pitchFamily="34" charset="-122"/>
                <a:cs typeface="Cambria" pitchFamily="34" charset="-120"/>
              </a:rPr>
              <a:t>Costs of More Stages</a:t>
            </a:r>
            <a:endParaRPr lang="en-US" sz="1500" dirty="0"/>
          </a:p>
        </p:txBody>
      </p:sp>
      <p:sp>
        <p:nvSpPr>
          <p:cNvPr id="13" name="Text 11"/>
          <p:cNvSpPr/>
          <p:nvPr/>
        </p:nvSpPr>
        <p:spPr>
          <a:xfrm>
            <a:off x="6446520" y="2743200"/>
            <a:ext cx="4572000" cy="2011680"/>
          </a:xfrm>
          <a:prstGeom prst="rect">
            <a:avLst/>
          </a:prstGeom>
          <a:noFill/>
          <a:ln/>
        </p:spPr>
        <p:txBody>
          <a:bodyPr wrap="square" rtlCol="0" anchor="ctr"/>
          <a:lstStyle/>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Larger branch misprediction penalty</a:t>
            </a:r>
            <a:endParaRPr lang="en-US" sz="1250" dirty="0"/>
          </a:p>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More pipeline registers → overhead per stage</a:t>
            </a:r>
            <a:endParaRPr lang="en-US" sz="1250" dirty="0"/>
          </a:p>
          <a:p>
            <a:pPr marL="342900" indent="-342900">
              <a:spcAft>
                <a:spcPts val="1000"/>
              </a:spcAft>
              <a:buSzPct val="100000"/>
              <a:buChar char="•"/>
            </a:pPr>
            <a:r>
              <a:rPr lang="en-US" sz="1250" dirty="0">
                <a:solidFill>
                  <a:srgbClr val="1B2A4A"/>
                </a:solidFill>
                <a:latin typeface="Calibri" pitchFamily="34" charset="0"/>
                <a:ea typeface="Calibri" pitchFamily="34" charset="-122"/>
                <a:cs typeface="Calibri" pitchFamily="34" charset="-120"/>
              </a:rPr>
              <a:t>Harder to avoid data hazards between stages</a:t>
            </a:r>
            <a:endParaRPr lang="en-US" sz="1250" dirty="0"/>
          </a:p>
        </p:txBody>
      </p:sp>
      <p:sp>
        <p:nvSpPr>
          <p:cNvPr id="14" name="Shape 12"/>
          <p:cNvSpPr/>
          <p:nvPr/>
        </p:nvSpPr>
        <p:spPr>
          <a:xfrm>
            <a:off x="548640" y="5029200"/>
            <a:ext cx="10881360" cy="1005840"/>
          </a:xfrm>
          <a:prstGeom prst="roundRect">
            <a:avLst>
              <a:gd name="adj" fmla="val 7273"/>
            </a:avLst>
          </a:prstGeom>
          <a:solidFill>
            <a:srgbClr val="1B2A4A"/>
          </a:solidFill>
          <a:ln/>
        </p:spPr>
      </p:sp>
      <p:sp>
        <p:nvSpPr>
          <p:cNvPr id="15" name="Text 13"/>
          <p:cNvSpPr/>
          <p:nvPr/>
        </p:nvSpPr>
        <p:spPr>
          <a:xfrm>
            <a:off x="822960" y="5029200"/>
            <a:ext cx="10332720" cy="100584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Sweet spot: architects pick pipeline depth where added clock-rate gain outweighs added stall/penalty cost.</a:t>
            </a:r>
            <a:endParaRPr lang="en-US" sz="1350" dirty="0"/>
          </a:p>
        </p:txBody>
      </p:sp>
      <p:sp>
        <p:nvSpPr>
          <p:cNvPr id="16" name="Text 14"/>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COMMON PITFALLS</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Common Misconceptions &amp; Pitfalls</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Misconception: ‘Higher GHz always means faster.’ Reality: CPI and IC can dominate (see the Megahertz Myth).</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Misconception: ‘More pipeline stages is always better.’ Reality: stall penalties grow with depth.</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Misconception: ‘CPI is a fixed hardware number.’ Reality: CPI depends on the program's instruction mix and hazards.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Pitfall: forgetting to convert clock rate to Tc correctly (GHz → ns) — always double-check units.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Pitfall: mixing up Ideal CPI and Effective CPI when substituting into the performance equation.</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D9534F"/>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Exam Tip</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Always state which CPI (ideal or effective) you are using, and always show your unit conversions explicitly.</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121D33"/>
          </a:solidFill>
          <a:ln/>
        </p:spPr>
      </p:sp>
      <p:sp>
        <p:nvSpPr>
          <p:cNvPr id="3" name="Shape 1"/>
          <p:cNvSpPr/>
          <p:nvPr/>
        </p:nvSpPr>
        <p:spPr>
          <a:xfrm>
            <a:off x="548640" y="777240"/>
            <a:ext cx="1005840" cy="1005840"/>
          </a:xfrm>
          <a:prstGeom prst="ellipse">
            <a:avLst/>
          </a:prstGeom>
          <a:solidFill>
            <a:srgbClr val="00C2CB"/>
          </a:solidFill>
          <a:ln/>
        </p:spPr>
      </p:sp>
      <p:sp>
        <p:nvSpPr>
          <p:cNvPr id="4" name="Text 2"/>
          <p:cNvSpPr/>
          <p:nvPr/>
        </p:nvSpPr>
        <p:spPr>
          <a:xfrm>
            <a:off x="548640" y="777240"/>
            <a:ext cx="1005840" cy="1005840"/>
          </a:xfrm>
          <a:prstGeom prst="rect">
            <a:avLst/>
          </a:prstGeom>
          <a:noFill/>
          <a:ln/>
        </p:spPr>
        <p:txBody>
          <a:bodyPr wrap="square" rtlCol="0" anchor="ctr"/>
          <a:lstStyle/>
          <a:p>
            <a:pPr marL="0" indent="0" algn="ctr">
              <a:buNone/>
            </a:pPr>
            <a:r>
              <a:rPr lang="en-US" sz="3200" b="1" dirty="0">
                <a:solidFill>
                  <a:srgbClr val="121D33"/>
                </a:solidFill>
                <a:latin typeface="Calibri" pitchFamily="34" charset="0"/>
                <a:ea typeface="Calibri" pitchFamily="34" charset="-122"/>
                <a:cs typeface="Calibri" pitchFamily="34" charset="-120"/>
              </a:rPr>
              <a:t>🧩</a:t>
            </a:r>
            <a:endParaRPr lang="en-US" sz="3200" dirty="0"/>
          </a:p>
        </p:txBody>
      </p:sp>
      <p:sp>
        <p:nvSpPr>
          <p:cNvPr id="5" name="Text 3"/>
          <p:cNvSpPr/>
          <p:nvPr/>
        </p:nvSpPr>
        <p:spPr>
          <a:xfrm>
            <a:off x="548640" y="1920240"/>
            <a:ext cx="8229600" cy="365760"/>
          </a:xfrm>
          <a:prstGeom prst="rect">
            <a:avLst/>
          </a:prstGeom>
          <a:noFill/>
          <a:ln/>
        </p:spPr>
        <p:txBody>
          <a:bodyPr wrap="square" rtlCol="0" anchor="ctr"/>
          <a:lstStyle/>
          <a:p>
            <a:pPr marL="0" indent="0">
              <a:buNone/>
            </a:pPr>
            <a:r>
              <a:rPr lang="en-US" sz="1400" b="1" kern="0" spc="200" dirty="0">
                <a:solidFill>
                  <a:srgbClr val="00C2CB"/>
                </a:solidFill>
                <a:latin typeface="Calibri" pitchFamily="34" charset="0"/>
                <a:ea typeface="Calibri" pitchFamily="34" charset="-122"/>
                <a:cs typeface="Calibri" pitchFamily="34" charset="-120"/>
              </a:rPr>
              <a:t>QUICK CHECK — THINK, PAIR, SHARE</a:t>
            </a:r>
            <a:endParaRPr lang="en-US" sz="1400" dirty="0"/>
          </a:p>
        </p:txBody>
      </p:sp>
      <p:sp>
        <p:nvSpPr>
          <p:cNvPr id="6" name="Text 4"/>
          <p:cNvSpPr/>
          <p:nvPr/>
        </p:nvSpPr>
        <p:spPr>
          <a:xfrm>
            <a:off x="548640" y="2331720"/>
            <a:ext cx="10607040" cy="1737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Two chips have identical IC and Tc. Chip X has CPI = 1.8, Chip Y has CPI = 1.3. Which finishes faster, and by what factor?</a:t>
            </a:r>
            <a:endParaRPr lang="en-US" sz="2400" dirty="0"/>
          </a:p>
        </p:txBody>
      </p:sp>
      <p:sp>
        <p:nvSpPr>
          <p:cNvPr id="7" name="Text 5"/>
          <p:cNvSpPr/>
          <p:nvPr/>
        </p:nvSpPr>
        <p:spPr>
          <a:xfrm>
            <a:off x="548640" y="4206240"/>
            <a:ext cx="9601200" cy="1645920"/>
          </a:xfrm>
          <a:prstGeom prst="rect">
            <a:avLst/>
          </a:prstGeom>
          <a:noFill/>
          <a:ln/>
        </p:spPr>
        <p:txBody>
          <a:bodyPr wrap="square" rtlCol="0" anchor="ctr"/>
          <a:lstStyle/>
          <a:p>
            <a:pPr marL="342900" indent="-342900">
              <a:spcAft>
                <a:spcPts val="800"/>
              </a:spcAft>
              <a:buSzPct val="100000"/>
              <a:buChar char="•"/>
            </a:pPr>
            <a:r>
              <a:rPr lang="en-US" sz="1500" dirty="0">
                <a:solidFill>
                  <a:srgbClr val="CADCFC"/>
                </a:solidFill>
                <a:latin typeface="Calibri" pitchFamily="34" charset="0"/>
                <a:ea typeface="Calibri" pitchFamily="34" charset="-122"/>
                <a:cs typeface="Calibri" pitchFamily="34" charset="-120"/>
              </a:rPr>
              <a:t>Discuss with your neighbor for 60 seconds.</a:t>
            </a:r>
            <a:endParaRPr lang="en-US" sz="1500" dirty="0"/>
          </a:p>
          <a:p>
            <a:pPr marL="342900" indent="-342900">
              <a:spcAft>
                <a:spcPts val="800"/>
              </a:spcAft>
              <a:buSzPct val="100000"/>
              <a:buChar char="•"/>
            </a:pPr>
            <a:r>
              <a:rPr lang="en-US" sz="1500" dirty="0">
                <a:solidFill>
                  <a:srgbClr val="CADCFC"/>
                </a:solidFill>
                <a:latin typeface="Calibri" pitchFamily="34" charset="0"/>
                <a:ea typeface="Calibri" pitchFamily="34" charset="-122"/>
                <a:cs typeface="Calibri" pitchFamily="34" charset="-120"/>
              </a:rPr>
              <a:t>Hint: with IC and Tc equal, CPU time is directly proportional to CPI.</a:t>
            </a:r>
            <a:endParaRPr lang="en-US" sz="1500" dirty="0"/>
          </a:p>
          <a:p>
            <a:pPr marL="342900" indent="-342900">
              <a:spcAft>
                <a:spcPts val="800"/>
              </a:spcAft>
              <a:buSzPct val="100000"/>
              <a:buChar char="•"/>
            </a:pPr>
            <a:r>
              <a:rPr lang="en-US" sz="1500" dirty="0">
                <a:solidFill>
                  <a:srgbClr val="CADCFC"/>
                </a:solidFill>
                <a:latin typeface="Calibri" pitchFamily="34" charset="0"/>
                <a:ea typeface="Calibri" pitchFamily="34" charset="-122"/>
                <a:cs typeface="Calibri" pitchFamily="34" charset="-120"/>
              </a:rPr>
              <a:t>Bonus: express Chip Y's speed advantage as a percentage.</a:t>
            </a:r>
            <a:endParaRPr lang="en-US" sz="1500" dirty="0"/>
          </a:p>
        </p:txBody>
      </p:sp>
      <p:sp>
        <p:nvSpPr>
          <p:cNvPr id="8" name="Text 6"/>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AFC3D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9" name="Text 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0" name="Text 8"/>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Summary of Key Points</a:t>
            </a:r>
            <a:endParaRPr lang="en-US" sz="3000" dirty="0"/>
          </a:p>
        </p:txBody>
      </p:sp>
      <p:sp>
        <p:nvSpPr>
          <p:cNvPr id="4" name="Shape 2"/>
          <p:cNvSpPr/>
          <p:nvPr/>
        </p:nvSpPr>
        <p:spPr>
          <a:xfrm>
            <a:off x="548640" y="1691640"/>
            <a:ext cx="521208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5" name="Shape 3"/>
          <p:cNvSpPr/>
          <p:nvPr/>
        </p:nvSpPr>
        <p:spPr>
          <a:xfrm>
            <a:off x="822960" y="2057400"/>
            <a:ext cx="914400" cy="914400"/>
          </a:xfrm>
          <a:prstGeom prst="ellipse">
            <a:avLst/>
          </a:prstGeom>
          <a:solidFill>
            <a:srgbClr val="3E7CB1"/>
          </a:solidFill>
          <a:ln/>
        </p:spPr>
      </p:sp>
      <p:sp>
        <p:nvSpPr>
          <p:cNvPr id="6" name="Text 4"/>
          <p:cNvSpPr/>
          <p:nvPr/>
        </p:nvSpPr>
        <p:spPr>
          <a:xfrm>
            <a:off x="822960" y="205740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20240" y="1965960"/>
            <a:ext cx="3657600" cy="50292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Basic Performance Equation</a:t>
            </a:r>
            <a:endParaRPr lang="en-US" sz="1450" dirty="0"/>
          </a:p>
        </p:txBody>
      </p:sp>
      <p:sp>
        <p:nvSpPr>
          <p:cNvPr id="8" name="Text 6"/>
          <p:cNvSpPr/>
          <p:nvPr/>
        </p:nvSpPr>
        <p:spPr>
          <a:xfrm>
            <a:off x="1920240" y="2468880"/>
            <a:ext cx="3657600" cy="960120"/>
          </a:xfrm>
          <a:prstGeom prst="rect">
            <a:avLst/>
          </a:prstGeom>
          <a:noFill/>
          <a:ln/>
        </p:spPr>
        <p:txBody>
          <a:bodyPr wrap="square" rtlCol="0" anchor="t"/>
          <a:lstStyle/>
          <a:p>
            <a:pPr marL="0" indent="0">
              <a:buNone/>
            </a:pPr>
            <a:r>
              <a:rPr lang="en-US" sz="1150" dirty="0">
                <a:solidFill>
                  <a:srgbClr val="5B6B82"/>
                </a:solidFill>
                <a:latin typeface="Calibri" pitchFamily="34" charset="0"/>
                <a:ea typeface="Calibri" pitchFamily="34" charset="-122"/>
                <a:cs typeface="Calibri" pitchFamily="34" charset="-120"/>
              </a:rPr>
              <a:t>CPU Time = IC × CPI × Tc — the master formula of processor speed.</a:t>
            </a:r>
            <a:endParaRPr lang="en-US" sz="1150" dirty="0"/>
          </a:p>
        </p:txBody>
      </p:sp>
      <p:sp>
        <p:nvSpPr>
          <p:cNvPr id="9" name="Shape 7"/>
          <p:cNvSpPr/>
          <p:nvPr/>
        </p:nvSpPr>
        <p:spPr>
          <a:xfrm>
            <a:off x="6126480" y="1691640"/>
            <a:ext cx="521208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10" name="Shape 8"/>
          <p:cNvSpPr/>
          <p:nvPr/>
        </p:nvSpPr>
        <p:spPr>
          <a:xfrm>
            <a:off x="6400800" y="2057400"/>
            <a:ext cx="914400" cy="914400"/>
          </a:xfrm>
          <a:prstGeom prst="ellipse">
            <a:avLst/>
          </a:prstGeom>
          <a:solidFill>
            <a:srgbClr val="3E7CB1"/>
          </a:solidFill>
          <a:ln/>
        </p:spPr>
      </p:sp>
      <p:sp>
        <p:nvSpPr>
          <p:cNvPr id="11" name="Text 9"/>
          <p:cNvSpPr/>
          <p:nvPr/>
        </p:nvSpPr>
        <p:spPr>
          <a:xfrm>
            <a:off x="6400800" y="205740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7498080" y="1965960"/>
            <a:ext cx="3657600" cy="50292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CPI is an average</a:t>
            </a:r>
            <a:endParaRPr lang="en-US" sz="1450" dirty="0"/>
          </a:p>
        </p:txBody>
      </p:sp>
      <p:sp>
        <p:nvSpPr>
          <p:cNvPr id="13" name="Text 11"/>
          <p:cNvSpPr/>
          <p:nvPr/>
        </p:nvSpPr>
        <p:spPr>
          <a:xfrm>
            <a:off x="7498080" y="2468880"/>
            <a:ext cx="3657600" cy="960120"/>
          </a:xfrm>
          <a:prstGeom prst="rect">
            <a:avLst/>
          </a:prstGeom>
          <a:noFill/>
          <a:ln/>
        </p:spPr>
        <p:txBody>
          <a:bodyPr wrap="square" rtlCol="0" anchor="t"/>
          <a:lstStyle/>
          <a:p>
            <a:pPr marL="0" indent="0">
              <a:buNone/>
            </a:pPr>
            <a:r>
              <a:rPr lang="en-US" sz="1150" dirty="0">
                <a:solidFill>
                  <a:srgbClr val="5B6B82"/>
                </a:solidFill>
                <a:latin typeface="Calibri" pitchFamily="34" charset="0"/>
                <a:ea typeface="Calibri" pitchFamily="34" charset="-122"/>
                <a:cs typeface="Calibri" pitchFamily="34" charset="-120"/>
              </a:rPr>
              <a:t>It depends on instruction mix, and rises sharply with stalls.</a:t>
            </a:r>
            <a:endParaRPr lang="en-US" sz="1150" dirty="0"/>
          </a:p>
        </p:txBody>
      </p:sp>
      <p:sp>
        <p:nvSpPr>
          <p:cNvPr id="14" name="Shape 12"/>
          <p:cNvSpPr/>
          <p:nvPr/>
        </p:nvSpPr>
        <p:spPr>
          <a:xfrm>
            <a:off x="548640" y="3840480"/>
            <a:ext cx="521208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15" name="Shape 13"/>
          <p:cNvSpPr/>
          <p:nvPr/>
        </p:nvSpPr>
        <p:spPr>
          <a:xfrm>
            <a:off x="822960" y="4206240"/>
            <a:ext cx="914400" cy="914400"/>
          </a:xfrm>
          <a:prstGeom prst="ellipse">
            <a:avLst/>
          </a:prstGeom>
          <a:solidFill>
            <a:srgbClr val="3E7CB1"/>
          </a:solidFill>
          <a:ln/>
        </p:spPr>
      </p:sp>
      <p:sp>
        <p:nvSpPr>
          <p:cNvPr id="16" name="Text 14"/>
          <p:cNvSpPr/>
          <p:nvPr/>
        </p:nvSpPr>
        <p:spPr>
          <a:xfrm>
            <a:off x="822960" y="420624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7" name="Text 15"/>
          <p:cNvSpPr/>
          <p:nvPr/>
        </p:nvSpPr>
        <p:spPr>
          <a:xfrm>
            <a:off x="1920240" y="4114800"/>
            <a:ext cx="3657600" cy="50292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Stalls &amp; Penalties</a:t>
            </a:r>
            <a:endParaRPr lang="en-US" sz="1450" dirty="0"/>
          </a:p>
        </p:txBody>
      </p:sp>
      <p:sp>
        <p:nvSpPr>
          <p:cNvPr id="18" name="Text 16"/>
          <p:cNvSpPr/>
          <p:nvPr/>
        </p:nvSpPr>
        <p:spPr>
          <a:xfrm>
            <a:off x="1920240" y="4617720"/>
            <a:ext cx="3657600" cy="960120"/>
          </a:xfrm>
          <a:prstGeom prst="rect">
            <a:avLst/>
          </a:prstGeom>
          <a:noFill/>
          <a:ln/>
        </p:spPr>
        <p:txBody>
          <a:bodyPr wrap="square" rtlCol="0" anchor="t"/>
          <a:lstStyle/>
          <a:p>
            <a:pPr marL="0" indent="0">
              <a:buNone/>
            </a:pPr>
            <a:r>
              <a:rPr lang="en-US" sz="1150" dirty="0">
                <a:solidFill>
                  <a:srgbClr val="5B6B82"/>
                </a:solidFill>
                <a:latin typeface="Calibri" pitchFamily="34" charset="0"/>
                <a:ea typeface="Calibri" pitchFamily="34" charset="-122"/>
                <a:cs typeface="Calibri" pitchFamily="34" charset="-120"/>
              </a:rPr>
              <a:t>Effective CPI = Ideal CPI + (stalls/instruction × penalty).</a:t>
            </a:r>
            <a:endParaRPr lang="en-US" sz="1150" dirty="0"/>
          </a:p>
        </p:txBody>
      </p:sp>
      <p:sp>
        <p:nvSpPr>
          <p:cNvPr id="19" name="Shape 17"/>
          <p:cNvSpPr/>
          <p:nvPr/>
        </p:nvSpPr>
        <p:spPr>
          <a:xfrm>
            <a:off x="6126480" y="3840480"/>
            <a:ext cx="5212080" cy="1874520"/>
          </a:xfrm>
          <a:prstGeom prst="roundRect">
            <a:avLst>
              <a:gd name="adj" fmla="val 4878"/>
            </a:avLst>
          </a:prstGeom>
          <a:solidFill>
            <a:srgbClr val="FFFFFF"/>
          </a:solidFill>
          <a:ln/>
          <a:effectLst>
            <a:outerShdw blurRad="76200" dist="25400" dir="5400000" algn="bl" rotWithShape="0">
              <a:srgbClr val="1B2A4A">
                <a:alpha val="12000"/>
              </a:srgbClr>
            </a:outerShdw>
          </a:effectLst>
        </p:spPr>
      </p:sp>
      <p:sp>
        <p:nvSpPr>
          <p:cNvPr id="20" name="Shape 18"/>
          <p:cNvSpPr/>
          <p:nvPr/>
        </p:nvSpPr>
        <p:spPr>
          <a:xfrm>
            <a:off x="6400800" y="4206240"/>
            <a:ext cx="914400" cy="914400"/>
          </a:xfrm>
          <a:prstGeom prst="ellipse">
            <a:avLst/>
          </a:prstGeom>
          <a:solidFill>
            <a:srgbClr val="3E7CB1"/>
          </a:solidFill>
          <a:ln/>
        </p:spPr>
      </p:sp>
      <p:sp>
        <p:nvSpPr>
          <p:cNvPr id="21" name="Text 19"/>
          <p:cNvSpPr/>
          <p:nvPr/>
        </p:nvSpPr>
        <p:spPr>
          <a:xfrm>
            <a:off x="6400800" y="4206240"/>
            <a:ext cx="914400" cy="91440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2" name="Text 20"/>
          <p:cNvSpPr/>
          <p:nvPr/>
        </p:nvSpPr>
        <p:spPr>
          <a:xfrm>
            <a:off x="7498080" y="4114800"/>
            <a:ext cx="3657600" cy="502920"/>
          </a:xfrm>
          <a:prstGeom prst="rect">
            <a:avLst/>
          </a:prstGeom>
          <a:noFill/>
          <a:ln/>
        </p:spPr>
        <p:txBody>
          <a:bodyPr wrap="square" rtlCol="0" anchor="t"/>
          <a:lstStyle/>
          <a:p>
            <a:pPr marL="0" indent="0">
              <a:buNone/>
            </a:pPr>
            <a:r>
              <a:rPr lang="en-US" sz="1450" b="1" dirty="0">
                <a:solidFill>
                  <a:srgbClr val="1B2A4A"/>
                </a:solidFill>
                <a:latin typeface="Cambria" pitchFamily="34" charset="0"/>
                <a:ea typeface="Cambria" pitchFamily="34" charset="-122"/>
                <a:cs typeface="Cambria" pitchFamily="34" charset="-120"/>
              </a:rPr>
              <a:t>Pipeline Stages</a:t>
            </a:r>
            <a:endParaRPr lang="en-US" sz="1450" dirty="0"/>
          </a:p>
        </p:txBody>
      </p:sp>
      <p:sp>
        <p:nvSpPr>
          <p:cNvPr id="23" name="Text 21"/>
          <p:cNvSpPr/>
          <p:nvPr/>
        </p:nvSpPr>
        <p:spPr>
          <a:xfrm>
            <a:off x="7498080" y="4617720"/>
            <a:ext cx="3657600" cy="960120"/>
          </a:xfrm>
          <a:prstGeom prst="rect">
            <a:avLst/>
          </a:prstGeom>
          <a:noFill/>
          <a:ln/>
        </p:spPr>
        <p:txBody>
          <a:bodyPr wrap="square" rtlCol="0" anchor="t"/>
          <a:lstStyle/>
          <a:p>
            <a:pPr marL="0" indent="0">
              <a:buNone/>
            </a:pPr>
            <a:r>
              <a:rPr lang="en-US" sz="1150" dirty="0">
                <a:solidFill>
                  <a:srgbClr val="5B6B82"/>
                </a:solidFill>
                <a:latin typeface="Calibri" pitchFamily="34" charset="0"/>
                <a:ea typeface="Calibri" pitchFamily="34" charset="-122"/>
                <a:cs typeface="Calibri" pitchFamily="34" charset="-120"/>
              </a:rPr>
              <a:t>More stages → higher ideal speedup, but bigger misprediction penalties.</a:t>
            </a:r>
            <a:endParaRPr lang="en-US" sz="1150" dirty="0"/>
          </a:p>
        </p:txBody>
      </p:sp>
      <p:sp>
        <p:nvSpPr>
          <p:cNvPr id="24" name="Text 22"/>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Quiz Questions</a:t>
            </a:r>
            <a:endParaRPr lang="en-US" sz="3000" dirty="0"/>
          </a:p>
        </p:txBody>
      </p:sp>
      <p:sp>
        <p:nvSpPr>
          <p:cNvPr id="4" name="Text 2"/>
          <p:cNvSpPr/>
          <p:nvPr/>
        </p:nvSpPr>
        <p:spPr>
          <a:xfrm>
            <a:off x="548640" y="1691640"/>
            <a:ext cx="10424160" cy="4572000"/>
          </a:xfrm>
          <a:prstGeom prst="rect">
            <a:avLst/>
          </a:prstGeom>
          <a:noFill/>
          <a:ln/>
        </p:spPr>
        <p:txBody>
          <a:bodyPr wrap="square" rtlCol="0" anchor="ctr"/>
          <a:lstStyle/>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Q1. Write the Basic Performance Equation, defining each symbol.</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Q2. True or False: A higher clock rate always means faster program execution.</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Q3. A processor runs at 1.6 GHz. What is its clock cycle time, in nanoseconds?</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Q4. Name the three types of pipeline hazards.</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Q5. What is a pipeline ‘stall’, in one sentence?</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Q6. Write the formula relating Effective CPI, Ideal CPI, and stalls.</a:t>
            </a:r>
            <a:endParaRPr lang="en-US" sz="1500" dirty="0"/>
          </a:p>
          <a:p>
            <a:pPr marL="0" indent="0">
              <a:spcAft>
                <a:spcPts val="1400"/>
              </a:spcAft>
              <a:buNone/>
            </a:pPr>
            <a:r>
              <a:rPr lang="en-US" sz="1500" dirty="0">
                <a:solidFill>
                  <a:srgbClr val="1B2A4A"/>
                </a:solidFill>
                <a:latin typeface="Calibri" pitchFamily="34" charset="0"/>
                <a:ea typeface="Calibri" pitchFamily="34" charset="-122"/>
                <a:cs typeface="Calibri" pitchFamily="34" charset="-120"/>
              </a:rPr>
              <a:t>Q7. Short answer: Why can adding more pipeline stages sometimes REDUCE real performance despite raising the ideal speedup?</a:t>
            </a:r>
            <a:endParaRPr lang="en-US" sz="1500" dirty="0"/>
          </a:p>
        </p:txBody>
      </p:sp>
      <p:sp>
        <p:nvSpPr>
          <p:cNvPr id="5" name="Text 3"/>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6" name="Text 4"/>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7" name="Text 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00C2CB"/>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Quiz Answers</a:t>
            </a:r>
            <a:endParaRPr lang="en-US" sz="3000" dirty="0"/>
          </a:p>
        </p:txBody>
      </p:sp>
      <p:sp>
        <p:nvSpPr>
          <p:cNvPr id="4" name="Text 2"/>
          <p:cNvSpPr/>
          <p:nvPr/>
        </p:nvSpPr>
        <p:spPr>
          <a:xfrm>
            <a:off x="548640" y="1645920"/>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A1.</a:t>
            </a:r>
            <a:endParaRPr lang="en-US" sz="1400" dirty="0"/>
          </a:p>
        </p:txBody>
      </p:sp>
      <p:sp>
        <p:nvSpPr>
          <p:cNvPr id="5" name="Text 3"/>
          <p:cNvSpPr/>
          <p:nvPr/>
        </p:nvSpPr>
        <p:spPr>
          <a:xfrm>
            <a:off x="1143000" y="1645920"/>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CPU Time = IC × CPI × Tc  (Instruction Count × Cycles/Instruction × Clock Cycle Time).</a:t>
            </a:r>
            <a:endParaRPr lang="en-US" sz="1300" dirty="0"/>
          </a:p>
        </p:txBody>
      </p:sp>
      <p:sp>
        <p:nvSpPr>
          <p:cNvPr id="6" name="Text 4"/>
          <p:cNvSpPr/>
          <p:nvPr/>
        </p:nvSpPr>
        <p:spPr>
          <a:xfrm>
            <a:off x="548640" y="2267712"/>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A2.</a:t>
            </a:r>
            <a:endParaRPr lang="en-US" sz="1400" dirty="0"/>
          </a:p>
        </p:txBody>
      </p:sp>
      <p:sp>
        <p:nvSpPr>
          <p:cNvPr id="7" name="Text 5"/>
          <p:cNvSpPr/>
          <p:nvPr/>
        </p:nvSpPr>
        <p:spPr>
          <a:xfrm>
            <a:off x="1143000" y="2267712"/>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False — CPI and IC can outweigh clock rate (the ‘Megahertz Myth’).</a:t>
            </a:r>
            <a:endParaRPr lang="en-US" sz="1300" dirty="0"/>
          </a:p>
        </p:txBody>
      </p:sp>
      <p:sp>
        <p:nvSpPr>
          <p:cNvPr id="8" name="Text 6"/>
          <p:cNvSpPr/>
          <p:nvPr/>
        </p:nvSpPr>
        <p:spPr>
          <a:xfrm>
            <a:off x="548640" y="2889504"/>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A3.</a:t>
            </a:r>
            <a:endParaRPr lang="en-US" sz="1400" dirty="0"/>
          </a:p>
        </p:txBody>
      </p:sp>
      <p:sp>
        <p:nvSpPr>
          <p:cNvPr id="9" name="Text 7"/>
          <p:cNvSpPr/>
          <p:nvPr/>
        </p:nvSpPr>
        <p:spPr>
          <a:xfrm>
            <a:off x="1143000" y="2889504"/>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Tc = 1 / 1.6GHz = 0.625 ns.</a:t>
            </a:r>
            <a:endParaRPr lang="en-US" sz="1300" dirty="0"/>
          </a:p>
        </p:txBody>
      </p:sp>
      <p:sp>
        <p:nvSpPr>
          <p:cNvPr id="10" name="Text 8"/>
          <p:cNvSpPr/>
          <p:nvPr/>
        </p:nvSpPr>
        <p:spPr>
          <a:xfrm>
            <a:off x="548640" y="3511296"/>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A4.</a:t>
            </a:r>
            <a:endParaRPr lang="en-US" sz="1400" dirty="0"/>
          </a:p>
        </p:txBody>
      </p:sp>
      <p:sp>
        <p:nvSpPr>
          <p:cNvPr id="11" name="Text 9"/>
          <p:cNvSpPr/>
          <p:nvPr/>
        </p:nvSpPr>
        <p:spPr>
          <a:xfrm>
            <a:off x="1143000" y="3511296"/>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Structural, Data, and Control hazards.</a:t>
            </a:r>
            <a:endParaRPr lang="en-US" sz="1300" dirty="0"/>
          </a:p>
        </p:txBody>
      </p:sp>
      <p:sp>
        <p:nvSpPr>
          <p:cNvPr id="12" name="Text 10"/>
          <p:cNvSpPr/>
          <p:nvPr/>
        </p:nvSpPr>
        <p:spPr>
          <a:xfrm>
            <a:off x="548640" y="4133088"/>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A5.</a:t>
            </a:r>
            <a:endParaRPr lang="en-US" sz="1400" dirty="0"/>
          </a:p>
        </p:txBody>
      </p:sp>
      <p:sp>
        <p:nvSpPr>
          <p:cNvPr id="13" name="Text 11"/>
          <p:cNvSpPr/>
          <p:nvPr/>
        </p:nvSpPr>
        <p:spPr>
          <a:xfrm>
            <a:off x="1143000" y="4133088"/>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An idle cycle inserted into the pipeline to resolve a hazard, delaying useful work.</a:t>
            </a:r>
            <a:endParaRPr lang="en-US" sz="1300" dirty="0"/>
          </a:p>
        </p:txBody>
      </p:sp>
      <p:sp>
        <p:nvSpPr>
          <p:cNvPr id="14" name="Text 12"/>
          <p:cNvSpPr/>
          <p:nvPr/>
        </p:nvSpPr>
        <p:spPr>
          <a:xfrm>
            <a:off x="548640" y="4754880"/>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A6.</a:t>
            </a:r>
            <a:endParaRPr lang="en-US" sz="1400" dirty="0"/>
          </a:p>
        </p:txBody>
      </p:sp>
      <p:sp>
        <p:nvSpPr>
          <p:cNvPr id="15" name="Text 13"/>
          <p:cNvSpPr/>
          <p:nvPr/>
        </p:nvSpPr>
        <p:spPr>
          <a:xfrm>
            <a:off x="1143000" y="4754880"/>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Effective CPI = Ideal CPI + (Stalls per Instruction × Cycles per Stall).</a:t>
            </a:r>
            <a:endParaRPr lang="en-US" sz="1300" dirty="0"/>
          </a:p>
        </p:txBody>
      </p:sp>
      <p:sp>
        <p:nvSpPr>
          <p:cNvPr id="16" name="Text 14"/>
          <p:cNvSpPr/>
          <p:nvPr/>
        </p:nvSpPr>
        <p:spPr>
          <a:xfrm>
            <a:off x="548640" y="5376672"/>
            <a:ext cx="548640" cy="502920"/>
          </a:xfrm>
          <a:prstGeom prst="rect">
            <a:avLst/>
          </a:prstGeom>
          <a:noFill/>
          <a:ln/>
        </p:spPr>
        <p:txBody>
          <a:bodyPr wrap="square" rtlCol="0" anchor="ctr"/>
          <a:lstStyle/>
          <a:p>
            <a:pPr marL="0" indent="0">
              <a:buNone/>
            </a:pPr>
            <a:r>
              <a:rPr lang="en-US" sz="1400" b="1" dirty="0">
                <a:solidFill>
                  <a:srgbClr val="00C2CB"/>
                </a:solidFill>
                <a:latin typeface="Cambria" pitchFamily="34" charset="0"/>
                <a:ea typeface="Cambria" pitchFamily="34" charset="-122"/>
                <a:cs typeface="Cambria" pitchFamily="34" charset="-120"/>
              </a:rPr>
              <a:t>A7.</a:t>
            </a:r>
            <a:endParaRPr lang="en-US" sz="1400" dirty="0"/>
          </a:p>
        </p:txBody>
      </p:sp>
      <p:sp>
        <p:nvSpPr>
          <p:cNvPr id="17" name="Text 15"/>
          <p:cNvSpPr/>
          <p:nvPr/>
        </p:nvSpPr>
        <p:spPr>
          <a:xfrm>
            <a:off x="1143000" y="5376672"/>
            <a:ext cx="9875520" cy="594360"/>
          </a:xfrm>
          <a:prstGeom prst="rect">
            <a:avLst/>
          </a:prstGeom>
          <a:noFill/>
          <a:ln/>
        </p:spPr>
        <p:txBody>
          <a:bodyPr wrap="square" rtlCol="0" anchor="t"/>
          <a:lstStyle/>
          <a:p>
            <a:pPr marL="0" indent="0">
              <a:buNone/>
            </a:pPr>
            <a:r>
              <a:rPr lang="en-US" sz="1300" dirty="0">
                <a:solidFill>
                  <a:srgbClr val="E6EEFA"/>
                </a:solidFill>
                <a:latin typeface="Calibri" pitchFamily="34" charset="0"/>
                <a:ea typeface="Calibri" pitchFamily="34" charset="-122"/>
                <a:cs typeface="Calibri" pitchFamily="34" charset="-120"/>
              </a:rPr>
              <a:t>Deeper pipelines increase branch misprediction penalty and per-stage overhead, which can outweigh the higher clock rate for workloads with frequent hazards.</a:t>
            </a:r>
            <a:endParaRPr lang="en-US" sz="1300" dirty="0"/>
          </a:p>
        </p:txBody>
      </p:sp>
      <p:sp>
        <p:nvSpPr>
          <p:cNvPr id="18" name="Text 16"/>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AFC3D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9" name="Text 17"/>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20" name="Text 18"/>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AFC3D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3E7CB1"/>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548640" y="658368"/>
            <a:ext cx="7863840" cy="82296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Further Reading &amp; Assignment</a:t>
            </a:r>
            <a:endParaRPr lang="en-US" sz="3000" dirty="0"/>
          </a:p>
        </p:txBody>
      </p:sp>
      <p:sp>
        <p:nvSpPr>
          <p:cNvPr id="4" name="Text 2"/>
          <p:cNvSpPr/>
          <p:nvPr/>
        </p:nvSpPr>
        <p:spPr>
          <a:xfrm>
            <a:off x="548640" y="1600200"/>
            <a:ext cx="6949440" cy="4480560"/>
          </a:xfrm>
          <a:prstGeom prst="rect">
            <a:avLst/>
          </a:prstGeom>
          <a:noFill/>
          <a:ln/>
        </p:spPr>
        <p:txBody>
          <a:bodyPr wrap="square" rtlCol="0" anchor="t"/>
          <a:lstStyle/>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Read: Hennessy &amp; Patterson, ‘Computer Organization and Design’ — chapter on Performance and Pipelining.</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Assignment: solve 3 additional Basic Performance Equation problems (posted on the LMS) before next class.</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Reflection task: find one real processor's published clock rate and CPI, and estimate its CPU time for a 1-million-instruction program.</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Next lecture: Cache memory and the memory hierarchy — another major factor hidden inside CPI.</a:t>
            </a:r>
            <a:endParaRPr lang="en-US" sz="1500" dirty="0"/>
          </a:p>
          <a:p>
            <a:pPr marL="228600" indent="-228600">
              <a:spcAft>
                <a:spcPts val="1200"/>
              </a:spcAft>
              <a:buSzPct val="100000"/>
              <a:buChar char="•"/>
            </a:pPr>
            <a:r>
              <a:rPr lang="en-US" sz="1500" dirty="0">
                <a:solidFill>
                  <a:srgbClr val="1B2A4A"/>
                </a:solidFill>
                <a:latin typeface="Calibri" pitchFamily="34" charset="0"/>
                <a:ea typeface="Calibri" pitchFamily="34" charset="-122"/>
                <a:cs typeface="Calibri" pitchFamily="34" charset="-120"/>
              </a:rPr>
              <a:t>Office hours: bring any doubts on today's formulas — review them before we build on them next class.</a:t>
            </a:r>
            <a:endParaRPr lang="en-US" sz="1500" dirty="0"/>
          </a:p>
        </p:txBody>
      </p:sp>
      <p:sp>
        <p:nvSpPr>
          <p:cNvPr id="5" name="Shape 3"/>
          <p:cNvSpPr/>
          <p:nvPr/>
        </p:nvSpPr>
        <p:spPr>
          <a:xfrm>
            <a:off x="7955280" y="1600200"/>
            <a:ext cx="3657600" cy="4480560"/>
          </a:xfrm>
          <a:prstGeom prst="roundRect">
            <a:avLst>
              <a:gd name="adj" fmla="val 3000"/>
            </a:avLst>
          </a:prstGeom>
          <a:solidFill>
            <a:srgbClr val="E8EEF6"/>
          </a:solidFill>
          <a:ln/>
          <a:effectLst>
            <a:outerShdw blurRad="101600" dist="38100" dir="5400000" algn="bl" rotWithShape="0">
              <a:srgbClr val="1B2A4A">
                <a:alpha val="18000"/>
              </a:srgbClr>
            </a:outerShdw>
          </a:effectLst>
        </p:spPr>
      </p:sp>
      <p:sp>
        <p:nvSpPr>
          <p:cNvPr id="6" name="Shape 4"/>
          <p:cNvSpPr/>
          <p:nvPr/>
        </p:nvSpPr>
        <p:spPr>
          <a:xfrm>
            <a:off x="9189720" y="2103120"/>
            <a:ext cx="1188720" cy="1188720"/>
          </a:xfrm>
          <a:prstGeom prst="ellipse">
            <a:avLst/>
          </a:prstGeom>
          <a:solidFill>
            <a:srgbClr val="3E7CB1"/>
          </a:solidFill>
          <a:ln/>
        </p:spPr>
      </p:sp>
      <p:sp>
        <p:nvSpPr>
          <p:cNvPr id="7" name="Text 5"/>
          <p:cNvSpPr/>
          <p:nvPr/>
        </p:nvSpPr>
        <p:spPr>
          <a:xfrm>
            <a:off x="9189720" y="2103120"/>
            <a:ext cx="1188720" cy="11887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8" name="Text 6"/>
          <p:cNvSpPr/>
          <p:nvPr/>
        </p:nvSpPr>
        <p:spPr>
          <a:xfrm>
            <a:off x="8229600" y="3566160"/>
            <a:ext cx="3108960" cy="822960"/>
          </a:xfrm>
          <a:prstGeom prst="rect">
            <a:avLst/>
          </a:prstGeom>
          <a:noFill/>
          <a:ln/>
        </p:spPr>
        <p:txBody>
          <a:bodyPr wrap="square"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Keep Practicing</a:t>
            </a:r>
            <a:endParaRPr lang="en-US" sz="1600" dirty="0"/>
          </a:p>
        </p:txBody>
      </p:sp>
      <p:sp>
        <p:nvSpPr>
          <p:cNvPr id="9" name="Text 7"/>
          <p:cNvSpPr/>
          <p:nvPr/>
        </p:nvSpPr>
        <p:spPr>
          <a:xfrm>
            <a:off x="8229600" y="4297680"/>
            <a:ext cx="3108960" cy="1554480"/>
          </a:xfrm>
          <a:prstGeom prst="rect">
            <a:avLst/>
          </a:prstGeom>
          <a:noFill/>
          <a:ln/>
        </p:spPr>
        <p:txBody>
          <a:bodyPr wrap="square" rtlCol="0" anchor="t"/>
          <a:lstStyle/>
          <a:p>
            <a:pPr marL="0" indent="0" algn="ctr">
              <a:buNone/>
            </a:pPr>
            <a:r>
              <a:rPr lang="en-US" sz="1150" dirty="0">
                <a:solidFill>
                  <a:srgbClr val="5B6B82"/>
                </a:solidFill>
                <a:latin typeface="Calibri" pitchFamily="34" charset="0"/>
                <a:ea typeface="Calibri" pitchFamily="34" charset="-122"/>
                <a:cs typeface="Calibri" pitchFamily="34" charset="-120"/>
              </a:rPr>
              <a:t>Mastery of IC × CPI × Tc and the stall formula is essential before we tackle caching next week.</a:t>
            </a:r>
            <a:endParaRPr lang="en-US" sz="1150" dirty="0"/>
          </a:p>
        </p:txBody>
      </p:sp>
      <p:sp>
        <p:nvSpPr>
          <p:cNvPr id="10" name="Text 8"/>
          <p:cNvSpPr/>
          <p:nvPr/>
        </p:nvSpPr>
        <p:spPr>
          <a:xfrm>
            <a:off x="457200" y="6473952"/>
            <a:ext cx="10728655"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TotalTime>
  <Words>7812</Words>
  <Application>Microsoft Office PowerPoint</Application>
  <PresentationFormat>Widescreen</PresentationFormat>
  <Paragraphs>541</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2</cp:revision>
  <dcterms:created xsi:type="dcterms:W3CDTF">2026-08-12T06:34:40Z</dcterms:created>
  <dcterms:modified xsi:type="dcterms:W3CDTF">2026-08-19T14:48:39Z</dcterms:modified>
</cp:coreProperties>
</file>