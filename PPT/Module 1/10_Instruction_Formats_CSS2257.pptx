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warmly. Introduce yourself as the faculty for CSS2257, Computer Organization and Architecture. Tell them today's session dives into how instructions are actually encoded inside a computer -- instruction formats, instruction length, how bits are allocated between opcode and operands, and why some architectures use variable-length instructions. Mention this builds directly on the Basic Performance Equation and fetch-decode-execute cycle discussed earlier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slide confirming the course context -- School of AI &amp; Advanced Computing, Department of AI &amp; Robotics, subject Computer Organization and Architecture, and myself as your faculty. This anchors today's topic within the broader architecture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briefly. Emphasize that by the end of the hour, students should be comfortable both explaining these concepts in words AND solving small numerical problems on bit allocation -- because this is exactly the kind of question that appears in exams and interviews. Tell them we will build up from definitions to real worked problems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these three questions in turn. Take quick show-of-hands or 2-3 verbal responses per question -- do not let this run long, about 3-4 minutes total. You are not looking for perfect answers, just activating intuition. Use their answers to segue: "Exactly -- with limited bits you cannot fit unlimited operations AND unlimited data addresses. That tension is exactly what instruction formats are designed to solve, and that is our topic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 not an abstract topic -- it is literally why your phone's ARM chip and your laptop's Intel chip behave differently at the hardware level. Every compiler, every assembler, and every CPU decoder depends on the instruction format being well-defined. Mention that this connects to the Basic Performance Equation discussed earlier: instruction count and cycles per instruction are both influenced by how instructions are formatted.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recap the fetch-decode-execute cycle from the earlier lecture. Emphasize the DECODE stage -- ask rhetorically: "how does the control unit know which bits are the opcode and which are the operand?" The answer is the instruction FORMAT, a strict agreement between the compiler/assembler and the hardware about what each bit position means. This is the bridge into today's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"form with labeled boxes" analogy heavily -- freshers relate well to filling forms. Explain that just as a passport application form has fixed boxes for name, date of birth, and address, an instruction has fixed (or format-defined) boxes for opcode and operands. If the boxes were not agreed upon in advance, the decoder would have no way to know where one field ends and another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attention to the colored field diagram -- this is literally how a 32-bit instruction might be sliced. Explain each field left to right: opcode first (almost always, so the decoder knows immediately what operation this is), then addressing mode, then one or two operand fields. Point out that the WIDTH of each colored box in the diagram represents how many bits it occupies -- wider box, more bits, more possible values encoded in that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instruction length precisely as the sum of field widths. Give the MIPS example: every MIPS instruction is exactly 32 bits, no exceptions. Contrast briefly with x86, which we will cover later, where lengths vary from 1 byte to 15 bytes. Ask students: "if instructions are longer, does a program take more or less memory?" -- guide them to see instruction length is a direct multiplier on program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factor with a mini real-world tie-in: memory word size explains why RISC machines chose 32 bits (matches their 32-bit data bus). Number of operands: contrast a 1-address, 2-address and 3-address instruction. Address space: explain that 64-bit systems need wider address fields than 32-bit systems, and that alone can lengthen the instruction. This slide sets up the bit allocation discussion coming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the two big philosophies of instruction encoding. Fixed-length trades memory efficiency for decode speed and pipeline simplicity -- this is the RISC philosophy. Variable-length trades decode complexity for code density -- this is the classic CISC philosophy. Tell students we will now go deeper into each, starting with fixed-length, then move to bit allocation trade-offs, and finish with variable-length and expanding opcodes.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with a concrete image: imagine every SMS you send must be exactly 160 characters, padded with blanks if shorter. That is fixed-length in a nutshell -- simple to process but occasionally wasteful. Emphasize the pipeline benefit heavily since this is often tested: "PC = PC + 4" only works cleanly because every MIPS instruction is exactly 4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R-type MIPS format field by field: 6-bit opcode, three 5-bit register fields (rs, rt, rd — each can address one of 32 registers, hence 5 bits since 2^5=32), 5-bit shift amount, and a 6-bit function field. Point out that opcode alone is not enough to distinguish ADD from SUB in R-type -- the funct field does that. This is a clever bit-allocation trick: reusing the same 6-bit opcode across many R-type operations and letting funct add another 6 bits of distinguishing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today's lecture, so slow down here. Use the analogy of a fixed-size suitcase: if you allocate more space to shoes, you have less space for clothes. Total instruction length is the suitcase size; opcode bits and operand bits are competing for that same fixed space. Make sure students genuinely absorb this trade-off before moving to the numerical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formula 2^n for maximum instructions with n opcode bits, and the inverse formula using log base 2 for the minimum bits needed. Walk through the 4-bit example on the board: with 4 bits you get patterns 0000 through 1111, exactly 16 unique patterns. Ask students to compute how many opcode bits are needed for exactly 50 instructions -- guide them to see log2(50) is about 5.64, so you round UP to 6 bits, giving 64 possible codes (14 unused).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same 2^m logic but now for operand fields. Give the concrete number: 16 address bits gives exactly 65,536 addressable locations, which students will recognize as "64K," a number that shows up often in memory and networking contexts. Explain WHY register operands are so popular in RISC ISAs -- addressing 32 registers only needs 5 bits, versus addressing memory directly which could need 16, 32, or even 64 bits. This directly saves precious instruction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single most important visual of the lecture -- make sure everyone sees it clearly. All three bars represent the SAME 16-bit instruction length, but the split between opcode (navy) and address (gold) changes. Scenario A favors a rich address space with few operations; Scenario C favors many operations but a tiny addressable range. Ask students which scenario feels more "RISC-like" and which feels more constrained -- there is no universally correct split, it depends entirely on what the ISA needs to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formula n + k*m = L on the board and keep it visible. Explain that almost every bit-allocation numerical problem is a variation of this equation -- sometimes they give you L and ask for max opcodes, sometimes they give you required opcode count and ask how many operand bits remain. Tell students we will now solve two numerical problems using exactly this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problem and give students about 60-90 seconds to attempt it individually or in pairs before revealing the solution on the next slide. Encourage them to write down L, k, m, and n as separate values first -- that structured approach is exactly what they should do in an exam. Walk around (or, if online, monitor chat) and see if anyone gets 2^6 = 64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step slowly, writing the numbers on the board as you speak. This mirrors exactly how students should present their solution in an exam: state knowns, apply the formula, compute step by step, and box the final answer. Pause after Step 3 to ask "does everyone see why we subtract 10 from 16?" before moving to Step 4. This structured format -- knowns, formula, computation, boxed answer -- should become their template for every bit-allocation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directly with the fixed-length discussion earlier. Use an analogy: fixed-length is like every word in a dictionary being forced to exactly 8 letters (padding short words, truncating long ones) -- wasteful. Variable-length is like normal English, where "a" is one letter and "extraordinary" is thirteen -- efficient but you need to read letter by letter to know where one word ends and the next begins. That "reading to find the boundary" problem is exactly the decode challenge in variable-length instruction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brief historical context: in the era when RAM was extremely costly per byte, saving space through compact variable-length encoding was economically important. Explain that Intel's x86 family has added new instructions for decades without breaking old software, and that flexibility largely comes from the variable-length design allowing new, longer instruction encodings to coexist with old, short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row by row. Point out that NOP -- doing absolutely nothing -- takes just 1 byte, while a complex memory-addressing ADD instruction can take up to 7 bytes or more. This directly demonstrates the code-density benefit: common, simple operations stay cheap in terms of memory, while rare, complex operations "pay" for their complexity in extra bytes. Mention that real x86 instructions can go up to 15 bytes with certain prefixes, though that is an extreme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Reiterate code density as the headline benefit. Use a simple comparison: if 80% of a program's instructions are simple 1-2 byte operations and only 20% are complex 5+ byte operations, the AVERAGE instruction length can be much lower than a fixed 4-byte-per-instruction RISC design -- this can translate into a smaller compiled binary and, in some cases, better instruction-cache utilization.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slightly advanced point: explain that modern x86 processors (Intel/AMD) actually decode the variable-length x86 instructions into simpler, fixed-length internal micro-ops before they hit the execution pipeline. This is a clever engineering compromise -- keep the external variable-length instruction set for code density and compatibility, but internally convert to something closer to fixed-length for pipelining efficiency. This shows how real hardware blends both philosophies.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expanding opcode as a "best of both worlds" compromise. Explain the intuition first: an instruction with 3 operands leaves little room for opcode bits, so the ISA can only support a few such instructions. But an instruction with 0 operands (like NOP or HALT) leaves ALL the remaining bits for the opcode, allowing MANY different 0-operand instructions to be distinguished. Expanding opcode formalizes this idea by using special "escape" bit patterns to indicate "look at more bits to determine the full opcode."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classic textbook expanding-opcode example carefully. With 8 total bits and 3-bit operand fields: 2-operand instructions use a 2-bit opcode (giving up to 4 codes, but we reserve pattern "11" as an escape to signal "this is not a 2-operand instruction, read further"). Within that escape space, 1-operand instructions use additional bits, and reserve another escape pattern for 0-operand instructions, which then get to use ALL remaining bits as opcode. This tiered reservation is exactly what "expanding opcode" means -- the opcode literally expands in width as the operand count shrinks.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60-90 seconds to attempt this individually or in pairs before revealing the solution. This problem is a direct extension of the concept from two slides ago, now with different numbers. Encourage them to first compute total instruction length usage (4-bit opcode + 4-bit operand + 4-bit operand = 12 bits, matching the given total), then apply the same "total patterns minus escape" logic used in the earlier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solution the same structured way as Problem 1: confirm the layout matches the total bit budget, count total available patterns using 2^n, subtract the reserved escape pattern(s), and arrive at the final usable count. Emphasize that the escaped 1111 pattern is NOT wasted -- it becomes the doorway into a whole new tier of 1-operand instructions, each of which can now use the freed-up 8 bits (two 4-bit operand fields) creatively, for example split further into opcode + one operand.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a consolidation checkpoint. Go down each row and ask students to recall WHY each cell is true, rather than just reading it aloud -- e.g., "why is pipelining easier for fixed-length? Because PC = PC + constant always works." This active-recall approach cements the two philosophies before we look at real-world applications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students that the fixed vs. variable divide is not as rigid in modern practice as textbooks sometimes imply. ARM Thumb and RISC-V's compressed extension both show that even "RISC" architectures borrow the code-density idea from variable-length designs when it matters (e.g., battery-powered embedded devices where program storage is limited). And x86-64's internal micro-op translation shows CISC designs borrowing the pipelining benefit of fixed-length internally. Encourage students to see ISA design as an engineering trade-off space, not a fixed rulebook.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misconception explicitly -- these are exactly the kind of subtle points that trip students up in exams. The "forgetting to subtract the escape pattern" pitfall is especially common when solving expanding opcode problems, so remind them explicitly to check this every time. Encourage a habit: always double check whether the total 2^n patterns need any reduction for reserved/escape codes before finalizing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to discuss with a neighbor and attempt this. If time is tight, this can be a rhetorical "think about it and we will discuss briefly" rather than a full pair activity. Quick solution outline in case someone asks: 100 opcodes needs ceil(log2(100)) = 7 opcode bits (since 2^6=64 is too few, 2^7=128 works). Remaining bits = 20 - 7 = 13, split across 2 equal operand fields gives 6 bits each (with 1 bit potentially unused/reserved) -- this nuance, that division may not be exact, is worth pointing out as a real-world design wrinkle.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entire lecture arc in order: we started with WHY formats matter, defined instruction length and its driving factors, dug deep into the opcode-vs-operand bit trade-off with two full worked numerical problems, then covered variable-length formats and expanding opcode as a hybrid technique, and closed with real-world examples. Ask if there are any final questions before moving into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4-5 minutes to attempt this individually. Mention this is to check their own understanding, not for grading, so encourage honest effort rather than guessing. If running short on time, this can be done as quick verbal answers rather than written. After time is up, move to the next slide to reveal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briefly explain each answer. For Q1 and Q6, re-emphasize the 2^n formula one more time since it is the most exam-critical takeaway of the lecture. For Q2, briefly acknowledge that this is a generalization -- true in the vast majority of cases, though heavily hybrid architectures blur the line slightly, as discussed. Ask if anyone got a different answer for Q6 and walk through their reasoning if there is a discrepancy, since this reinforces the formula through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by pointing students toward the assignment and next lecture. Mention that addressing modes, coming up next, will directly build on today's operand field discussion -- specifically, HOW the bits in an operand field get interpreted as an actual memory location or register. Thank the students for their engagement and open the floor for any final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1F3D"/>
          </a:solidFill>
          <a:ln/>
        </p:spPr>
      </p:sp>
      <p:sp>
        <p:nvSpPr>
          <p:cNvPr id="3" name="Shape 1"/>
          <p:cNvSpPr/>
          <p:nvPr/>
        </p:nvSpPr>
        <p:spPr>
          <a:xfrm>
            <a:off x="8778240" y="-2011680"/>
            <a:ext cx="5486400" cy="5486400"/>
          </a:xfrm>
          <a:prstGeom prst="ellipse">
            <a:avLst/>
          </a:prstGeom>
          <a:solidFill>
            <a:srgbClr val="132B52"/>
          </a:solidFill>
          <a:ln/>
        </p:spPr>
      </p:sp>
      <p:sp>
        <p:nvSpPr>
          <p:cNvPr id="4" name="Shape 2"/>
          <p:cNvSpPr/>
          <p:nvPr/>
        </p:nvSpPr>
        <p:spPr>
          <a:xfrm>
            <a:off x="-2286000" y="4389120"/>
            <a:ext cx="4572000" cy="4572000"/>
          </a:xfrm>
          <a:prstGeom prst="ellipse">
            <a:avLst/>
          </a:prstGeom>
          <a:solidFill>
            <a:srgbClr val="06152B"/>
          </a:solidFill>
          <a:ln/>
        </p:spPr>
      </p:sp>
      <p:sp>
        <p:nvSpPr>
          <p:cNvPr id="5" name="Text 3"/>
          <p:cNvSpPr/>
          <p:nvPr/>
        </p:nvSpPr>
        <p:spPr>
          <a:xfrm>
            <a:off x="822960" y="502920"/>
            <a:ext cx="9144000" cy="457200"/>
          </a:xfrm>
          <a:prstGeom prst="rect">
            <a:avLst/>
          </a:prstGeom>
          <a:noFill/>
          <a:ln/>
        </p:spPr>
        <p:txBody>
          <a:bodyPr wrap="square" rtlCol="0" anchor="ctr"/>
          <a:lstStyle/>
          <a:p>
            <a:pPr indent="0" marL="0">
              <a:buNone/>
            </a:pPr>
            <a:r>
              <a:rPr lang="en-US" sz="1600" b="1" spc="300" kern="0" dirty="0">
                <a:solidFill>
                  <a:srgbClr val="C9A227"/>
                </a:solidFill>
                <a:latin typeface="Calibri" pitchFamily="34" charset="0"/>
                <a:ea typeface="Calibri" pitchFamily="34" charset="-122"/>
                <a:cs typeface="Calibri" pitchFamily="34" charset="-120"/>
              </a:rPr>
              <a:t>PRESIDENCY UNIVERSITY</a:t>
            </a:r>
            <a:endParaRPr lang="en-US" sz="1600" dirty="0"/>
          </a:p>
        </p:txBody>
      </p:sp>
      <p:sp>
        <p:nvSpPr>
          <p:cNvPr id="6" name="Text 4"/>
          <p:cNvSpPr/>
          <p:nvPr/>
        </p:nvSpPr>
        <p:spPr>
          <a:xfrm>
            <a:off x="822960" y="932688"/>
            <a:ext cx="10058400" cy="365760"/>
          </a:xfrm>
          <a:prstGeom prst="rect">
            <a:avLst/>
          </a:prstGeom>
          <a:noFill/>
          <a:ln/>
        </p:spPr>
        <p:txBody>
          <a:bodyPr wrap="square" rtlCol="0" anchor="ctr"/>
          <a:lstStyle/>
          <a:p>
            <a:pPr indent="0" marL="0">
              <a:buNone/>
            </a:pPr>
            <a:r>
              <a:rPr lang="en-US" sz="1400" dirty="0">
                <a:solidFill>
                  <a:srgbClr val="CFE3F7"/>
                </a:solidFill>
                <a:latin typeface="Calibri" pitchFamily="34" charset="0"/>
                <a:ea typeface="Calibri" pitchFamily="34" charset="-122"/>
                <a:cs typeface="Calibri" pitchFamily="34" charset="-120"/>
              </a:rPr>
              <a:t>School of Artificial Intelligence and Advanced Computing  |  Department of AI &amp; Robotics</a:t>
            </a:r>
            <a:endParaRPr lang="en-US" sz="1400" dirty="0"/>
          </a:p>
        </p:txBody>
      </p:sp>
      <p:sp>
        <p:nvSpPr>
          <p:cNvPr id="7" name="Text 5"/>
          <p:cNvSpPr/>
          <p:nvPr/>
        </p:nvSpPr>
        <p:spPr>
          <a:xfrm>
            <a:off x="822960" y="2286000"/>
            <a:ext cx="10241280" cy="2011680"/>
          </a:xfrm>
          <a:prstGeom prst="rect">
            <a:avLst/>
          </a:prstGeom>
          <a:noFill/>
          <a:ln/>
        </p:spPr>
        <p:txBody>
          <a:bodyPr wrap="square"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Instruction Formats: Instruction Length, Allocation of Bits, and Variable-Length Instructions</a:t>
            </a:r>
            <a:endParaRPr lang="en-US" sz="4000" dirty="0"/>
          </a:p>
        </p:txBody>
      </p:sp>
      <p:sp>
        <p:nvSpPr>
          <p:cNvPr id="8" name="Text 6"/>
          <p:cNvSpPr/>
          <p:nvPr/>
        </p:nvSpPr>
        <p:spPr>
          <a:xfrm>
            <a:off x="822960" y="4480560"/>
            <a:ext cx="9144000" cy="457200"/>
          </a:xfrm>
          <a:prstGeom prst="rect">
            <a:avLst/>
          </a:prstGeom>
          <a:noFill/>
          <a:ln/>
        </p:spPr>
        <p:txBody>
          <a:bodyPr wrap="square" rtlCol="0" anchor="ctr"/>
          <a:lstStyle/>
          <a:p>
            <a:pPr indent="0" marL="0">
              <a:buNone/>
            </a:pPr>
            <a:r>
              <a:rPr lang="en-US" sz="2000" dirty="0">
                <a:solidFill>
                  <a:srgbClr val="CFE3F7"/>
                </a:solidFill>
                <a:latin typeface="Calibri" pitchFamily="34" charset="0"/>
                <a:ea typeface="Calibri" pitchFamily="34" charset="-122"/>
                <a:cs typeface="Calibri" pitchFamily="34" charset="-120"/>
              </a:rPr>
              <a:t>Computer Organization and Architecture  (CSS2257)</a:t>
            </a:r>
            <a:endParaRPr lang="en-US" sz="2000" dirty="0"/>
          </a:p>
        </p:txBody>
      </p:sp>
      <p:sp>
        <p:nvSpPr>
          <p:cNvPr id="9" name="Text 7"/>
          <p:cNvSpPr/>
          <p:nvPr/>
        </p:nvSpPr>
        <p:spPr>
          <a:xfrm>
            <a:off x="822960" y="4937760"/>
            <a:ext cx="9144000" cy="457200"/>
          </a:xfrm>
          <a:prstGeom prst="rect">
            <a:avLst/>
          </a:prstGeom>
          <a:noFill/>
          <a:ln/>
        </p:spPr>
        <p:txBody>
          <a:bodyPr wrap="square" rtlCol="0" anchor="ctr"/>
          <a:lstStyle/>
          <a:p>
            <a:pPr indent="0" marL="0">
              <a:buNone/>
            </a:pPr>
            <a:r>
              <a:rPr lang="en-US" sz="1800" b="1" dirty="0">
                <a:solidFill>
                  <a:srgbClr val="C9A227"/>
                </a:solidFill>
                <a:latin typeface="Calibri" pitchFamily="34" charset="0"/>
                <a:ea typeface="Calibri" pitchFamily="34" charset="-122"/>
                <a:cs typeface="Calibri" pitchFamily="34" charset="-120"/>
              </a:rPr>
              <a:t>Faculty: Manoj Sagar</a:t>
            </a:r>
            <a:endParaRPr lang="en-US" sz="1800" dirty="0"/>
          </a:p>
        </p:txBody>
      </p:sp>
      <p:sp>
        <p:nvSpPr>
          <p:cNvPr id="10" name="Text 8"/>
          <p:cNvSpPr/>
          <p:nvPr/>
        </p:nvSpPr>
        <p:spPr>
          <a:xfrm>
            <a:off x="822960" y="5349240"/>
            <a:ext cx="9144000" cy="365760"/>
          </a:xfrm>
          <a:prstGeom prst="rect">
            <a:avLst/>
          </a:prstGeom>
          <a:noFill/>
          <a:ln/>
        </p:spPr>
        <p:txBody>
          <a:bodyPr wrap="square" rtlCol="0" anchor="ctr"/>
          <a:lstStyle/>
          <a:p>
            <a:pPr indent="0" marL="0">
              <a:buNone/>
            </a:pPr>
            <a:r>
              <a:rPr lang="en-US" sz="1400" dirty="0">
                <a:solidFill>
                  <a:srgbClr val="CFE3F7"/>
                </a:solidFill>
                <a:latin typeface="Calibri" pitchFamily="34" charset="0"/>
                <a:ea typeface="Calibri" pitchFamily="34" charset="-122"/>
                <a:cs typeface="Calibri" pitchFamily="34" charset="-120"/>
              </a:rPr>
              <a:t>Semester: as scheduled  |  Lecture Duration: 1 Hour</a:t>
            </a:r>
            <a:endParaRPr lang="en-US" sz="1400" dirty="0"/>
          </a:p>
        </p:txBody>
      </p:sp>
      <p:pic>
        <p:nvPicPr>
          <p:cNvPr id="11" name="Image 0" descr="/home/claude/instr_formats/icons/microchip.png">    </p:cNvPr>
          <p:cNvPicPr>
            <a:picLocks noChangeAspect="1"/>
          </p:cNvPicPr>
          <p:nvPr/>
        </p:nvPicPr>
        <p:blipFill>
          <a:blip r:embed="rId1"/>
          <a:stretch>
            <a:fillRect/>
          </a:stretch>
        </p:blipFill>
        <p:spPr>
          <a:xfrm>
            <a:off x="9966960" y="457200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B"/>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A1F3D"/>
          </a:solidFill>
          <a:ln/>
        </p:spPr>
      </p:sp>
      <p:sp>
        <p:nvSpPr>
          <p:cNvPr id="3" name="Text 1"/>
          <p:cNvSpPr/>
          <p:nvPr/>
        </p:nvSpPr>
        <p:spPr>
          <a:xfrm>
            <a:off x="640080" y="320040"/>
            <a:ext cx="10515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Presidency University</a:t>
            </a:r>
            <a:endParaRPr lang="en-US" sz="2600" dirty="0"/>
          </a:p>
        </p:txBody>
      </p:sp>
      <p:sp>
        <p:nvSpPr>
          <p:cNvPr id="4" name="Text 2"/>
          <p:cNvSpPr/>
          <p:nvPr/>
        </p:nvSpPr>
        <p:spPr>
          <a:xfrm>
            <a:off x="640080" y="868680"/>
            <a:ext cx="10515600" cy="365760"/>
          </a:xfrm>
          <a:prstGeom prst="rect">
            <a:avLst/>
          </a:prstGeom>
          <a:noFill/>
          <a:ln/>
        </p:spPr>
        <p:txBody>
          <a:bodyPr wrap="square" rtlCol="0" anchor="ctr"/>
          <a:lstStyle/>
          <a:p>
            <a:pPr indent="0" marL="0">
              <a:buNone/>
            </a:pPr>
            <a:r>
              <a:rPr lang="en-US" sz="1500" dirty="0">
                <a:solidFill>
                  <a:srgbClr val="CFE3F7"/>
                </a:solidFill>
                <a:latin typeface="Calibri" pitchFamily="34" charset="0"/>
                <a:ea typeface="Calibri" pitchFamily="34" charset="-122"/>
                <a:cs typeface="Calibri" pitchFamily="34" charset="-120"/>
              </a:rPr>
              <a:t>School of Artificial Intelligence and Advanced Computing</a:t>
            </a:r>
            <a:endParaRPr lang="en-US" sz="1500" dirty="0"/>
          </a:p>
        </p:txBody>
      </p:sp>
      <p:sp>
        <p:nvSpPr>
          <p:cNvPr id="5" name="Shape 3"/>
          <p:cNvSpPr/>
          <p:nvPr/>
        </p:nvSpPr>
        <p:spPr>
          <a:xfrm>
            <a:off x="640080" y="1965960"/>
            <a:ext cx="10881360" cy="960120"/>
          </a:xfrm>
          <a:prstGeom prst="roundRect">
            <a:avLst>
              <a:gd name="adj" fmla="val 7619"/>
            </a:avLst>
          </a:prstGeom>
          <a:solidFill>
            <a:srgbClr val="FFFFFF"/>
          </a:solidFill>
          <a:ln w="12700">
            <a:solidFill>
              <a:srgbClr val="DCE6F2"/>
            </a:solidFill>
            <a:prstDash val="solid"/>
          </a:ln>
          <a:effectLst>
            <a:outerShdw sx="100000" sy="100000" kx="0" ky="0" algn="bl" rotWithShape="0" blurRad="76200" dist="25400" dir="5400000">
              <a:srgbClr val="9AAFC7">
                <a:alpha val="25000"/>
              </a:srgbClr>
            </a:outerShdw>
          </a:effectLst>
        </p:spPr>
      </p:sp>
      <p:pic>
        <p:nvPicPr>
          <p:cNvPr id="6" name="Image 0" descr="/home/claude/instr_formats/icons/book.png">    </p:cNvPr>
          <p:cNvPicPr>
            <a:picLocks noChangeAspect="1"/>
          </p:cNvPicPr>
          <p:nvPr/>
        </p:nvPicPr>
        <p:blipFill>
          <a:blip r:embed="rId1"/>
          <a:stretch>
            <a:fillRect/>
          </a:stretch>
        </p:blipFill>
        <p:spPr>
          <a:xfrm>
            <a:off x="868680" y="2167128"/>
            <a:ext cx="548640" cy="548640"/>
          </a:xfrm>
          <a:prstGeom prst="rect">
            <a:avLst/>
          </a:prstGeom>
        </p:spPr>
      </p:pic>
      <p:sp>
        <p:nvSpPr>
          <p:cNvPr id="7" name="Text 4"/>
          <p:cNvSpPr/>
          <p:nvPr/>
        </p:nvSpPr>
        <p:spPr>
          <a:xfrm>
            <a:off x="1600200" y="2057400"/>
            <a:ext cx="3657600" cy="320040"/>
          </a:xfrm>
          <a:prstGeom prst="rect">
            <a:avLst/>
          </a:prstGeom>
          <a:noFill/>
          <a:ln/>
        </p:spPr>
        <p:txBody>
          <a:bodyPr wrap="square" rtlCol="0" anchor="ctr"/>
          <a:lstStyle/>
          <a:p>
            <a:pPr indent="0" marL="0">
              <a:buNone/>
            </a:pPr>
            <a:r>
              <a:rPr lang="en-US" sz="1200" b="1" spc="100" kern="0" dirty="0">
                <a:solidFill>
                  <a:srgbClr val="C9A227"/>
                </a:solidFill>
                <a:latin typeface="Calibri" pitchFamily="34" charset="0"/>
                <a:ea typeface="Calibri" pitchFamily="34" charset="-122"/>
                <a:cs typeface="Calibri" pitchFamily="34" charset="-120"/>
              </a:rPr>
              <a:t>SCHOOL</a:t>
            </a:r>
            <a:endParaRPr lang="en-US" sz="1200" dirty="0"/>
          </a:p>
        </p:txBody>
      </p:sp>
      <p:sp>
        <p:nvSpPr>
          <p:cNvPr id="8" name="Text 5"/>
          <p:cNvSpPr/>
          <p:nvPr/>
        </p:nvSpPr>
        <p:spPr>
          <a:xfrm>
            <a:off x="1600200" y="2350008"/>
            <a:ext cx="9692640" cy="457200"/>
          </a:xfrm>
          <a:prstGeom prst="rect">
            <a:avLst/>
          </a:prstGeom>
          <a:noFill/>
          <a:ln/>
        </p:spPr>
        <p:txBody>
          <a:bodyPr wrap="square"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School of Artificial Intelligence and Advanced Computing</a:t>
            </a:r>
            <a:endParaRPr lang="en-US" sz="1800" dirty="0"/>
          </a:p>
        </p:txBody>
      </p:sp>
      <p:sp>
        <p:nvSpPr>
          <p:cNvPr id="9" name="Shape 6"/>
          <p:cNvSpPr/>
          <p:nvPr/>
        </p:nvSpPr>
        <p:spPr>
          <a:xfrm>
            <a:off x="640080" y="3108960"/>
            <a:ext cx="10881360" cy="960120"/>
          </a:xfrm>
          <a:prstGeom prst="roundRect">
            <a:avLst>
              <a:gd name="adj" fmla="val 7619"/>
            </a:avLst>
          </a:prstGeom>
          <a:solidFill>
            <a:srgbClr val="FFFFFF"/>
          </a:solidFill>
          <a:ln w="12700">
            <a:solidFill>
              <a:srgbClr val="DCE6F2"/>
            </a:solidFill>
            <a:prstDash val="solid"/>
          </a:ln>
          <a:effectLst>
            <a:outerShdw sx="100000" sy="100000" kx="0" ky="0" algn="bl" rotWithShape="0" blurRad="76200" dist="25400" dir="5400000">
              <a:srgbClr val="9AAFC7">
                <a:alpha val="25000"/>
              </a:srgbClr>
            </a:outerShdw>
          </a:effectLst>
        </p:spPr>
      </p:sp>
      <p:pic>
        <p:nvPicPr>
          <p:cNvPr id="10" name="Image 1" descr="/home/claude/instr_formats/icons/cogs.png">    </p:cNvPr>
          <p:cNvPicPr>
            <a:picLocks noChangeAspect="1"/>
          </p:cNvPicPr>
          <p:nvPr/>
        </p:nvPicPr>
        <p:blipFill>
          <a:blip r:embed="rId2"/>
          <a:stretch>
            <a:fillRect/>
          </a:stretch>
        </p:blipFill>
        <p:spPr>
          <a:xfrm>
            <a:off x="868680" y="3310128"/>
            <a:ext cx="548640" cy="548640"/>
          </a:xfrm>
          <a:prstGeom prst="rect">
            <a:avLst/>
          </a:prstGeom>
        </p:spPr>
      </p:pic>
      <p:sp>
        <p:nvSpPr>
          <p:cNvPr id="11" name="Text 7"/>
          <p:cNvSpPr/>
          <p:nvPr/>
        </p:nvSpPr>
        <p:spPr>
          <a:xfrm>
            <a:off x="1600200" y="3200400"/>
            <a:ext cx="3657600" cy="320040"/>
          </a:xfrm>
          <a:prstGeom prst="rect">
            <a:avLst/>
          </a:prstGeom>
          <a:noFill/>
          <a:ln/>
        </p:spPr>
        <p:txBody>
          <a:bodyPr wrap="square" rtlCol="0" anchor="ctr"/>
          <a:lstStyle/>
          <a:p>
            <a:pPr indent="0" marL="0">
              <a:buNone/>
            </a:pPr>
            <a:r>
              <a:rPr lang="en-US" sz="1200" b="1" spc="100" kern="0" dirty="0">
                <a:solidFill>
                  <a:srgbClr val="C9A227"/>
                </a:solidFill>
                <a:latin typeface="Calibri" pitchFamily="34" charset="0"/>
                <a:ea typeface="Calibri" pitchFamily="34" charset="-122"/>
                <a:cs typeface="Calibri" pitchFamily="34" charset="-120"/>
              </a:rPr>
              <a:t>DEPARTMENT</a:t>
            </a:r>
            <a:endParaRPr lang="en-US" sz="1200" dirty="0"/>
          </a:p>
        </p:txBody>
      </p:sp>
      <p:sp>
        <p:nvSpPr>
          <p:cNvPr id="12" name="Text 8"/>
          <p:cNvSpPr/>
          <p:nvPr/>
        </p:nvSpPr>
        <p:spPr>
          <a:xfrm>
            <a:off x="1600200" y="3493008"/>
            <a:ext cx="9692640" cy="457200"/>
          </a:xfrm>
          <a:prstGeom prst="rect">
            <a:avLst/>
          </a:prstGeom>
          <a:noFill/>
          <a:ln/>
        </p:spPr>
        <p:txBody>
          <a:bodyPr wrap="square"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Department of AI &amp; Robotics</a:t>
            </a:r>
            <a:endParaRPr lang="en-US" sz="1800" dirty="0"/>
          </a:p>
        </p:txBody>
      </p:sp>
      <p:sp>
        <p:nvSpPr>
          <p:cNvPr id="13" name="Shape 9"/>
          <p:cNvSpPr/>
          <p:nvPr/>
        </p:nvSpPr>
        <p:spPr>
          <a:xfrm>
            <a:off x="640080" y="4251960"/>
            <a:ext cx="10881360" cy="960120"/>
          </a:xfrm>
          <a:prstGeom prst="roundRect">
            <a:avLst>
              <a:gd name="adj" fmla="val 7619"/>
            </a:avLst>
          </a:prstGeom>
          <a:solidFill>
            <a:srgbClr val="FFFFFF"/>
          </a:solidFill>
          <a:ln w="12700">
            <a:solidFill>
              <a:srgbClr val="DCE6F2"/>
            </a:solidFill>
            <a:prstDash val="solid"/>
          </a:ln>
          <a:effectLst>
            <a:outerShdw sx="100000" sy="100000" kx="0" ky="0" algn="bl" rotWithShape="0" blurRad="76200" dist="25400" dir="5400000">
              <a:srgbClr val="9AAFC7">
                <a:alpha val="25000"/>
              </a:srgbClr>
            </a:outerShdw>
          </a:effectLst>
        </p:spPr>
      </p:sp>
      <p:pic>
        <p:nvPicPr>
          <p:cNvPr id="14" name="Image 2" descr="/home/claude/instr_formats/icons/code.png">    </p:cNvPr>
          <p:cNvPicPr>
            <a:picLocks noChangeAspect="1"/>
          </p:cNvPicPr>
          <p:nvPr/>
        </p:nvPicPr>
        <p:blipFill>
          <a:blip r:embed="rId3"/>
          <a:stretch>
            <a:fillRect/>
          </a:stretch>
        </p:blipFill>
        <p:spPr>
          <a:xfrm>
            <a:off x="868680" y="4453128"/>
            <a:ext cx="548640" cy="548640"/>
          </a:xfrm>
          <a:prstGeom prst="rect">
            <a:avLst/>
          </a:prstGeom>
        </p:spPr>
      </p:pic>
      <p:sp>
        <p:nvSpPr>
          <p:cNvPr id="15" name="Text 10"/>
          <p:cNvSpPr/>
          <p:nvPr/>
        </p:nvSpPr>
        <p:spPr>
          <a:xfrm>
            <a:off x="1600200" y="4343400"/>
            <a:ext cx="3657600" cy="320040"/>
          </a:xfrm>
          <a:prstGeom prst="rect">
            <a:avLst/>
          </a:prstGeom>
          <a:noFill/>
          <a:ln/>
        </p:spPr>
        <p:txBody>
          <a:bodyPr wrap="square" rtlCol="0" anchor="ctr"/>
          <a:lstStyle/>
          <a:p>
            <a:pPr indent="0" marL="0">
              <a:buNone/>
            </a:pPr>
            <a:r>
              <a:rPr lang="en-US" sz="1200" b="1" spc="100" kern="0" dirty="0">
                <a:solidFill>
                  <a:srgbClr val="C9A227"/>
                </a:solidFill>
                <a:latin typeface="Calibri" pitchFamily="34" charset="0"/>
                <a:ea typeface="Calibri" pitchFamily="34" charset="-122"/>
                <a:cs typeface="Calibri" pitchFamily="34" charset="-120"/>
              </a:rPr>
              <a:t>SUBJECT</a:t>
            </a:r>
            <a:endParaRPr lang="en-US" sz="1200" dirty="0"/>
          </a:p>
        </p:txBody>
      </p:sp>
      <p:sp>
        <p:nvSpPr>
          <p:cNvPr id="16" name="Text 11"/>
          <p:cNvSpPr/>
          <p:nvPr/>
        </p:nvSpPr>
        <p:spPr>
          <a:xfrm>
            <a:off x="1600200" y="4636008"/>
            <a:ext cx="9692640" cy="457200"/>
          </a:xfrm>
          <a:prstGeom prst="rect">
            <a:avLst/>
          </a:prstGeom>
          <a:noFill/>
          <a:ln/>
        </p:spPr>
        <p:txBody>
          <a:bodyPr wrap="square"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Computer Organization and Architecture (CSS2257)</a:t>
            </a:r>
            <a:endParaRPr lang="en-US" sz="1800" dirty="0"/>
          </a:p>
        </p:txBody>
      </p:sp>
      <p:sp>
        <p:nvSpPr>
          <p:cNvPr id="17" name="Shape 12"/>
          <p:cNvSpPr/>
          <p:nvPr/>
        </p:nvSpPr>
        <p:spPr>
          <a:xfrm>
            <a:off x="640080" y="5394960"/>
            <a:ext cx="10881360" cy="960120"/>
          </a:xfrm>
          <a:prstGeom prst="roundRect">
            <a:avLst>
              <a:gd name="adj" fmla="val 7619"/>
            </a:avLst>
          </a:prstGeom>
          <a:solidFill>
            <a:srgbClr val="FFFFFF"/>
          </a:solidFill>
          <a:ln w="12700">
            <a:solidFill>
              <a:srgbClr val="DCE6F2"/>
            </a:solidFill>
            <a:prstDash val="solid"/>
          </a:ln>
          <a:effectLst>
            <a:outerShdw sx="100000" sy="100000" kx="0" ky="0" algn="bl" rotWithShape="0" blurRad="76200" dist="25400" dir="5400000">
              <a:srgbClr val="9AAFC7">
                <a:alpha val="25000"/>
              </a:srgbClr>
            </a:outerShdw>
          </a:effectLst>
        </p:spPr>
      </p:sp>
      <p:pic>
        <p:nvPicPr>
          <p:cNvPr id="18" name="Image 3" descr="/home/claude/instr_formats/icons/users.png">    </p:cNvPr>
          <p:cNvPicPr>
            <a:picLocks noChangeAspect="1"/>
          </p:cNvPicPr>
          <p:nvPr/>
        </p:nvPicPr>
        <p:blipFill>
          <a:blip r:embed="rId4"/>
          <a:stretch>
            <a:fillRect/>
          </a:stretch>
        </p:blipFill>
        <p:spPr>
          <a:xfrm>
            <a:off x="868680" y="5596128"/>
            <a:ext cx="548640" cy="548640"/>
          </a:xfrm>
          <a:prstGeom prst="rect">
            <a:avLst/>
          </a:prstGeom>
        </p:spPr>
      </p:pic>
      <p:sp>
        <p:nvSpPr>
          <p:cNvPr id="19" name="Text 13"/>
          <p:cNvSpPr/>
          <p:nvPr/>
        </p:nvSpPr>
        <p:spPr>
          <a:xfrm>
            <a:off x="1600200" y="5486400"/>
            <a:ext cx="3657600" cy="320040"/>
          </a:xfrm>
          <a:prstGeom prst="rect">
            <a:avLst/>
          </a:prstGeom>
          <a:noFill/>
          <a:ln/>
        </p:spPr>
        <p:txBody>
          <a:bodyPr wrap="square" rtlCol="0" anchor="ctr"/>
          <a:lstStyle/>
          <a:p>
            <a:pPr indent="0" marL="0">
              <a:buNone/>
            </a:pPr>
            <a:r>
              <a:rPr lang="en-US" sz="1200" b="1" spc="100" kern="0" dirty="0">
                <a:solidFill>
                  <a:srgbClr val="C9A227"/>
                </a:solidFill>
                <a:latin typeface="Calibri" pitchFamily="34" charset="0"/>
                <a:ea typeface="Calibri" pitchFamily="34" charset="-122"/>
                <a:cs typeface="Calibri" pitchFamily="34" charset="-120"/>
              </a:rPr>
              <a:t>FACULTY</a:t>
            </a:r>
            <a:endParaRPr lang="en-US" sz="1200" dirty="0"/>
          </a:p>
        </p:txBody>
      </p:sp>
      <p:sp>
        <p:nvSpPr>
          <p:cNvPr id="20" name="Text 14"/>
          <p:cNvSpPr/>
          <p:nvPr/>
        </p:nvSpPr>
        <p:spPr>
          <a:xfrm>
            <a:off x="1600200" y="5779008"/>
            <a:ext cx="9692640" cy="457200"/>
          </a:xfrm>
          <a:prstGeom prst="rect">
            <a:avLst/>
          </a:prstGeom>
          <a:noFill/>
          <a:ln/>
        </p:spPr>
        <p:txBody>
          <a:bodyPr wrap="square" rtlCol="0" anchor="ctr"/>
          <a:lstStyle/>
          <a:p>
            <a:pPr indent="0" marL="0">
              <a:buNone/>
            </a:pPr>
            <a:r>
              <a:rPr lang="en-US" sz="1800" b="1" dirty="0">
                <a:solidFill>
                  <a:srgbClr val="1B2A41"/>
                </a:solidFill>
                <a:latin typeface="Calibri" pitchFamily="34" charset="0"/>
                <a:ea typeface="Calibri" pitchFamily="34" charset="-122"/>
                <a:cs typeface="Calibri" pitchFamily="34" charset="-120"/>
              </a:rPr>
              <a:t>Manoj Sagar</a:t>
            </a:r>
            <a:endParaRPr lang="en-US" sz="1800" dirty="0"/>
          </a:p>
        </p:txBody>
      </p:sp>
      <p:sp>
        <p:nvSpPr>
          <p:cNvPr id="21" name="Text 15"/>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22" name="Text 16"/>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BY THE END OF THIS LECTURE, YOU WILL BE ABLE TO</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Learning Objectives</a:t>
            </a:r>
            <a:endParaRPr lang="en-US" sz="3000" dirty="0"/>
          </a:p>
        </p:txBody>
      </p:sp>
      <p:pic>
        <p:nvPicPr>
          <p:cNvPr id="4" name="Image 0" descr="/home/claude/instr_formats/icons/bullseye.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Define an instruction format and identify its core fields: opcode, operand(s), addressing mode</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Explain what determines instruction length and why word size, memory, and bus width matter</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Analyze how bits are allocated between opcode and operand fields, and the trade-off this creates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Compute the maximum number of opcodes or addressable operands for a given bit allocation</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Compare fixed-length and variable-length instruction formats with real processor examples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Explain expanding opcode technique and solve numerical problems using it</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ICEBREAKER</a:t>
            </a:r>
            <a:endParaRPr lang="en-US" sz="1300" dirty="0"/>
          </a:p>
        </p:txBody>
      </p:sp>
      <p:sp>
        <p:nvSpPr>
          <p:cNvPr id="3" name="Text 1"/>
          <p:cNvSpPr/>
          <p:nvPr/>
        </p:nvSpPr>
        <p:spPr>
          <a:xfrm>
            <a:off x="548640" y="621792"/>
            <a:ext cx="914400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Let's Warm Up</a:t>
            </a:r>
            <a:endParaRPr lang="en-US" sz="3000" dirty="0"/>
          </a:p>
        </p:txBody>
      </p:sp>
      <p:pic>
        <p:nvPicPr>
          <p:cNvPr id="4" name="Image 0" descr="/home/claude/instr_formats/icons/question_dark.png">    </p:cNvPr>
          <p:cNvPicPr>
            <a:picLocks noChangeAspect="1"/>
          </p:cNvPicPr>
          <p:nvPr/>
        </p:nvPicPr>
        <p:blipFill>
          <a:blip r:embed="rId1"/>
          <a:stretch>
            <a:fillRect/>
          </a:stretch>
        </p:blipFill>
        <p:spPr>
          <a:xfrm>
            <a:off x="10561320" y="411480"/>
            <a:ext cx="1005840" cy="1005840"/>
          </a:xfrm>
          <a:prstGeom prst="rect">
            <a:avLst/>
          </a:prstGeom>
        </p:spPr>
      </p:pic>
      <p:sp>
        <p:nvSpPr>
          <p:cNvPr id="5" name="Shape 2"/>
          <p:cNvSpPr/>
          <p:nvPr/>
        </p:nvSpPr>
        <p:spPr>
          <a:xfrm>
            <a:off x="548640" y="1737360"/>
            <a:ext cx="11064240" cy="1234440"/>
          </a:xfrm>
          <a:prstGeom prst="roundRect">
            <a:avLst>
              <a:gd name="adj" fmla="val 5926"/>
            </a:avLst>
          </a:prstGeom>
          <a:solidFill>
            <a:srgbClr val="EAF2FB"/>
          </a:solidFill>
          <a:ln/>
        </p:spPr>
      </p:sp>
      <p:sp>
        <p:nvSpPr>
          <p:cNvPr id="6" name="Text 3"/>
          <p:cNvSpPr/>
          <p:nvPr/>
        </p:nvSpPr>
        <p:spPr>
          <a:xfrm>
            <a:off x="777240" y="1874520"/>
            <a:ext cx="640080" cy="548640"/>
          </a:xfrm>
          <a:prstGeom prst="rect">
            <a:avLst/>
          </a:prstGeom>
          <a:noFill/>
          <a:ln/>
        </p:spPr>
        <p:txBody>
          <a:bodyPr wrap="square"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Q1</a:t>
            </a:r>
            <a:endParaRPr lang="en-US" sz="2400" dirty="0"/>
          </a:p>
        </p:txBody>
      </p:sp>
      <p:sp>
        <p:nvSpPr>
          <p:cNvPr id="7" name="Text 4"/>
          <p:cNvSpPr/>
          <p:nvPr/>
        </p:nvSpPr>
        <p:spPr>
          <a:xfrm>
            <a:off x="1463040" y="1847088"/>
            <a:ext cx="9966960" cy="1005840"/>
          </a:xfrm>
          <a:prstGeom prst="rect">
            <a:avLst/>
          </a:prstGeom>
          <a:noFill/>
          <a:ln/>
        </p:spPr>
        <p:txBody>
          <a:bodyPr wrap="square" rtlCol="0" anchor="ctr"/>
          <a:lstStyle/>
          <a:p>
            <a:pPr indent="0" marL="0">
              <a:buNone/>
            </a:pPr>
            <a:r>
              <a:rPr lang="en-US" sz="1800" dirty="0">
                <a:solidFill>
                  <a:srgbClr val="1B2A41"/>
                </a:solidFill>
                <a:latin typeface="Calibri" pitchFamily="34" charset="0"/>
                <a:ea typeface="Calibri" pitchFamily="34" charset="-122"/>
                <a:cs typeface="Calibri" pitchFamily="34" charset="-120"/>
              </a:rPr>
              <a:t>If you had only 8 bits to write down BOTH an instruction's "what to do" and "which data to use on" -- what problem do you think you'd run into?</a:t>
            </a:r>
            <a:endParaRPr lang="en-US" sz="1800" dirty="0"/>
          </a:p>
        </p:txBody>
      </p:sp>
      <p:sp>
        <p:nvSpPr>
          <p:cNvPr id="8" name="Shape 5"/>
          <p:cNvSpPr/>
          <p:nvPr/>
        </p:nvSpPr>
        <p:spPr>
          <a:xfrm>
            <a:off x="548640" y="3154680"/>
            <a:ext cx="11064240" cy="1234440"/>
          </a:xfrm>
          <a:prstGeom prst="roundRect">
            <a:avLst>
              <a:gd name="adj" fmla="val 5926"/>
            </a:avLst>
          </a:prstGeom>
          <a:solidFill>
            <a:srgbClr val="EAF2FB"/>
          </a:solidFill>
          <a:ln/>
        </p:spPr>
      </p:sp>
      <p:sp>
        <p:nvSpPr>
          <p:cNvPr id="9" name="Text 6"/>
          <p:cNvSpPr/>
          <p:nvPr/>
        </p:nvSpPr>
        <p:spPr>
          <a:xfrm>
            <a:off x="777240" y="3291840"/>
            <a:ext cx="640080" cy="548640"/>
          </a:xfrm>
          <a:prstGeom prst="rect">
            <a:avLst/>
          </a:prstGeom>
          <a:noFill/>
          <a:ln/>
        </p:spPr>
        <p:txBody>
          <a:bodyPr wrap="square"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Q2</a:t>
            </a:r>
            <a:endParaRPr lang="en-US" sz="2400" dirty="0"/>
          </a:p>
        </p:txBody>
      </p:sp>
      <p:sp>
        <p:nvSpPr>
          <p:cNvPr id="10" name="Text 7"/>
          <p:cNvSpPr/>
          <p:nvPr/>
        </p:nvSpPr>
        <p:spPr>
          <a:xfrm>
            <a:off x="1463040" y="3264408"/>
            <a:ext cx="9966960" cy="1005840"/>
          </a:xfrm>
          <a:prstGeom prst="rect">
            <a:avLst/>
          </a:prstGeom>
          <a:noFill/>
          <a:ln/>
        </p:spPr>
        <p:txBody>
          <a:bodyPr wrap="square" rtlCol="0" anchor="ctr"/>
          <a:lstStyle/>
          <a:p>
            <a:pPr indent="0" marL="0">
              <a:buNone/>
            </a:pPr>
            <a:r>
              <a:rPr lang="en-US" sz="1800" dirty="0">
                <a:solidFill>
                  <a:srgbClr val="1B2A41"/>
                </a:solidFill>
                <a:latin typeface="Calibri" pitchFamily="34" charset="0"/>
                <a:ea typeface="Calibri" pitchFamily="34" charset="-122"/>
                <a:cs typeface="Calibri" pitchFamily="34" charset="-120"/>
              </a:rPr>
              <a:t>Have you noticed that some words in English are short ("go") and some are long ("congratulations")? Could instructions work the same way?</a:t>
            </a:r>
            <a:endParaRPr lang="en-US" sz="1800" dirty="0"/>
          </a:p>
        </p:txBody>
      </p:sp>
      <p:sp>
        <p:nvSpPr>
          <p:cNvPr id="11" name="Shape 8"/>
          <p:cNvSpPr/>
          <p:nvPr/>
        </p:nvSpPr>
        <p:spPr>
          <a:xfrm>
            <a:off x="548640" y="4572000"/>
            <a:ext cx="11064240" cy="1234440"/>
          </a:xfrm>
          <a:prstGeom prst="roundRect">
            <a:avLst>
              <a:gd name="adj" fmla="val 5926"/>
            </a:avLst>
          </a:prstGeom>
          <a:solidFill>
            <a:srgbClr val="EAF2FB"/>
          </a:solidFill>
          <a:ln/>
        </p:spPr>
      </p:sp>
      <p:sp>
        <p:nvSpPr>
          <p:cNvPr id="12" name="Text 9"/>
          <p:cNvSpPr/>
          <p:nvPr/>
        </p:nvSpPr>
        <p:spPr>
          <a:xfrm>
            <a:off x="777240" y="4709160"/>
            <a:ext cx="640080" cy="548640"/>
          </a:xfrm>
          <a:prstGeom prst="rect">
            <a:avLst/>
          </a:prstGeom>
          <a:noFill/>
          <a:ln/>
        </p:spPr>
        <p:txBody>
          <a:bodyPr wrap="square"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Q3</a:t>
            </a:r>
            <a:endParaRPr lang="en-US" sz="2400" dirty="0"/>
          </a:p>
        </p:txBody>
      </p:sp>
      <p:sp>
        <p:nvSpPr>
          <p:cNvPr id="13" name="Text 10"/>
          <p:cNvSpPr/>
          <p:nvPr/>
        </p:nvSpPr>
        <p:spPr>
          <a:xfrm>
            <a:off x="1463040" y="4681728"/>
            <a:ext cx="9966960" cy="1005840"/>
          </a:xfrm>
          <a:prstGeom prst="rect">
            <a:avLst/>
          </a:prstGeom>
          <a:noFill/>
          <a:ln/>
        </p:spPr>
        <p:txBody>
          <a:bodyPr wrap="square" rtlCol="0" anchor="ctr"/>
          <a:lstStyle/>
          <a:p>
            <a:pPr indent="0" marL="0">
              <a:buNone/>
            </a:pPr>
            <a:r>
              <a:rPr lang="en-US" sz="1800" dirty="0">
                <a:solidFill>
                  <a:srgbClr val="1B2A41"/>
                </a:solidFill>
                <a:latin typeface="Calibri" pitchFamily="34" charset="0"/>
                <a:ea typeface="Calibri" pitchFamily="34" charset="-122"/>
                <a:cs typeface="Calibri" pitchFamily="34" charset="-120"/>
              </a:rPr>
              <a:t>Why do you think a phone's app size in MB matters, and could instruction length affect a program's size in memory?</a:t>
            </a:r>
            <a:endParaRPr lang="en-US" sz="1800" dirty="0"/>
          </a:p>
        </p:txBody>
      </p:sp>
      <p:sp>
        <p:nvSpPr>
          <p:cNvPr id="14" name="Text 11"/>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5" name="Text 12"/>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Why Instruction Formats Matter</a:t>
            </a:r>
            <a:endParaRPr lang="en-US" sz="3000" dirty="0"/>
          </a:p>
        </p:txBody>
      </p:sp>
      <p:pic>
        <p:nvPicPr>
          <p:cNvPr id="4" name="Image 0" descr="/home/claude/instr_formats/icons/lightbulb.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Every single instruction your CPU executes -- ADD, LOAD, JUMP -- must be packed into a fixed-size memory word or a byte stream</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How that packing is designed affects program size, decode speed, pipeline efficiency, and even compiler design</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Real-world impact: x86 (variable-length) powers laptops and servers; ARM and MIPS (mostly fixed-length) power phones and embedded systems -- the choice of format is a deliberate architecture decision</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Interview and exam relevance: "compute the maximum opcodes possible with N bits" is one of the most common Computer Organization questions</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CONNECTING TO WHAT WE KNOW</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Quick Recap: The Fetch-Decode-Execute Cycle</a:t>
            </a:r>
            <a:endParaRPr lang="en-US" sz="3000" dirty="0"/>
          </a:p>
        </p:txBody>
      </p:sp>
      <p:pic>
        <p:nvPicPr>
          <p:cNvPr id="4" name="Image 0" descr="/home/claude/instr_formats/icons/cogs.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FETCH: the CPU reads the next instruction from memory into the Instruction Register (IR), using the Program Counter (PC)</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DECODE: the control unit interprets the bit pattern -- this is only possible because the instruction follows a known FORMAT</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EXECUTE: the ALU or control unit acts based on the opcode and operands extracted during decode</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Key insight: decode is only fast and unambiguous if the instruction format is precisely defined -- this is exactly what we study today</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CORE DEFINITION</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What Is an Instruction Format?</a:t>
            </a:r>
            <a:endParaRPr lang="en-US" sz="3000" dirty="0"/>
          </a:p>
        </p:txBody>
      </p:sp>
      <p:pic>
        <p:nvPicPr>
          <p:cNvPr id="4" name="Image 0" descr="/home/claude/instr_formats/icons/layers.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An instruction format is the layout that specifies how the bits of a machine instruction are divided into distinct fields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It defines: where the opcode sits, how many operands follow, and how addressing information is encoded</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Analogy: think of it like a form with labeled boxes -- one box for "what to do," other boxes for "on which data" -- the format fixes the size and position of each box</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The format is set by the Instruction Set Architecture (ISA) and must be understood identically by the compiler, assembler, and the CPU's decode hardware</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CORE FIELDS</a:t>
            </a:r>
            <a:endParaRPr lang="en-US" sz="1300" dirty="0"/>
          </a:p>
        </p:txBody>
      </p:sp>
      <p:sp>
        <p:nvSpPr>
          <p:cNvPr id="3" name="Text 1"/>
          <p:cNvSpPr/>
          <p:nvPr/>
        </p:nvSpPr>
        <p:spPr>
          <a:xfrm>
            <a:off x="548640" y="621792"/>
            <a:ext cx="100584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Anatomy of a Machine Instruction</a:t>
            </a:r>
            <a:endParaRPr lang="en-US" sz="2800" dirty="0"/>
          </a:p>
        </p:txBody>
      </p:sp>
      <p:sp>
        <p:nvSpPr>
          <p:cNvPr id="4" name="Shape 2"/>
          <p:cNvSpPr/>
          <p:nvPr/>
        </p:nvSpPr>
        <p:spPr>
          <a:xfrm>
            <a:off x="548640" y="2103120"/>
            <a:ext cx="3291840" cy="1188720"/>
          </a:xfrm>
          <a:prstGeom prst="rect">
            <a:avLst/>
          </a:prstGeom>
          <a:solidFill>
            <a:srgbClr val="0A1F3D"/>
          </a:solidFill>
          <a:ln w="25400">
            <a:solidFill>
              <a:srgbClr val="FFFFFF"/>
            </a:solidFill>
            <a:prstDash val="solid"/>
          </a:ln>
        </p:spPr>
      </p:sp>
      <p:sp>
        <p:nvSpPr>
          <p:cNvPr id="5" name="Text 3"/>
          <p:cNvSpPr/>
          <p:nvPr/>
        </p:nvSpPr>
        <p:spPr>
          <a:xfrm>
            <a:off x="548640" y="2359152"/>
            <a:ext cx="329184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OPCODE</a:t>
            </a:r>
            <a:endParaRPr lang="en-US" sz="1600" dirty="0"/>
          </a:p>
        </p:txBody>
      </p:sp>
      <p:sp>
        <p:nvSpPr>
          <p:cNvPr id="6" name="Text 4"/>
          <p:cNvSpPr/>
          <p:nvPr/>
        </p:nvSpPr>
        <p:spPr>
          <a:xfrm>
            <a:off x="594360" y="2761488"/>
            <a:ext cx="3200400" cy="45720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What operation?</a:t>
            </a:r>
            <a:endParaRPr lang="en-US" sz="1200" dirty="0"/>
          </a:p>
        </p:txBody>
      </p:sp>
      <p:sp>
        <p:nvSpPr>
          <p:cNvPr id="7" name="Shape 5"/>
          <p:cNvSpPr/>
          <p:nvPr/>
        </p:nvSpPr>
        <p:spPr>
          <a:xfrm>
            <a:off x="3840480" y="2103120"/>
            <a:ext cx="2377440" cy="1188720"/>
          </a:xfrm>
          <a:prstGeom prst="rect">
            <a:avLst/>
          </a:prstGeom>
          <a:solidFill>
            <a:srgbClr val="132B52"/>
          </a:solidFill>
          <a:ln w="25400">
            <a:solidFill>
              <a:srgbClr val="FFFFFF"/>
            </a:solidFill>
            <a:prstDash val="solid"/>
          </a:ln>
        </p:spPr>
      </p:sp>
      <p:sp>
        <p:nvSpPr>
          <p:cNvPr id="8" name="Text 6"/>
          <p:cNvSpPr/>
          <p:nvPr/>
        </p:nvSpPr>
        <p:spPr>
          <a:xfrm>
            <a:off x="3840480" y="2359152"/>
            <a:ext cx="237744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ADDRESSING MODE</a:t>
            </a:r>
            <a:endParaRPr lang="en-US" sz="1600" dirty="0"/>
          </a:p>
        </p:txBody>
      </p:sp>
      <p:sp>
        <p:nvSpPr>
          <p:cNvPr id="9" name="Text 7"/>
          <p:cNvSpPr/>
          <p:nvPr/>
        </p:nvSpPr>
        <p:spPr>
          <a:xfrm>
            <a:off x="3886200" y="2761488"/>
            <a:ext cx="2286000" cy="45720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How to interpret operand?</a:t>
            </a:r>
            <a:endParaRPr lang="en-US" sz="1200" dirty="0"/>
          </a:p>
        </p:txBody>
      </p:sp>
      <p:sp>
        <p:nvSpPr>
          <p:cNvPr id="10" name="Shape 8"/>
          <p:cNvSpPr/>
          <p:nvPr/>
        </p:nvSpPr>
        <p:spPr>
          <a:xfrm>
            <a:off x="6217920" y="2103120"/>
            <a:ext cx="2743200" cy="1188720"/>
          </a:xfrm>
          <a:prstGeom prst="rect">
            <a:avLst/>
          </a:prstGeom>
          <a:solidFill>
            <a:srgbClr val="C9A227"/>
          </a:solidFill>
          <a:ln w="25400">
            <a:solidFill>
              <a:srgbClr val="FFFFFF"/>
            </a:solidFill>
            <a:prstDash val="solid"/>
          </a:ln>
        </p:spPr>
      </p:sp>
      <p:sp>
        <p:nvSpPr>
          <p:cNvPr id="11" name="Text 9"/>
          <p:cNvSpPr/>
          <p:nvPr/>
        </p:nvSpPr>
        <p:spPr>
          <a:xfrm>
            <a:off x="6217920" y="2359152"/>
            <a:ext cx="274320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OPERAND 1</a:t>
            </a:r>
            <a:endParaRPr lang="en-US" sz="1600" dirty="0"/>
          </a:p>
        </p:txBody>
      </p:sp>
      <p:sp>
        <p:nvSpPr>
          <p:cNvPr id="12" name="Text 10"/>
          <p:cNvSpPr/>
          <p:nvPr/>
        </p:nvSpPr>
        <p:spPr>
          <a:xfrm>
            <a:off x="6263640" y="2761488"/>
            <a:ext cx="2651760" cy="45720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Source / register</a:t>
            </a:r>
            <a:endParaRPr lang="en-US" sz="1200" dirty="0"/>
          </a:p>
        </p:txBody>
      </p:sp>
      <p:sp>
        <p:nvSpPr>
          <p:cNvPr id="13" name="Shape 11"/>
          <p:cNvSpPr/>
          <p:nvPr/>
        </p:nvSpPr>
        <p:spPr>
          <a:xfrm>
            <a:off x="8961120" y="2103120"/>
            <a:ext cx="2743200" cy="1188720"/>
          </a:xfrm>
          <a:prstGeom prst="rect">
            <a:avLst/>
          </a:prstGeom>
          <a:solidFill>
            <a:srgbClr val="8A6D1B"/>
          </a:solidFill>
          <a:ln w="25400">
            <a:solidFill>
              <a:srgbClr val="FFFFFF"/>
            </a:solidFill>
            <a:prstDash val="solid"/>
          </a:ln>
        </p:spPr>
      </p:sp>
      <p:sp>
        <p:nvSpPr>
          <p:cNvPr id="14" name="Text 12"/>
          <p:cNvSpPr/>
          <p:nvPr/>
        </p:nvSpPr>
        <p:spPr>
          <a:xfrm>
            <a:off x="8961120" y="2359152"/>
            <a:ext cx="274320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OPERAND 2</a:t>
            </a:r>
            <a:endParaRPr lang="en-US" sz="1600" dirty="0"/>
          </a:p>
        </p:txBody>
      </p:sp>
      <p:sp>
        <p:nvSpPr>
          <p:cNvPr id="15" name="Text 13"/>
          <p:cNvSpPr/>
          <p:nvPr/>
        </p:nvSpPr>
        <p:spPr>
          <a:xfrm>
            <a:off x="9006840" y="2761488"/>
            <a:ext cx="2651760" cy="45720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Destination / address</a:t>
            </a:r>
            <a:endParaRPr lang="en-US" sz="1200" dirty="0"/>
          </a:p>
        </p:txBody>
      </p:sp>
      <p:sp>
        <p:nvSpPr>
          <p:cNvPr id="16" name="Text 14"/>
          <p:cNvSpPr/>
          <p:nvPr/>
        </p:nvSpPr>
        <p:spPr>
          <a:xfrm>
            <a:off x="548640" y="3520440"/>
            <a:ext cx="10972800" cy="365760"/>
          </a:xfrm>
          <a:prstGeom prst="rect">
            <a:avLst/>
          </a:prstGeom>
          <a:noFill/>
          <a:ln/>
        </p:spPr>
        <p:txBody>
          <a:bodyPr wrap="square" rtlCol="0" anchor="ctr"/>
          <a:lstStyle/>
          <a:p>
            <a:pPr indent="0" marL="0">
              <a:buNone/>
            </a:pPr>
            <a:r>
              <a:rPr lang="en-US" sz="1400" i="1" dirty="0">
                <a:solidFill>
                  <a:srgbClr val="5B6B7F"/>
                </a:solidFill>
                <a:latin typeface="Calibri" pitchFamily="34" charset="0"/>
                <a:ea typeface="Calibri" pitchFamily="34" charset="-122"/>
                <a:cs typeface="Calibri" pitchFamily="34" charset="-120"/>
              </a:rPr>
              <a:t>Example: 32-bit instruction word divided into 4 fields</a:t>
            </a:r>
            <a:endParaRPr lang="en-US" sz="1400" dirty="0"/>
          </a:p>
        </p:txBody>
      </p:sp>
      <p:sp>
        <p:nvSpPr>
          <p:cNvPr id="17" name="Text 15"/>
          <p:cNvSpPr/>
          <p:nvPr/>
        </p:nvSpPr>
        <p:spPr>
          <a:xfrm>
            <a:off x="548640" y="4069080"/>
            <a:ext cx="11064240" cy="2011680"/>
          </a:xfrm>
          <a:prstGeom prst="rect">
            <a:avLst/>
          </a:prstGeom>
          <a:noFill/>
          <a:ln/>
        </p:spPr>
        <p:txBody>
          <a:bodyPr wrap="square" rtlCol="0" anchor="t"/>
          <a:lstStyle/>
          <a:p>
            <a:pPr indent="0" marL="0">
              <a:spcAft>
                <a:spcPts val="1000"/>
              </a:spcAft>
              <a:buNone/>
            </a:pPr>
            <a:r>
              <a:rPr lang="en-US" sz="1800" b="1" dirty="0">
                <a:solidFill>
                  <a:srgbClr val="06152B"/>
                </a:solidFill>
                <a:latin typeface="Calibri" pitchFamily="34" charset="0"/>
                <a:ea typeface="Calibri" pitchFamily="34" charset="-122"/>
                <a:cs typeface="Calibri" pitchFamily="34" charset="-120"/>
              </a:rPr>
              <a:t>Opcode</a:t>
            </a:r>
            <a:pPr indent="0" marL="0">
              <a:spcAft>
                <a:spcPts val="1000"/>
              </a:spcAft>
              <a:buNone/>
            </a:pPr>
            <a:r>
              <a:rPr lang="en-US" sz="1800" dirty="0">
                <a:solidFill>
                  <a:srgbClr val="1B2A41"/>
                </a:solidFill>
                <a:latin typeface="Calibri" pitchFamily="34" charset="0"/>
                <a:ea typeface="Calibri" pitchFamily="34" charset="-122"/>
                <a:cs typeface="Calibri" pitchFamily="34" charset="-120"/>
              </a:rPr>
              <a:t> — a unique bit pattern identifying the operation (ADD, SUB, LOAD, JUMP, ...)
</a:t>
            </a:r>
            <a:endParaRPr lang="en-US" sz="1800" dirty="0"/>
          </a:p>
          <a:p>
            <a:pPr indent="0" marL="0">
              <a:spcAft>
                <a:spcPts val="1000"/>
              </a:spcAft>
              <a:buNone/>
            </a:pPr>
            <a:r>
              <a:rPr lang="en-US" sz="1800" b="1" dirty="0">
                <a:solidFill>
                  <a:srgbClr val="06152B"/>
                </a:solidFill>
                <a:latin typeface="Calibri" pitchFamily="34" charset="0"/>
                <a:ea typeface="Calibri" pitchFamily="34" charset="-122"/>
                <a:cs typeface="Calibri" pitchFamily="34" charset="-120"/>
              </a:rPr>
              <a:t>Operand field(s)</a:t>
            </a:r>
            <a:pPr indent="0" marL="0">
              <a:spcAft>
                <a:spcPts val="1000"/>
              </a:spcAft>
              <a:buNone/>
            </a:pPr>
            <a:r>
              <a:rPr lang="en-US" sz="1800" dirty="0">
                <a:solidFill>
                  <a:srgbClr val="1B2A41"/>
                </a:solidFill>
                <a:latin typeface="Calibri" pitchFamily="34" charset="0"/>
                <a:ea typeface="Calibri" pitchFamily="34" charset="-122"/>
                <a:cs typeface="Calibri" pitchFamily="34" charset="-120"/>
              </a:rPr>
              <a:t> — register numbers, memory addresses, or immediate values
</a:t>
            </a:r>
            <a:endParaRPr lang="en-US" sz="1800" dirty="0"/>
          </a:p>
          <a:p>
            <a:pPr indent="0" marL="0">
              <a:spcAft>
                <a:spcPts val="1000"/>
              </a:spcAft>
              <a:buNone/>
            </a:pPr>
            <a:r>
              <a:rPr lang="en-US" sz="1800" b="1" dirty="0">
                <a:solidFill>
                  <a:srgbClr val="06152B"/>
                </a:solidFill>
                <a:latin typeface="Calibri" pitchFamily="34" charset="0"/>
                <a:ea typeface="Calibri" pitchFamily="34" charset="-122"/>
                <a:cs typeface="Calibri" pitchFamily="34" charset="-120"/>
              </a:rPr>
              <a:t>Addressing mode</a:t>
            </a:r>
            <a:pPr indent="0" marL="0">
              <a:spcAft>
                <a:spcPts val="1000"/>
              </a:spcAft>
              <a:buNone/>
            </a:pPr>
            <a:r>
              <a:rPr lang="en-US" sz="1800" dirty="0">
                <a:solidFill>
                  <a:srgbClr val="1B2A41"/>
                </a:solidFill>
                <a:latin typeface="Calibri" pitchFamily="34" charset="0"/>
                <a:ea typeface="Calibri" pitchFamily="34" charset="-122"/>
                <a:cs typeface="Calibri" pitchFamily="34" charset="-120"/>
              </a:rPr>
              <a:t> — tells hardware HOW to interpret the operand field (direct, indirect, indexed, immediate...)</a:t>
            </a:r>
            <a:endParaRPr lang="en-US" sz="1800" dirty="0"/>
          </a:p>
        </p:txBody>
      </p:sp>
      <p:sp>
        <p:nvSpPr>
          <p:cNvPr id="18" name="Text 16"/>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9" name="Text 17"/>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CORE CONCEPT 1</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Instruction Length — Definition</a:t>
            </a:r>
            <a:endParaRPr lang="en-US" sz="3000" dirty="0"/>
          </a:p>
        </p:txBody>
      </p:sp>
      <p:pic>
        <p:nvPicPr>
          <p:cNvPr id="4" name="Image 0" descr="/home/claude/instr_formats/icons/ruler.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Instruction length is the total number of bits (or bytes) used to represent one complete machine instruction</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It equals the SUM of all field widths: opcode bits + addressing-mode bits + operand bits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Common lengths: 16-bit, 32-bit (very common in RISC processors like MIPS, ARM), or variable (1 to 15 bytes in x86)</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Instruction length directly affects: memory footprint of a program, instruction fetch bandwidth, and decoder complexity</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WHAT DECIDES HOW LONG AN INSTRUCTION IS?</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Factors Affecting Instruction Length</a:t>
            </a:r>
            <a:endParaRPr lang="en-US" sz="3000" dirty="0"/>
          </a:p>
        </p:txBody>
      </p:sp>
      <p:pic>
        <p:nvPicPr>
          <p:cNvPr id="4" name="Image 0" descr="/home/claude/instr_formats/icons/balance.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Memory word size — CPUs often align instruction length to the memory word size (e.g., 32-bit word → 32-bit instruction) for efficient single-cycle fetch</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Number of operands — a 3-operand instruction (e.g., ADD R1, R2, R3) needs more bits than a 1-operand instruction</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Address space size — larger memory (more addressable locations) needs wider address fields, which lengthens the instruction</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Opcode richness — more distinct operations supported means more opcode bits required</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Bus width and cache line size — hardware designers often align instruction length to the width of the memory data bus</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CORE CONCEPT 2</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Fixed-Length vs. Variable-Length Formats</a:t>
            </a:r>
            <a:endParaRPr lang="en-US" sz="2800" dirty="0"/>
          </a:p>
        </p:txBody>
      </p:sp>
      <p:sp>
        <p:nvSpPr>
          <p:cNvPr id="4" name="Shape 2"/>
          <p:cNvSpPr/>
          <p:nvPr/>
        </p:nvSpPr>
        <p:spPr>
          <a:xfrm>
            <a:off x="548640" y="1600200"/>
            <a:ext cx="5394960" cy="4709160"/>
          </a:xfrm>
          <a:prstGeom prst="roundRect">
            <a:avLst>
              <a:gd name="adj" fmla="val 1553"/>
            </a:avLst>
          </a:prstGeom>
          <a:solidFill>
            <a:srgbClr val="0A1F3D"/>
          </a:solidFill>
          <a:ln/>
        </p:spPr>
      </p:sp>
      <p:pic>
        <p:nvPicPr>
          <p:cNvPr id="5" name="Image 0" descr="/home/claude/instr_formats/icons/compress.png">    </p:cNvPr>
          <p:cNvPicPr>
            <a:picLocks noChangeAspect="1"/>
          </p:cNvPicPr>
          <p:nvPr/>
        </p:nvPicPr>
        <p:blipFill>
          <a:blip r:embed="rId1"/>
          <a:stretch>
            <a:fillRect/>
          </a:stretch>
        </p:blipFill>
        <p:spPr>
          <a:xfrm>
            <a:off x="868680" y="1874520"/>
            <a:ext cx="548640" cy="548640"/>
          </a:xfrm>
          <a:prstGeom prst="rect">
            <a:avLst/>
          </a:prstGeom>
        </p:spPr>
      </p:pic>
      <p:sp>
        <p:nvSpPr>
          <p:cNvPr id="6" name="Text 3"/>
          <p:cNvSpPr/>
          <p:nvPr/>
        </p:nvSpPr>
        <p:spPr>
          <a:xfrm>
            <a:off x="1554480" y="1901952"/>
            <a:ext cx="4114800" cy="54864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FIXED-LENGTH</a:t>
            </a:r>
            <a:endParaRPr lang="en-US" sz="2000" dirty="0"/>
          </a:p>
        </p:txBody>
      </p:sp>
      <p:sp>
        <p:nvSpPr>
          <p:cNvPr id="7" name="Text 4"/>
          <p:cNvSpPr/>
          <p:nvPr/>
        </p:nvSpPr>
        <p:spPr>
          <a:xfrm>
            <a:off x="868680" y="2606040"/>
            <a:ext cx="4754880" cy="3520440"/>
          </a:xfrm>
          <a:prstGeom prst="rect">
            <a:avLst/>
          </a:prstGeom>
          <a:noFill/>
          <a:ln/>
        </p:spPr>
        <p:txBody>
          <a:bodyPr wrap="square" rtlCol="0" anchor="t"/>
          <a:lstStyle/>
          <a:p>
            <a:pPr indent="0" marL="0">
              <a:spcAft>
                <a:spcPts val="800"/>
              </a:spcAft>
              <a:buNone/>
            </a:pPr>
            <a:r>
              <a:rPr lang="en-US" sz="1450" dirty="0">
                <a:solidFill>
                  <a:srgbClr val="EAF2FB"/>
                </a:solidFill>
                <a:latin typeface="Calibri" pitchFamily="34" charset="0"/>
                <a:ea typeface="Calibri" pitchFamily="34" charset="-122"/>
                <a:cs typeface="Calibri" pitchFamily="34" charset="-120"/>
              </a:rPr>
              <a:t>• Every instruction occupies exactly the same number of bits (e.g., always 32 bits)
</a:t>
            </a:r>
            <a:endParaRPr lang="en-US" sz="1450" dirty="0"/>
          </a:p>
          <a:p>
            <a:pPr indent="0" marL="0">
              <a:spcAft>
                <a:spcPts val="800"/>
              </a:spcAft>
              <a:buNone/>
            </a:pPr>
            <a:r>
              <a:rPr lang="en-US" sz="1450" dirty="0">
                <a:solidFill>
                  <a:srgbClr val="EAF2FB"/>
                </a:solidFill>
                <a:latin typeface="Calibri" pitchFamily="34" charset="0"/>
                <a:ea typeface="Calibri" pitchFamily="34" charset="-122"/>
                <a:cs typeface="Calibri" pitchFamily="34" charset="-120"/>
              </a:rPr>
              <a:t>• Simple, fast decode — field boundaries are always in the same bit positions
</a:t>
            </a:r>
            <a:endParaRPr lang="en-US" sz="1450" dirty="0"/>
          </a:p>
          <a:p>
            <a:pPr indent="0" marL="0">
              <a:spcAft>
                <a:spcPts val="800"/>
              </a:spcAft>
              <a:buNone/>
            </a:pPr>
            <a:r>
              <a:rPr lang="en-US" sz="1450" dirty="0">
                <a:solidFill>
                  <a:srgbClr val="EAF2FB"/>
                </a:solidFill>
                <a:latin typeface="Calibri" pitchFamily="34" charset="0"/>
                <a:ea typeface="Calibri" pitchFamily="34" charset="-122"/>
                <a:cs typeface="Calibri" pitchFamily="34" charset="-120"/>
              </a:rPr>
              <a:t>• Pipelines instructions easily — next instruction address is always PC + constant
</a:t>
            </a:r>
            <a:endParaRPr lang="en-US" sz="1450" dirty="0"/>
          </a:p>
          <a:p>
            <a:pPr indent="0" marL="0">
              <a:spcAft>
                <a:spcPts val="800"/>
              </a:spcAft>
              <a:buNone/>
            </a:pPr>
            <a:r>
              <a:rPr lang="en-US" sz="1450" dirty="0">
                <a:solidFill>
                  <a:srgbClr val="EAF2FB"/>
                </a:solidFill>
                <a:latin typeface="Calibri" pitchFamily="34" charset="0"/>
                <a:ea typeface="Calibri" pitchFamily="34" charset="-122"/>
                <a:cs typeface="Calibri" pitchFamily="34" charset="-120"/>
              </a:rPr>
              <a:t>• Can waste space for simple instructions that don't need all fields
</a:t>
            </a:r>
            <a:endParaRPr lang="en-US" sz="1450" dirty="0"/>
          </a:p>
          <a:p>
            <a:pPr indent="0" marL="0">
              <a:spcAft>
                <a:spcPts val="800"/>
              </a:spcAft>
              <a:buNone/>
            </a:pPr>
            <a:r>
              <a:rPr lang="en-US" sz="1450" dirty="0">
                <a:solidFill>
                  <a:srgbClr val="EAF2FB"/>
                </a:solidFill>
                <a:latin typeface="Calibri" pitchFamily="34" charset="0"/>
                <a:ea typeface="Calibri" pitchFamily="34" charset="-122"/>
                <a:cs typeface="Calibri" pitchFamily="34" charset="-120"/>
              </a:rPr>
              <a:t>• Used by: MIPS, ARM (classic), RISC-V</a:t>
            </a:r>
            <a:endParaRPr lang="en-US" sz="1450" dirty="0"/>
          </a:p>
        </p:txBody>
      </p:sp>
      <p:sp>
        <p:nvSpPr>
          <p:cNvPr id="8" name="Shape 5"/>
          <p:cNvSpPr/>
          <p:nvPr/>
        </p:nvSpPr>
        <p:spPr>
          <a:xfrm>
            <a:off x="6217920" y="1600200"/>
            <a:ext cx="5394960" cy="4709160"/>
          </a:xfrm>
          <a:prstGeom prst="roundRect">
            <a:avLst>
              <a:gd name="adj" fmla="val 1553"/>
            </a:avLst>
          </a:prstGeom>
          <a:solidFill>
            <a:srgbClr val="C9A227"/>
          </a:solidFill>
          <a:ln/>
        </p:spPr>
      </p:sp>
      <p:pic>
        <p:nvPicPr>
          <p:cNvPr id="9" name="Image 1" descr="/home/claude/instr_formats/icons/expand.png">    </p:cNvPr>
          <p:cNvPicPr>
            <a:picLocks noChangeAspect="1"/>
          </p:cNvPicPr>
          <p:nvPr/>
        </p:nvPicPr>
        <p:blipFill>
          <a:blip r:embed="rId2"/>
          <a:stretch>
            <a:fillRect/>
          </a:stretch>
        </p:blipFill>
        <p:spPr>
          <a:xfrm>
            <a:off x="6537960" y="1874520"/>
            <a:ext cx="548640" cy="548640"/>
          </a:xfrm>
          <a:prstGeom prst="rect">
            <a:avLst/>
          </a:prstGeom>
        </p:spPr>
      </p:pic>
      <p:sp>
        <p:nvSpPr>
          <p:cNvPr id="10" name="Text 6"/>
          <p:cNvSpPr/>
          <p:nvPr/>
        </p:nvSpPr>
        <p:spPr>
          <a:xfrm>
            <a:off x="7223760" y="1901952"/>
            <a:ext cx="4114800" cy="548640"/>
          </a:xfrm>
          <a:prstGeom prst="rect">
            <a:avLst/>
          </a:prstGeom>
          <a:noFill/>
          <a:ln/>
        </p:spPr>
        <p:txBody>
          <a:bodyPr wrap="square" rtlCol="0" anchor="ctr"/>
          <a:lstStyle/>
          <a:p>
            <a:pPr indent="0" marL="0">
              <a:buNone/>
            </a:pPr>
            <a:r>
              <a:rPr lang="en-US" sz="2000" b="1" dirty="0">
                <a:solidFill>
                  <a:srgbClr val="06152B"/>
                </a:solidFill>
                <a:latin typeface="Cambria" pitchFamily="34" charset="0"/>
                <a:ea typeface="Cambria" pitchFamily="34" charset="-122"/>
                <a:cs typeface="Cambria" pitchFamily="34" charset="-120"/>
              </a:rPr>
              <a:t>VARIABLE-LENGTH</a:t>
            </a:r>
            <a:endParaRPr lang="en-US" sz="2000" dirty="0"/>
          </a:p>
        </p:txBody>
      </p:sp>
      <p:sp>
        <p:nvSpPr>
          <p:cNvPr id="11" name="Text 7"/>
          <p:cNvSpPr/>
          <p:nvPr/>
        </p:nvSpPr>
        <p:spPr>
          <a:xfrm>
            <a:off x="6537960" y="2606040"/>
            <a:ext cx="4754880" cy="3520440"/>
          </a:xfrm>
          <a:prstGeom prst="rect">
            <a:avLst/>
          </a:prstGeom>
          <a:noFill/>
          <a:ln/>
        </p:spPr>
        <p:txBody>
          <a:bodyPr wrap="square" rtlCol="0" anchor="t"/>
          <a:lstStyle/>
          <a:p>
            <a:pPr indent="0" marL="0">
              <a:spcAft>
                <a:spcPts val="800"/>
              </a:spcAft>
              <a:buNone/>
            </a:pPr>
            <a:r>
              <a:rPr lang="en-US" sz="1450" dirty="0">
                <a:solidFill>
                  <a:srgbClr val="06152B"/>
                </a:solidFill>
                <a:latin typeface="Calibri" pitchFamily="34" charset="0"/>
                <a:ea typeface="Calibri" pitchFamily="34" charset="-122"/>
                <a:cs typeface="Calibri" pitchFamily="34" charset="-120"/>
              </a:rPr>
              <a:t>• Instructions can span different numbers of bytes (e.g., 1 to 15 bytes in x86)
</a:t>
            </a:r>
            <a:endParaRPr lang="en-US" sz="1450" dirty="0"/>
          </a:p>
          <a:p>
            <a:pPr indent="0" marL="0">
              <a:spcAft>
                <a:spcPts val="800"/>
              </a:spcAft>
              <a:buNone/>
            </a:pPr>
            <a:r>
              <a:rPr lang="en-US" sz="1450" dirty="0">
                <a:solidFill>
                  <a:srgbClr val="06152B"/>
                </a:solidFill>
                <a:latin typeface="Calibri" pitchFamily="34" charset="0"/>
                <a:ea typeface="Calibri" pitchFamily="34" charset="-122"/>
                <a:cs typeface="Calibri" pitchFamily="34" charset="-120"/>
              </a:rPr>
              <a:t>• Compact code — simple instructions use few bytes, complex ones use more
</a:t>
            </a:r>
            <a:endParaRPr lang="en-US" sz="1450" dirty="0"/>
          </a:p>
          <a:p>
            <a:pPr indent="0" marL="0">
              <a:spcAft>
                <a:spcPts val="800"/>
              </a:spcAft>
              <a:buNone/>
            </a:pPr>
            <a:r>
              <a:rPr lang="en-US" sz="1450" dirty="0">
                <a:solidFill>
                  <a:srgbClr val="06152B"/>
                </a:solidFill>
                <a:latin typeface="Calibri" pitchFamily="34" charset="0"/>
                <a:ea typeface="Calibri" pitchFamily="34" charset="-122"/>
                <a:cs typeface="Calibri" pitchFamily="34" charset="-120"/>
              </a:rPr>
              <a:t>• Decoding is harder — hardware must first determine instruction length before decoding fully
</a:t>
            </a:r>
            <a:endParaRPr lang="en-US" sz="1450" dirty="0"/>
          </a:p>
          <a:p>
            <a:pPr indent="0" marL="0">
              <a:spcAft>
                <a:spcPts val="800"/>
              </a:spcAft>
              <a:buNone/>
            </a:pPr>
            <a:r>
              <a:rPr lang="en-US" sz="1450" dirty="0">
                <a:solidFill>
                  <a:srgbClr val="06152B"/>
                </a:solidFill>
                <a:latin typeface="Calibri" pitchFamily="34" charset="0"/>
                <a:ea typeface="Calibri" pitchFamily="34" charset="-122"/>
                <a:cs typeface="Calibri" pitchFamily="34" charset="-120"/>
              </a:rPr>
              <a:t>• Complicates pipelining — next instruction's starting point isn't fixed
</a:t>
            </a:r>
            <a:endParaRPr lang="en-US" sz="1450" dirty="0"/>
          </a:p>
          <a:p>
            <a:pPr indent="0" marL="0">
              <a:spcAft>
                <a:spcPts val="800"/>
              </a:spcAft>
              <a:buNone/>
            </a:pPr>
            <a:r>
              <a:rPr lang="en-US" sz="1450" dirty="0">
                <a:solidFill>
                  <a:srgbClr val="06152B"/>
                </a:solidFill>
                <a:latin typeface="Calibri" pitchFamily="34" charset="0"/>
                <a:ea typeface="Calibri" pitchFamily="34" charset="-122"/>
                <a:cs typeface="Calibri" pitchFamily="34" charset="-120"/>
              </a:rPr>
              <a:t>• Used by: x86 / x86-64, older CISC machines</a:t>
            </a:r>
            <a:endParaRPr lang="en-US" sz="1450" dirty="0"/>
          </a:p>
        </p:txBody>
      </p:sp>
      <p:sp>
        <p:nvSpPr>
          <p:cNvPr id="12" name="Text 8"/>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3" name="Text 9"/>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DEEP DIVE</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Fixed-Length Instructions — A Closer Look</a:t>
            </a:r>
            <a:endParaRPr lang="en-US" sz="3000" dirty="0"/>
          </a:p>
        </p:txBody>
      </p:sp>
      <p:pic>
        <p:nvPicPr>
          <p:cNvPr id="4" name="Image 0" descr="/home/claude/instr_formats/icons/layers.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Advantage — Simple hardware: the decoder always knows exactly where the opcode field and operand fields are, with no scanning needed</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Advantage — Pipeline-friendly: since every instruction is the same size, the next instruction's address is always current PC + 4 (for 32-bit/4-byte instructions)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Advantage — Easier compiler code generation and easier to reason about program size</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Disadvantage — Space inefficiency: a simple NOP or a register move still "pays" for the full 32 bits even though it needs far fewer</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Disadvantage — Limited immediate value range: a 32-bit instruction split among opcode + registers leaves fewer bits for embedding large constants directly</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MIPS: A Classic 32-bit Fixed Format</a:t>
            </a:r>
            <a:endParaRPr lang="en-US" sz="2800" dirty="0"/>
          </a:p>
        </p:txBody>
      </p:sp>
      <p:sp>
        <p:nvSpPr>
          <p:cNvPr id="4" name="Shape 2"/>
          <p:cNvSpPr/>
          <p:nvPr/>
        </p:nvSpPr>
        <p:spPr>
          <a:xfrm>
            <a:off x="548640" y="1920240"/>
            <a:ext cx="1554480" cy="1005840"/>
          </a:xfrm>
          <a:prstGeom prst="rect">
            <a:avLst/>
          </a:prstGeom>
          <a:solidFill>
            <a:srgbClr val="0A1F3D"/>
          </a:solidFill>
          <a:ln w="19050">
            <a:solidFill>
              <a:srgbClr val="FFFFFF"/>
            </a:solidFill>
            <a:prstDash val="solid"/>
          </a:ln>
        </p:spPr>
      </p:sp>
      <p:sp>
        <p:nvSpPr>
          <p:cNvPr id="5" name="Text 3"/>
          <p:cNvSpPr/>
          <p:nvPr/>
        </p:nvSpPr>
        <p:spPr>
          <a:xfrm>
            <a:off x="548640" y="2084832"/>
            <a:ext cx="155448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opcode</a:t>
            </a:r>
            <a:endParaRPr lang="en-US" sz="1500" dirty="0"/>
          </a:p>
        </p:txBody>
      </p:sp>
      <p:sp>
        <p:nvSpPr>
          <p:cNvPr id="6" name="Text 4"/>
          <p:cNvSpPr/>
          <p:nvPr/>
        </p:nvSpPr>
        <p:spPr>
          <a:xfrm>
            <a:off x="548640" y="2468880"/>
            <a:ext cx="1554480" cy="32004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6 bits</a:t>
            </a:r>
            <a:endParaRPr lang="en-US" sz="1200" dirty="0"/>
          </a:p>
        </p:txBody>
      </p:sp>
      <p:sp>
        <p:nvSpPr>
          <p:cNvPr id="7" name="Shape 5"/>
          <p:cNvSpPr/>
          <p:nvPr/>
        </p:nvSpPr>
        <p:spPr>
          <a:xfrm>
            <a:off x="2103120" y="1920240"/>
            <a:ext cx="1298448" cy="1005840"/>
          </a:xfrm>
          <a:prstGeom prst="rect">
            <a:avLst/>
          </a:prstGeom>
          <a:solidFill>
            <a:srgbClr val="132B52"/>
          </a:solidFill>
          <a:ln w="19050">
            <a:solidFill>
              <a:srgbClr val="FFFFFF"/>
            </a:solidFill>
            <a:prstDash val="solid"/>
          </a:ln>
        </p:spPr>
      </p:sp>
      <p:sp>
        <p:nvSpPr>
          <p:cNvPr id="8" name="Text 6"/>
          <p:cNvSpPr/>
          <p:nvPr/>
        </p:nvSpPr>
        <p:spPr>
          <a:xfrm>
            <a:off x="2103120" y="2084832"/>
            <a:ext cx="1298448"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rs</a:t>
            </a:r>
            <a:endParaRPr lang="en-US" sz="1500" dirty="0"/>
          </a:p>
        </p:txBody>
      </p:sp>
      <p:sp>
        <p:nvSpPr>
          <p:cNvPr id="9" name="Text 7"/>
          <p:cNvSpPr/>
          <p:nvPr/>
        </p:nvSpPr>
        <p:spPr>
          <a:xfrm>
            <a:off x="2103120" y="2468880"/>
            <a:ext cx="1298448" cy="32004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5 bits</a:t>
            </a:r>
            <a:endParaRPr lang="en-US" sz="1200" dirty="0"/>
          </a:p>
        </p:txBody>
      </p:sp>
      <p:sp>
        <p:nvSpPr>
          <p:cNvPr id="10" name="Shape 8"/>
          <p:cNvSpPr/>
          <p:nvPr/>
        </p:nvSpPr>
        <p:spPr>
          <a:xfrm>
            <a:off x="3401568" y="1920240"/>
            <a:ext cx="1298448" cy="1005840"/>
          </a:xfrm>
          <a:prstGeom prst="rect">
            <a:avLst/>
          </a:prstGeom>
          <a:solidFill>
            <a:srgbClr val="132B52"/>
          </a:solidFill>
          <a:ln w="19050">
            <a:solidFill>
              <a:srgbClr val="FFFFFF"/>
            </a:solidFill>
            <a:prstDash val="solid"/>
          </a:ln>
        </p:spPr>
      </p:sp>
      <p:sp>
        <p:nvSpPr>
          <p:cNvPr id="11" name="Text 9"/>
          <p:cNvSpPr/>
          <p:nvPr/>
        </p:nvSpPr>
        <p:spPr>
          <a:xfrm>
            <a:off x="3401568" y="2084832"/>
            <a:ext cx="1298448"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rt</a:t>
            </a:r>
            <a:endParaRPr lang="en-US" sz="1500" dirty="0"/>
          </a:p>
        </p:txBody>
      </p:sp>
      <p:sp>
        <p:nvSpPr>
          <p:cNvPr id="12" name="Text 10"/>
          <p:cNvSpPr/>
          <p:nvPr/>
        </p:nvSpPr>
        <p:spPr>
          <a:xfrm>
            <a:off x="3401568" y="2468880"/>
            <a:ext cx="1298448" cy="32004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5 bits</a:t>
            </a:r>
            <a:endParaRPr lang="en-US" sz="1200" dirty="0"/>
          </a:p>
        </p:txBody>
      </p:sp>
      <p:sp>
        <p:nvSpPr>
          <p:cNvPr id="13" name="Shape 11"/>
          <p:cNvSpPr/>
          <p:nvPr/>
        </p:nvSpPr>
        <p:spPr>
          <a:xfrm>
            <a:off x="4700016" y="1920240"/>
            <a:ext cx="1298448" cy="1005840"/>
          </a:xfrm>
          <a:prstGeom prst="rect">
            <a:avLst/>
          </a:prstGeom>
          <a:solidFill>
            <a:srgbClr val="C9A227"/>
          </a:solidFill>
          <a:ln w="19050">
            <a:solidFill>
              <a:srgbClr val="FFFFFF"/>
            </a:solidFill>
            <a:prstDash val="solid"/>
          </a:ln>
        </p:spPr>
      </p:sp>
      <p:sp>
        <p:nvSpPr>
          <p:cNvPr id="14" name="Text 12"/>
          <p:cNvSpPr/>
          <p:nvPr/>
        </p:nvSpPr>
        <p:spPr>
          <a:xfrm>
            <a:off x="4700016" y="2084832"/>
            <a:ext cx="1298448"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rd</a:t>
            </a:r>
            <a:endParaRPr lang="en-US" sz="1500" dirty="0"/>
          </a:p>
        </p:txBody>
      </p:sp>
      <p:sp>
        <p:nvSpPr>
          <p:cNvPr id="15" name="Text 13"/>
          <p:cNvSpPr/>
          <p:nvPr/>
        </p:nvSpPr>
        <p:spPr>
          <a:xfrm>
            <a:off x="4700016" y="2468880"/>
            <a:ext cx="1298448" cy="32004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5 bits</a:t>
            </a:r>
            <a:endParaRPr lang="en-US" sz="1200" dirty="0"/>
          </a:p>
        </p:txBody>
      </p:sp>
      <p:sp>
        <p:nvSpPr>
          <p:cNvPr id="16" name="Shape 14"/>
          <p:cNvSpPr/>
          <p:nvPr/>
        </p:nvSpPr>
        <p:spPr>
          <a:xfrm>
            <a:off x="5998464" y="1920240"/>
            <a:ext cx="1298448" cy="1005840"/>
          </a:xfrm>
          <a:prstGeom prst="rect">
            <a:avLst/>
          </a:prstGeom>
          <a:solidFill>
            <a:srgbClr val="132B52"/>
          </a:solidFill>
          <a:ln w="19050">
            <a:solidFill>
              <a:srgbClr val="FFFFFF"/>
            </a:solidFill>
            <a:prstDash val="solid"/>
          </a:ln>
        </p:spPr>
      </p:sp>
      <p:sp>
        <p:nvSpPr>
          <p:cNvPr id="17" name="Text 15"/>
          <p:cNvSpPr/>
          <p:nvPr/>
        </p:nvSpPr>
        <p:spPr>
          <a:xfrm>
            <a:off x="5998464" y="2084832"/>
            <a:ext cx="1298448"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shamt</a:t>
            </a:r>
            <a:endParaRPr lang="en-US" sz="1500" dirty="0"/>
          </a:p>
        </p:txBody>
      </p:sp>
      <p:sp>
        <p:nvSpPr>
          <p:cNvPr id="18" name="Text 16"/>
          <p:cNvSpPr/>
          <p:nvPr/>
        </p:nvSpPr>
        <p:spPr>
          <a:xfrm>
            <a:off x="5998464" y="2468880"/>
            <a:ext cx="1298448" cy="32004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5 bits</a:t>
            </a:r>
            <a:endParaRPr lang="en-US" sz="1200" dirty="0"/>
          </a:p>
        </p:txBody>
      </p:sp>
      <p:sp>
        <p:nvSpPr>
          <p:cNvPr id="19" name="Shape 17"/>
          <p:cNvSpPr/>
          <p:nvPr/>
        </p:nvSpPr>
        <p:spPr>
          <a:xfrm>
            <a:off x="7296912" y="1920240"/>
            <a:ext cx="1554480" cy="1005840"/>
          </a:xfrm>
          <a:prstGeom prst="rect">
            <a:avLst/>
          </a:prstGeom>
          <a:solidFill>
            <a:srgbClr val="0A1F3D"/>
          </a:solidFill>
          <a:ln w="19050">
            <a:solidFill>
              <a:srgbClr val="FFFFFF"/>
            </a:solidFill>
            <a:prstDash val="solid"/>
          </a:ln>
        </p:spPr>
      </p:sp>
      <p:sp>
        <p:nvSpPr>
          <p:cNvPr id="20" name="Text 18"/>
          <p:cNvSpPr/>
          <p:nvPr/>
        </p:nvSpPr>
        <p:spPr>
          <a:xfrm>
            <a:off x="7296912" y="2084832"/>
            <a:ext cx="1554480" cy="36576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funct</a:t>
            </a:r>
            <a:endParaRPr lang="en-US" sz="1500" dirty="0"/>
          </a:p>
        </p:txBody>
      </p:sp>
      <p:sp>
        <p:nvSpPr>
          <p:cNvPr id="21" name="Text 19"/>
          <p:cNvSpPr/>
          <p:nvPr/>
        </p:nvSpPr>
        <p:spPr>
          <a:xfrm>
            <a:off x="7296912" y="2468880"/>
            <a:ext cx="1554480" cy="320040"/>
          </a:xfrm>
          <a:prstGeom prst="rect">
            <a:avLst/>
          </a:prstGeom>
          <a:noFill/>
          <a:ln/>
        </p:spPr>
        <p:txBody>
          <a:bodyPr wrap="square" rtlCol="0" anchor="ctr"/>
          <a:lstStyle/>
          <a:p>
            <a:pPr algn="ctr" indent="0" marL="0">
              <a:buNone/>
            </a:pPr>
            <a:r>
              <a:rPr lang="en-US" sz="1200" dirty="0">
                <a:solidFill>
                  <a:srgbClr val="EAF2FB"/>
                </a:solidFill>
                <a:latin typeface="Calibri" pitchFamily="34" charset="0"/>
                <a:ea typeface="Calibri" pitchFamily="34" charset="-122"/>
                <a:cs typeface="Calibri" pitchFamily="34" charset="-120"/>
              </a:rPr>
              <a:t>6 bits</a:t>
            </a:r>
            <a:endParaRPr lang="en-US" sz="1200" dirty="0"/>
          </a:p>
        </p:txBody>
      </p:sp>
      <p:sp>
        <p:nvSpPr>
          <p:cNvPr id="22" name="Text 20"/>
          <p:cNvSpPr/>
          <p:nvPr/>
        </p:nvSpPr>
        <p:spPr>
          <a:xfrm>
            <a:off x="548640" y="3063240"/>
            <a:ext cx="9144000" cy="320040"/>
          </a:xfrm>
          <a:prstGeom prst="rect">
            <a:avLst/>
          </a:prstGeom>
          <a:noFill/>
          <a:ln/>
        </p:spPr>
        <p:txBody>
          <a:bodyPr wrap="square" rtlCol="0" anchor="ctr"/>
          <a:lstStyle/>
          <a:p>
            <a:pPr indent="0" marL="0">
              <a:buNone/>
            </a:pPr>
            <a:r>
              <a:rPr lang="en-US" sz="1400" i="1" dirty="0">
                <a:solidFill>
                  <a:srgbClr val="5B6B7F"/>
                </a:solidFill>
                <a:latin typeface="Calibri" pitchFamily="34" charset="0"/>
                <a:ea typeface="Calibri" pitchFamily="34" charset="-122"/>
                <a:cs typeface="Calibri" pitchFamily="34" charset="-120"/>
              </a:rPr>
              <a:t>R-type format — total = 6+5+5+5+5+6 = 32 bits</a:t>
            </a:r>
            <a:endParaRPr lang="en-US" sz="1400" dirty="0"/>
          </a:p>
        </p:txBody>
      </p:sp>
      <p:sp>
        <p:nvSpPr>
          <p:cNvPr id="23" name="Text 21"/>
          <p:cNvSpPr/>
          <p:nvPr/>
        </p:nvSpPr>
        <p:spPr>
          <a:xfrm>
            <a:off x="548640" y="3566160"/>
            <a:ext cx="11064240" cy="2377440"/>
          </a:xfrm>
          <a:prstGeom prst="rect">
            <a:avLst/>
          </a:prstGeom>
          <a:noFill/>
          <a:ln/>
        </p:spPr>
        <p:txBody>
          <a:bodyPr wrap="square" rtlCol="0" anchor="t"/>
          <a:lstStyle/>
          <a:p>
            <a:pPr indent="0" marL="0">
              <a:spcAft>
                <a:spcPts val="800"/>
              </a:spcAft>
              <a:buNone/>
            </a:pPr>
            <a:r>
              <a:rPr lang="en-US" sz="1800" b="1" dirty="0">
                <a:solidFill>
                  <a:srgbClr val="06152B"/>
                </a:solidFill>
                <a:latin typeface="Calibri" pitchFamily="34" charset="0"/>
                <a:ea typeface="Calibri" pitchFamily="34" charset="-122"/>
                <a:cs typeface="Calibri" pitchFamily="34" charset="-120"/>
              </a:rPr>
              <a:t>Example instruction: </a:t>
            </a:r>
            <a:pPr indent="0" marL="0">
              <a:spcAft>
                <a:spcPts val="800"/>
              </a:spcAft>
              <a:buNone/>
            </a:pPr>
            <a:r>
              <a:rPr lang="en-US" sz="1800" dirty="0">
                <a:solidFill>
                  <a:srgbClr val="1B2A41"/>
                </a:solidFill>
                <a:latin typeface="Calibri" pitchFamily="34" charset="0"/>
                <a:ea typeface="Calibri" pitchFamily="34" charset="-122"/>
                <a:cs typeface="Calibri" pitchFamily="34" charset="-120"/>
              </a:rPr>
              <a:t>add $t0, $t1, $t2   →  "add register t1 and t2, store in t0"
</a:t>
            </a:r>
            <a:endParaRPr lang="en-US" sz="1800" dirty="0"/>
          </a:p>
          <a:p>
            <a:pPr indent="0" marL="0">
              <a:spcAft>
                <a:spcPts val="800"/>
              </a:spcAft>
              <a:buNone/>
            </a:pPr>
            <a:r>
              <a:rPr lang="en-US" sz="1600" b="1" dirty="0">
                <a:solidFill>
                  <a:srgbClr val="0A1F3D"/>
                </a:solidFill>
                <a:latin typeface="Calibri" pitchFamily="34" charset="0"/>
                <a:ea typeface="Calibri" pitchFamily="34" charset="-122"/>
                <a:cs typeface="Calibri" pitchFamily="34" charset="-120"/>
              </a:rPr>
              <a:t>opcode</a:t>
            </a:r>
            <a:pPr indent="0" marL="0">
              <a:spcAft>
                <a:spcPts val="800"/>
              </a:spcAft>
              <a:buNone/>
            </a:pPr>
            <a:r>
              <a:rPr lang="en-US" sz="1600" dirty="0">
                <a:solidFill>
                  <a:srgbClr val="1B2A41"/>
                </a:solidFill>
                <a:latin typeface="Calibri" pitchFamily="34" charset="0"/>
                <a:ea typeface="Calibri" pitchFamily="34" charset="-122"/>
                <a:cs typeface="Calibri" pitchFamily="34" charset="-120"/>
              </a:rPr>
              <a:t> = 000000 (all R-type instructions share this opcode)
</a:t>
            </a:r>
            <a:endParaRPr lang="en-US" sz="1800" dirty="0"/>
          </a:p>
          <a:p>
            <a:pPr indent="0" marL="0">
              <a:spcAft>
                <a:spcPts val="800"/>
              </a:spcAft>
              <a:buNone/>
            </a:pPr>
            <a:r>
              <a:rPr lang="en-US" sz="1600" b="1" dirty="0">
                <a:solidFill>
                  <a:srgbClr val="0A1F3D"/>
                </a:solidFill>
                <a:latin typeface="Calibri" pitchFamily="34" charset="0"/>
                <a:ea typeface="Calibri" pitchFamily="34" charset="-122"/>
                <a:cs typeface="Calibri" pitchFamily="34" charset="-120"/>
              </a:rPr>
              <a:t>funct</a:t>
            </a:r>
            <a:pPr indent="0" marL="0">
              <a:spcAft>
                <a:spcPts val="800"/>
              </a:spcAft>
              <a:buNone/>
            </a:pPr>
            <a:r>
              <a:rPr lang="en-US" sz="1600" dirty="0">
                <a:solidFill>
                  <a:srgbClr val="1B2A41"/>
                </a:solidFill>
                <a:latin typeface="Calibri" pitchFamily="34" charset="0"/>
                <a:ea typeface="Calibri" pitchFamily="34" charset="-122"/>
                <a:cs typeface="Calibri" pitchFamily="34" charset="-120"/>
              </a:rPr>
              <a:t> field distinguishes ADD from SUB, AND, OR, etc. within R-type
</a:t>
            </a:r>
            <a:endParaRPr lang="en-US" sz="1800" dirty="0"/>
          </a:p>
          <a:p>
            <a:pPr indent="0" marL="0">
              <a:spcAft>
                <a:spcPts val="800"/>
              </a:spcAft>
              <a:buNone/>
            </a:pPr>
            <a:r>
              <a:rPr lang="en-US" sz="1600" b="1" dirty="0">
                <a:solidFill>
                  <a:srgbClr val="C9A227"/>
                </a:solidFill>
                <a:latin typeface="Calibri" pitchFamily="34" charset="0"/>
                <a:ea typeface="Calibri" pitchFamily="34" charset="-122"/>
                <a:cs typeface="Calibri" pitchFamily="34" charset="-120"/>
              </a:rPr>
              <a:t>Every MIPS instruction — R, I, or J type — is always exactly 32 bits</a:t>
            </a:r>
            <a:endParaRPr lang="en-US" sz="1800" dirty="0"/>
          </a:p>
        </p:txBody>
      </p:sp>
      <p:sp>
        <p:nvSpPr>
          <p:cNvPr id="24" name="Text 22"/>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25" name="Text 23"/>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CORE CONCEPT 3</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Allocation of Bits — The Core Idea</a:t>
            </a:r>
            <a:endParaRPr lang="en-US" sz="3000" dirty="0"/>
          </a:p>
        </p:txBody>
      </p:sp>
      <p:pic>
        <p:nvPicPr>
          <p:cNvPr id="4" name="Image 0" descr="/home/claude/instr_formats/icons/binary.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Given a FIXED total instruction length (say, 16 or 32 bits), the designer must decide how many bits go to each field</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This is a zero-sum trade-off: every bit given to the opcode field is one FEWER bit available for operand/address fields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More opcode bits → more distinct instructions supported, but fewer bits left to address memory or registers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More operand/address bits → larger register file or memory directly addressable, but fewer distinct opcodes supported</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Bit allocation is one of the most important early decisions in Instruction Set Architecture (ISA) design</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FOCUS: OPCODE</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Allocation of Bits: The Opcode Field</a:t>
            </a:r>
            <a:endParaRPr lang="en-US" sz="3000" dirty="0"/>
          </a:p>
        </p:txBody>
      </p:sp>
      <p:pic>
        <p:nvPicPr>
          <p:cNvPr id="4" name="Image 0" descr="/home/claude/instr_formats/icons/code.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If the opcode field has n bits, it can represent up to 2^n distinct operations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Example: a 4-bit opcode field allows 2^4 = 16 distinct instructions (ADD, SUB, LOAD, STORE, ... up to 16 total)</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Example: a 6-bit opcode field (as in MIPS) allows 2^6 = 64 distinct primary opcodes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If a designer needs 100 distinct instructions, they need at least ⌈log2(100)⌉ = 7 opcode bits, since 2^6 = 64 is not enough but 2^7 = 128 is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Choosing opcode width is the FIRST decision in bit allocation, because it is driven by "how many operations must this ISA support?"</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FOCUS: OPERANDS</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Allocation of Bits: The Operand / Address Field</a:t>
            </a:r>
            <a:endParaRPr lang="en-US" sz="3000" dirty="0"/>
          </a:p>
        </p:txBody>
      </p:sp>
      <p:pic>
        <p:nvPicPr>
          <p:cNvPr id="4" name="Image 0" descr="/home/claude/instr_formats/icons/memory.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If an operand field has m bits, it can directly address up to 2^m distinct locations (registers or memory cells)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For a register operand: m bits can select from 2^m registers — e.g., 5 bits selects among 32 registers (as in MIPS)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For a direct memory address operand: m bits can address 2^m memory locations — e.g., 16 bits addresses up to 65,536 (64K) memory locations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Larger address spaces (more memory) require wider address fields, competing directly with opcode bits for the same fixed instruction length</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This is why many ISAs use registers (few bits needed) instead of direct memory addresses (many bits needed) inside instructions</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THE CENTRAL TRADE-OFF</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Opcode Bits vs. Address/Operand Bits</a:t>
            </a:r>
            <a:endParaRPr lang="en-US" sz="2800" dirty="0"/>
          </a:p>
        </p:txBody>
      </p:sp>
      <p:sp>
        <p:nvSpPr>
          <p:cNvPr id="4" name="Text 2"/>
          <p:cNvSpPr/>
          <p:nvPr/>
        </p:nvSpPr>
        <p:spPr>
          <a:xfrm>
            <a:off x="548640" y="1847088"/>
            <a:ext cx="2560320" cy="457200"/>
          </a:xfrm>
          <a:prstGeom prst="rect">
            <a:avLst/>
          </a:prstGeom>
          <a:noFill/>
          <a:ln/>
        </p:spPr>
        <p:txBody>
          <a:bodyPr wrap="square" rtlCol="0" anchor="ctr"/>
          <a:lstStyle/>
          <a:p>
            <a:pPr indent="0" marL="0">
              <a:buNone/>
            </a:pPr>
            <a:r>
              <a:rPr lang="en-US" sz="1600" b="1" dirty="0">
                <a:solidFill>
                  <a:srgbClr val="06152B"/>
                </a:solidFill>
                <a:latin typeface="Cambria" pitchFamily="34" charset="0"/>
                <a:ea typeface="Cambria" pitchFamily="34" charset="-122"/>
                <a:cs typeface="Cambria" pitchFamily="34" charset="-120"/>
              </a:rPr>
              <a:t>Scenario A</a:t>
            </a:r>
            <a:endParaRPr lang="en-US" sz="1600" dirty="0"/>
          </a:p>
        </p:txBody>
      </p:sp>
      <p:sp>
        <p:nvSpPr>
          <p:cNvPr id="5" name="Shape 3"/>
          <p:cNvSpPr/>
          <p:nvPr/>
        </p:nvSpPr>
        <p:spPr>
          <a:xfrm>
            <a:off x="3291840" y="1828800"/>
            <a:ext cx="2011680" cy="502920"/>
          </a:xfrm>
          <a:prstGeom prst="rect">
            <a:avLst/>
          </a:prstGeom>
          <a:solidFill>
            <a:srgbClr val="0A1F3D"/>
          </a:solidFill>
          <a:ln w="12700">
            <a:solidFill>
              <a:srgbClr val="FFFFFF"/>
            </a:solidFill>
            <a:prstDash val="solid"/>
          </a:ln>
        </p:spPr>
      </p:sp>
      <p:sp>
        <p:nvSpPr>
          <p:cNvPr id="6" name="Text 4"/>
          <p:cNvSpPr/>
          <p:nvPr/>
        </p:nvSpPr>
        <p:spPr>
          <a:xfrm>
            <a:off x="3291840" y="1828800"/>
            <a:ext cx="20116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4b</a:t>
            </a:r>
            <a:endParaRPr lang="en-US" sz="1200" dirty="0"/>
          </a:p>
        </p:txBody>
      </p:sp>
      <p:sp>
        <p:nvSpPr>
          <p:cNvPr id="7" name="Shape 5"/>
          <p:cNvSpPr/>
          <p:nvPr/>
        </p:nvSpPr>
        <p:spPr>
          <a:xfrm>
            <a:off x="5303520" y="1828800"/>
            <a:ext cx="6035040" cy="502920"/>
          </a:xfrm>
          <a:prstGeom prst="rect">
            <a:avLst/>
          </a:prstGeom>
          <a:solidFill>
            <a:srgbClr val="C9A227"/>
          </a:solidFill>
          <a:ln w="12700">
            <a:solidFill>
              <a:srgbClr val="FFFFFF"/>
            </a:solidFill>
            <a:prstDash val="solid"/>
          </a:ln>
        </p:spPr>
      </p:sp>
      <p:sp>
        <p:nvSpPr>
          <p:cNvPr id="8" name="Text 6"/>
          <p:cNvSpPr/>
          <p:nvPr/>
        </p:nvSpPr>
        <p:spPr>
          <a:xfrm>
            <a:off x="5303520" y="1828800"/>
            <a:ext cx="6035040" cy="502920"/>
          </a:xfrm>
          <a:prstGeom prst="rect">
            <a:avLst/>
          </a:prstGeom>
          <a:noFill/>
          <a:ln/>
        </p:spPr>
        <p:txBody>
          <a:bodyPr wrap="square" rtlCol="0" anchor="ctr"/>
          <a:lstStyle/>
          <a:p>
            <a:pPr algn="ctr" indent="0" marL="0">
              <a:buNone/>
            </a:pPr>
            <a:r>
              <a:rPr lang="en-US" sz="1200" b="1" dirty="0">
                <a:solidFill>
                  <a:srgbClr val="06152B"/>
                </a:solidFill>
                <a:latin typeface="Calibri" pitchFamily="34" charset="0"/>
                <a:ea typeface="Calibri" pitchFamily="34" charset="-122"/>
                <a:cs typeface="Calibri" pitchFamily="34" charset="-120"/>
              </a:rPr>
              <a:t>12b</a:t>
            </a:r>
            <a:endParaRPr lang="en-US" sz="1200" dirty="0"/>
          </a:p>
        </p:txBody>
      </p:sp>
      <p:sp>
        <p:nvSpPr>
          <p:cNvPr id="9" name="Text 7"/>
          <p:cNvSpPr/>
          <p:nvPr/>
        </p:nvSpPr>
        <p:spPr>
          <a:xfrm>
            <a:off x="548640" y="2359152"/>
            <a:ext cx="10972800" cy="320040"/>
          </a:xfrm>
          <a:prstGeom prst="rect">
            <a:avLst/>
          </a:prstGeom>
          <a:noFill/>
          <a:ln/>
        </p:spPr>
        <p:txBody>
          <a:bodyPr wrap="square" rtlCol="0" anchor="ctr"/>
          <a:lstStyle/>
          <a:p>
            <a:pPr indent="0" marL="0">
              <a:buNone/>
            </a:pPr>
            <a:r>
              <a:rPr lang="en-US" sz="1300" i="1" dirty="0">
                <a:solidFill>
                  <a:srgbClr val="5B6B7F"/>
                </a:solidFill>
                <a:latin typeface="Calibri" pitchFamily="34" charset="0"/>
                <a:ea typeface="Calibri" pitchFamily="34" charset="-122"/>
                <a:cs typeface="Calibri" pitchFamily="34" charset="-120"/>
              </a:rPr>
              <a:t>Few opcodes (16 max), huge address space (4096 locations)</a:t>
            </a:r>
            <a:endParaRPr lang="en-US" sz="1300" dirty="0"/>
          </a:p>
        </p:txBody>
      </p:sp>
      <p:sp>
        <p:nvSpPr>
          <p:cNvPr id="10" name="Text 8"/>
          <p:cNvSpPr/>
          <p:nvPr/>
        </p:nvSpPr>
        <p:spPr>
          <a:xfrm>
            <a:off x="548640" y="2898648"/>
            <a:ext cx="2560320" cy="457200"/>
          </a:xfrm>
          <a:prstGeom prst="rect">
            <a:avLst/>
          </a:prstGeom>
          <a:noFill/>
          <a:ln/>
        </p:spPr>
        <p:txBody>
          <a:bodyPr wrap="square" rtlCol="0" anchor="ctr"/>
          <a:lstStyle/>
          <a:p>
            <a:pPr indent="0" marL="0">
              <a:buNone/>
            </a:pPr>
            <a:r>
              <a:rPr lang="en-US" sz="1600" b="1" dirty="0">
                <a:solidFill>
                  <a:srgbClr val="06152B"/>
                </a:solidFill>
                <a:latin typeface="Cambria" pitchFamily="34" charset="0"/>
                <a:ea typeface="Cambria" pitchFamily="34" charset="-122"/>
                <a:cs typeface="Cambria" pitchFamily="34" charset="-120"/>
              </a:rPr>
              <a:t>Scenario B</a:t>
            </a:r>
            <a:endParaRPr lang="en-US" sz="1600" dirty="0"/>
          </a:p>
        </p:txBody>
      </p:sp>
      <p:sp>
        <p:nvSpPr>
          <p:cNvPr id="11" name="Shape 9"/>
          <p:cNvSpPr/>
          <p:nvPr/>
        </p:nvSpPr>
        <p:spPr>
          <a:xfrm>
            <a:off x="3291840" y="2880360"/>
            <a:ext cx="4023360" cy="502920"/>
          </a:xfrm>
          <a:prstGeom prst="rect">
            <a:avLst/>
          </a:prstGeom>
          <a:solidFill>
            <a:srgbClr val="0A1F3D"/>
          </a:solidFill>
          <a:ln w="12700">
            <a:solidFill>
              <a:srgbClr val="FFFFFF"/>
            </a:solidFill>
            <a:prstDash val="solid"/>
          </a:ln>
        </p:spPr>
      </p:sp>
      <p:sp>
        <p:nvSpPr>
          <p:cNvPr id="12" name="Text 10"/>
          <p:cNvSpPr/>
          <p:nvPr/>
        </p:nvSpPr>
        <p:spPr>
          <a:xfrm>
            <a:off x="3291840" y="2880360"/>
            <a:ext cx="402336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8b</a:t>
            </a:r>
            <a:endParaRPr lang="en-US" sz="1200" dirty="0"/>
          </a:p>
        </p:txBody>
      </p:sp>
      <p:sp>
        <p:nvSpPr>
          <p:cNvPr id="13" name="Shape 11"/>
          <p:cNvSpPr/>
          <p:nvPr/>
        </p:nvSpPr>
        <p:spPr>
          <a:xfrm>
            <a:off x="7315200" y="2880360"/>
            <a:ext cx="4023360" cy="502920"/>
          </a:xfrm>
          <a:prstGeom prst="rect">
            <a:avLst/>
          </a:prstGeom>
          <a:solidFill>
            <a:srgbClr val="C9A227"/>
          </a:solidFill>
          <a:ln w="12700">
            <a:solidFill>
              <a:srgbClr val="FFFFFF"/>
            </a:solidFill>
            <a:prstDash val="solid"/>
          </a:ln>
        </p:spPr>
      </p:sp>
      <p:sp>
        <p:nvSpPr>
          <p:cNvPr id="14" name="Text 12"/>
          <p:cNvSpPr/>
          <p:nvPr/>
        </p:nvSpPr>
        <p:spPr>
          <a:xfrm>
            <a:off x="7315200" y="2880360"/>
            <a:ext cx="4023360" cy="502920"/>
          </a:xfrm>
          <a:prstGeom prst="rect">
            <a:avLst/>
          </a:prstGeom>
          <a:noFill/>
          <a:ln/>
        </p:spPr>
        <p:txBody>
          <a:bodyPr wrap="square" rtlCol="0" anchor="ctr"/>
          <a:lstStyle/>
          <a:p>
            <a:pPr algn="ctr" indent="0" marL="0">
              <a:buNone/>
            </a:pPr>
            <a:r>
              <a:rPr lang="en-US" sz="1200" b="1" dirty="0">
                <a:solidFill>
                  <a:srgbClr val="06152B"/>
                </a:solidFill>
                <a:latin typeface="Calibri" pitchFamily="34" charset="0"/>
                <a:ea typeface="Calibri" pitchFamily="34" charset="-122"/>
                <a:cs typeface="Calibri" pitchFamily="34" charset="-120"/>
              </a:rPr>
              <a:t>8b</a:t>
            </a:r>
            <a:endParaRPr lang="en-US" sz="1200" dirty="0"/>
          </a:p>
        </p:txBody>
      </p:sp>
      <p:sp>
        <p:nvSpPr>
          <p:cNvPr id="15" name="Text 13"/>
          <p:cNvSpPr/>
          <p:nvPr/>
        </p:nvSpPr>
        <p:spPr>
          <a:xfrm>
            <a:off x="548640" y="3410712"/>
            <a:ext cx="10972800" cy="320040"/>
          </a:xfrm>
          <a:prstGeom prst="rect">
            <a:avLst/>
          </a:prstGeom>
          <a:noFill/>
          <a:ln/>
        </p:spPr>
        <p:txBody>
          <a:bodyPr wrap="square" rtlCol="0" anchor="ctr"/>
          <a:lstStyle/>
          <a:p>
            <a:pPr indent="0" marL="0">
              <a:buNone/>
            </a:pPr>
            <a:r>
              <a:rPr lang="en-US" sz="1300" i="1" dirty="0">
                <a:solidFill>
                  <a:srgbClr val="5B6B7F"/>
                </a:solidFill>
                <a:latin typeface="Calibri" pitchFamily="34" charset="0"/>
                <a:ea typeface="Calibri" pitchFamily="34" charset="-122"/>
                <a:cs typeface="Calibri" pitchFamily="34" charset="-120"/>
              </a:rPr>
              <a:t>Balanced: 256 opcodes, 256 addressable locations</a:t>
            </a:r>
            <a:endParaRPr lang="en-US" sz="1300" dirty="0"/>
          </a:p>
        </p:txBody>
      </p:sp>
      <p:sp>
        <p:nvSpPr>
          <p:cNvPr id="16" name="Text 14"/>
          <p:cNvSpPr/>
          <p:nvPr/>
        </p:nvSpPr>
        <p:spPr>
          <a:xfrm>
            <a:off x="548640" y="3950208"/>
            <a:ext cx="2560320" cy="457200"/>
          </a:xfrm>
          <a:prstGeom prst="rect">
            <a:avLst/>
          </a:prstGeom>
          <a:noFill/>
          <a:ln/>
        </p:spPr>
        <p:txBody>
          <a:bodyPr wrap="square" rtlCol="0" anchor="ctr"/>
          <a:lstStyle/>
          <a:p>
            <a:pPr indent="0" marL="0">
              <a:buNone/>
            </a:pPr>
            <a:r>
              <a:rPr lang="en-US" sz="1600" b="1" dirty="0">
                <a:solidFill>
                  <a:srgbClr val="06152B"/>
                </a:solidFill>
                <a:latin typeface="Cambria" pitchFamily="34" charset="0"/>
                <a:ea typeface="Cambria" pitchFamily="34" charset="-122"/>
                <a:cs typeface="Cambria" pitchFamily="34" charset="-120"/>
              </a:rPr>
              <a:t>Scenario C</a:t>
            </a:r>
            <a:endParaRPr lang="en-US" sz="1600" dirty="0"/>
          </a:p>
        </p:txBody>
      </p:sp>
      <p:sp>
        <p:nvSpPr>
          <p:cNvPr id="17" name="Shape 15"/>
          <p:cNvSpPr/>
          <p:nvPr/>
        </p:nvSpPr>
        <p:spPr>
          <a:xfrm>
            <a:off x="3291840" y="3931920"/>
            <a:ext cx="6035040" cy="502920"/>
          </a:xfrm>
          <a:prstGeom prst="rect">
            <a:avLst/>
          </a:prstGeom>
          <a:solidFill>
            <a:srgbClr val="0A1F3D"/>
          </a:solidFill>
          <a:ln w="12700">
            <a:solidFill>
              <a:srgbClr val="FFFFFF"/>
            </a:solidFill>
            <a:prstDash val="solid"/>
          </a:ln>
        </p:spPr>
      </p:sp>
      <p:sp>
        <p:nvSpPr>
          <p:cNvPr id="18" name="Text 16"/>
          <p:cNvSpPr/>
          <p:nvPr/>
        </p:nvSpPr>
        <p:spPr>
          <a:xfrm>
            <a:off x="3291840" y="3931920"/>
            <a:ext cx="603504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12b</a:t>
            </a:r>
            <a:endParaRPr lang="en-US" sz="1200" dirty="0"/>
          </a:p>
        </p:txBody>
      </p:sp>
      <p:sp>
        <p:nvSpPr>
          <p:cNvPr id="19" name="Shape 17"/>
          <p:cNvSpPr/>
          <p:nvPr/>
        </p:nvSpPr>
        <p:spPr>
          <a:xfrm>
            <a:off x="9326880" y="3931920"/>
            <a:ext cx="2011680" cy="502920"/>
          </a:xfrm>
          <a:prstGeom prst="rect">
            <a:avLst/>
          </a:prstGeom>
          <a:solidFill>
            <a:srgbClr val="C9A227"/>
          </a:solidFill>
          <a:ln w="12700">
            <a:solidFill>
              <a:srgbClr val="FFFFFF"/>
            </a:solidFill>
            <a:prstDash val="solid"/>
          </a:ln>
        </p:spPr>
      </p:sp>
      <p:sp>
        <p:nvSpPr>
          <p:cNvPr id="20" name="Text 18"/>
          <p:cNvSpPr/>
          <p:nvPr/>
        </p:nvSpPr>
        <p:spPr>
          <a:xfrm>
            <a:off x="9326880" y="3931920"/>
            <a:ext cx="2011680" cy="502920"/>
          </a:xfrm>
          <a:prstGeom prst="rect">
            <a:avLst/>
          </a:prstGeom>
          <a:noFill/>
          <a:ln/>
        </p:spPr>
        <p:txBody>
          <a:bodyPr wrap="square" rtlCol="0" anchor="ctr"/>
          <a:lstStyle/>
          <a:p>
            <a:pPr algn="ctr" indent="0" marL="0">
              <a:buNone/>
            </a:pPr>
            <a:r>
              <a:rPr lang="en-US" sz="1200" b="1" dirty="0">
                <a:solidFill>
                  <a:srgbClr val="06152B"/>
                </a:solidFill>
                <a:latin typeface="Calibri" pitchFamily="34" charset="0"/>
                <a:ea typeface="Calibri" pitchFamily="34" charset="-122"/>
                <a:cs typeface="Calibri" pitchFamily="34" charset="-120"/>
              </a:rPr>
              <a:t>4b</a:t>
            </a:r>
            <a:endParaRPr lang="en-US" sz="1200" dirty="0"/>
          </a:p>
        </p:txBody>
      </p:sp>
      <p:sp>
        <p:nvSpPr>
          <p:cNvPr id="21" name="Text 19"/>
          <p:cNvSpPr/>
          <p:nvPr/>
        </p:nvSpPr>
        <p:spPr>
          <a:xfrm>
            <a:off x="548640" y="4462272"/>
            <a:ext cx="10972800" cy="320040"/>
          </a:xfrm>
          <a:prstGeom prst="rect">
            <a:avLst/>
          </a:prstGeom>
          <a:noFill/>
          <a:ln/>
        </p:spPr>
        <p:txBody>
          <a:bodyPr wrap="square" rtlCol="0" anchor="ctr"/>
          <a:lstStyle/>
          <a:p>
            <a:pPr indent="0" marL="0">
              <a:buNone/>
            </a:pPr>
            <a:r>
              <a:rPr lang="en-US" sz="1300" i="1" dirty="0">
                <a:solidFill>
                  <a:srgbClr val="5B6B7F"/>
                </a:solidFill>
                <a:latin typeface="Calibri" pitchFamily="34" charset="0"/>
                <a:ea typeface="Calibri" pitchFamily="34" charset="-122"/>
                <a:cs typeface="Calibri" pitchFamily="34" charset="-120"/>
              </a:rPr>
              <a:t>Many opcodes (4096 max), tiny address space (16 locations)</a:t>
            </a:r>
            <a:endParaRPr lang="en-US" sz="1300" dirty="0"/>
          </a:p>
        </p:txBody>
      </p:sp>
      <p:sp>
        <p:nvSpPr>
          <p:cNvPr id="22" name="Text 20"/>
          <p:cNvSpPr/>
          <p:nvPr/>
        </p:nvSpPr>
        <p:spPr>
          <a:xfrm>
            <a:off x="548640" y="5212080"/>
            <a:ext cx="9144000" cy="365760"/>
          </a:xfrm>
          <a:prstGeom prst="rect">
            <a:avLst/>
          </a:prstGeom>
          <a:noFill/>
          <a:ln/>
        </p:spPr>
        <p:txBody>
          <a:bodyPr wrap="square" rtlCol="0" anchor="ctr"/>
          <a:lstStyle/>
          <a:p>
            <a:pPr indent="0" marL="0">
              <a:buNone/>
            </a:pPr>
            <a:r>
              <a:rPr lang="en-US" sz="1400" b="1" dirty="0">
                <a:solidFill>
                  <a:srgbClr val="0A1F3D"/>
                </a:solidFill>
              </a:rPr>
              <a:t>Navy = Opcode bits   </a:t>
            </a:r>
            <a:pPr indent="0" marL="0">
              <a:buNone/>
            </a:pPr>
            <a:r>
              <a:rPr lang="en-US" sz="1400" b="1" dirty="0">
                <a:solidFill>
                  <a:srgbClr val="C9A227"/>
                </a:solidFill>
              </a:rPr>
              <a:t>     Gold = Address/Operand bits</a:t>
            </a:r>
            <a:endParaRPr lang="en-US" sz="1400" dirty="0"/>
          </a:p>
        </p:txBody>
      </p:sp>
      <p:sp>
        <p:nvSpPr>
          <p:cNvPr id="23" name="Text 21"/>
          <p:cNvSpPr/>
          <p:nvPr/>
        </p:nvSpPr>
        <p:spPr>
          <a:xfrm>
            <a:off x="548640" y="5623560"/>
            <a:ext cx="10972800" cy="365760"/>
          </a:xfrm>
          <a:prstGeom prst="rect">
            <a:avLst/>
          </a:prstGeom>
          <a:noFill/>
          <a:ln/>
        </p:spPr>
        <p:txBody>
          <a:bodyPr wrap="square"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Fixed total = 16 bits in all three scenarios — only the SPLIT changes</a:t>
            </a:r>
            <a:endParaRPr lang="en-US" sz="1500" dirty="0"/>
          </a:p>
        </p:txBody>
      </p:sp>
      <p:sp>
        <p:nvSpPr>
          <p:cNvPr id="24" name="Text 22"/>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25" name="Text 23"/>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SETTING UP THE PROBLEM</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Worked Example: General Bit-Allocation Formula</a:t>
            </a:r>
            <a:endParaRPr lang="en-US" sz="3000" dirty="0"/>
          </a:p>
        </p:txBody>
      </p:sp>
      <p:pic>
        <p:nvPicPr>
          <p:cNvPr id="4" name="Image 0" descr="/home/claude/instr_formats/icons/chart.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Let total instruction length = L bits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Let opcode field = n bits → maximum distinct opcodes = 2^n</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Let there be k operand fields, each of width m bits (registers or short addresses) → total operand bits = k × m</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Constraint: n + (k × m) = L  (the fields must exactly fill the instruction, assuming no unused bits)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Given any three of {L, n, k, m}, we can always solve for the fourth — this is the standard exam-style problem pattern</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NUMERICAL PROBLEM 1</a:t>
            </a:r>
            <a:endParaRPr lang="en-US" sz="1300" dirty="0"/>
          </a:p>
        </p:txBody>
      </p:sp>
      <p:sp>
        <p:nvSpPr>
          <p:cNvPr id="3" name="Text 1"/>
          <p:cNvSpPr/>
          <p:nvPr/>
        </p:nvSpPr>
        <p:spPr>
          <a:xfrm>
            <a:off x="548640" y="621792"/>
            <a:ext cx="11155680" cy="822960"/>
          </a:xfrm>
          <a:prstGeom prst="rect">
            <a:avLst/>
          </a:prstGeom>
          <a:noFill/>
          <a:ln/>
        </p:spPr>
        <p:txBody>
          <a:bodyPr wrap="square" rtlCol="0" anchor="ctr"/>
          <a:lstStyle/>
          <a:p>
            <a:pPr indent="0" marL="0">
              <a:buNone/>
            </a:pPr>
            <a:r>
              <a:rPr lang="en-US" sz="2600" b="1" dirty="0">
                <a:solidFill>
                  <a:srgbClr val="06152B"/>
                </a:solidFill>
                <a:latin typeface="Cambria" pitchFamily="34" charset="0"/>
                <a:ea typeface="Cambria" pitchFamily="34" charset="-122"/>
                <a:cs typeface="Cambria" pitchFamily="34" charset="-120"/>
              </a:rPr>
              <a:t>Computing Maximum Opcodes from Bit Allocation</a:t>
            </a:r>
            <a:endParaRPr lang="en-US" sz="2600" dirty="0"/>
          </a:p>
        </p:txBody>
      </p:sp>
      <p:pic>
        <p:nvPicPr>
          <p:cNvPr id="4" name="Image 0" descr="/home/claude/instr_formats/icons/code.png">    </p:cNvPr>
          <p:cNvPicPr>
            <a:picLocks noChangeAspect="1"/>
          </p:cNvPicPr>
          <p:nvPr/>
        </p:nvPicPr>
        <p:blipFill>
          <a:blip r:embed="rId1"/>
          <a:stretch>
            <a:fillRect/>
          </a:stretch>
        </p:blipFill>
        <p:spPr>
          <a:xfrm>
            <a:off x="10698480" y="457200"/>
            <a:ext cx="914400" cy="914400"/>
          </a:xfrm>
          <a:prstGeom prst="rect">
            <a:avLst/>
          </a:prstGeom>
        </p:spPr>
      </p:pic>
      <p:sp>
        <p:nvSpPr>
          <p:cNvPr id="5" name="Shape 2"/>
          <p:cNvSpPr/>
          <p:nvPr/>
        </p:nvSpPr>
        <p:spPr>
          <a:xfrm>
            <a:off x="548640" y="1737360"/>
            <a:ext cx="11064240" cy="1463040"/>
          </a:xfrm>
          <a:prstGeom prst="roundRect">
            <a:avLst>
              <a:gd name="adj" fmla="val 5000"/>
            </a:avLst>
          </a:prstGeom>
          <a:solidFill>
            <a:srgbClr val="EAF2FB"/>
          </a:solidFill>
          <a:ln/>
        </p:spPr>
      </p:sp>
      <p:sp>
        <p:nvSpPr>
          <p:cNvPr id="6" name="Text 3"/>
          <p:cNvSpPr/>
          <p:nvPr/>
        </p:nvSpPr>
        <p:spPr>
          <a:xfrm>
            <a:off x="822960" y="1874520"/>
            <a:ext cx="10515600" cy="1234440"/>
          </a:xfrm>
          <a:prstGeom prst="rect">
            <a:avLst/>
          </a:prstGeom>
          <a:noFill/>
          <a:ln/>
        </p:spPr>
        <p:txBody>
          <a:bodyPr wrap="square" rtlCol="0" anchor="t"/>
          <a:lstStyle/>
          <a:p>
            <a:pPr indent="0" marL="0">
              <a:buNone/>
            </a:pPr>
            <a:r>
              <a:rPr lang="en-US" sz="2000" b="1" dirty="0">
                <a:solidFill>
                  <a:srgbClr val="06152B"/>
                </a:solidFill>
                <a:latin typeface="Calibri" pitchFamily="34" charset="0"/>
                <a:ea typeface="Calibri" pitchFamily="34" charset="-122"/>
                <a:cs typeface="Calibri" pitchFamily="34" charset="-120"/>
              </a:rPr>
              <a:t>Problem: </a:t>
            </a:r>
            <a:pPr indent="0" marL="0">
              <a:buNone/>
            </a:pPr>
            <a:r>
              <a:rPr lang="en-US" sz="1800" dirty="0">
                <a:solidFill>
                  <a:srgbClr val="1B2A41"/>
                </a:solidFill>
                <a:latin typeface="Calibri" pitchFamily="34" charset="0"/>
                <a:ea typeface="Calibri" pitchFamily="34" charset="-122"/>
                <a:cs typeface="Calibri" pitchFamily="34" charset="-120"/>
              </a:rPr>
              <a:t>A machine has a 16-bit instruction word. Each instruction has 2 operand fields, and each operand field is 5 bits wide (to address one of 32 registers). What is the maximum number of distinct opcodes this instruction format can support?</a:t>
            </a:r>
            <a:endParaRPr lang="en-US" sz="2000" dirty="0"/>
          </a:p>
        </p:txBody>
      </p:sp>
      <p:sp>
        <p:nvSpPr>
          <p:cNvPr id="7" name="Text 4"/>
          <p:cNvSpPr/>
          <p:nvPr/>
        </p:nvSpPr>
        <p:spPr>
          <a:xfrm>
            <a:off x="548640" y="3429000"/>
            <a:ext cx="10972800" cy="457200"/>
          </a:xfrm>
          <a:prstGeom prst="rect">
            <a:avLst/>
          </a:prstGeom>
          <a:noFill/>
          <a:ln/>
        </p:spPr>
        <p:txBody>
          <a:bodyPr wrap="square" rtlCol="0" anchor="ctr"/>
          <a:lstStyle/>
          <a:p>
            <a:pPr indent="0" marL="0">
              <a:buNone/>
            </a:pPr>
            <a:r>
              <a:rPr lang="en-US" sz="1600" b="1" i="1" dirty="0">
                <a:solidFill>
                  <a:srgbClr val="C9A227"/>
                </a:solidFill>
                <a:latin typeface="Calibri" pitchFamily="34" charset="0"/>
                <a:ea typeface="Calibri" pitchFamily="34" charset="-122"/>
                <a:cs typeface="Calibri" pitchFamily="34" charset="-120"/>
              </a:rPr>
              <a:t>Think about it: which formula from the previous slide applies here?</a:t>
            </a:r>
            <a:endParaRPr lang="en-US" sz="1600" dirty="0"/>
          </a:p>
        </p:txBody>
      </p:sp>
      <p:pic>
        <p:nvPicPr>
          <p:cNvPr id="8" name="Image 1" descr="/home/claude/instr_formats/icons/puzzle.png">    </p:cNvPr>
          <p:cNvPicPr>
            <a:picLocks noChangeAspect="1"/>
          </p:cNvPicPr>
          <p:nvPr/>
        </p:nvPicPr>
        <p:blipFill>
          <a:blip r:embed="rId2"/>
          <a:stretch>
            <a:fillRect/>
          </a:stretch>
        </p:blipFill>
        <p:spPr>
          <a:xfrm>
            <a:off x="5029200" y="4114800"/>
            <a:ext cx="2011680" cy="2011680"/>
          </a:xfrm>
          <a:prstGeom prst="rect">
            <a:avLst/>
          </a:prstGeom>
        </p:spPr>
      </p:pic>
      <p:sp>
        <p:nvSpPr>
          <p:cNvPr id="9" name="Text 5"/>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0" name="Text 6"/>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SOLUTION — PROBLEM 1</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Step-by-Step Walkthrough</a:t>
            </a:r>
            <a:endParaRPr lang="en-US" sz="2800" dirty="0"/>
          </a:p>
        </p:txBody>
      </p:sp>
      <p:sp>
        <p:nvSpPr>
          <p:cNvPr id="4" name="Shape 2"/>
          <p:cNvSpPr/>
          <p:nvPr/>
        </p:nvSpPr>
        <p:spPr>
          <a:xfrm>
            <a:off x="548640" y="1691640"/>
            <a:ext cx="11064240" cy="896112"/>
          </a:xfrm>
          <a:prstGeom prst="roundRect">
            <a:avLst>
              <a:gd name="adj" fmla="val 7143"/>
            </a:avLst>
          </a:prstGeom>
          <a:solidFill>
            <a:srgbClr val="FFFFFF"/>
          </a:solidFill>
          <a:ln w="15240">
            <a:solidFill>
              <a:srgbClr val="DCE6F2"/>
            </a:solidFill>
            <a:prstDash val="solid"/>
          </a:ln>
        </p:spPr>
      </p:sp>
      <p:sp>
        <p:nvSpPr>
          <p:cNvPr id="5" name="Text 3"/>
          <p:cNvSpPr/>
          <p:nvPr/>
        </p:nvSpPr>
        <p:spPr>
          <a:xfrm>
            <a:off x="777240" y="1783080"/>
            <a:ext cx="10515600" cy="365760"/>
          </a:xfrm>
          <a:prstGeom prst="rect">
            <a:avLst/>
          </a:prstGeom>
          <a:noFill/>
          <a:ln/>
        </p:spPr>
        <p:txBody>
          <a:bodyPr wrap="square" rtlCol="0" anchor="ctr"/>
          <a:lstStyle/>
          <a:p>
            <a:pPr indent="0" marL="0">
              <a:buNone/>
            </a:pPr>
            <a:r>
              <a:rPr lang="en-US" sz="1600" b="1" dirty="0">
                <a:solidFill>
                  <a:srgbClr val="0A1F3D"/>
                </a:solidFill>
                <a:latin typeface="Cambria" pitchFamily="34" charset="0"/>
                <a:ea typeface="Cambria" pitchFamily="34" charset="-122"/>
                <a:cs typeface="Cambria" pitchFamily="34" charset="-120"/>
              </a:rPr>
              <a:t>Step 1 — Identify knowns</a:t>
            </a:r>
            <a:endParaRPr lang="en-US" sz="1600" dirty="0"/>
          </a:p>
        </p:txBody>
      </p:sp>
      <p:sp>
        <p:nvSpPr>
          <p:cNvPr id="6" name="Text 4"/>
          <p:cNvSpPr/>
          <p:nvPr/>
        </p:nvSpPr>
        <p:spPr>
          <a:xfrm>
            <a:off x="777240" y="2148840"/>
            <a:ext cx="10515600" cy="384048"/>
          </a:xfrm>
          <a:prstGeom prst="rect">
            <a:avLst/>
          </a:prstGeom>
          <a:noFill/>
          <a:ln/>
        </p:spPr>
        <p:txBody>
          <a:bodyPr wrap="square" rtlCol="0" anchor="ctr"/>
          <a:lstStyle/>
          <a:p>
            <a:pPr indent="0" marL="0">
              <a:buNone/>
            </a:pPr>
            <a:r>
              <a:rPr lang="en-US" sz="1600" dirty="0">
                <a:solidFill>
                  <a:srgbClr val="1B2A41"/>
                </a:solidFill>
                <a:latin typeface="Calibri" pitchFamily="34" charset="0"/>
                <a:ea typeface="Calibri" pitchFamily="34" charset="-122"/>
                <a:cs typeface="Calibri" pitchFamily="34" charset="-120"/>
              </a:rPr>
              <a:t>L = 16 bits (total instruction length),  k = 2 operand fields,  m = 5 bits each</a:t>
            </a:r>
            <a:endParaRPr lang="en-US" sz="1600" dirty="0"/>
          </a:p>
        </p:txBody>
      </p:sp>
      <p:sp>
        <p:nvSpPr>
          <p:cNvPr id="7" name="Shape 5"/>
          <p:cNvSpPr/>
          <p:nvPr/>
        </p:nvSpPr>
        <p:spPr>
          <a:xfrm>
            <a:off x="548640" y="2715768"/>
            <a:ext cx="11064240" cy="896112"/>
          </a:xfrm>
          <a:prstGeom prst="roundRect">
            <a:avLst>
              <a:gd name="adj" fmla="val 7143"/>
            </a:avLst>
          </a:prstGeom>
          <a:solidFill>
            <a:srgbClr val="FFFFFF"/>
          </a:solidFill>
          <a:ln w="15240">
            <a:solidFill>
              <a:srgbClr val="DCE6F2"/>
            </a:solidFill>
            <a:prstDash val="solid"/>
          </a:ln>
        </p:spPr>
      </p:sp>
      <p:sp>
        <p:nvSpPr>
          <p:cNvPr id="8" name="Text 6"/>
          <p:cNvSpPr/>
          <p:nvPr/>
        </p:nvSpPr>
        <p:spPr>
          <a:xfrm>
            <a:off x="777240" y="2807208"/>
            <a:ext cx="10515600" cy="365760"/>
          </a:xfrm>
          <a:prstGeom prst="rect">
            <a:avLst/>
          </a:prstGeom>
          <a:noFill/>
          <a:ln/>
        </p:spPr>
        <p:txBody>
          <a:bodyPr wrap="square" rtlCol="0" anchor="ctr"/>
          <a:lstStyle/>
          <a:p>
            <a:pPr indent="0" marL="0">
              <a:buNone/>
            </a:pPr>
            <a:r>
              <a:rPr lang="en-US" sz="1600" b="1" dirty="0">
                <a:solidFill>
                  <a:srgbClr val="0A1F3D"/>
                </a:solidFill>
                <a:latin typeface="Cambria" pitchFamily="34" charset="0"/>
                <a:ea typeface="Cambria" pitchFamily="34" charset="-122"/>
                <a:cs typeface="Cambria" pitchFamily="34" charset="-120"/>
              </a:rPr>
              <a:t>Step 2 — Compute total operand bits</a:t>
            </a:r>
            <a:endParaRPr lang="en-US" sz="1600" dirty="0"/>
          </a:p>
        </p:txBody>
      </p:sp>
      <p:sp>
        <p:nvSpPr>
          <p:cNvPr id="9" name="Text 7"/>
          <p:cNvSpPr/>
          <p:nvPr/>
        </p:nvSpPr>
        <p:spPr>
          <a:xfrm>
            <a:off x="777240" y="3172968"/>
            <a:ext cx="10515600" cy="384048"/>
          </a:xfrm>
          <a:prstGeom prst="rect">
            <a:avLst/>
          </a:prstGeom>
          <a:noFill/>
          <a:ln/>
        </p:spPr>
        <p:txBody>
          <a:bodyPr wrap="square" rtlCol="0" anchor="ctr"/>
          <a:lstStyle/>
          <a:p>
            <a:pPr indent="0" marL="0">
              <a:buNone/>
            </a:pPr>
            <a:r>
              <a:rPr lang="en-US" sz="1600" dirty="0">
                <a:solidFill>
                  <a:srgbClr val="1B2A41"/>
                </a:solidFill>
                <a:latin typeface="Calibri" pitchFamily="34" charset="0"/>
                <a:ea typeface="Calibri" pitchFamily="34" charset="-122"/>
                <a:cs typeface="Calibri" pitchFamily="34" charset="-120"/>
              </a:rPr>
              <a:t>k × m = 2 × 5 = 10 bits used by operands</a:t>
            </a:r>
            <a:endParaRPr lang="en-US" sz="1600" dirty="0"/>
          </a:p>
        </p:txBody>
      </p:sp>
      <p:sp>
        <p:nvSpPr>
          <p:cNvPr id="10" name="Shape 8"/>
          <p:cNvSpPr/>
          <p:nvPr/>
        </p:nvSpPr>
        <p:spPr>
          <a:xfrm>
            <a:off x="548640" y="3739896"/>
            <a:ext cx="11064240" cy="896112"/>
          </a:xfrm>
          <a:prstGeom prst="roundRect">
            <a:avLst>
              <a:gd name="adj" fmla="val 7143"/>
            </a:avLst>
          </a:prstGeom>
          <a:solidFill>
            <a:srgbClr val="FFFFFF"/>
          </a:solidFill>
          <a:ln w="15240">
            <a:solidFill>
              <a:srgbClr val="DCE6F2"/>
            </a:solidFill>
            <a:prstDash val="solid"/>
          </a:ln>
        </p:spPr>
      </p:sp>
      <p:sp>
        <p:nvSpPr>
          <p:cNvPr id="11" name="Text 9"/>
          <p:cNvSpPr/>
          <p:nvPr/>
        </p:nvSpPr>
        <p:spPr>
          <a:xfrm>
            <a:off x="777240" y="3831336"/>
            <a:ext cx="10515600" cy="365760"/>
          </a:xfrm>
          <a:prstGeom prst="rect">
            <a:avLst/>
          </a:prstGeom>
          <a:noFill/>
          <a:ln/>
        </p:spPr>
        <p:txBody>
          <a:bodyPr wrap="square" rtlCol="0" anchor="ctr"/>
          <a:lstStyle/>
          <a:p>
            <a:pPr indent="0" marL="0">
              <a:buNone/>
            </a:pPr>
            <a:r>
              <a:rPr lang="en-US" sz="1600" b="1" dirty="0">
                <a:solidFill>
                  <a:srgbClr val="0A1F3D"/>
                </a:solidFill>
                <a:latin typeface="Cambria" pitchFamily="34" charset="0"/>
                <a:ea typeface="Cambria" pitchFamily="34" charset="-122"/>
                <a:cs typeface="Cambria" pitchFamily="34" charset="-120"/>
              </a:rPr>
              <a:t>Step 3 — Apply the formula n + (k×m) = L</a:t>
            </a:r>
            <a:endParaRPr lang="en-US" sz="1600" dirty="0"/>
          </a:p>
        </p:txBody>
      </p:sp>
      <p:sp>
        <p:nvSpPr>
          <p:cNvPr id="12" name="Text 10"/>
          <p:cNvSpPr/>
          <p:nvPr/>
        </p:nvSpPr>
        <p:spPr>
          <a:xfrm>
            <a:off x="777240" y="4197096"/>
            <a:ext cx="10515600" cy="384048"/>
          </a:xfrm>
          <a:prstGeom prst="rect">
            <a:avLst/>
          </a:prstGeom>
          <a:noFill/>
          <a:ln/>
        </p:spPr>
        <p:txBody>
          <a:bodyPr wrap="square" rtlCol="0" anchor="ctr"/>
          <a:lstStyle/>
          <a:p>
            <a:pPr indent="0" marL="0">
              <a:buNone/>
            </a:pPr>
            <a:r>
              <a:rPr lang="en-US" sz="1600" dirty="0">
                <a:solidFill>
                  <a:srgbClr val="1B2A41"/>
                </a:solidFill>
                <a:latin typeface="Calibri" pitchFamily="34" charset="0"/>
                <a:ea typeface="Calibri" pitchFamily="34" charset="-122"/>
                <a:cs typeface="Calibri" pitchFamily="34" charset="-120"/>
              </a:rPr>
              <a:t>n = L − (k × m) = 16 − 10 = 6 bits available for opcode</a:t>
            </a:r>
            <a:endParaRPr lang="en-US" sz="1600" dirty="0"/>
          </a:p>
        </p:txBody>
      </p:sp>
      <p:sp>
        <p:nvSpPr>
          <p:cNvPr id="13" name="Shape 11"/>
          <p:cNvSpPr/>
          <p:nvPr/>
        </p:nvSpPr>
        <p:spPr>
          <a:xfrm>
            <a:off x="548640" y="4764024"/>
            <a:ext cx="11064240" cy="896112"/>
          </a:xfrm>
          <a:prstGeom prst="roundRect">
            <a:avLst>
              <a:gd name="adj" fmla="val 7143"/>
            </a:avLst>
          </a:prstGeom>
          <a:solidFill>
            <a:srgbClr val="FFFFFF"/>
          </a:solidFill>
          <a:ln w="15240">
            <a:solidFill>
              <a:srgbClr val="DCE6F2"/>
            </a:solidFill>
            <a:prstDash val="solid"/>
          </a:ln>
        </p:spPr>
      </p:sp>
      <p:sp>
        <p:nvSpPr>
          <p:cNvPr id="14" name="Text 12"/>
          <p:cNvSpPr/>
          <p:nvPr/>
        </p:nvSpPr>
        <p:spPr>
          <a:xfrm>
            <a:off x="777240" y="4855464"/>
            <a:ext cx="10515600" cy="365760"/>
          </a:xfrm>
          <a:prstGeom prst="rect">
            <a:avLst/>
          </a:prstGeom>
          <a:noFill/>
          <a:ln/>
        </p:spPr>
        <p:txBody>
          <a:bodyPr wrap="square" rtlCol="0" anchor="ctr"/>
          <a:lstStyle/>
          <a:p>
            <a:pPr indent="0" marL="0">
              <a:buNone/>
            </a:pPr>
            <a:r>
              <a:rPr lang="en-US" sz="1600" b="1" dirty="0">
                <a:solidFill>
                  <a:srgbClr val="0A1F3D"/>
                </a:solidFill>
                <a:latin typeface="Cambria" pitchFamily="34" charset="0"/>
                <a:ea typeface="Cambria" pitchFamily="34" charset="-122"/>
                <a:cs typeface="Cambria" pitchFamily="34" charset="-120"/>
              </a:rPr>
              <a:t>Step 4 — Compute maximum opcodes</a:t>
            </a:r>
            <a:endParaRPr lang="en-US" sz="1600" dirty="0"/>
          </a:p>
        </p:txBody>
      </p:sp>
      <p:sp>
        <p:nvSpPr>
          <p:cNvPr id="15" name="Text 13"/>
          <p:cNvSpPr/>
          <p:nvPr/>
        </p:nvSpPr>
        <p:spPr>
          <a:xfrm>
            <a:off x="777240" y="5221224"/>
            <a:ext cx="10515600" cy="384048"/>
          </a:xfrm>
          <a:prstGeom prst="rect">
            <a:avLst/>
          </a:prstGeom>
          <a:noFill/>
          <a:ln/>
        </p:spPr>
        <p:txBody>
          <a:bodyPr wrap="square" rtlCol="0" anchor="ctr"/>
          <a:lstStyle/>
          <a:p>
            <a:pPr indent="0" marL="0">
              <a:buNone/>
            </a:pPr>
            <a:r>
              <a:rPr lang="en-US" sz="1600" dirty="0">
                <a:solidFill>
                  <a:srgbClr val="1B2A41"/>
                </a:solidFill>
                <a:latin typeface="Calibri" pitchFamily="34" charset="0"/>
                <a:ea typeface="Calibri" pitchFamily="34" charset="-122"/>
                <a:cs typeface="Calibri" pitchFamily="34" charset="-120"/>
              </a:rPr>
              <a:t>Maximum opcodes = 2^n = 2^6 = 64 distinct instructions</a:t>
            </a:r>
            <a:endParaRPr lang="en-US" sz="1600" dirty="0"/>
          </a:p>
        </p:txBody>
      </p:sp>
      <p:sp>
        <p:nvSpPr>
          <p:cNvPr id="16" name="Shape 14"/>
          <p:cNvSpPr/>
          <p:nvPr/>
        </p:nvSpPr>
        <p:spPr>
          <a:xfrm>
            <a:off x="548640" y="5879592"/>
            <a:ext cx="11064240" cy="640080"/>
          </a:xfrm>
          <a:prstGeom prst="roundRect">
            <a:avLst>
              <a:gd name="adj" fmla="val 10000"/>
            </a:avLst>
          </a:prstGeom>
          <a:solidFill>
            <a:srgbClr val="0A1F3D"/>
          </a:solidFill>
          <a:ln/>
        </p:spPr>
      </p:sp>
      <p:sp>
        <p:nvSpPr>
          <p:cNvPr id="17" name="Text 15"/>
          <p:cNvSpPr/>
          <p:nvPr/>
        </p:nvSpPr>
        <p:spPr>
          <a:xfrm>
            <a:off x="777240" y="5879592"/>
            <a:ext cx="10515600" cy="640080"/>
          </a:xfrm>
          <a:prstGeom prst="rect">
            <a:avLst/>
          </a:prstGeom>
          <a:noFill/>
          <a:ln/>
        </p:spPr>
        <p:txBody>
          <a:bodyPr wrap="square"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Answer: This format supports a maximum of 64 distinct opcodes.</a:t>
            </a:r>
            <a:endParaRPr lang="en-US" sz="1800" dirty="0"/>
          </a:p>
        </p:txBody>
      </p:sp>
      <p:sp>
        <p:nvSpPr>
          <p:cNvPr id="18" name="Text 16"/>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9" name="Text 17"/>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CORE CONCEPT 4</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Variable-Length Instructions — The Concept</a:t>
            </a:r>
            <a:endParaRPr lang="en-US" sz="3000" dirty="0"/>
          </a:p>
        </p:txBody>
      </p:sp>
      <p:pic>
        <p:nvPicPr>
          <p:cNvPr id="4" name="Image 0" descr="/home/claude/instr_formats/icons/expand.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 variable-length instruction format allows different instructions to occupy DIFFERENT numbers of bytes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Simple instructions (e.g., NOP, register increment) use very few bytes; complex instructions (e.g., an operation with a large immediate constant and a memory addressing mode) use more bytes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The decoder must read part of the instruction first (often just the first byte or two) to determine how many MORE bytes to fetch</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This design prioritizes CODE DENSITY — using memory efficiently — over decode simplicity</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Classic example: the x86 / x86-64 instruction set, where instructions range from 1 byte to 15 bytes</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HISTORICAL &amp; PRACTICAL REASONS</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Why Variable-Length Formats Exist</a:t>
            </a:r>
            <a:endParaRPr lang="en-US" sz="3000" dirty="0"/>
          </a:p>
        </p:txBody>
      </p:sp>
      <p:pic>
        <p:nvPicPr>
          <p:cNvPr id="4" name="Image 0" descr="/home/claude/instr_formats/icons/lightbulb.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Memory was historically expensive — CISC designers (1970s-80s) wanted to pack more logical work into fewer bytes of memory</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Rich instruction sets: CISC processors support many complex addressing modes and operations, which naturally need different bit-widths to encode</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Backward compatibility — x86 has grown its instruction set for over 40 years while keeping old, shorter instructions valid, forcing a variable-length approach</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Trade-off accepted: more complex, multi-stage instruction decoders (with pre-decode / length-decode stages) in exchange for smaller compiled program size</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x86: Variable-Length in Practice</a:t>
            </a:r>
            <a:endParaRPr lang="en-US" sz="2800" dirty="0"/>
          </a:p>
        </p:txBody>
      </p:sp>
      <p:sp>
        <p:nvSpPr>
          <p:cNvPr id="4" name="Shape 2"/>
          <p:cNvSpPr/>
          <p:nvPr/>
        </p:nvSpPr>
        <p:spPr>
          <a:xfrm>
            <a:off x="548640" y="1828800"/>
            <a:ext cx="11064240" cy="502920"/>
          </a:xfrm>
          <a:prstGeom prst="rect">
            <a:avLst/>
          </a:prstGeom>
          <a:solidFill>
            <a:srgbClr val="0A1F3D"/>
          </a:solidFill>
          <a:ln/>
        </p:spPr>
      </p:sp>
      <p:sp>
        <p:nvSpPr>
          <p:cNvPr id="5" name="Text 3"/>
          <p:cNvSpPr/>
          <p:nvPr/>
        </p:nvSpPr>
        <p:spPr>
          <a:xfrm>
            <a:off x="731520" y="1828800"/>
            <a:ext cx="384048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Instruction</a:t>
            </a:r>
            <a:endParaRPr lang="en-US" sz="1500" dirty="0"/>
          </a:p>
        </p:txBody>
      </p:sp>
      <p:sp>
        <p:nvSpPr>
          <p:cNvPr id="6" name="Text 4"/>
          <p:cNvSpPr/>
          <p:nvPr/>
        </p:nvSpPr>
        <p:spPr>
          <a:xfrm>
            <a:off x="4663440" y="1828800"/>
            <a:ext cx="17373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Length</a:t>
            </a:r>
            <a:endParaRPr lang="en-US" sz="1500" dirty="0"/>
          </a:p>
        </p:txBody>
      </p:sp>
      <p:sp>
        <p:nvSpPr>
          <p:cNvPr id="7" name="Text 5"/>
          <p:cNvSpPr/>
          <p:nvPr/>
        </p:nvSpPr>
        <p:spPr>
          <a:xfrm>
            <a:off x="6492240" y="1828800"/>
            <a:ext cx="4937760"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Why</a:t>
            </a:r>
            <a:endParaRPr lang="en-US" sz="1500" dirty="0"/>
          </a:p>
        </p:txBody>
      </p:sp>
      <p:sp>
        <p:nvSpPr>
          <p:cNvPr id="8" name="Shape 6"/>
          <p:cNvSpPr/>
          <p:nvPr/>
        </p:nvSpPr>
        <p:spPr>
          <a:xfrm>
            <a:off x="548640" y="2331720"/>
            <a:ext cx="11064240" cy="777240"/>
          </a:xfrm>
          <a:prstGeom prst="rect">
            <a:avLst/>
          </a:prstGeom>
          <a:solidFill>
            <a:srgbClr val="EAF2FB"/>
          </a:solidFill>
          <a:ln w="9525">
            <a:solidFill>
              <a:srgbClr val="DCE6F2"/>
            </a:solidFill>
            <a:prstDash val="solid"/>
          </a:ln>
        </p:spPr>
      </p:sp>
      <p:sp>
        <p:nvSpPr>
          <p:cNvPr id="9" name="Text 7"/>
          <p:cNvSpPr/>
          <p:nvPr/>
        </p:nvSpPr>
        <p:spPr>
          <a:xfrm>
            <a:off x="731520" y="2331720"/>
            <a:ext cx="3840480" cy="777240"/>
          </a:xfrm>
          <a:prstGeom prst="rect">
            <a:avLst/>
          </a:prstGeom>
          <a:noFill/>
          <a:ln/>
        </p:spPr>
        <p:txBody>
          <a:bodyPr wrap="square" rtlCol="0" anchor="ctr"/>
          <a:lstStyle/>
          <a:p>
            <a:pPr indent="0" marL="0">
              <a:buNone/>
            </a:pPr>
            <a:r>
              <a:rPr lang="en-US" sz="1400" b="1" dirty="0">
                <a:solidFill>
                  <a:srgbClr val="06152B"/>
                </a:solidFill>
                <a:latin typeface="Consolas" pitchFamily="34" charset="0"/>
                <a:ea typeface="Consolas" pitchFamily="34" charset="-122"/>
                <a:cs typeface="Consolas" pitchFamily="34" charset="-120"/>
              </a:rPr>
              <a:t>NOP</a:t>
            </a:r>
            <a:endParaRPr lang="en-US" sz="1400" dirty="0"/>
          </a:p>
        </p:txBody>
      </p:sp>
      <p:sp>
        <p:nvSpPr>
          <p:cNvPr id="10" name="Text 8"/>
          <p:cNvSpPr/>
          <p:nvPr/>
        </p:nvSpPr>
        <p:spPr>
          <a:xfrm>
            <a:off x="4663440" y="2331720"/>
            <a:ext cx="1737360" cy="77724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1 byte</a:t>
            </a:r>
            <a:endParaRPr lang="en-US" sz="1400" dirty="0"/>
          </a:p>
        </p:txBody>
      </p:sp>
      <p:sp>
        <p:nvSpPr>
          <p:cNvPr id="11" name="Text 9"/>
          <p:cNvSpPr/>
          <p:nvPr/>
        </p:nvSpPr>
        <p:spPr>
          <a:xfrm>
            <a:off x="6492240" y="2331720"/>
            <a:ext cx="4937760" cy="777240"/>
          </a:xfrm>
          <a:prstGeom prst="rect">
            <a:avLst/>
          </a:prstGeom>
          <a:noFill/>
          <a:ln/>
        </p:spPr>
        <p:txBody>
          <a:bodyPr wrap="square" rtlCol="0" anchor="ctr"/>
          <a:lstStyle/>
          <a:p>
            <a:pPr indent="0" marL="0">
              <a:buNone/>
            </a:pPr>
            <a:r>
              <a:rPr lang="en-US" sz="1300" dirty="0">
                <a:solidFill>
                  <a:srgbClr val="1B2A41"/>
                </a:solidFill>
                <a:latin typeface="Calibri" pitchFamily="34" charset="0"/>
                <a:ea typeface="Calibri" pitchFamily="34" charset="-122"/>
                <a:cs typeface="Calibri" pitchFamily="34" charset="-120"/>
              </a:rPr>
              <a:t>Does nothing — smallest possible instruction</a:t>
            </a:r>
            <a:endParaRPr lang="en-US" sz="1300" dirty="0"/>
          </a:p>
        </p:txBody>
      </p:sp>
      <p:sp>
        <p:nvSpPr>
          <p:cNvPr id="12" name="Shape 10"/>
          <p:cNvSpPr/>
          <p:nvPr/>
        </p:nvSpPr>
        <p:spPr>
          <a:xfrm>
            <a:off x="548640" y="3108960"/>
            <a:ext cx="11064240" cy="777240"/>
          </a:xfrm>
          <a:prstGeom prst="rect">
            <a:avLst/>
          </a:prstGeom>
          <a:solidFill>
            <a:srgbClr val="FFFFFF"/>
          </a:solidFill>
          <a:ln w="9525">
            <a:solidFill>
              <a:srgbClr val="DCE6F2"/>
            </a:solidFill>
            <a:prstDash val="solid"/>
          </a:ln>
        </p:spPr>
      </p:sp>
      <p:sp>
        <p:nvSpPr>
          <p:cNvPr id="13" name="Text 11"/>
          <p:cNvSpPr/>
          <p:nvPr/>
        </p:nvSpPr>
        <p:spPr>
          <a:xfrm>
            <a:off x="731520" y="3108960"/>
            <a:ext cx="3840480" cy="777240"/>
          </a:xfrm>
          <a:prstGeom prst="rect">
            <a:avLst/>
          </a:prstGeom>
          <a:noFill/>
          <a:ln/>
        </p:spPr>
        <p:txBody>
          <a:bodyPr wrap="square" rtlCol="0" anchor="ctr"/>
          <a:lstStyle/>
          <a:p>
            <a:pPr indent="0" marL="0">
              <a:buNone/>
            </a:pPr>
            <a:r>
              <a:rPr lang="en-US" sz="1400" b="1" dirty="0">
                <a:solidFill>
                  <a:srgbClr val="06152B"/>
                </a:solidFill>
                <a:latin typeface="Consolas" pitchFamily="34" charset="0"/>
                <a:ea typeface="Consolas" pitchFamily="34" charset="-122"/>
                <a:cs typeface="Consolas" pitchFamily="34" charset="-120"/>
              </a:rPr>
              <a:t>INC EAX</a:t>
            </a:r>
            <a:endParaRPr lang="en-US" sz="1400" dirty="0"/>
          </a:p>
        </p:txBody>
      </p:sp>
      <p:sp>
        <p:nvSpPr>
          <p:cNvPr id="14" name="Text 12"/>
          <p:cNvSpPr/>
          <p:nvPr/>
        </p:nvSpPr>
        <p:spPr>
          <a:xfrm>
            <a:off x="4663440" y="3108960"/>
            <a:ext cx="1737360" cy="77724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1–2 bytes</a:t>
            </a:r>
            <a:endParaRPr lang="en-US" sz="1400" dirty="0"/>
          </a:p>
        </p:txBody>
      </p:sp>
      <p:sp>
        <p:nvSpPr>
          <p:cNvPr id="15" name="Text 13"/>
          <p:cNvSpPr/>
          <p:nvPr/>
        </p:nvSpPr>
        <p:spPr>
          <a:xfrm>
            <a:off x="6492240" y="3108960"/>
            <a:ext cx="4937760" cy="777240"/>
          </a:xfrm>
          <a:prstGeom prst="rect">
            <a:avLst/>
          </a:prstGeom>
          <a:noFill/>
          <a:ln/>
        </p:spPr>
        <p:txBody>
          <a:bodyPr wrap="square" rtlCol="0" anchor="ctr"/>
          <a:lstStyle/>
          <a:p>
            <a:pPr indent="0" marL="0">
              <a:buNone/>
            </a:pPr>
            <a:r>
              <a:rPr lang="en-US" sz="1300" dirty="0">
                <a:solidFill>
                  <a:srgbClr val="1B2A41"/>
                </a:solidFill>
                <a:latin typeface="Calibri" pitchFamily="34" charset="0"/>
                <a:ea typeface="Calibri" pitchFamily="34" charset="-122"/>
                <a:cs typeface="Calibri" pitchFamily="34" charset="-120"/>
              </a:rPr>
              <a:t>Increment a register — very common, kept short</a:t>
            </a:r>
            <a:endParaRPr lang="en-US" sz="1300" dirty="0"/>
          </a:p>
        </p:txBody>
      </p:sp>
      <p:sp>
        <p:nvSpPr>
          <p:cNvPr id="16" name="Shape 14"/>
          <p:cNvSpPr/>
          <p:nvPr/>
        </p:nvSpPr>
        <p:spPr>
          <a:xfrm>
            <a:off x="548640" y="3886200"/>
            <a:ext cx="11064240" cy="777240"/>
          </a:xfrm>
          <a:prstGeom prst="rect">
            <a:avLst/>
          </a:prstGeom>
          <a:solidFill>
            <a:srgbClr val="EAF2FB"/>
          </a:solidFill>
          <a:ln w="9525">
            <a:solidFill>
              <a:srgbClr val="DCE6F2"/>
            </a:solidFill>
            <a:prstDash val="solid"/>
          </a:ln>
        </p:spPr>
      </p:sp>
      <p:sp>
        <p:nvSpPr>
          <p:cNvPr id="17" name="Text 15"/>
          <p:cNvSpPr/>
          <p:nvPr/>
        </p:nvSpPr>
        <p:spPr>
          <a:xfrm>
            <a:off x="731520" y="3886200"/>
            <a:ext cx="3840480" cy="777240"/>
          </a:xfrm>
          <a:prstGeom prst="rect">
            <a:avLst/>
          </a:prstGeom>
          <a:noFill/>
          <a:ln/>
        </p:spPr>
        <p:txBody>
          <a:bodyPr wrap="square" rtlCol="0" anchor="ctr"/>
          <a:lstStyle/>
          <a:p>
            <a:pPr indent="0" marL="0">
              <a:buNone/>
            </a:pPr>
            <a:r>
              <a:rPr lang="en-US" sz="1400" b="1" dirty="0">
                <a:solidFill>
                  <a:srgbClr val="06152B"/>
                </a:solidFill>
                <a:latin typeface="Consolas" pitchFamily="34" charset="0"/>
                <a:ea typeface="Consolas" pitchFamily="34" charset="-122"/>
                <a:cs typeface="Consolas" pitchFamily="34" charset="-120"/>
              </a:rPr>
              <a:t>MOV EAX, 0x1234</a:t>
            </a:r>
            <a:endParaRPr lang="en-US" sz="1400" dirty="0"/>
          </a:p>
        </p:txBody>
      </p:sp>
      <p:sp>
        <p:nvSpPr>
          <p:cNvPr id="18" name="Text 16"/>
          <p:cNvSpPr/>
          <p:nvPr/>
        </p:nvSpPr>
        <p:spPr>
          <a:xfrm>
            <a:off x="4663440" y="3886200"/>
            <a:ext cx="1737360" cy="77724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5 bytes</a:t>
            </a:r>
            <a:endParaRPr lang="en-US" sz="1400" dirty="0"/>
          </a:p>
        </p:txBody>
      </p:sp>
      <p:sp>
        <p:nvSpPr>
          <p:cNvPr id="19" name="Text 17"/>
          <p:cNvSpPr/>
          <p:nvPr/>
        </p:nvSpPr>
        <p:spPr>
          <a:xfrm>
            <a:off x="6492240" y="3886200"/>
            <a:ext cx="4937760" cy="777240"/>
          </a:xfrm>
          <a:prstGeom prst="rect">
            <a:avLst/>
          </a:prstGeom>
          <a:noFill/>
          <a:ln/>
        </p:spPr>
        <p:txBody>
          <a:bodyPr wrap="square" rtlCol="0" anchor="ctr"/>
          <a:lstStyle/>
          <a:p>
            <a:pPr indent="0" marL="0">
              <a:buNone/>
            </a:pPr>
            <a:r>
              <a:rPr lang="en-US" sz="1300" dirty="0">
                <a:solidFill>
                  <a:srgbClr val="1B2A41"/>
                </a:solidFill>
                <a:latin typeface="Calibri" pitchFamily="34" charset="0"/>
                <a:ea typeface="Calibri" pitchFamily="34" charset="-122"/>
                <a:cs typeface="Calibri" pitchFamily="34" charset="-120"/>
              </a:rPr>
              <a:t>Move a 32-bit immediate constant into a register</a:t>
            </a:r>
            <a:endParaRPr lang="en-US" sz="1300" dirty="0"/>
          </a:p>
        </p:txBody>
      </p:sp>
      <p:sp>
        <p:nvSpPr>
          <p:cNvPr id="20" name="Shape 18"/>
          <p:cNvSpPr/>
          <p:nvPr/>
        </p:nvSpPr>
        <p:spPr>
          <a:xfrm>
            <a:off x="548640" y="4663440"/>
            <a:ext cx="11064240" cy="777240"/>
          </a:xfrm>
          <a:prstGeom prst="rect">
            <a:avLst/>
          </a:prstGeom>
          <a:solidFill>
            <a:srgbClr val="FFFFFF"/>
          </a:solidFill>
          <a:ln w="9525">
            <a:solidFill>
              <a:srgbClr val="DCE6F2"/>
            </a:solidFill>
            <a:prstDash val="solid"/>
          </a:ln>
        </p:spPr>
      </p:sp>
      <p:sp>
        <p:nvSpPr>
          <p:cNvPr id="21" name="Text 19"/>
          <p:cNvSpPr/>
          <p:nvPr/>
        </p:nvSpPr>
        <p:spPr>
          <a:xfrm>
            <a:off x="731520" y="4663440"/>
            <a:ext cx="3840480" cy="777240"/>
          </a:xfrm>
          <a:prstGeom prst="rect">
            <a:avLst/>
          </a:prstGeom>
          <a:noFill/>
          <a:ln/>
        </p:spPr>
        <p:txBody>
          <a:bodyPr wrap="square" rtlCol="0" anchor="ctr"/>
          <a:lstStyle/>
          <a:p>
            <a:pPr indent="0" marL="0">
              <a:buNone/>
            </a:pPr>
            <a:r>
              <a:rPr lang="en-US" sz="1400" b="1" dirty="0">
                <a:solidFill>
                  <a:srgbClr val="06152B"/>
                </a:solidFill>
                <a:latin typeface="Consolas" pitchFamily="34" charset="0"/>
                <a:ea typeface="Consolas" pitchFamily="34" charset="-122"/>
                <a:cs typeface="Consolas" pitchFamily="34" charset="-120"/>
              </a:rPr>
              <a:t>ADD [EBX+ECX*4+0x10], EAX</a:t>
            </a:r>
            <a:endParaRPr lang="en-US" sz="1400" dirty="0"/>
          </a:p>
        </p:txBody>
      </p:sp>
      <p:sp>
        <p:nvSpPr>
          <p:cNvPr id="22" name="Text 20"/>
          <p:cNvSpPr/>
          <p:nvPr/>
        </p:nvSpPr>
        <p:spPr>
          <a:xfrm>
            <a:off x="4663440" y="4663440"/>
            <a:ext cx="1737360" cy="77724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up to 7 bytes</a:t>
            </a:r>
            <a:endParaRPr lang="en-US" sz="1400" dirty="0"/>
          </a:p>
        </p:txBody>
      </p:sp>
      <p:sp>
        <p:nvSpPr>
          <p:cNvPr id="23" name="Text 21"/>
          <p:cNvSpPr/>
          <p:nvPr/>
        </p:nvSpPr>
        <p:spPr>
          <a:xfrm>
            <a:off x="6492240" y="4663440"/>
            <a:ext cx="4937760" cy="777240"/>
          </a:xfrm>
          <a:prstGeom prst="rect">
            <a:avLst/>
          </a:prstGeom>
          <a:noFill/>
          <a:ln/>
        </p:spPr>
        <p:txBody>
          <a:bodyPr wrap="square" rtlCol="0" anchor="ctr"/>
          <a:lstStyle/>
          <a:p>
            <a:pPr indent="0" marL="0">
              <a:buNone/>
            </a:pPr>
            <a:r>
              <a:rPr lang="en-US" sz="1300" dirty="0">
                <a:solidFill>
                  <a:srgbClr val="1B2A41"/>
                </a:solidFill>
                <a:latin typeface="Calibri" pitchFamily="34" charset="0"/>
                <a:ea typeface="Calibri" pitchFamily="34" charset="-122"/>
                <a:cs typeface="Calibri" pitchFamily="34" charset="-120"/>
              </a:rPr>
              <a:t>Complex memory addressing mode (base+index*scale+displacement)</a:t>
            </a:r>
            <a:endParaRPr lang="en-US" sz="1300" dirty="0"/>
          </a:p>
        </p:txBody>
      </p:sp>
      <p:sp>
        <p:nvSpPr>
          <p:cNvPr id="24" name="Text 22"/>
          <p:cNvSpPr/>
          <p:nvPr/>
        </p:nvSpPr>
        <p:spPr>
          <a:xfrm>
            <a:off x="548640" y="5577840"/>
            <a:ext cx="10972800" cy="457200"/>
          </a:xfrm>
          <a:prstGeom prst="rect">
            <a:avLst/>
          </a:prstGeom>
          <a:noFill/>
          <a:ln/>
        </p:spPr>
        <p:txBody>
          <a:bodyPr wrap="square" rtlCol="0" anchor="ctr"/>
          <a:lstStyle/>
          <a:p>
            <a:pPr indent="0" marL="0">
              <a:buNone/>
            </a:pPr>
            <a:r>
              <a:rPr lang="en-US" sz="1400" i="1" dirty="0">
                <a:solidFill>
                  <a:srgbClr val="5B6B7F"/>
                </a:solidFill>
                <a:latin typeface="Calibri" pitchFamily="34" charset="0"/>
                <a:ea typeface="Calibri" pitchFamily="34" charset="-122"/>
                <a:cs typeface="Calibri" pitchFamily="34" charset="-120"/>
              </a:rPr>
              <a:t>Notice: instruction length grows with complexity of operation and addressing mode used</a:t>
            </a:r>
            <a:endParaRPr lang="en-US" sz="1400" dirty="0"/>
          </a:p>
        </p:txBody>
      </p:sp>
      <p:sp>
        <p:nvSpPr>
          <p:cNvPr id="25" name="Text 2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26" name="Text 2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THE UPSIDE</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Advantages of Variable-Length Instructions</a:t>
            </a:r>
            <a:endParaRPr lang="en-US" sz="3000" dirty="0"/>
          </a:p>
        </p:txBody>
      </p:sp>
      <p:pic>
        <p:nvPicPr>
          <p:cNvPr id="4" name="Image 0" descr="/home/claude/instr_formats/icons/check.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Better code density — programs occupy less memory on average, since simple/common instructions stay short</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Flexibility to support a very large and rich instruction set without forcing every instruction to the width of the most complex one</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Efficient use of immediate values — large constants can be embedded directly when needed, without permanently reserving space in every instruction</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Easier to extend the ISA over time (add new, longer instruction encodings) while preserving old, shorter ones — critical for backward compatibility</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THE TRADE-OFF COST</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Disadvantages &amp; Challenges</a:t>
            </a:r>
            <a:endParaRPr lang="en-US" sz="3000" dirty="0"/>
          </a:p>
        </p:txBody>
      </p:sp>
      <p:pic>
        <p:nvPicPr>
          <p:cNvPr id="4" name="Image 0" descr="/home/claude/instr_formats/icons/warning.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Complex decode hardware — the CPU must first determine an instruction's length before it can be fully decoded, often requiring a dedicated "pre-decode" or "length-decode" pipeline stage</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Harder to pipeline — since instructions are not uniformly sized, the address of the NEXT instruction is not simply "PC + constant"</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Fetching becomes trickier — an instruction might span across a cache line or memory-word boundary, complicating fetch logic</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Historically, this complexity is one reason modern x86 CPUs internally translate variable-length instructions into fixed-length RISC-like micro-operations before execution</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CORE CONCEPT 5</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Expanding Opcode — A Clever Bit-Allocation Technique</a:t>
            </a:r>
            <a:endParaRPr lang="en-US" sz="3000" dirty="0"/>
          </a:p>
        </p:txBody>
      </p:sp>
      <p:pic>
        <p:nvPicPr>
          <p:cNvPr id="4" name="Image 0" descr="/home/claude/instr_formats/icons/network.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Expanding opcode is a technique that allocates DIFFERENT opcode lengths to different instructions within the same total instruction length</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Idea: instructions needing MORE operands get FEWER opcode bits (since operand fields consume more space); instructions needing FEWER operands get MORE opcode bits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This lets an ISA support many 0-operand and 1-operand instructions richly, while still allowing some 2- or 3-operand instructions, all within the same fixed total length</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It is a middle ground between purely fixed-opcode-width formats and fully variable-length formats — commonly seen in some CISC-influenced fixed-length designs</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WORKED EXAMPLE</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Expanding Opcode: A 3-Tier Example</a:t>
            </a:r>
            <a:endParaRPr lang="en-US" sz="2800" dirty="0"/>
          </a:p>
        </p:txBody>
      </p:sp>
      <p:sp>
        <p:nvSpPr>
          <p:cNvPr id="4" name="Text 2"/>
          <p:cNvSpPr/>
          <p:nvPr/>
        </p:nvSpPr>
        <p:spPr>
          <a:xfrm>
            <a:off x="548640" y="1508760"/>
            <a:ext cx="10972800" cy="365760"/>
          </a:xfrm>
          <a:prstGeom prst="rect">
            <a:avLst/>
          </a:prstGeom>
          <a:noFill/>
          <a:ln/>
        </p:spPr>
        <p:txBody>
          <a:bodyPr wrap="square" rtlCol="0" anchor="ctr"/>
          <a:lstStyle/>
          <a:p>
            <a:pPr indent="0" marL="0">
              <a:buNone/>
            </a:pPr>
            <a:r>
              <a:rPr lang="en-US" sz="1600" i="1" dirty="0">
                <a:solidFill>
                  <a:srgbClr val="5B6B7F"/>
                </a:solidFill>
                <a:latin typeface="Calibri" pitchFamily="34" charset="0"/>
                <a:ea typeface="Calibri" pitchFamily="34" charset="-122"/>
                <a:cs typeface="Calibri" pitchFamily="34" charset="-120"/>
              </a:rPr>
              <a:t>Setup: 8-bit total instruction length, operand fields are 3 bits wide</a:t>
            </a:r>
            <a:endParaRPr lang="en-US" sz="1600" dirty="0"/>
          </a:p>
        </p:txBody>
      </p:sp>
      <p:sp>
        <p:nvSpPr>
          <p:cNvPr id="5" name="Shape 3"/>
          <p:cNvSpPr/>
          <p:nvPr/>
        </p:nvSpPr>
        <p:spPr>
          <a:xfrm>
            <a:off x="548640" y="1965960"/>
            <a:ext cx="11064240" cy="1234440"/>
          </a:xfrm>
          <a:prstGeom prst="roundRect">
            <a:avLst>
              <a:gd name="adj" fmla="val 5185"/>
            </a:avLst>
          </a:prstGeom>
          <a:solidFill>
            <a:srgbClr val="EAF2FB"/>
          </a:solidFill>
          <a:ln/>
        </p:spPr>
      </p:sp>
      <p:sp>
        <p:nvSpPr>
          <p:cNvPr id="6" name="Text 4"/>
          <p:cNvSpPr/>
          <p:nvPr/>
        </p:nvSpPr>
        <p:spPr>
          <a:xfrm>
            <a:off x="777240" y="2039112"/>
            <a:ext cx="10515600" cy="320040"/>
          </a:xfrm>
          <a:prstGeom prst="rect">
            <a:avLst/>
          </a:prstGeom>
          <a:noFill/>
          <a:ln/>
        </p:spPr>
        <p:txBody>
          <a:bodyPr wrap="square" rtlCol="0" anchor="ctr"/>
          <a:lstStyle/>
          <a:p>
            <a:pPr indent="0" marL="0">
              <a:buNone/>
            </a:pPr>
            <a:r>
              <a:rPr lang="en-US" sz="1600" b="1" dirty="0">
                <a:solidFill>
                  <a:srgbClr val="0A1F3D"/>
                </a:solidFill>
                <a:latin typeface="Cambria" pitchFamily="34" charset="0"/>
                <a:ea typeface="Cambria" pitchFamily="34" charset="-122"/>
                <a:cs typeface="Cambria" pitchFamily="34" charset="-120"/>
              </a:rPr>
              <a:t>Two-operand instructions</a:t>
            </a:r>
            <a:endParaRPr lang="en-US" sz="1600" dirty="0"/>
          </a:p>
        </p:txBody>
      </p:sp>
      <p:sp>
        <p:nvSpPr>
          <p:cNvPr id="7" name="Text 5"/>
          <p:cNvSpPr/>
          <p:nvPr/>
        </p:nvSpPr>
        <p:spPr>
          <a:xfrm>
            <a:off x="777240" y="2377440"/>
            <a:ext cx="10515600" cy="36576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Opcode: </a:t>
            </a:r>
            <a:pPr indent="0" marL="0">
              <a:buNone/>
            </a:pPr>
            <a:r>
              <a:rPr lang="en-US" sz="1400" dirty="0">
                <a:solidFill>
                  <a:srgbClr val="1B2A41"/>
                </a:solidFill>
                <a:latin typeface="Calibri" pitchFamily="34" charset="0"/>
                <a:ea typeface="Calibri" pitchFamily="34" charset="-122"/>
                <a:cs typeface="Calibri" pitchFamily="34" charset="-120"/>
              </a:rPr>
              <a:t>2-bit opcode    </a:t>
            </a:r>
            <a:pPr indent="0" marL="0">
              <a:buNone/>
            </a:pPr>
            <a:r>
              <a:rPr lang="en-US" sz="1400" b="1" dirty="0">
                <a:solidFill>
                  <a:srgbClr val="C9A227"/>
                </a:solidFill>
                <a:latin typeface="Calibri" pitchFamily="34" charset="0"/>
                <a:ea typeface="Calibri" pitchFamily="34" charset="-122"/>
                <a:cs typeface="Calibri" pitchFamily="34" charset="-120"/>
              </a:rPr>
              <a:t>Operand bits: </a:t>
            </a:r>
            <a:pPr indent="0" marL="0">
              <a:buNone/>
            </a:pPr>
            <a:r>
              <a:rPr lang="en-US" sz="1400" dirty="0">
                <a:solidFill>
                  <a:srgbClr val="1B2A41"/>
                </a:solidFill>
                <a:latin typeface="Calibri" pitchFamily="34" charset="0"/>
                <a:ea typeface="Calibri" pitchFamily="34" charset="-122"/>
                <a:cs typeface="Calibri" pitchFamily="34" charset="-120"/>
              </a:rPr>
              <a:t>3 bits + 3 bits    </a:t>
            </a:r>
            <a:pPr indent="0" marL="0">
              <a:buNone/>
            </a:pPr>
            <a:r>
              <a:rPr lang="en-US" sz="1400" b="1" dirty="0">
                <a:solidFill>
                  <a:srgbClr val="C9A227"/>
                </a:solidFill>
                <a:latin typeface="Calibri" pitchFamily="34" charset="0"/>
                <a:ea typeface="Calibri" pitchFamily="34" charset="-122"/>
                <a:cs typeface="Calibri" pitchFamily="34" charset="-120"/>
              </a:rPr>
              <a:t>Total: </a:t>
            </a:r>
            <a:pPr indent="0" marL="0">
              <a:buNone/>
            </a:pPr>
            <a:r>
              <a:rPr lang="en-US" sz="1400" dirty="0">
                <a:solidFill>
                  <a:srgbClr val="1B2A41"/>
                </a:solidFill>
                <a:latin typeface="Calibri" pitchFamily="34" charset="0"/>
                <a:ea typeface="Calibri" pitchFamily="34" charset="-122"/>
                <a:cs typeface="Calibri" pitchFamily="34" charset="-120"/>
              </a:rPr>
              <a:t>2 + 3 + 3 = 8 bits</a:t>
            </a:r>
            <a:endParaRPr lang="en-US" sz="1400" dirty="0"/>
          </a:p>
        </p:txBody>
      </p:sp>
      <p:sp>
        <p:nvSpPr>
          <p:cNvPr id="8" name="Text 6"/>
          <p:cNvSpPr/>
          <p:nvPr/>
        </p:nvSpPr>
        <p:spPr>
          <a:xfrm>
            <a:off x="777240" y="2770632"/>
            <a:ext cx="10515600" cy="365760"/>
          </a:xfrm>
          <a:prstGeom prst="rect">
            <a:avLst/>
          </a:prstGeom>
          <a:noFill/>
          <a:ln/>
        </p:spPr>
        <p:txBody>
          <a:bodyPr wrap="square" rtlCol="0" anchor="ctr"/>
          <a:lstStyle/>
          <a:p>
            <a:pPr indent="0" marL="0">
              <a:buNone/>
            </a:pPr>
            <a:r>
              <a:rPr lang="en-US" sz="1300" i="1" dirty="0">
                <a:solidFill>
                  <a:srgbClr val="5B6B7F"/>
                </a:solidFill>
                <a:latin typeface="Calibri" pitchFamily="34" charset="0"/>
                <a:ea typeface="Calibri" pitchFamily="34" charset="-122"/>
                <a:cs typeface="Calibri" pitchFamily="34" charset="-120"/>
              </a:rPr>
              <a:t>up to 4 instructions (00, 01, 10 used; 11 = escape)</a:t>
            </a:r>
            <a:endParaRPr lang="en-US" sz="1300" dirty="0"/>
          </a:p>
        </p:txBody>
      </p:sp>
      <p:sp>
        <p:nvSpPr>
          <p:cNvPr id="9" name="Shape 7"/>
          <p:cNvSpPr/>
          <p:nvPr/>
        </p:nvSpPr>
        <p:spPr>
          <a:xfrm>
            <a:off x="548640" y="3291840"/>
            <a:ext cx="11064240" cy="1234440"/>
          </a:xfrm>
          <a:prstGeom prst="roundRect">
            <a:avLst>
              <a:gd name="adj" fmla="val 5185"/>
            </a:avLst>
          </a:prstGeom>
          <a:solidFill>
            <a:srgbClr val="EAF2FB"/>
          </a:solidFill>
          <a:ln/>
        </p:spPr>
      </p:sp>
      <p:sp>
        <p:nvSpPr>
          <p:cNvPr id="10" name="Text 8"/>
          <p:cNvSpPr/>
          <p:nvPr/>
        </p:nvSpPr>
        <p:spPr>
          <a:xfrm>
            <a:off x="777240" y="3364992"/>
            <a:ext cx="10515600" cy="320040"/>
          </a:xfrm>
          <a:prstGeom prst="rect">
            <a:avLst/>
          </a:prstGeom>
          <a:noFill/>
          <a:ln/>
        </p:spPr>
        <p:txBody>
          <a:bodyPr wrap="square" rtlCol="0" anchor="ctr"/>
          <a:lstStyle/>
          <a:p>
            <a:pPr indent="0" marL="0">
              <a:buNone/>
            </a:pPr>
            <a:r>
              <a:rPr lang="en-US" sz="1600" b="1" dirty="0">
                <a:solidFill>
                  <a:srgbClr val="0A1F3D"/>
                </a:solidFill>
                <a:latin typeface="Cambria" pitchFamily="34" charset="0"/>
                <a:ea typeface="Cambria" pitchFamily="34" charset="-122"/>
                <a:cs typeface="Cambria" pitchFamily="34" charset="-120"/>
              </a:rPr>
              <a:t>One-operand instructions</a:t>
            </a:r>
            <a:endParaRPr lang="en-US" sz="1600" dirty="0"/>
          </a:p>
        </p:txBody>
      </p:sp>
      <p:sp>
        <p:nvSpPr>
          <p:cNvPr id="11" name="Text 9"/>
          <p:cNvSpPr/>
          <p:nvPr/>
        </p:nvSpPr>
        <p:spPr>
          <a:xfrm>
            <a:off x="777240" y="3703320"/>
            <a:ext cx="10515600" cy="36576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Opcode: </a:t>
            </a:r>
            <a:pPr indent="0" marL="0">
              <a:buNone/>
            </a:pPr>
            <a:r>
              <a:rPr lang="en-US" sz="1400" dirty="0">
                <a:solidFill>
                  <a:srgbClr val="1B2A41"/>
                </a:solidFill>
                <a:latin typeface="Calibri" pitchFamily="34" charset="0"/>
                <a:ea typeface="Calibri" pitchFamily="34" charset="-122"/>
                <a:cs typeface="Calibri" pitchFamily="34" charset="-120"/>
              </a:rPr>
              <a:t>5-bit opcode (uses escape 11 + 3 more bits)    </a:t>
            </a:r>
            <a:pPr indent="0" marL="0">
              <a:buNone/>
            </a:pPr>
            <a:r>
              <a:rPr lang="en-US" sz="1400" b="1" dirty="0">
                <a:solidFill>
                  <a:srgbClr val="C9A227"/>
                </a:solidFill>
                <a:latin typeface="Calibri" pitchFamily="34" charset="0"/>
                <a:ea typeface="Calibri" pitchFamily="34" charset="-122"/>
                <a:cs typeface="Calibri" pitchFamily="34" charset="-120"/>
              </a:rPr>
              <a:t>Operand bits: </a:t>
            </a:r>
            <a:pPr indent="0" marL="0">
              <a:buNone/>
            </a:pPr>
            <a:r>
              <a:rPr lang="en-US" sz="1400" dirty="0">
                <a:solidFill>
                  <a:srgbClr val="1B2A41"/>
                </a:solidFill>
                <a:latin typeface="Calibri" pitchFamily="34" charset="0"/>
                <a:ea typeface="Calibri" pitchFamily="34" charset="-122"/>
                <a:cs typeface="Calibri" pitchFamily="34" charset="-120"/>
              </a:rPr>
              <a:t>3 bits    </a:t>
            </a:r>
            <a:pPr indent="0" marL="0">
              <a:buNone/>
            </a:pPr>
            <a:r>
              <a:rPr lang="en-US" sz="1400" b="1" dirty="0">
                <a:solidFill>
                  <a:srgbClr val="C9A227"/>
                </a:solidFill>
                <a:latin typeface="Calibri" pitchFamily="34" charset="0"/>
                <a:ea typeface="Calibri" pitchFamily="34" charset="-122"/>
                <a:cs typeface="Calibri" pitchFamily="34" charset="-120"/>
              </a:rPr>
              <a:t>Total: </a:t>
            </a:r>
            <a:pPr indent="0" marL="0">
              <a:buNone/>
            </a:pPr>
            <a:r>
              <a:rPr lang="en-US" sz="1400" dirty="0">
                <a:solidFill>
                  <a:srgbClr val="1B2A41"/>
                </a:solidFill>
                <a:latin typeface="Calibri" pitchFamily="34" charset="0"/>
                <a:ea typeface="Calibri" pitchFamily="34" charset="-122"/>
                <a:cs typeface="Calibri" pitchFamily="34" charset="-120"/>
              </a:rPr>
              <a:t>5 + 3 = 8 bits</a:t>
            </a:r>
            <a:endParaRPr lang="en-US" sz="1400" dirty="0"/>
          </a:p>
        </p:txBody>
      </p:sp>
      <p:sp>
        <p:nvSpPr>
          <p:cNvPr id="12" name="Text 10"/>
          <p:cNvSpPr/>
          <p:nvPr/>
        </p:nvSpPr>
        <p:spPr>
          <a:xfrm>
            <a:off x="777240" y="4096512"/>
            <a:ext cx="10515600" cy="365760"/>
          </a:xfrm>
          <a:prstGeom prst="rect">
            <a:avLst/>
          </a:prstGeom>
          <a:noFill/>
          <a:ln/>
        </p:spPr>
        <p:txBody>
          <a:bodyPr wrap="square" rtlCol="0" anchor="ctr"/>
          <a:lstStyle/>
          <a:p>
            <a:pPr indent="0" marL="0">
              <a:buNone/>
            </a:pPr>
            <a:r>
              <a:rPr lang="en-US" sz="1300" i="1" dirty="0">
                <a:solidFill>
                  <a:srgbClr val="5B6B7F"/>
                </a:solidFill>
                <a:latin typeface="Calibri" pitchFamily="34" charset="0"/>
                <a:ea typeface="Calibri" pitchFamily="34" charset="-122"/>
                <a:cs typeface="Calibri" pitchFamily="34" charset="-120"/>
              </a:rPr>
              <a:t>up to 8 instructions (within the 11xxx escape space, minus 1 more escape)</a:t>
            </a:r>
            <a:endParaRPr lang="en-US" sz="1300" dirty="0"/>
          </a:p>
        </p:txBody>
      </p:sp>
      <p:sp>
        <p:nvSpPr>
          <p:cNvPr id="13" name="Shape 11"/>
          <p:cNvSpPr/>
          <p:nvPr/>
        </p:nvSpPr>
        <p:spPr>
          <a:xfrm>
            <a:off x="548640" y="4617720"/>
            <a:ext cx="11064240" cy="1234440"/>
          </a:xfrm>
          <a:prstGeom prst="roundRect">
            <a:avLst>
              <a:gd name="adj" fmla="val 5185"/>
            </a:avLst>
          </a:prstGeom>
          <a:solidFill>
            <a:srgbClr val="EAF2FB"/>
          </a:solidFill>
          <a:ln/>
        </p:spPr>
      </p:sp>
      <p:sp>
        <p:nvSpPr>
          <p:cNvPr id="14" name="Text 12"/>
          <p:cNvSpPr/>
          <p:nvPr/>
        </p:nvSpPr>
        <p:spPr>
          <a:xfrm>
            <a:off x="777240" y="4690872"/>
            <a:ext cx="10515600" cy="320040"/>
          </a:xfrm>
          <a:prstGeom prst="rect">
            <a:avLst/>
          </a:prstGeom>
          <a:noFill/>
          <a:ln/>
        </p:spPr>
        <p:txBody>
          <a:bodyPr wrap="square" rtlCol="0" anchor="ctr"/>
          <a:lstStyle/>
          <a:p>
            <a:pPr indent="0" marL="0">
              <a:buNone/>
            </a:pPr>
            <a:r>
              <a:rPr lang="en-US" sz="1600" b="1" dirty="0">
                <a:solidFill>
                  <a:srgbClr val="0A1F3D"/>
                </a:solidFill>
                <a:latin typeface="Cambria" pitchFamily="34" charset="0"/>
                <a:ea typeface="Cambria" pitchFamily="34" charset="-122"/>
                <a:cs typeface="Cambria" pitchFamily="34" charset="-120"/>
              </a:rPr>
              <a:t>Zero-operand instructions</a:t>
            </a:r>
            <a:endParaRPr lang="en-US" sz="1600" dirty="0"/>
          </a:p>
        </p:txBody>
      </p:sp>
      <p:sp>
        <p:nvSpPr>
          <p:cNvPr id="15" name="Text 13"/>
          <p:cNvSpPr/>
          <p:nvPr/>
        </p:nvSpPr>
        <p:spPr>
          <a:xfrm>
            <a:off x="777240" y="5029200"/>
            <a:ext cx="10515600" cy="36576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Opcode: </a:t>
            </a:r>
            <a:pPr indent="0" marL="0">
              <a:buNone/>
            </a:pPr>
            <a:r>
              <a:rPr lang="en-US" sz="1400" dirty="0">
                <a:solidFill>
                  <a:srgbClr val="1B2A41"/>
                </a:solidFill>
                <a:latin typeface="Calibri" pitchFamily="34" charset="0"/>
                <a:ea typeface="Calibri" pitchFamily="34" charset="-122"/>
                <a:cs typeface="Calibri" pitchFamily="34" charset="-120"/>
              </a:rPr>
              <a:t>8-bit opcode (uses escape 11111 + 3 more bits)    </a:t>
            </a:r>
            <a:pPr indent="0" marL="0">
              <a:buNone/>
            </a:pPr>
            <a:r>
              <a:rPr lang="en-US" sz="1400" b="1" dirty="0">
                <a:solidFill>
                  <a:srgbClr val="C9A227"/>
                </a:solidFill>
                <a:latin typeface="Calibri" pitchFamily="34" charset="0"/>
                <a:ea typeface="Calibri" pitchFamily="34" charset="-122"/>
                <a:cs typeface="Calibri" pitchFamily="34" charset="-120"/>
              </a:rPr>
              <a:t>Operand bits: </a:t>
            </a:r>
            <a:pPr indent="0" marL="0">
              <a:buNone/>
            </a:pPr>
            <a:r>
              <a:rPr lang="en-US" sz="1400" dirty="0">
                <a:solidFill>
                  <a:srgbClr val="1B2A41"/>
                </a:solidFill>
                <a:latin typeface="Calibri" pitchFamily="34" charset="0"/>
                <a:ea typeface="Calibri" pitchFamily="34" charset="-122"/>
                <a:cs typeface="Calibri" pitchFamily="34" charset="-120"/>
              </a:rPr>
              <a:t>none    </a:t>
            </a:r>
            <a:pPr indent="0" marL="0">
              <a:buNone/>
            </a:pPr>
            <a:r>
              <a:rPr lang="en-US" sz="1400" b="1" dirty="0">
                <a:solidFill>
                  <a:srgbClr val="C9A227"/>
                </a:solidFill>
                <a:latin typeface="Calibri" pitchFamily="34" charset="0"/>
                <a:ea typeface="Calibri" pitchFamily="34" charset="-122"/>
                <a:cs typeface="Calibri" pitchFamily="34" charset="-120"/>
              </a:rPr>
              <a:t>Total: </a:t>
            </a:r>
            <a:pPr indent="0" marL="0">
              <a:buNone/>
            </a:pPr>
            <a:r>
              <a:rPr lang="en-US" sz="1400" dirty="0">
                <a:solidFill>
                  <a:srgbClr val="1B2A41"/>
                </a:solidFill>
                <a:latin typeface="Calibri" pitchFamily="34" charset="0"/>
                <a:ea typeface="Calibri" pitchFamily="34" charset="-122"/>
                <a:cs typeface="Calibri" pitchFamily="34" charset="-120"/>
              </a:rPr>
              <a:t>8 bits</a:t>
            </a:r>
            <a:endParaRPr lang="en-US" sz="1400" dirty="0"/>
          </a:p>
        </p:txBody>
      </p:sp>
      <p:sp>
        <p:nvSpPr>
          <p:cNvPr id="16" name="Text 14"/>
          <p:cNvSpPr/>
          <p:nvPr/>
        </p:nvSpPr>
        <p:spPr>
          <a:xfrm>
            <a:off x="777240" y="5422392"/>
            <a:ext cx="10515600" cy="365760"/>
          </a:xfrm>
          <a:prstGeom prst="rect">
            <a:avLst/>
          </a:prstGeom>
          <a:noFill/>
          <a:ln/>
        </p:spPr>
        <p:txBody>
          <a:bodyPr wrap="square" rtlCol="0" anchor="ctr"/>
          <a:lstStyle/>
          <a:p>
            <a:pPr indent="0" marL="0">
              <a:buNone/>
            </a:pPr>
            <a:r>
              <a:rPr lang="en-US" sz="1300" i="1" dirty="0">
                <a:solidFill>
                  <a:srgbClr val="5B6B7F"/>
                </a:solidFill>
                <a:latin typeface="Calibri" pitchFamily="34" charset="0"/>
                <a:ea typeface="Calibri" pitchFamily="34" charset="-122"/>
                <a:cs typeface="Calibri" pitchFamily="34" charset="-120"/>
              </a:rPr>
              <a:t>up to 8 instructions</a:t>
            </a:r>
            <a:endParaRPr lang="en-US" sz="1300" dirty="0"/>
          </a:p>
        </p:txBody>
      </p:sp>
      <p:sp>
        <p:nvSpPr>
          <p:cNvPr id="17" name="Text 15"/>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8" name="Text 16"/>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NUMERICAL PROBLEM 2</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Expanding Opcode — Practice Problem</a:t>
            </a:r>
            <a:endParaRPr lang="en-US" sz="2800" dirty="0"/>
          </a:p>
        </p:txBody>
      </p:sp>
      <p:pic>
        <p:nvPicPr>
          <p:cNvPr id="4" name="Image 0" descr="/home/claude/instr_formats/icons/puzzle.png">    </p:cNvPr>
          <p:cNvPicPr>
            <a:picLocks noChangeAspect="1"/>
          </p:cNvPicPr>
          <p:nvPr/>
        </p:nvPicPr>
        <p:blipFill>
          <a:blip r:embed="rId1"/>
          <a:stretch>
            <a:fillRect/>
          </a:stretch>
        </p:blipFill>
        <p:spPr>
          <a:xfrm>
            <a:off x="10698480" y="457200"/>
            <a:ext cx="914400" cy="914400"/>
          </a:xfrm>
          <a:prstGeom prst="rect">
            <a:avLst/>
          </a:prstGeom>
        </p:spPr>
      </p:pic>
      <p:sp>
        <p:nvSpPr>
          <p:cNvPr id="5" name="Shape 2"/>
          <p:cNvSpPr/>
          <p:nvPr/>
        </p:nvSpPr>
        <p:spPr>
          <a:xfrm>
            <a:off x="548640" y="1737360"/>
            <a:ext cx="11064240" cy="1737360"/>
          </a:xfrm>
          <a:prstGeom prst="roundRect">
            <a:avLst>
              <a:gd name="adj" fmla="val 4211"/>
            </a:avLst>
          </a:prstGeom>
          <a:solidFill>
            <a:srgbClr val="EAF2FB"/>
          </a:solidFill>
          <a:ln/>
        </p:spPr>
      </p:sp>
      <p:sp>
        <p:nvSpPr>
          <p:cNvPr id="6" name="Text 3"/>
          <p:cNvSpPr/>
          <p:nvPr/>
        </p:nvSpPr>
        <p:spPr>
          <a:xfrm>
            <a:off x="822960" y="1874520"/>
            <a:ext cx="10515600" cy="1554480"/>
          </a:xfrm>
          <a:prstGeom prst="rect">
            <a:avLst/>
          </a:prstGeom>
          <a:noFill/>
          <a:ln/>
        </p:spPr>
        <p:txBody>
          <a:bodyPr wrap="square" rtlCol="0" anchor="t"/>
          <a:lstStyle/>
          <a:p>
            <a:pPr indent="0" marL="0">
              <a:buNone/>
            </a:pPr>
            <a:r>
              <a:rPr lang="en-US" sz="2000" b="1" dirty="0">
                <a:solidFill>
                  <a:srgbClr val="06152B"/>
                </a:solidFill>
                <a:latin typeface="Calibri" pitchFamily="34" charset="0"/>
                <a:ea typeface="Calibri" pitchFamily="34" charset="-122"/>
                <a:cs typeface="Calibri" pitchFamily="34" charset="-120"/>
              </a:rPr>
              <a:t>Problem: </a:t>
            </a:r>
            <a:pPr indent="0" marL="0">
              <a:buNone/>
            </a:pPr>
            <a:r>
              <a:rPr lang="en-US" sz="1700" dirty="0">
                <a:solidFill>
                  <a:srgbClr val="1B2A41"/>
                </a:solidFill>
                <a:latin typeface="Calibri" pitchFamily="34" charset="0"/>
                <a:ea typeface="Calibri" pitchFamily="34" charset="-122"/>
                <a:cs typeface="Calibri" pitchFamily="34" charset="-120"/>
              </a:rPr>
              <a:t>A machine uses 12-bit instructions with 4-bit operand fields. Design an expanding opcode scheme that supports as many 2-operand instructions as possible using a 4-bit opcode, and uses the remaining code space for 1-operand and 0-operand instructions. How many 2-operand instructions can be supported if we reserve exactly ONE 4-bit opcode pattern as the escape to 1-operand instructions?</a:t>
            </a:r>
            <a:endParaRPr lang="en-US" sz="2000" dirty="0"/>
          </a:p>
        </p:txBody>
      </p:sp>
      <p:sp>
        <p:nvSpPr>
          <p:cNvPr id="7" name="Text 4"/>
          <p:cNvSpPr/>
          <p:nvPr/>
        </p:nvSpPr>
        <p:spPr>
          <a:xfrm>
            <a:off x="548640" y="3703320"/>
            <a:ext cx="10972800" cy="457200"/>
          </a:xfrm>
          <a:prstGeom prst="rect">
            <a:avLst/>
          </a:prstGeom>
          <a:noFill/>
          <a:ln/>
        </p:spPr>
        <p:txBody>
          <a:bodyPr wrap="square" rtlCol="0" anchor="ctr"/>
          <a:lstStyle/>
          <a:p>
            <a:pPr indent="0" marL="0">
              <a:buNone/>
            </a:pPr>
            <a:r>
              <a:rPr lang="en-US" sz="1500" b="1" i="1" dirty="0">
                <a:solidFill>
                  <a:srgbClr val="C9A227"/>
                </a:solidFill>
                <a:latin typeface="Calibri" pitchFamily="34" charset="0"/>
                <a:ea typeface="Calibri" pitchFamily="34" charset="-122"/>
                <a:cs typeface="Calibri" pitchFamily="34" charset="-120"/>
              </a:rPr>
              <a:t>Hint: with 4-bit opcode, how many total patterns exist, and how many are left after reserving 1 escape?</a:t>
            </a:r>
            <a:endParaRPr lang="en-US" sz="1500" dirty="0"/>
          </a:p>
        </p:txBody>
      </p:sp>
      <p:sp>
        <p:nvSpPr>
          <p:cNvPr id="8" name="Text 5"/>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9" name="Text 6"/>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SOLUTION — PROBLEM 2</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Step-by-Step Walkthrough</a:t>
            </a:r>
            <a:endParaRPr lang="en-US" sz="2800" dirty="0"/>
          </a:p>
        </p:txBody>
      </p:sp>
      <p:sp>
        <p:nvSpPr>
          <p:cNvPr id="4" name="Shape 2"/>
          <p:cNvSpPr/>
          <p:nvPr/>
        </p:nvSpPr>
        <p:spPr>
          <a:xfrm>
            <a:off x="548640" y="1645920"/>
            <a:ext cx="11064240" cy="841248"/>
          </a:xfrm>
          <a:prstGeom prst="roundRect">
            <a:avLst>
              <a:gd name="adj" fmla="val 7609"/>
            </a:avLst>
          </a:prstGeom>
          <a:solidFill>
            <a:srgbClr val="FFFFFF"/>
          </a:solidFill>
          <a:ln w="15240">
            <a:solidFill>
              <a:srgbClr val="DCE6F2"/>
            </a:solidFill>
            <a:prstDash val="solid"/>
          </a:ln>
        </p:spPr>
      </p:sp>
      <p:sp>
        <p:nvSpPr>
          <p:cNvPr id="5" name="Text 3"/>
          <p:cNvSpPr/>
          <p:nvPr/>
        </p:nvSpPr>
        <p:spPr>
          <a:xfrm>
            <a:off x="777240" y="1719072"/>
            <a:ext cx="10515600" cy="347472"/>
          </a:xfrm>
          <a:prstGeom prst="rect">
            <a:avLst/>
          </a:prstGeom>
          <a:noFill/>
          <a:ln/>
        </p:spPr>
        <p:txBody>
          <a:bodyPr wrap="square" rtlCol="0" anchor="ctr"/>
          <a:lstStyle/>
          <a:p>
            <a:pPr indent="0" marL="0">
              <a:buNone/>
            </a:pPr>
            <a:r>
              <a:rPr lang="en-US" sz="1500" b="1" dirty="0">
                <a:solidFill>
                  <a:srgbClr val="0A1F3D"/>
                </a:solidFill>
                <a:latin typeface="Cambria" pitchFamily="34" charset="0"/>
                <a:ea typeface="Cambria" pitchFamily="34" charset="-122"/>
                <a:cs typeface="Cambria" pitchFamily="34" charset="-120"/>
              </a:rPr>
              <a:t>Step 1 — Confirm the field layout</a:t>
            </a:r>
            <a:endParaRPr lang="en-US" sz="1500" dirty="0"/>
          </a:p>
        </p:txBody>
      </p:sp>
      <p:sp>
        <p:nvSpPr>
          <p:cNvPr id="6" name="Text 4"/>
          <p:cNvSpPr/>
          <p:nvPr/>
        </p:nvSpPr>
        <p:spPr>
          <a:xfrm>
            <a:off x="777240" y="2066544"/>
            <a:ext cx="10515600" cy="384048"/>
          </a:xfrm>
          <a:prstGeom prst="rect">
            <a:avLst/>
          </a:prstGeom>
          <a:noFill/>
          <a:ln/>
        </p:spPr>
        <p:txBody>
          <a:bodyPr wrap="square" rtlCol="0" anchor="ctr"/>
          <a:lstStyle/>
          <a:p>
            <a:pPr indent="0" marL="0">
              <a:buNone/>
            </a:pPr>
            <a:r>
              <a:rPr lang="en-US" sz="1400" dirty="0">
                <a:solidFill>
                  <a:srgbClr val="1B2A41"/>
                </a:solidFill>
                <a:latin typeface="Calibri" pitchFamily="34" charset="0"/>
                <a:ea typeface="Calibri" pitchFamily="34" charset="-122"/>
                <a:cs typeface="Calibri" pitchFamily="34" charset="-120"/>
              </a:rPr>
              <a:t>4-bit opcode + 4-bit operand + 4-bit operand = 12 bits total ✓ (matches given instruction length)</a:t>
            </a:r>
            <a:endParaRPr lang="en-US" sz="1400" dirty="0"/>
          </a:p>
        </p:txBody>
      </p:sp>
      <p:sp>
        <p:nvSpPr>
          <p:cNvPr id="7" name="Shape 5"/>
          <p:cNvSpPr/>
          <p:nvPr/>
        </p:nvSpPr>
        <p:spPr>
          <a:xfrm>
            <a:off x="548640" y="2606040"/>
            <a:ext cx="11064240" cy="841248"/>
          </a:xfrm>
          <a:prstGeom prst="roundRect">
            <a:avLst>
              <a:gd name="adj" fmla="val 7609"/>
            </a:avLst>
          </a:prstGeom>
          <a:solidFill>
            <a:srgbClr val="FFFFFF"/>
          </a:solidFill>
          <a:ln w="15240">
            <a:solidFill>
              <a:srgbClr val="DCE6F2"/>
            </a:solidFill>
            <a:prstDash val="solid"/>
          </a:ln>
        </p:spPr>
      </p:sp>
      <p:sp>
        <p:nvSpPr>
          <p:cNvPr id="8" name="Text 6"/>
          <p:cNvSpPr/>
          <p:nvPr/>
        </p:nvSpPr>
        <p:spPr>
          <a:xfrm>
            <a:off x="777240" y="2679192"/>
            <a:ext cx="10515600" cy="347472"/>
          </a:xfrm>
          <a:prstGeom prst="rect">
            <a:avLst/>
          </a:prstGeom>
          <a:noFill/>
          <a:ln/>
        </p:spPr>
        <p:txBody>
          <a:bodyPr wrap="square" rtlCol="0" anchor="ctr"/>
          <a:lstStyle/>
          <a:p>
            <a:pPr indent="0" marL="0">
              <a:buNone/>
            </a:pPr>
            <a:r>
              <a:rPr lang="en-US" sz="1500" b="1" dirty="0">
                <a:solidFill>
                  <a:srgbClr val="0A1F3D"/>
                </a:solidFill>
                <a:latin typeface="Cambria" pitchFamily="34" charset="0"/>
                <a:ea typeface="Cambria" pitchFamily="34" charset="-122"/>
                <a:cs typeface="Cambria" pitchFamily="34" charset="-120"/>
              </a:rPr>
              <a:t>Step 2 — Count total opcode patterns</a:t>
            </a:r>
            <a:endParaRPr lang="en-US" sz="1500" dirty="0"/>
          </a:p>
        </p:txBody>
      </p:sp>
      <p:sp>
        <p:nvSpPr>
          <p:cNvPr id="9" name="Text 7"/>
          <p:cNvSpPr/>
          <p:nvPr/>
        </p:nvSpPr>
        <p:spPr>
          <a:xfrm>
            <a:off x="777240" y="3026664"/>
            <a:ext cx="10515600" cy="384048"/>
          </a:xfrm>
          <a:prstGeom prst="rect">
            <a:avLst/>
          </a:prstGeom>
          <a:noFill/>
          <a:ln/>
        </p:spPr>
        <p:txBody>
          <a:bodyPr wrap="square" rtlCol="0" anchor="ctr"/>
          <a:lstStyle/>
          <a:p>
            <a:pPr indent="0" marL="0">
              <a:buNone/>
            </a:pPr>
            <a:r>
              <a:rPr lang="en-US" sz="1400" dirty="0">
                <a:solidFill>
                  <a:srgbClr val="1B2A41"/>
                </a:solidFill>
                <a:latin typeface="Calibri" pitchFamily="34" charset="0"/>
                <a:ea typeface="Calibri" pitchFamily="34" charset="-122"/>
                <a:cs typeface="Calibri" pitchFamily="34" charset="-120"/>
              </a:rPr>
              <a:t>With a 4-bit opcode field: 2^4 = 16 total possible bit patterns (0000 to 1111)</a:t>
            </a:r>
            <a:endParaRPr lang="en-US" sz="1400" dirty="0"/>
          </a:p>
        </p:txBody>
      </p:sp>
      <p:sp>
        <p:nvSpPr>
          <p:cNvPr id="10" name="Shape 8"/>
          <p:cNvSpPr/>
          <p:nvPr/>
        </p:nvSpPr>
        <p:spPr>
          <a:xfrm>
            <a:off x="548640" y="3566160"/>
            <a:ext cx="11064240" cy="841248"/>
          </a:xfrm>
          <a:prstGeom prst="roundRect">
            <a:avLst>
              <a:gd name="adj" fmla="val 7609"/>
            </a:avLst>
          </a:prstGeom>
          <a:solidFill>
            <a:srgbClr val="FFFFFF"/>
          </a:solidFill>
          <a:ln w="15240">
            <a:solidFill>
              <a:srgbClr val="DCE6F2"/>
            </a:solidFill>
            <a:prstDash val="solid"/>
          </a:ln>
        </p:spPr>
      </p:sp>
      <p:sp>
        <p:nvSpPr>
          <p:cNvPr id="11" name="Text 9"/>
          <p:cNvSpPr/>
          <p:nvPr/>
        </p:nvSpPr>
        <p:spPr>
          <a:xfrm>
            <a:off x="777240" y="3639312"/>
            <a:ext cx="10515600" cy="347472"/>
          </a:xfrm>
          <a:prstGeom prst="rect">
            <a:avLst/>
          </a:prstGeom>
          <a:noFill/>
          <a:ln/>
        </p:spPr>
        <p:txBody>
          <a:bodyPr wrap="square" rtlCol="0" anchor="ctr"/>
          <a:lstStyle/>
          <a:p>
            <a:pPr indent="0" marL="0">
              <a:buNone/>
            </a:pPr>
            <a:r>
              <a:rPr lang="en-US" sz="1500" b="1" dirty="0">
                <a:solidFill>
                  <a:srgbClr val="0A1F3D"/>
                </a:solidFill>
                <a:latin typeface="Cambria" pitchFamily="34" charset="0"/>
                <a:ea typeface="Cambria" pitchFamily="34" charset="-122"/>
                <a:cs typeface="Cambria" pitchFamily="34" charset="-120"/>
              </a:rPr>
              <a:t>Step 3 — Reserve the escape pattern</a:t>
            </a:r>
            <a:endParaRPr lang="en-US" sz="1500" dirty="0"/>
          </a:p>
        </p:txBody>
      </p:sp>
      <p:sp>
        <p:nvSpPr>
          <p:cNvPr id="12" name="Text 10"/>
          <p:cNvSpPr/>
          <p:nvPr/>
        </p:nvSpPr>
        <p:spPr>
          <a:xfrm>
            <a:off x="777240" y="3986784"/>
            <a:ext cx="10515600" cy="384048"/>
          </a:xfrm>
          <a:prstGeom prst="rect">
            <a:avLst/>
          </a:prstGeom>
          <a:noFill/>
          <a:ln/>
        </p:spPr>
        <p:txBody>
          <a:bodyPr wrap="square" rtlCol="0" anchor="ctr"/>
          <a:lstStyle/>
          <a:p>
            <a:pPr indent="0" marL="0">
              <a:buNone/>
            </a:pPr>
            <a:r>
              <a:rPr lang="en-US" sz="1400" dirty="0">
                <a:solidFill>
                  <a:srgbClr val="1B2A41"/>
                </a:solidFill>
                <a:latin typeface="Calibri" pitchFamily="34" charset="0"/>
                <a:ea typeface="Calibri" pitchFamily="34" charset="-122"/>
                <a:cs typeface="Calibri" pitchFamily="34" charset="-120"/>
              </a:rPr>
              <a:t>We reserve exactly 1 pattern (e.g., 1111) as the "escape" signal to indicate a 1-operand instruction follows</a:t>
            </a:r>
            <a:endParaRPr lang="en-US" sz="1400" dirty="0"/>
          </a:p>
        </p:txBody>
      </p:sp>
      <p:sp>
        <p:nvSpPr>
          <p:cNvPr id="13" name="Shape 11"/>
          <p:cNvSpPr/>
          <p:nvPr/>
        </p:nvSpPr>
        <p:spPr>
          <a:xfrm>
            <a:off x="548640" y="4526280"/>
            <a:ext cx="11064240" cy="841248"/>
          </a:xfrm>
          <a:prstGeom prst="roundRect">
            <a:avLst>
              <a:gd name="adj" fmla="val 7609"/>
            </a:avLst>
          </a:prstGeom>
          <a:solidFill>
            <a:srgbClr val="FFFFFF"/>
          </a:solidFill>
          <a:ln w="15240">
            <a:solidFill>
              <a:srgbClr val="DCE6F2"/>
            </a:solidFill>
            <a:prstDash val="solid"/>
          </a:ln>
        </p:spPr>
      </p:sp>
      <p:sp>
        <p:nvSpPr>
          <p:cNvPr id="14" name="Text 12"/>
          <p:cNvSpPr/>
          <p:nvPr/>
        </p:nvSpPr>
        <p:spPr>
          <a:xfrm>
            <a:off x="777240" y="4599432"/>
            <a:ext cx="10515600" cy="347472"/>
          </a:xfrm>
          <a:prstGeom prst="rect">
            <a:avLst/>
          </a:prstGeom>
          <a:noFill/>
          <a:ln/>
        </p:spPr>
        <p:txBody>
          <a:bodyPr wrap="square" rtlCol="0" anchor="ctr"/>
          <a:lstStyle/>
          <a:p>
            <a:pPr indent="0" marL="0">
              <a:buNone/>
            </a:pPr>
            <a:r>
              <a:rPr lang="en-US" sz="1500" b="1" dirty="0">
                <a:solidFill>
                  <a:srgbClr val="0A1F3D"/>
                </a:solidFill>
                <a:latin typeface="Cambria" pitchFamily="34" charset="0"/>
                <a:ea typeface="Cambria" pitchFamily="34" charset="-122"/>
                <a:cs typeface="Cambria" pitchFamily="34" charset="-120"/>
              </a:rPr>
              <a:t>Step 4 — Compute usable 2-operand opcodes</a:t>
            </a:r>
            <a:endParaRPr lang="en-US" sz="1500" dirty="0"/>
          </a:p>
        </p:txBody>
      </p:sp>
      <p:sp>
        <p:nvSpPr>
          <p:cNvPr id="15" name="Text 13"/>
          <p:cNvSpPr/>
          <p:nvPr/>
        </p:nvSpPr>
        <p:spPr>
          <a:xfrm>
            <a:off x="777240" y="4946904"/>
            <a:ext cx="10515600" cy="384048"/>
          </a:xfrm>
          <a:prstGeom prst="rect">
            <a:avLst/>
          </a:prstGeom>
          <a:noFill/>
          <a:ln/>
        </p:spPr>
        <p:txBody>
          <a:bodyPr wrap="square" rtlCol="0" anchor="ctr"/>
          <a:lstStyle/>
          <a:p>
            <a:pPr indent="0" marL="0">
              <a:buNone/>
            </a:pPr>
            <a:r>
              <a:rPr lang="en-US" sz="1400" dirty="0">
                <a:solidFill>
                  <a:srgbClr val="1B2A41"/>
                </a:solidFill>
                <a:latin typeface="Calibri" pitchFamily="34" charset="0"/>
                <a:ea typeface="Calibri" pitchFamily="34" charset="-122"/>
                <a:cs typeface="Calibri" pitchFamily="34" charset="-120"/>
              </a:rPr>
              <a:t>Usable patterns = 16 − 1 (escape) = 15 distinct 2-operand instructions</a:t>
            </a:r>
            <a:endParaRPr lang="en-US" sz="1400" dirty="0"/>
          </a:p>
        </p:txBody>
      </p:sp>
      <p:sp>
        <p:nvSpPr>
          <p:cNvPr id="16" name="Shape 14"/>
          <p:cNvSpPr/>
          <p:nvPr/>
        </p:nvSpPr>
        <p:spPr>
          <a:xfrm>
            <a:off x="548640" y="5577840"/>
            <a:ext cx="11064240" cy="685800"/>
          </a:xfrm>
          <a:prstGeom prst="roundRect">
            <a:avLst>
              <a:gd name="adj" fmla="val 9333"/>
            </a:avLst>
          </a:prstGeom>
          <a:solidFill>
            <a:srgbClr val="0A1F3D"/>
          </a:solidFill>
          <a:ln/>
        </p:spPr>
      </p:sp>
      <p:sp>
        <p:nvSpPr>
          <p:cNvPr id="17" name="Text 15"/>
          <p:cNvSpPr/>
          <p:nvPr/>
        </p:nvSpPr>
        <p:spPr>
          <a:xfrm>
            <a:off x="777240" y="5577840"/>
            <a:ext cx="10515600" cy="685800"/>
          </a:xfrm>
          <a:prstGeom prst="rect">
            <a:avLst/>
          </a:prstGeom>
          <a:noFill/>
          <a:ln/>
        </p:spPr>
        <p:txBody>
          <a:bodyPr wrap="square" rtlCol="0" anchor="ctr"/>
          <a:lstStyle/>
          <a:p>
            <a:pPr indent="0" marL="0">
              <a:buNone/>
            </a:pPr>
            <a:r>
              <a:rPr lang="en-US" sz="1500" b="1" dirty="0">
                <a:solidFill>
                  <a:srgbClr val="C9A227"/>
                </a:solidFill>
                <a:latin typeface="Cambria" pitchFamily="34" charset="0"/>
                <a:ea typeface="Cambria" pitchFamily="34" charset="-122"/>
                <a:cs typeface="Cambria" pitchFamily="34" charset="-120"/>
              </a:rPr>
              <a:t>Answer: 15 distinct 2-operand instructions can be supported, with the 16th pattern reserved as the escape code for 1-operand instructions.</a:t>
            </a:r>
            <a:endParaRPr lang="en-US" sz="1500" dirty="0"/>
          </a:p>
        </p:txBody>
      </p:sp>
      <p:sp>
        <p:nvSpPr>
          <p:cNvPr id="18" name="Text 16"/>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9" name="Text 17"/>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SIDE-BY-SIDE COMPARISON</a:t>
            </a:r>
            <a:endParaRPr lang="en-US" sz="1300" dirty="0"/>
          </a:p>
        </p:txBody>
      </p:sp>
      <p:sp>
        <p:nvSpPr>
          <p:cNvPr id="3" name="Text 1"/>
          <p:cNvSpPr/>
          <p:nvPr/>
        </p:nvSpPr>
        <p:spPr>
          <a:xfrm>
            <a:off x="548640" y="621792"/>
            <a:ext cx="11247120" cy="822960"/>
          </a:xfrm>
          <a:prstGeom prst="rect">
            <a:avLst/>
          </a:prstGeom>
          <a:noFill/>
          <a:ln/>
        </p:spPr>
        <p:txBody>
          <a:bodyPr wrap="square" rtlCol="0" anchor="ctr"/>
          <a:lstStyle/>
          <a:p>
            <a:pPr indent="0" marL="0">
              <a:buNone/>
            </a:pPr>
            <a:r>
              <a:rPr lang="en-US" sz="2600" b="1" dirty="0">
                <a:solidFill>
                  <a:srgbClr val="06152B"/>
                </a:solidFill>
                <a:latin typeface="Cambria" pitchFamily="34" charset="0"/>
                <a:ea typeface="Cambria" pitchFamily="34" charset="-122"/>
                <a:cs typeface="Cambria" pitchFamily="34" charset="-120"/>
              </a:rPr>
              <a:t>Fixed-Length vs. Variable-Length — Summary</a:t>
            </a:r>
            <a:endParaRPr lang="en-US" sz="2600" dirty="0"/>
          </a:p>
        </p:txBody>
      </p:sp>
      <p:sp>
        <p:nvSpPr>
          <p:cNvPr id="4" name="Shape 2"/>
          <p:cNvSpPr/>
          <p:nvPr/>
        </p:nvSpPr>
        <p:spPr>
          <a:xfrm>
            <a:off x="548640" y="1600200"/>
            <a:ext cx="2926080" cy="502920"/>
          </a:xfrm>
          <a:prstGeom prst="rect">
            <a:avLst/>
          </a:prstGeom>
          <a:solidFill>
            <a:srgbClr val="0A1F3D"/>
          </a:solidFill>
          <a:ln w="9525">
            <a:solidFill>
              <a:srgbClr val="DCE6F2"/>
            </a:solidFill>
            <a:prstDash val="solid"/>
          </a:ln>
        </p:spPr>
      </p:sp>
      <p:sp>
        <p:nvSpPr>
          <p:cNvPr id="5" name="Text 3"/>
          <p:cNvSpPr/>
          <p:nvPr/>
        </p:nvSpPr>
        <p:spPr>
          <a:xfrm>
            <a:off x="658368" y="1600200"/>
            <a:ext cx="2706624"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Aspect</a:t>
            </a:r>
            <a:endParaRPr lang="en-US" sz="1500" dirty="0"/>
          </a:p>
        </p:txBody>
      </p:sp>
      <p:sp>
        <p:nvSpPr>
          <p:cNvPr id="6" name="Shape 4"/>
          <p:cNvSpPr/>
          <p:nvPr/>
        </p:nvSpPr>
        <p:spPr>
          <a:xfrm>
            <a:off x="3474720" y="1600200"/>
            <a:ext cx="4069080" cy="502920"/>
          </a:xfrm>
          <a:prstGeom prst="rect">
            <a:avLst/>
          </a:prstGeom>
          <a:solidFill>
            <a:srgbClr val="0A1F3D"/>
          </a:solidFill>
          <a:ln w="9525">
            <a:solidFill>
              <a:srgbClr val="DCE6F2"/>
            </a:solidFill>
            <a:prstDash val="solid"/>
          </a:ln>
        </p:spPr>
      </p:sp>
      <p:sp>
        <p:nvSpPr>
          <p:cNvPr id="7" name="Text 5"/>
          <p:cNvSpPr/>
          <p:nvPr/>
        </p:nvSpPr>
        <p:spPr>
          <a:xfrm>
            <a:off x="3584448" y="1600200"/>
            <a:ext cx="3849624"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Fixed-Length</a:t>
            </a:r>
            <a:endParaRPr lang="en-US" sz="1500" dirty="0"/>
          </a:p>
        </p:txBody>
      </p:sp>
      <p:sp>
        <p:nvSpPr>
          <p:cNvPr id="8" name="Shape 6"/>
          <p:cNvSpPr/>
          <p:nvPr/>
        </p:nvSpPr>
        <p:spPr>
          <a:xfrm>
            <a:off x="7543800" y="1600200"/>
            <a:ext cx="4069080" cy="502920"/>
          </a:xfrm>
          <a:prstGeom prst="rect">
            <a:avLst/>
          </a:prstGeom>
          <a:solidFill>
            <a:srgbClr val="0A1F3D"/>
          </a:solidFill>
          <a:ln w="9525">
            <a:solidFill>
              <a:srgbClr val="DCE6F2"/>
            </a:solidFill>
            <a:prstDash val="solid"/>
          </a:ln>
        </p:spPr>
      </p:sp>
      <p:sp>
        <p:nvSpPr>
          <p:cNvPr id="9" name="Text 7"/>
          <p:cNvSpPr/>
          <p:nvPr/>
        </p:nvSpPr>
        <p:spPr>
          <a:xfrm>
            <a:off x="7653528" y="1600200"/>
            <a:ext cx="3849624" cy="5029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Variable-Length</a:t>
            </a:r>
            <a:endParaRPr lang="en-US" sz="1500" dirty="0"/>
          </a:p>
        </p:txBody>
      </p:sp>
      <p:sp>
        <p:nvSpPr>
          <p:cNvPr id="10" name="Shape 8"/>
          <p:cNvSpPr/>
          <p:nvPr/>
        </p:nvSpPr>
        <p:spPr>
          <a:xfrm>
            <a:off x="548640" y="2103120"/>
            <a:ext cx="2926080" cy="713232"/>
          </a:xfrm>
          <a:prstGeom prst="rect">
            <a:avLst/>
          </a:prstGeom>
          <a:solidFill>
            <a:srgbClr val="FFFFFF"/>
          </a:solidFill>
          <a:ln w="9525">
            <a:solidFill>
              <a:srgbClr val="DCE6F2"/>
            </a:solidFill>
            <a:prstDash val="solid"/>
          </a:ln>
        </p:spPr>
      </p:sp>
      <p:sp>
        <p:nvSpPr>
          <p:cNvPr id="11" name="Text 9"/>
          <p:cNvSpPr/>
          <p:nvPr/>
        </p:nvSpPr>
        <p:spPr>
          <a:xfrm>
            <a:off x="658368" y="2103120"/>
            <a:ext cx="2706624" cy="713232"/>
          </a:xfrm>
          <a:prstGeom prst="rect">
            <a:avLst/>
          </a:prstGeom>
          <a:noFill/>
          <a:ln/>
        </p:spPr>
        <p:txBody>
          <a:bodyPr wrap="square" rtlCol="0" anchor="ctr"/>
          <a:lstStyle/>
          <a:p>
            <a:pPr indent="0" marL="0">
              <a:buNone/>
            </a:pPr>
            <a:r>
              <a:rPr lang="en-US" sz="1350" b="1" dirty="0">
                <a:solidFill>
                  <a:srgbClr val="0A1F3D"/>
                </a:solidFill>
                <a:latin typeface="Calibri" pitchFamily="34" charset="0"/>
                <a:ea typeface="Calibri" pitchFamily="34" charset="-122"/>
                <a:cs typeface="Calibri" pitchFamily="34" charset="-120"/>
              </a:rPr>
              <a:t>Decode complexity</a:t>
            </a:r>
            <a:endParaRPr lang="en-US" sz="1350" dirty="0"/>
          </a:p>
        </p:txBody>
      </p:sp>
      <p:sp>
        <p:nvSpPr>
          <p:cNvPr id="12" name="Shape 10"/>
          <p:cNvSpPr/>
          <p:nvPr/>
        </p:nvSpPr>
        <p:spPr>
          <a:xfrm>
            <a:off x="3474720" y="2103120"/>
            <a:ext cx="4069080" cy="713232"/>
          </a:xfrm>
          <a:prstGeom prst="rect">
            <a:avLst/>
          </a:prstGeom>
          <a:solidFill>
            <a:srgbClr val="FFFFFF"/>
          </a:solidFill>
          <a:ln w="9525">
            <a:solidFill>
              <a:srgbClr val="DCE6F2"/>
            </a:solidFill>
            <a:prstDash val="solid"/>
          </a:ln>
        </p:spPr>
      </p:sp>
      <p:sp>
        <p:nvSpPr>
          <p:cNvPr id="13" name="Text 11"/>
          <p:cNvSpPr/>
          <p:nvPr/>
        </p:nvSpPr>
        <p:spPr>
          <a:xfrm>
            <a:off x="3584448" y="2103120"/>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Low — fields always in same position</a:t>
            </a:r>
            <a:endParaRPr lang="en-US" sz="1350" dirty="0"/>
          </a:p>
        </p:txBody>
      </p:sp>
      <p:sp>
        <p:nvSpPr>
          <p:cNvPr id="14" name="Shape 12"/>
          <p:cNvSpPr/>
          <p:nvPr/>
        </p:nvSpPr>
        <p:spPr>
          <a:xfrm>
            <a:off x="7543800" y="2103120"/>
            <a:ext cx="4069080" cy="713232"/>
          </a:xfrm>
          <a:prstGeom prst="rect">
            <a:avLst/>
          </a:prstGeom>
          <a:solidFill>
            <a:srgbClr val="FFFFFF"/>
          </a:solidFill>
          <a:ln w="9525">
            <a:solidFill>
              <a:srgbClr val="DCE6F2"/>
            </a:solidFill>
            <a:prstDash val="solid"/>
          </a:ln>
        </p:spPr>
      </p:sp>
      <p:sp>
        <p:nvSpPr>
          <p:cNvPr id="15" name="Text 13"/>
          <p:cNvSpPr/>
          <p:nvPr/>
        </p:nvSpPr>
        <p:spPr>
          <a:xfrm>
            <a:off x="7653528" y="2103120"/>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High — length must be determined first</a:t>
            </a:r>
            <a:endParaRPr lang="en-US" sz="1350" dirty="0"/>
          </a:p>
        </p:txBody>
      </p:sp>
      <p:sp>
        <p:nvSpPr>
          <p:cNvPr id="16" name="Shape 14"/>
          <p:cNvSpPr/>
          <p:nvPr/>
        </p:nvSpPr>
        <p:spPr>
          <a:xfrm>
            <a:off x="548640" y="2816352"/>
            <a:ext cx="2926080" cy="713232"/>
          </a:xfrm>
          <a:prstGeom prst="rect">
            <a:avLst/>
          </a:prstGeom>
          <a:solidFill>
            <a:srgbClr val="EAF2FB"/>
          </a:solidFill>
          <a:ln w="9525">
            <a:solidFill>
              <a:srgbClr val="DCE6F2"/>
            </a:solidFill>
            <a:prstDash val="solid"/>
          </a:ln>
        </p:spPr>
      </p:sp>
      <p:sp>
        <p:nvSpPr>
          <p:cNvPr id="17" name="Text 15"/>
          <p:cNvSpPr/>
          <p:nvPr/>
        </p:nvSpPr>
        <p:spPr>
          <a:xfrm>
            <a:off x="658368" y="2816352"/>
            <a:ext cx="2706624" cy="713232"/>
          </a:xfrm>
          <a:prstGeom prst="rect">
            <a:avLst/>
          </a:prstGeom>
          <a:noFill/>
          <a:ln/>
        </p:spPr>
        <p:txBody>
          <a:bodyPr wrap="square" rtlCol="0" anchor="ctr"/>
          <a:lstStyle/>
          <a:p>
            <a:pPr indent="0" marL="0">
              <a:buNone/>
            </a:pPr>
            <a:r>
              <a:rPr lang="en-US" sz="1350" b="1" dirty="0">
                <a:solidFill>
                  <a:srgbClr val="0A1F3D"/>
                </a:solidFill>
                <a:latin typeface="Calibri" pitchFamily="34" charset="0"/>
                <a:ea typeface="Calibri" pitchFamily="34" charset="-122"/>
                <a:cs typeface="Calibri" pitchFamily="34" charset="-120"/>
              </a:rPr>
              <a:t>Code density</a:t>
            </a:r>
            <a:endParaRPr lang="en-US" sz="1350" dirty="0"/>
          </a:p>
        </p:txBody>
      </p:sp>
      <p:sp>
        <p:nvSpPr>
          <p:cNvPr id="18" name="Shape 16"/>
          <p:cNvSpPr/>
          <p:nvPr/>
        </p:nvSpPr>
        <p:spPr>
          <a:xfrm>
            <a:off x="3474720" y="2816352"/>
            <a:ext cx="4069080" cy="713232"/>
          </a:xfrm>
          <a:prstGeom prst="rect">
            <a:avLst/>
          </a:prstGeom>
          <a:solidFill>
            <a:srgbClr val="EAF2FB"/>
          </a:solidFill>
          <a:ln w="9525">
            <a:solidFill>
              <a:srgbClr val="DCE6F2"/>
            </a:solidFill>
            <a:prstDash val="solid"/>
          </a:ln>
        </p:spPr>
      </p:sp>
      <p:sp>
        <p:nvSpPr>
          <p:cNvPr id="19" name="Text 17"/>
          <p:cNvSpPr/>
          <p:nvPr/>
        </p:nvSpPr>
        <p:spPr>
          <a:xfrm>
            <a:off x="3584448" y="2816352"/>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Lower — every instruction "pays" full width</a:t>
            </a:r>
            <a:endParaRPr lang="en-US" sz="1350" dirty="0"/>
          </a:p>
        </p:txBody>
      </p:sp>
      <p:sp>
        <p:nvSpPr>
          <p:cNvPr id="20" name="Shape 18"/>
          <p:cNvSpPr/>
          <p:nvPr/>
        </p:nvSpPr>
        <p:spPr>
          <a:xfrm>
            <a:off x="7543800" y="2816352"/>
            <a:ext cx="4069080" cy="713232"/>
          </a:xfrm>
          <a:prstGeom prst="rect">
            <a:avLst/>
          </a:prstGeom>
          <a:solidFill>
            <a:srgbClr val="EAF2FB"/>
          </a:solidFill>
          <a:ln w="9525">
            <a:solidFill>
              <a:srgbClr val="DCE6F2"/>
            </a:solidFill>
            <a:prstDash val="solid"/>
          </a:ln>
        </p:spPr>
      </p:sp>
      <p:sp>
        <p:nvSpPr>
          <p:cNvPr id="21" name="Text 19"/>
          <p:cNvSpPr/>
          <p:nvPr/>
        </p:nvSpPr>
        <p:spPr>
          <a:xfrm>
            <a:off x="7653528" y="2816352"/>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Higher — simple ops use fewer bytes</a:t>
            </a:r>
            <a:endParaRPr lang="en-US" sz="1350" dirty="0"/>
          </a:p>
        </p:txBody>
      </p:sp>
      <p:sp>
        <p:nvSpPr>
          <p:cNvPr id="22" name="Shape 20"/>
          <p:cNvSpPr/>
          <p:nvPr/>
        </p:nvSpPr>
        <p:spPr>
          <a:xfrm>
            <a:off x="548640" y="3529584"/>
            <a:ext cx="2926080" cy="713232"/>
          </a:xfrm>
          <a:prstGeom prst="rect">
            <a:avLst/>
          </a:prstGeom>
          <a:solidFill>
            <a:srgbClr val="FFFFFF"/>
          </a:solidFill>
          <a:ln w="9525">
            <a:solidFill>
              <a:srgbClr val="DCE6F2"/>
            </a:solidFill>
            <a:prstDash val="solid"/>
          </a:ln>
        </p:spPr>
      </p:sp>
      <p:sp>
        <p:nvSpPr>
          <p:cNvPr id="23" name="Text 21"/>
          <p:cNvSpPr/>
          <p:nvPr/>
        </p:nvSpPr>
        <p:spPr>
          <a:xfrm>
            <a:off x="658368" y="3529584"/>
            <a:ext cx="2706624" cy="713232"/>
          </a:xfrm>
          <a:prstGeom prst="rect">
            <a:avLst/>
          </a:prstGeom>
          <a:noFill/>
          <a:ln/>
        </p:spPr>
        <p:txBody>
          <a:bodyPr wrap="square" rtlCol="0" anchor="ctr"/>
          <a:lstStyle/>
          <a:p>
            <a:pPr indent="0" marL="0">
              <a:buNone/>
            </a:pPr>
            <a:r>
              <a:rPr lang="en-US" sz="1350" b="1" dirty="0">
                <a:solidFill>
                  <a:srgbClr val="0A1F3D"/>
                </a:solidFill>
                <a:latin typeface="Calibri" pitchFamily="34" charset="0"/>
                <a:ea typeface="Calibri" pitchFamily="34" charset="-122"/>
                <a:cs typeface="Calibri" pitchFamily="34" charset="-120"/>
              </a:rPr>
              <a:t>Pipelining</a:t>
            </a:r>
            <a:endParaRPr lang="en-US" sz="1350" dirty="0"/>
          </a:p>
        </p:txBody>
      </p:sp>
      <p:sp>
        <p:nvSpPr>
          <p:cNvPr id="24" name="Shape 22"/>
          <p:cNvSpPr/>
          <p:nvPr/>
        </p:nvSpPr>
        <p:spPr>
          <a:xfrm>
            <a:off x="3474720" y="3529584"/>
            <a:ext cx="4069080" cy="713232"/>
          </a:xfrm>
          <a:prstGeom prst="rect">
            <a:avLst/>
          </a:prstGeom>
          <a:solidFill>
            <a:srgbClr val="FFFFFF"/>
          </a:solidFill>
          <a:ln w="9525">
            <a:solidFill>
              <a:srgbClr val="DCE6F2"/>
            </a:solidFill>
            <a:prstDash val="solid"/>
          </a:ln>
        </p:spPr>
      </p:sp>
      <p:sp>
        <p:nvSpPr>
          <p:cNvPr id="25" name="Text 23"/>
          <p:cNvSpPr/>
          <p:nvPr/>
        </p:nvSpPr>
        <p:spPr>
          <a:xfrm>
            <a:off x="3584448" y="3529584"/>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Easy — next PC = PC + constant</a:t>
            </a:r>
            <a:endParaRPr lang="en-US" sz="1350" dirty="0"/>
          </a:p>
        </p:txBody>
      </p:sp>
      <p:sp>
        <p:nvSpPr>
          <p:cNvPr id="26" name="Shape 24"/>
          <p:cNvSpPr/>
          <p:nvPr/>
        </p:nvSpPr>
        <p:spPr>
          <a:xfrm>
            <a:off x="7543800" y="3529584"/>
            <a:ext cx="4069080" cy="713232"/>
          </a:xfrm>
          <a:prstGeom prst="rect">
            <a:avLst/>
          </a:prstGeom>
          <a:solidFill>
            <a:srgbClr val="FFFFFF"/>
          </a:solidFill>
          <a:ln w="9525">
            <a:solidFill>
              <a:srgbClr val="DCE6F2"/>
            </a:solidFill>
            <a:prstDash val="solid"/>
          </a:ln>
        </p:spPr>
      </p:sp>
      <p:sp>
        <p:nvSpPr>
          <p:cNvPr id="27" name="Text 25"/>
          <p:cNvSpPr/>
          <p:nvPr/>
        </p:nvSpPr>
        <p:spPr>
          <a:xfrm>
            <a:off x="7653528" y="3529584"/>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Harder — next instruction start varies</a:t>
            </a:r>
            <a:endParaRPr lang="en-US" sz="1350" dirty="0"/>
          </a:p>
        </p:txBody>
      </p:sp>
      <p:sp>
        <p:nvSpPr>
          <p:cNvPr id="28" name="Shape 26"/>
          <p:cNvSpPr/>
          <p:nvPr/>
        </p:nvSpPr>
        <p:spPr>
          <a:xfrm>
            <a:off x="548640" y="4242816"/>
            <a:ext cx="2926080" cy="713232"/>
          </a:xfrm>
          <a:prstGeom prst="rect">
            <a:avLst/>
          </a:prstGeom>
          <a:solidFill>
            <a:srgbClr val="EAF2FB"/>
          </a:solidFill>
          <a:ln w="9525">
            <a:solidFill>
              <a:srgbClr val="DCE6F2"/>
            </a:solidFill>
            <a:prstDash val="solid"/>
          </a:ln>
        </p:spPr>
      </p:sp>
      <p:sp>
        <p:nvSpPr>
          <p:cNvPr id="29" name="Text 27"/>
          <p:cNvSpPr/>
          <p:nvPr/>
        </p:nvSpPr>
        <p:spPr>
          <a:xfrm>
            <a:off x="658368" y="4242816"/>
            <a:ext cx="2706624" cy="713232"/>
          </a:xfrm>
          <a:prstGeom prst="rect">
            <a:avLst/>
          </a:prstGeom>
          <a:noFill/>
          <a:ln/>
        </p:spPr>
        <p:txBody>
          <a:bodyPr wrap="square" rtlCol="0" anchor="ctr"/>
          <a:lstStyle/>
          <a:p>
            <a:pPr indent="0" marL="0">
              <a:buNone/>
            </a:pPr>
            <a:r>
              <a:rPr lang="en-US" sz="1350" b="1" dirty="0">
                <a:solidFill>
                  <a:srgbClr val="0A1F3D"/>
                </a:solidFill>
                <a:latin typeface="Calibri" pitchFamily="34" charset="0"/>
                <a:ea typeface="Calibri" pitchFamily="34" charset="-122"/>
                <a:cs typeface="Calibri" pitchFamily="34" charset="-120"/>
              </a:rPr>
              <a:t>Typical ISA family</a:t>
            </a:r>
            <a:endParaRPr lang="en-US" sz="1350" dirty="0"/>
          </a:p>
        </p:txBody>
      </p:sp>
      <p:sp>
        <p:nvSpPr>
          <p:cNvPr id="30" name="Shape 28"/>
          <p:cNvSpPr/>
          <p:nvPr/>
        </p:nvSpPr>
        <p:spPr>
          <a:xfrm>
            <a:off x="3474720" y="4242816"/>
            <a:ext cx="4069080" cy="713232"/>
          </a:xfrm>
          <a:prstGeom prst="rect">
            <a:avLst/>
          </a:prstGeom>
          <a:solidFill>
            <a:srgbClr val="EAF2FB"/>
          </a:solidFill>
          <a:ln w="9525">
            <a:solidFill>
              <a:srgbClr val="DCE6F2"/>
            </a:solidFill>
            <a:prstDash val="solid"/>
          </a:ln>
        </p:spPr>
      </p:sp>
      <p:sp>
        <p:nvSpPr>
          <p:cNvPr id="31" name="Text 29"/>
          <p:cNvSpPr/>
          <p:nvPr/>
        </p:nvSpPr>
        <p:spPr>
          <a:xfrm>
            <a:off x="3584448" y="4242816"/>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RISC (MIPS, ARM, RISC-V)</a:t>
            </a:r>
            <a:endParaRPr lang="en-US" sz="1350" dirty="0"/>
          </a:p>
        </p:txBody>
      </p:sp>
      <p:sp>
        <p:nvSpPr>
          <p:cNvPr id="32" name="Shape 30"/>
          <p:cNvSpPr/>
          <p:nvPr/>
        </p:nvSpPr>
        <p:spPr>
          <a:xfrm>
            <a:off x="7543800" y="4242816"/>
            <a:ext cx="4069080" cy="713232"/>
          </a:xfrm>
          <a:prstGeom prst="rect">
            <a:avLst/>
          </a:prstGeom>
          <a:solidFill>
            <a:srgbClr val="EAF2FB"/>
          </a:solidFill>
          <a:ln w="9525">
            <a:solidFill>
              <a:srgbClr val="DCE6F2"/>
            </a:solidFill>
            <a:prstDash val="solid"/>
          </a:ln>
        </p:spPr>
      </p:sp>
      <p:sp>
        <p:nvSpPr>
          <p:cNvPr id="33" name="Text 31"/>
          <p:cNvSpPr/>
          <p:nvPr/>
        </p:nvSpPr>
        <p:spPr>
          <a:xfrm>
            <a:off x="7653528" y="4242816"/>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CISC (x86, x86-64)</a:t>
            </a:r>
            <a:endParaRPr lang="en-US" sz="1350" dirty="0"/>
          </a:p>
        </p:txBody>
      </p:sp>
      <p:sp>
        <p:nvSpPr>
          <p:cNvPr id="34" name="Shape 32"/>
          <p:cNvSpPr/>
          <p:nvPr/>
        </p:nvSpPr>
        <p:spPr>
          <a:xfrm>
            <a:off x="548640" y="4956048"/>
            <a:ext cx="2926080" cy="713232"/>
          </a:xfrm>
          <a:prstGeom prst="rect">
            <a:avLst/>
          </a:prstGeom>
          <a:solidFill>
            <a:srgbClr val="FFFFFF"/>
          </a:solidFill>
          <a:ln w="9525">
            <a:solidFill>
              <a:srgbClr val="DCE6F2"/>
            </a:solidFill>
            <a:prstDash val="solid"/>
          </a:ln>
        </p:spPr>
      </p:sp>
      <p:sp>
        <p:nvSpPr>
          <p:cNvPr id="35" name="Text 33"/>
          <p:cNvSpPr/>
          <p:nvPr/>
        </p:nvSpPr>
        <p:spPr>
          <a:xfrm>
            <a:off x="658368" y="4956048"/>
            <a:ext cx="2706624" cy="713232"/>
          </a:xfrm>
          <a:prstGeom prst="rect">
            <a:avLst/>
          </a:prstGeom>
          <a:noFill/>
          <a:ln/>
        </p:spPr>
        <p:txBody>
          <a:bodyPr wrap="square" rtlCol="0" anchor="ctr"/>
          <a:lstStyle/>
          <a:p>
            <a:pPr indent="0" marL="0">
              <a:buNone/>
            </a:pPr>
            <a:r>
              <a:rPr lang="en-US" sz="1350" b="1" dirty="0">
                <a:solidFill>
                  <a:srgbClr val="0A1F3D"/>
                </a:solidFill>
                <a:latin typeface="Calibri" pitchFamily="34" charset="0"/>
                <a:ea typeface="Calibri" pitchFamily="34" charset="-122"/>
                <a:cs typeface="Calibri" pitchFamily="34" charset="-120"/>
              </a:rPr>
              <a:t>Bit allocation flexibility</a:t>
            </a:r>
            <a:endParaRPr lang="en-US" sz="1350" dirty="0"/>
          </a:p>
        </p:txBody>
      </p:sp>
      <p:sp>
        <p:nvSpPr>
          <p:cNvPr id="36" name="Shape 34"/>
          <p:cNvSpPr/>
          <p:nvPr/>
        </p:nvSpPr>
        <p:spPr>
          <a:xfrm>
            <a:off x="3474720" y="4956048"/>
            <a:ext cx="4069080" cy="713232"/>
          </a:xfrm>
          <a:prstGeom prst="rect">
            <a:avLst/>
          </a:prstGeom>
          <a:solidFill>
            <a:srgbClr val="FFFFFF"/>
          </a:solidFill>
          <a:ln w="9525">
            <a:solidFill>
              <a:srgbClr val="DCE6F2"/>
            </a:solidFill>
            <a:prstDash val="solid"/>
          </a:ln>
        </p:spPr>
      </p:sp>
      <p:sp>
        <p:nvSpPr>
          <p:cNvPr id="37" name="Text 35"/>
          <p:cNvSpPr/>
          <p:nvPr/>
        </p:nvSpPr>
        <p:spPr>
          <a:xfrm>
            <a:off x="3584448" y="4956048"/>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Fixed split per instruction type</a:t>
            </a:r>
            <a:endParaRPr lang="en-US" sz="1350" dirty="0"/>
          </a:p>
        </p:txBody>
      </p:sp>
      <p:sp>
        <p:nvSpPr>
          <p:cNvPr id="38" name="Shape 36"/>
          <p:cNvSpPr/>
          <p:nvPr/>
        </p:nvSpPr>
        <p:spPr>
          <a:xfrm>
            <a:off x="7543800" y="4956048"/>
            <a:ext cx="4069080" cy="713232"/>
          </a:xfrm>
          <a:prstGeom prst="rect">
            <a:avLst/>
          </a:prstGeom>
          <a:solidFill>
            <a:srgbClr val="FFFFFF"/>
          </a:solidFill>
          <a:ln w="9525">
            <a:solidFill>
              <a:srgbClr val="DCE6F2"/>
            </a:solidFill>
            <a:prstDash val="solid"/>
          </a:ln>
        </p:spPr>
      </p:sp>
      <p:sp>
        <p:nvSpPr>
          <p:cNvPr id="39" name="Text 37"/>
          <p:cNvSpPr/>
          <p:nvPr/>
        </p:nvSpPr>
        <p:spPr>
          <a:xfrm>
            <a:off x="7653528" y="4956048"/>
            <a:ext cx="3849624" cy="713232"/>
          </a:xfrm>
          <a:prstGeom prst="rect">
            <a:avLst/>
          </a:prstGeom>
          <a:noFill/>
          <a:ln/>
        </p:spPr>
        <p:txBody>
          <a:bodyPr wrap="square" rtlCol="0" anchor="ctr"/>
          <a:lstStyle/>
          <a:p>
            <a:pPr indent="0" marL="0">
              <a:buNone/>
            </a:pPr>
            <a:r>
              <a:rPr lang="en-US" sz="1350" dirty="0">
                <a:solidFill>
                  <a:srgbClr val="1B2A41"/>
                </a:solidFill>
                <a:latin typeface="Calibri" pitchFamily="34" charset="0"/>
                <a:ea typeface="Calibri" pitchFamily="34" charset="-122"/>
                <a:cs typeface="Calibri" pitchFamily="34" charset="-120"/>
              </a:rPr>
              <a:t>Naturally flexible / expanding opcode common</a:t>
            </a:r>
            <a:endParaRPr lang="en-US" sz="1350" dirty="0"/>
          </a:p>
        </p:txBody>
      </p:sp>
      <p:sp>
        <p:nvSpPr>
          <p:cNvPr id="40" name="Text 38"/>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41" name="Text 39"/>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BEYOND THE TEXTBOOK</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Real-World Applications &amp; Hybrid Approaches</a:t>
            </a:r>
            <a:endParaRPr lang="en-US" sz="3000" dirty="0"/>
          </a:p>
        </p:txBody>
      </p:sp>
      <p:pic>
        <p:nvPicPr>
          <p:cNvPr id="4" name="Image 0" descr="/home/claude/instr_formats/icons/network.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ARM Thumb / Thumb-2 — a compact 16-bit instruction subset added to the normally 32-bit ARM architecture specifically to improve code density for embedded and mobile devices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RISC-V — mostly fixed 32-bit, but supports an optional 16-bit "compressed" instruction extension (RVC) for smaller code footprint</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Modern x86-64 CPUs — externally variable-length for compatibility and density, but internally decode into fixed-length micro-ops for efficient pipelining</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Takeaway: modern ISA design increasingly blends both philosophies rather than picking one extreme</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AVOID THESE MISTAKES</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Common Misconceptions &amp; Pitfalls</a:t>
            </a:r>
            <a:endParaRPr lang="en-US" sz="3000" dirty="0"/>
          </a:p>
        </p:txBody>
      </p:sp>
      <p:pic>
        <p:nvPicPr>
          <p:cNvPr id="4" name="Image 0" descr="/home/claude/instr_formats/icons/warning.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Misconception: "Fixed-length instructions are always better." — Not true; it depends on the design goals (speed vs. memory efficiency)</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Misconception: "More opcode bits is always good." — More opcode bits means FEWER bits for operands, which can severely restrict addressable registers or memory</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Pitfall: forgetting that 2^n gives the MAXIMUM number of patterns, not necessarily the number of instructions actually used — some ISAs leave patterns unused/reserved</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Pitfall: in expanding opcode problems, forgetting to SUBTRACT the reserved escape pattern(s) before counting usable opcodes at each tier</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Misconception: "Variable-length always means slower." — Modern hardware mitigates this with pre-decode stages and micro-op translation, as we just saw</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QUICK CHECK</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Mini Activity — Think, Pair, Share</a:t>
            </a:r>
            <a:endParaRPr lang="en-US" sz="2800" dirty="0"/>
          </a:p>
        </p:txBody>
      </p:sp>
      <p:pic>
        <p:nvPicPr>
          <p:cNvPr id="4" name="Image 0" descr="/home/claude/instr_formats/icons/users.png">    </p:cNvPr>
          <p:cNvPicPr>
            <a:picLocks noChangeAspect="1"/>
          </p:cNvPicPr>
          <p:nvPr/>
        </p:nvPicPr>
        <p:blipFill>
          <a:blip r:embed="rId1"/>
          <a:stretch>
            <a:fillRect/>
          </a:stretch>
        </p:blipFill>
        <p:spPr>
          <a:xfrm>
            <a:off x="10561320" y="411480"/>
            <a:ext cx="1005840" cy="1005840"/>
          </a:xfrm>
          <a:prstGeom prst="rect">
            <a:avLst/>
          </a:prstGeom>
        </p:spPr>
      </p:pic>
      <p:sp>
        <p:nvSpPr>
          <p:cNvPr id="5" name="Shape 2"/>
          <p:cNvSpPr/>
          <p:nvPr/>
        </p:nvSpPr>
        <p:spPr>
          <a:xfrm>
            <a:off x="548640" y="1828800"/>
            <a:ext cx="11064240" cy="1828800"/>
          </a:xfrm>
          <a:prstGeom prst="roundRect">
            <a:avLst>
              <a:gd name="adj" fmla="val 4000"/>
            </a:avLst>
          </a:prstGeom>
          <a:solidFill>
            <a:srgbClr val="EAF2FB"/>
          </a:solidFill>
          <a:ln/>
        </p:spPr>
      </p:sp>
      <p:sp>
        <p:nvSpPr>
          <p:cNvPr id="6" name="Text 3"/>
          <p:cNvSpPr/>
          <p:nvPr/>
        </p:nvSpPr>
        <p:spPr>
          <a:xfrm>
            <a:off x="822960" y="1965960"/>
            <a:ext cx="10515600" cy="1554480"/>
          </a:xfrm>
          <a:prstGeom prst="rect">
            <a:avLst/>
          </a:prstGeom>
          <a:noFill/>
          <a:ln/>
        </p:spPr>
        <p:txBody>
          <a:bodyPr wrap="square" rtlCol="0" anchor="t"/>
          <a:lstStyle/>
          <a:p>
            <a:pPr indent="0" marL="0">
              <a:buNone/>
            </a:pPr>
            <a:r>
              <a:rPr lang="en-US" sz="1900" b="1" dirty="0">
                <a:solidFill>
                  <a:srgbClr val="06152B"/>
                </a:solidFill>
                <a:latin typeface="Calibri" pitchFamily="34" charset="0"/>
                <a:ea typeface="Calibri" pitchFamily="34" charset="-122"/>
                <a:cs typeface="Calibri" pitchFamily="34" charset="-120"/>
              </a:rPr>
              <a:t>With your neighbor (2 minutes): </a:t>
            </a:r>
            <a:pPr indent="0" marL="0">
              <a:buNone/>
            </a:pPr>
            <a:r>
              <a:rPr lang="en-US" sz="1800" dirty="0">
                <a:solidFill>
                  <a:srgbClr val="1B2A41"/>
                </a:solidFill>
                <a:latin typeface="Calibri" pitchFamily="34" charset="0"/>
                <a:ea typeface="Calibri" pitchFamily="34" charset="-122"/>
                <a:cs typeface="Calibri" pitchFamily="34" charset="-120"/>
              </a:rPr>
              <a:t>A 20-bit instruction format has 1 opcode field and 2 operand fields of equal width. If the design must support at least 100 distinct opcodes, what is the maximum width (in bits) each operand field can have?</a:t>
            </a:r>
            <a:endParaRPr lang="en-US" sz="1900" dirty="0"/>
          </a:p>
        </p:txBody>
      </p:sp>
      <p:sp>
        <p:nvSpPr>
          <p:cNvPr id="7" name="Text 4"/>
          <p:cNvSpPr/>
          <p:nvPr/>
        </p:nvSpPr>
        <p:spPr>
          <a:xfrm>
            <a:off x="548640" y="3886200"/>
            <a:ext cx="10972800" cy="365760"/>
          </a:xfrm>
          <a:prstGeom prst="rect">
            <a:avLst/>
          </a:prstGeom>
          <a:noFill/>
          <a:ln/>
        </p:spPr>
        <p:txBody>
          <a:bodyPr wrap="square"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Work through it using the same 4-step method from Problem 1 and Problem 2</a:t>
            </a:r>
            <a:endParaRPr lang="en-US" sz="1500" dirty="0"/>
          </a:p>
        </p:txBody>
      </p:sp>
      <p:sp>
        <p:nvSpPr>
          <p:cNvPr id="8" name="Text 5"/>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9" name="Text 6"/>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WRAP-UP</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Summary of Key Points</a:t>
            </a:r>
            <a:endParaRPr lang="en-US" sz="3000" dirty="0"/>
          </a:p>
        </p:txBody>
      </p:sp>
      <p:pic>
        <p:nvPicPr>
          <p:cNvPr id="4" name="Image 0" descr="/home/claude/instr_formats/icons/flag.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Instruction format defines how bits of an instruction are divided into opcode, addressing mode, and operand fields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Instruction length is the sum of all field widths, shaped by memory word size, operand count, and address space</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Bit allocation is a zero-sum trade-off between opcode bits (2^n operations) and operand/address bits (2^m locations)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Fixed-length formats favor simple, fast decode and easy pipelining (RISC); variable-length formats favor code density and rich instruction sets (CISC)</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Expanding opcode blends both ideas — giving more opcode bits to instructions that need fewer operands</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Real ISAs increasingly hybridize both philosophies (ARM Thumb, RISC-V compressed, x86-64 micro-ops)</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F3D"/>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QUIZ — CSS2257</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Test Your Understanding</a:t>
            </a:r>
            <a:endParaRPr lang="en-US" sz="2800" dirty="0"/>
          </a:p>
        </p:txBody>
      </p:sp>
      <p:pic>
        <p:nvPicPr>
          <p:cNvPr id="4" name="Image 0" descr="/home/claude/instr_formats/icons/question.png">    </p:cNvPr>
          <p:cNvPicPr>
            <a:picLocks noChangeAspect="1"/>
          </p:cNvPicPr>
          <p:nvPr/>
        </p:nvPicPr>
        <p:blipFill>
          <a:blip r:embed="rId1"/>
          <a:stretch>
            <a:fillRect/>
          </a:stretch>
        </p:blipFill>
        <p:spPr>
          <a:xfrm>
            <a:off x="10561320" y="365760"/>
            <a:ext cx="1005840" cy="1005840"/>
          </a:xfrm>
          <a:prstGeom prst="rect">
            <a:avLst/>
          </a:prstGeom>
        </p:spPr>
      </p:pic>
      <p:sp>
        <p:nvSpPr>
          <p:cNvPr id="5" name="Text 2"/>
          <p:cNvSpPr/>
          <p:nvPr/>
        </p:nvSpPr>
        <p:spPr>
          <a:xfrm>
            <a:off x="548640" y="1645920"/>
            <a:ext cx="11064240" cy="566928"/>
          </a:xfrm>
          <a:prstGeom prst="rect">
            <a:avLst/>
          </a:prstGeom>
          <a:noFill/>
          <a:ln/>
        </p:spPr>
        <p:txBody>
          <a:bodyPr wrap="square" rtlCol="0" anchor="t"/>
          <a:lstStyle/>
          <a:p>
            <a:pPr indent="0" marL="0">
              <a:buNone/>
            </a:pPr>
            <a:r>
              <a:rPr lang="en-US" sz="1600" dirty="0">
                <a:solidFill>
                  <a:srgbClr val="EAF2FB"/>
                </a:solidFill>
                <a:latin typeface="Calibri" pitchFamily="34" charset="0"/>
                <a:ea typeface="Calibri" pitchFamily="34" charset="-122"/>
                <a:cs typeface="Calibri" pitchFamily="34" charset="-120"/>
              </a:rPr>
              <a:t>Q1. (MCQ) An 8-bit opcode field can represent at most how many distinct instructions?  A) 8   B) 16   C) 256   D) 64</a:t>
            </a:r>
            <a:endParaRPr lang="en-US" sz="1600" dirty="0"/>
          </a:p>
        </p:txBody>
      </p:sp>
      <p:sp>
        <p:nvSpPr>
          <p:cNvPr id="6" name="Text 3"/>
          <p:cNvSpPr/>
          <p:nvPr/>
        </p:nvSpPr>
        <p:spPr>
          <a:xfrm>
            <a:off x="548640" y="2267712"/>
            <a:ext cx="11064240" cy="566928"/>
          </a:xfrm>
          <a:prstGeom prst="rect">
            <a:avLst/>
          </a:prstGeom>
          <a:noFill/>
          <a:ln/>
        </p:spPr>
        <p:txBody>
          <a:bodyPr wrap="square" rtlCol="0" anchor="t"/>
          <a:lstStyle/>
          <a:p>
            <a:pPr indent="0" marL="0">
              <a:buNone/>
            </a:pPr>
            <a:r>
              <a:rPr lang="en-US" sz="1600" dirty="0">
                <a:solidFill>
                  <a:srgbClr val="EAF2FB"/>
                </a:solidFill>
                <a:latin typeface="Calibri" pitchFamily="34" charset="0"/>
                <a:ea typeface="Calibri" pitchFamily="34" charset="-122"/>
                <a:cs typeface="Calibri" pitchFamily="34" charset="-120"/>
              </a:rPr>
              <a:t>Q2. (True/False) Fixed-length instructions always make pipelining easier than variable-length instructions.</a:t>
            </a:r>
            <a:endParaRPr lang="en-US" sz="1600" dirty="0"/>
          </a:p>
        </p:txBody>
      </p:sp>
      <p:sp>
        <p:nvSpPr>
          <p:cNvPr id="7" name="Text 4"/>
          <p:cNvSpPr/>
          <p:nvPr/>
        </p:nvSpPr>
        <p:spPr>
          <a:xfrm>
            <a:off x="548640" y="2889504"/>
            <a:ext cx="11064240" cy="566928"/>
          </a:xfrm>
          <a:prstGeom prst="rect">
            <a:avLst/>
          </a:prstGeom>
          <a:noFill/>
          <a:ln/>
        </p:spPr>
        <p:txBody>
          <a:bodyPr wrap="square" rtlCol="0" anchor="t"/>
          <a:lstStyle/>
          <a:p>
            <a:pPr indent="0" marL="0">
              <a:buNone/>
            </a:pPr>
            <a:r>
              <a:rPr lang="en-US" sz="1600" dirty="0">
                <a:solidFill>
                  <a:srgbClr val="EAF2FB"/>
                </a:solidFill>
                <a:latin typeface="Calibri" pitchFamily="34" charset="0"/>
                <a:ea typeface="Calibri" pitchFamily="34" charset="-122"/>
                <a:cs typeface="Calibri" pitchFamily="34" charset="-120"/>
              </a:rPr>
              <a:t>Q3. (Short answer) Define "instruction length" in one sentence.</a:t>
            </a:r>
            <a:endParaRPr lang="en-US" sz="1600" dirty="0"/>
          </a:p>
        </p:txBody>
      </p:sp>
      <p:sp>
        <p:nvSpPr>
          <p:cNvPr id="8" name="Text 5"/>
          <p:cNvSpPr/>
          <p:nvPr/>
        </p:nvSpPr>
        <p:spPr>
          <a:xfrm>
            <a:off x="548640" y="3511296"/>
            <a:ext cx="11064240" cy="566928"/>
          </a:xfrm>
          <a:prstGeom prst="rect">
            <a:avLst/>
          </a:prstGeom>
          <a:noFill/>
          <a:ln/>
        </p:spPr>
        <p:txBody>
          <a:bodyPr wrap="square" rtlCol="0" anchor="t"/>
          <a:lstStyle/>
          <a:p>
            <a:pPr indent="0" marL="0">
              <a:buNone/>
            </a:pPr>
            <a:r>
              <a:rPr lang="en-US" sz="1600" dirty="0">
                <a:solidFill>
                  <a:srgbClr val="EAF2FB"/>
                </a:solidFill>
                <a:latin typeface="Calibri" pitchFamily="34" charset="0"/>
                <a:ea typeface="Calibri" pitchFamily="34" charset="-122"/>
                <a:cs typeface="Calibri" pitchFamily="34" charset="-120"/>
              </a:rPr>
              <a:t>Q4. (MCQ) In expanding opcode, why is an "escape" pattern reserved?  A) To waste bits   B) To signal more opcode bits follow, for instructions with fewer operands   C) To store the address   D) To align memory</a:t>
            </a:r>
            <a:endParaRPr lang="en-US" sz="1600" dirty="0"/>
          </a:p>
        </p:txBody>
      </p:sp>
      <p:sp>
        <p:nvSpPr>
          <p:cNvPr id="9" name="Text 6"/>
          <p:cNvSpPr/>
          <p:nvPr/>
        </p:nvSpPr>
        <p:spPr>
          <a:xfrm>
            <a:off x="548640" y="4133088"/>
            <a:ext cx="11064240" cy="566928"/>
          </a:xfrm>
          <a:prstGeom prst="rect">
            <a:avLst/>
          </a:prstGeom>
          <a:noFill/>
          <a:ln/>
        </p:spPr>
        <p:txBody>
          <a:bodyPr wrap="square" rtlCol="0" anchor="t"/>
          <a:lstStyle/>
          <a:p>
            <a:pPr indent="0" marL="0">
              <a:buNone/>
            </a:pPr>
            <a:r>
              <a:rPr lang="en-US" sz="1600" dirty="0">
                <a:solidFill>
                  <a:srgbClr val="EAF2FB"/>
                </a:solidFill>
                <a:latin typeface="Calibri" pitchFamily="34" charset="0"/>
                <a:ea typeface="Calibri" pitchFamily="34" charset="-122"/>
                <a:cs typeface="Calibri" pitchFamily="34" charset="-120"/>
              </a:rPr>
              <a:t>Q5. (Short answer) Name one processor family that uses variable-length instructions and one that uses fixed-length instructions.</a:t>
            </a:r>
            <a:endParaRPr lang="en-US" sz="1600" dirty="0"/>
          </a:p>
        </p:txBody>
      </p:sp>
      <p:sp>
        <p:nvSpPr>
          <p:cNvPr id="10" name="Text 7"/>
          <p:cNvSpPr/>
          <p:nvPr/>
        </p:nvSpPr>
        <p:spPr>
          <a:xfrm>
            <a:off x="548640" y="4754880"/>
            <a:ext cx="11064240" cy="566928"/>
          </a:xfrm>
          <a:prstGeom prst="rect">
            <a:avLst/>
          </a:prstGeom>
          <a:noFill/>
          <a:ln/>
        </p:spPr>
        <p:txBody>
          <a:bodyPr wrap="square" rtlCol="0" anchor="t"/>
          <a:lstStyle/>
          <a:p>
            <a:pPr indent="0" marL="0">
              <a:buNone/>
            </a:pPr>
            <a:r>
              <a:rPr lang="en-US" sz="1600" dirty="0">
                <a:solidFill>
                  <a:srgbClr val="EAF2FB"/>
                </a:solidFill>
                <a:latin typeface="Calibri" pitchFamily="34" charset="0"/>
                <a:ea typeface="Calibri" pitchFamily="34" charset="-122"/>
                <a:cs typeface="Calibri" pitchFamily="34" charset="-120"/>
              </a:rPr>
              <a:t>Q6. (Numerical) A 24-bit instruction has 1 opcode field and 1 operand field. If the opcode field is 8 bits, how many bits does the operand field have, and how many memory locations can it address?</a:t>
            </a:r>
            <a:endParaRPr lang="en-US" sz="1600" dirty="0"/>
          </a:p>
        </p:txBody>
      </p:sp>
      <p:sp>
        <p:nvSpPr>
          <p:cNvPr id="11" name="Text 8"/>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2" name="Text 9"/>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QUIZ ANSWERS — CSS2257</a:t>
            </a:r>
            <a:endParaRPr lang="en-US" sz="1300" dirty="0"/>
          </a:p>
        </p:txBody>
      </p:sp>
      <p:sp>
        <p:nvSpPr>
          <p:cNvPr id="3" name="Text 1"/>
          <p:cNvSpPr/>
          <p:nvPr/>
        </p:nvSpPr>
        <p:spPr>
          <a:xfrm>
            <a:off x="548640" y="621792"/>
            <a:ext cx="10972800" cy="822960"/>
          </a:xfrm>
          <a:prstGeom prst="rect">
            <a:avLst/>
          </a:prstGeom>
          <a:noFill/>
          <a:ln/>
        </p:spPr>
        <p:txBody>
          <a:bodyPr wrap="square" rtlCol="0" anchor="ctr"/>
          <a:lstStyle/>
          <a:p>
            <a:pPr indent="0" marL="0">
              <a:buNone/>
            </a:pPr>
            <a:r>
              <a:rPr lang="en-US" sz="2800" b="1" dirty="0">
                <a:solidFill>
                  <a:srgbClr val="06152B"/>
                </a:solidFill>
                <a:latin typeface="Cambria" pitchFamily="34" charset="0"/>
                <a:ea typeface="Cambria" pitchFamily="34" charset="-122"/>
                <a:cs typeface="Cambria" pitchFamily="34" charset="-120"/>
              </a:rPr>
              <a:t>Let's Check Your Answers</a:t>
            </a:r>
            <a:endParaRPr lang="en-US" sz="2800" dirty="0"/>
          </a:p>
        </p:txBody>
      </p:sp>
      <p:pic>
        <p:nvPicPr>
          <p:cNvPr id="4" name="Image 0" descr="/home/claude/instr_formats/icons/check.png">    </p:cNvPr>
          <p:cNvPicPr>
            <a:picLocks noChangeAspect="1"/>
          </p:cNvPicPr>
          <p:nvPr/>
        </p:nvPicPr>
        <p:blipFill>
          <a:blip r:embed="rId1"/>
          <a:stretch>
            <a:fillRect/>
          </a:stretch>
        </p:blipFill>
        <p:spPr>
          <a:xfrm>
            <a:off x="10561320" y="411480"/>
            <a:ext cx="1005840" cy="1005840"/>
          </a:xfrm>
          <a:prstGeom prst="rect">
            <a:avLst/>
          </a:prstGeom>
        </p:spPr>
      </p:pic>
      <p:sp>
        <p:nvSpPr>
          <p:cNvPr id="5" name="Shape 2"/>
          <p:cNvSpPr/>
          <p:nvPr/>
        </p:nvSpPr>
        <p:spPr>
          <a:xfrm>
            <a:off x="548640" y="1554480"/>
            <a:ext cx="11064240" cy="658368"/>
          </a:xfrm>
          <a:prstGeom prst="roundRect">
            <a:avLst>
              <a:gd name="adj" fmla="val 8333"/>
            </a:avLst>
          </a:prstGeom>
          <a:solidFill>
            <a:srgbClr val="EAF2FB"/>
          </a:solidFill>
          <a:ln/>
        </p:spPr>
      </p:sp>
      <p:sp>
        <p:nvSpPr>
          <p:cNvPr id="6" name="Text 3"/>
          <p:cNvSpPr/>
          <p:nvPr/>
        </p:nvSpPr>
        <p:spPr>
          <a:xfrm>
            <a:off x="777240" y="1554480"/>
            <a:ext cx="10607040" cy="658368"/>
          </a:xfrm>
          <a:prstGeom prst="rect">
            <a:avLst/>
          </a:prstGeom>
          <a:noFill/>
          <a:ln/>
        </p:spPr>
        <p:txBody>
          <a:bodyPr wrap="square" rtlCol="0" anchor="ctr"/>
          <a:lstStyle/>
          <a:p>
            <a:pPr indent="0" marL="0">
              <a:buNone/>
            </a:pPr>
            <a:r>
              <a:rPr lang="en-US" sz="1500" dirty="0">
                <a:solidFill>
                  <a:srgbClr val="1B2A41"/>
                </a:solidFill>
                <a:latin typeface="Calibri" pitchFamily="34" charset="0"/>
                <a:ea typeface="Calibri" pitchFamily="34" charset="-122"/>
                <a:cs typeface="Calibri" pitchFamily="34" charset="-120"/>
              </a:rPr>
              <a:t>A1. C) 256 — because 2^8 = 256 distinct patterns.</a:t>
            </a:r>
            <a:endParaRPr lang="en-US" sz="1500" dirty="0"/>
          </a:p>
        </p:txBody>
      </p:sp>
      <p:sp>
        <p:nvSpPr>
          <p:cNvPr id="7" name="Shape 4"/>
          <p:cNvSpPr/>
          <p:nvPr/>
        </p:nvSpPr>
        <p:spPr>
          <a:xfrm>
            <a:off x="548640" y="2286000"/>
            <a:ext cx="11064240" cy="658368"/>
          </a:xfrm>
          <a:prstGeom prst="roundRect">
            <a:avLst>
              <a:gd name="adj" fmla="val 8333"/>
            </a:avLst>
          </a:prstGeom>
          <a:solidFill>
            <a:srgbClr val="EAF2FB"/>
          </a:solidFill>
          <a:ln/>
        </p:spPr>
      </p:sp>
      <p:sp>
        <p:nvSpPr>
          <p:cNvPr id="8" name="Text 5"/>
          <p:cNvSpPr/>
          <p:nvPr/>
        </p:nvSpPr>
        <p:spPr>
          <a:xfrm>
            <a:off x="777240" y="2286000"/>
            <a:ext cx="10607040" cy="658368"/>
          </a:xfrm>
          <a:prstGeom prst="rect">
            <a:avLst/>
          </a:prstGeom>
          <a:noFill/>
          <a:ln/>
        </p:spPr>
        <p:txBody>
          <a:bodyPr wrap="square" rtlCol="0" anchor="ctr"/>
          <a:lstStyle/>
          <a:p>
            <a:pPr indent="0" marL="0">
              <a:buNone/>
            </a:pPr>
            <a:r>
              <a:rPr lang="en-US" sz="1500" dirty="0">
                <a:solidFill>
                  <a:srgbClr val="1B2A41"/>
                </a:solidFill>
                <a:latin typeface="Calibri" pitchFamily="34" charset="0"/>
                <a:ea typeface="Calibri" pitchFamily="34" charset="-122"/>
                <a:cs typeface="Calibri" pitchFamily="34" charset="-120"/>
              </a:rPr>
              <a:t>A2. True — fixed length means the next instruction address is always PC + constant, simplifying pipelining.</a:t>
            </a:r>
            <a:endParaRPr lang="en-US" sz="1500" dirty="0"/>
          </a:p>
        </p:txBody>
      </p:sp>
      <p:sp>
        <p:nvSpPr>
          <p:cNvPr id="9" name="Shape 6"/>
          <p:cNvSpPr/>
          <p:nvPr/>
        </p:nvSpPr>
        <p:spPr>
          <a:xfrm>
            <a:off x="548640" y="3017520"/>
            <a:ext cx="11064240" cy="658368"/>
          </a:xfrm>
          <a:prstGeom prst="roundRect">
            <a:avLst>
              <a:gd name="adj" fmla="val 8333"/>
            </a:avLst>
          </a:prstGeom>
          <a:solidFill>
            <a:srgbClr val="EAF2FB"/>
          </a:solidFill>
          <a:ln/>
        </p:spPr>
      </p:sp>
      <p:sp>
        <p:nvSpPr>
          <p:cNvPr id="10" name="Text 7"/>
          <p:cNvSpPr/>
          <p:nvPr/>
        </p:nvSpPr>
        <p:spPr>
          <a:xfrm>
            <a:off x="777240" y="3017520"/>
            <a:ext cx="10607040" cy="658368"/>
          </a:xfrm>
          <a:prstGeom prst="rect">
            <a:avLst/>
          </a:prstGeom>
          <a:noFill/>
          <a:ln/>
        </p:spPr>
        <p:txBody>
          <a:bodyPr wrap="square" rtlCol="0" anchor="ctr"/>
          <a:lstStyle/>
          <a:p>
            <a:pPr indent="0" marL="0">
              <a:buNone/>
            </a:pPr>
            <a:r>
              <a:rPr lang="en-US" sz="1500" dirty="0">
                <a:solidFill>
                  <a:srgbClr val="1B2A41"/>
                </a:solidFill>
                <a:latin typeface="Calibri" pitchFamily="34" charset="0"/>
                <a:ea typeface="Calibri" pitchFamily="34" charset="-122"/>
                <a:cs typeface="Calibri" pitchFamily="34" charset="-120"/>
              </a:rPr>
              <a:t>A3. Instruction length is the total number of bits used to represent one complete machine instruction (sum of all its field widths).</a:t>
            </a:r>
            <a:endParaRPr lang="en-US" sz="1500" dirty="0"/>
          </a:p>
        </p:txBody>
      </p:sp>
      <p:sp>
        <p:nvSpPr>
          <p:cNvPr id="11" name="Shape 8"/>
          <p:cNvSpPr/>
          <p:nvPr/>
        </p:nvSpPr>
        <p:spPr>
          <a:xfrm>
            <a:off x="548640" y="3749040"/>
            <a:ext cx="11064240" cy="658368"/>
          </a:xfrm>
          <a:prstGeom prst="roundRect">
            <a:avLst>
              <a:gd name="adj" fmla="val 8333"/>
            </a:avLst>
          </a:prstGeom>
          <a:solidFill>
            <a:srgbClr val="EAF2FB"/>
          </a:solidFill>
          <a:ln/>
        </p:spPr>
      </p:sp>
      <p:sp>
        <p:nvSpPr>
          <p:cNvPr id="12" name="Text 9"/>
          <p:cNvSpPr/>
          <p:nvPr/>
        </p:nvSpPr>
        <p:spPr>
          <a:xfrm>
            <a:off x="777240" y="3749040"/>
            <a:ext cx="10607040" cy="658368"/>
          </a:xfrm>
          <a:prstGeom prst="rect">
            <a:avLst/>
          </a:prstGeom>
          <a:noFill/>
          <a:ln/>
        </p:spPr>
        <p:txBody>
          <a:bodyPr wrap="square" rtlCol="0" anchor="ctr"/>
          <a:lstStyle/>
          <a:p>
            <a:pPr indent="0" marL="0">
              <a:buNone/>
            </a:pPr>
            <a:r>
              <a:rPr lang="en-US" sz="1500" dirty="0">
                <a:solidFill>
                  <a:srgbClr val="1B2A41"/>
                </a:solidFill>
                <a:latin typeface="Calibri" pitchFamily="34" charset="0"/>
                <a:ea typeface="Calibri" pitchFamily="34" charset="-122"/>
                <a:cs typeface="Calibri" pitchFamily="34" charset="-120"/>
              </a:rPr>
              <a:t>A4. B) To signal more opcode bits follow, for instructions with fewer operands — this is exactly the expanding opcode mechanism.</a:t>
            </a:r>
            <a:endParaRPr lang="en-US" sz="1500" dirty="0"/>
          </a:p>
        </p:txBody>
      </p:sp>
      <p:sp>
        <p:nvSpPr>
          <p:cNvPr id="13" name="Shape 10"/>
          <p:cNvSpPr/>
          <p:nvPr/>
        </p:nvSpPr>
        <p:spPr>
          <a:xfrm>
            <a:off x="548640" y="4480560"/>
            <a:ext cx="11064240" cy="658368"/>
          </a:xfrm>
          <a:prstGeom prst="roundRect">
            <a:avLst>
              <a:gd name="adj" fmla="val 8333"/>
            </a:avLst>
          </a:prstGeom>
          <a:solidFill>
            <a:srgbClr val="EAF2FB"/>
          </a:solidFill>
          <a:ln/>
        </p:spPr>
      </p:sp>
      <p:sp>
        <p:nvSpPr>
          <p:cNvPr id="14" name="Text 11"/>
          <p:cNvSpPr/>
          <p:nvPr/>
        </p:nvSpPr>
        <p:spPr>
          <a:xfrm>
            <a:off x="777240" y="4480560"/>
            <a:ext cx="10607040" cy="658368"/>
          </a:xfrm>
          <a:prstGeom prst="rect">
            <a:avLst/>
          </a:prstGeom>
          <a:noFill/>
          <a:ln/>
        </p:spPr>
        <p:txBody>
          <a:bodyPr wrap="square" rtlCol="0" anchor="ctr"/>
          <a:lstStyle/>
          <a:p>
            <a:pPr indent="0" marL="0">
              <a:buNone/>
            </a:pPr>
            <a:r>
              <a:rPr lang="en-US" sz="1500" dirty="0">
                <a:solidFill>
                  <a:srgbClr val="1B2A41"/>
                </a:solidFill>
                <a:latin typeface="Calibri" pitchFamily="34" charset="0"/>
                <a:ea typeface="Calibri" pitchFamily="34" charset="-122"/>
                <a:cs typeface="Calibri" pitchFamily="34" charset="-120"/>
              </a:rPr>
              <a:t>A5. Variable-length: x86 / x86-64.  Fixed-length: MIPS, ARM (classic), or RISC-V.</a:t>
            </a:r>
            <a:endParaRPr lang="en-US" sz="1500" dirty="0"/>
          </a:p>
        </p:txBody>
      </p:sp>
      <p:sp>
        <p:nvSpPr>
          <p:cNvPr id="15" name="Shape 12"/>
          <p:cNvSpPr/>
          <p:nvPr/>
        </p:nvSpPr>
        <p:spPr>
          <a:xfrm>
            <a:off x="548640" y="5212080"/>
            <a:ext cx="11064240" cy="658368"/>
          </a:xfrm>
          <a:prstGeom prst="roundRect">
            <a:avLst>
              <a:gd name="adj" fmla="val 8333"/>
            </a:avLst>
          </a:prstGeom>
          <a:solidFill>
            <a:srgbClr val="EAF2FB"/>
          </a:solidFill>
          <a:ln/>
        </p:spPr>
      </p:sp>
      <p:sp>
        <p:nvSpPr>
          <p:cNvPr id="16" name="Text 13"/>
          <p:cNvSpPr/>
          <p:nvPr/>
        </p:nvSpPr>
        <p:spPr>
          <a:xfrm>
            <a:off x="777240" y="5212080"/>
            <a:ext cx="10607040" cy="658368"/>
          </a:xfrm>
          <a:prstGeom prst="rect">
            <a:avLst/>
          </a:prstGeom>
          <a:noFill/>
          <a:ln/>
        </p:spPr>
        <p:txBody>
          <a:bodyPr wrap="square" rtlCol="0" anchor="ctr"/>
          <a:lstStyle/>
          <a:p>
            <a:pPr indent="0" marL="0">
              <a:buNone/>
            </a:pPr>
            <a:r>
              <a:rPr lang="en-US" sz="1500" dirty="0">
                <a:solidFill>
                  <a:srgbClr val="1B2A41"/>
                </a:solidFill>
                <a:latin typeface="Calibri" pitchFamily="34" charset="0"/>
                <a:ea typeface="Calibri" pitchFamily="34" charset="-122"/>
                <a:cs typeface="Calibri" pitchFamily="34" charset="-120"/>
              </a:rPr>
              <a:t>A6. Operand field = 24 − 8 = 16 bits, which can address 2^16 = 65,536 memory locations.</a:t>
            </a:r>
            <a:endParaRPr lang="en-US" sz="1500" dirty="0"/>
          </a:p>
        </p:txBody>
      </p:sp>
      <p:sp>
        <p:nvSpPr>
          <p:cNvPr id="17" name="Text 14"/>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18" name="Text 15"/>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WHAT'S NEXT</a:t>
            </a:r>
            <a:endParaRPr lang="en-US" sz="1300" dirty="0"/>
          </a:p>
        </p:txBody>
      </p:sp>
      <p:sp>
        <p:nvSpPr>
          <p:cNvPr id="3" name="Text 1"/>
          <p:cNvSpPr/>
          <p:nvPr/>
        </p:nvSpPr>
        <p:spPr>
          <a:xfrm>
            <a:off x="548640" y="621792"/>
            <a:ext cx="7863840" cy="822960"/>
          </a:xfrm>
          <a:prstGeom prst="rect">
            <a:avLst/>
          </a:prstGeom>
          <a:noFill/>
          <a:ln/>
        </p:spPr>
        <p:txBody>
          <a:bodyPr wrap="square" rtlCol="0" anchor="ctr"/>
          <a:lstStyle/>
          <a:p>
            <a:pPr indent="0" marL="0">
              <a:buNone/>
            </a:pPr>
            <a:r>
              <a:rPr lang="en-US" sz="3000" b="1" dirty="0">
                <a:solidFill>
                  <a:srgbClr val="06152B"/>
                </a:solidFill>
                <a:latin typeface="Cambria" pitchFamily="34" charset="0"/>
                <a:ea typeface="Cambria" pitchFamily="34" charset="-122"/>
                <a:cs typeface="Cambria" pitchFamily="34" charset="-120"/>
              </a:rPr>
              <a:t>Further Reading &amp; Assignment</a:t>
            </a:r>
            <a:endParaRPr lang="en-US" sz="3000" dirty="0"/>
          </a:p>
        </p:txBody>
      </p:sp>
      <p:pic>
        <p:nvPicPr>
          <p:cNvPr id="4" name="Image 0" descr="/home/claude/instr_formats/icons/book.png">    </p:cNvPr>
          <p:cNvPicPr>
            <a:picLocks noChangeAspect="1"/>
          </p:cNvPicPr>
          <p:nvPr/>
        </p:nvPicPr>
        <p:blipFill>
          <a:blip r:embed="rId1"/>
          <a:stretch>
            <a:fillRect/>
          </a:stretch>
        </p:blipFill>
        <p:spPr>
          <a:xfrm>
            <a:off x="10561320" y="411480"/>
            <a:ext cx="1005840" cy="1005840"/>
          </a:xfrm>
          <a:prstGeom prst="rect">
            <a:avLst/>
          </a:prstGeom>
        </p:spPr>
      </p:pic>
      <p:sp>
        <p:nvSpPr>
          <p:cNvPr id="5" name="Text 2"/>
          <p:cNvSpPr/>
          <p:nvPr/>
        </p:nvSpPr>
        <p:spPr>
          <a:xfrm>
            <a:off x="548640" y="1600200"/>
            <a:ext cx="7863840" cy="4572000"/>
          </a:xfrm>
          <a:prstGeom prst="rect">
            <a:avLst/>
          </a:prstGeom>
          <a:noFill/>
          <a:ln/>
        </p:spPr>
        <p:txBody>
          <a:bodyPr wrap="square" rtlCol="0" anchor="t"/>
          <a:lstStyle/>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Reading: Compare the MIPS R-type, I-type, and J-type instruction formats — identify how each allocates its 32 bits differently</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Reading: Look up the x86-64 instruction encoding structure (prefixes, opcode, ModRM, SIB, displacement, immediate) for a real-world variable-length example</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Assignment: Given a 16-bit instruction format with 3 operand fields of equal width, derive the maximum opcode count if each operand field must be at least 4 bits wide</a:t>
            </a:r>
            <a:endParaRPr lang="en-US" sz="2000" dirty="0"/>
          </a:p>
          <a:p>
            <a:pPr marL="342900" indent="-342900">
              <a:spcAft>
                <a:spcPts val="1400"/>
              </a:spcAft>
              <a:buSzPct val="100000"/>
              <a:buChar char="•"/>
            </a:pPr>
            <a:r>
              <a:rPr lang="en-US" sz="2000" dirty="0">
                <a:solidFill>
                  <a:srgbClr val="1B2A41"/>
                </a:solidFill>
                <a:latin typeface="Calibri" pitchFamily="34" charset="0"/>
                <a:ea typeface="Calibri" pitchFamily="34" charset="-122"/>
                <a:cs typeface="Calibri" pitchFamily="34" charset="-120"/>
              </a:rPr>
              <a:t>Preview of next lecture: Addressing Modes — how operand fields are actually interpreted (immediate, direct, indirect, indexed, register)</a:t>
            </a:r>
            <a:endParaRPr lang="en-US" sz="2000" dirty="0"/>
          </a:p>
        </p:txBody>
      </p:sp>
      <p:sp>
        <p:nvSpPr>
          <p:cNvPr id="7" name="Text 3"/>
          <p:cNvSpPr/>
          <p:nvPr/>
        </p:nvSpPr>
        <p:spPr>
          <a:xfrm>
            <a:off x="457200" y="6473952"/>
            <a:ext cx="8686800" cy="292608"/>
          </a:xfrm>
          <a:prstGeom prst="rect">
            <a:avLst/>
          </a:prstGeom>
          <a:noFill/>
          <a:ln/>
        </p:spPr>
        <p:txBody>
          <a:bodyPr wrap="square" rtlCol="0" anchor="ctr"/>
          <a:lstStyle/>
          <a:p>
            <a:pPr algn="l" indent="0" marL="0">
              <a:buNone/>
            </a:pPr>
            <a:r>
              <a:rPr lang="en-US" sz="1000" dirty="0">
                <a:solidFill>
                  <a:srgbClr val="5B6B7F"/>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1000" dirty="0"/>
          </a:p>
        </p:txBody>
      </p:sp>
      <p:sp>
        <p:nvSpPr>
          <p:cNvPr id="8" name="Text 4"/>
          <p:cNvSpPr/>
          <p:nvPr/>
        </p:nvSpPr>
        <p:spPr>
          <a:xfrm>
            <a:off x="11247120" y="6473952"/>
            <a:ext cx="548640" cy="292608"/>
          </a:xfrm>
          <a:prstGeom prst="rect">
            <a:avLst/>
          </a:prstGeom>
          <a:noFill/>
          <a:ln/>
        </p:spPr>
        <p:txBody>
          <a:bodyPr wrap="square" rtlCol="0" anchor="ctr"/>
          <a:lstStyle/>
          <a:p>
            <a:pPr algn="r" indent="0" marL="0">
              <a:buNone/>
            </a:pPr>
            <a:r>
              <a:rPr lang="en-US" sz="1000" dirty="0">
                <a:solidFill>
                  <a:srgbClr val="5B6B7F"/>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2026-08-24T04:04:46Z</dcterms:created>
  <dcterms:modified xsi:type="dcterms:W3CDTF">2026-08-24T04:04:46Z</dcterms:modified>
</cp:coreProperties>
</file>