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1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040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welcome to today's session on Computer Organization and Architecture. I'm D. Venkatesan, and today we're diving into one of the most fundamental ideas in computing: how we actually measure how fast a computer is. You've probably heard terms like 3 GHz processor thrown around when buying a laptop — by the end of this hour, you'll know exactly what that means, and more importantly, why it doesn't tell the whole story.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 quick note on where we are — this course is offered by the Department of AI and Robotics under the School of PSAIAC at Presidency University. Computer Organization and Architecture is a foundational subject for anyone working with AI and robotics systems, because understanding hardware performance directly affects how you design efficient algorithms and systems later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hour. By the end of this lecture, you should be able to define clock rate in your own words, explain how we actually measure a computer's performance, calculate instruction execution rate, and — importantly — solve numerical problems using the CPU performance equation. We'll also bust a few common myths, like higher GHz always means a faster computer, which isn't quite true. Keep these objectives in mind as we go.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a quick warm-up — no wrong answers here. Show of hands: when you last looked at a laptop or phone spec sheet, what did you check first? RAM? Storage? Processor speed? Now, has anyone heard the term GHz and assumed bigger number equals faster machine? Take 2-3 quick responses from the class. Don't worry about being right — we're just activating what you already know. I'll use your answers to transition straight into today's topic, because that assumption is exactly what we're going to examine critically today.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should you, as an AI and Robotics student, care about clock rates and CPI? Because every model you train, every robot control loop you write, runs on physical hardware with real performance limits. If you don't understand how to measure and compare performance, you can't make informed decisions about what hardware you need, or why one system finishes a task faster than another. This isn't just theory — it's the foundation for every performance-related decision you'll make as an engineer.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build up from the basics. Every CPU has a clock — not a wall clock, but an electronic oscillator that generates a steady stream of electrical pulses, like a heartbeat. Every single operation inside the processor — moving data, doing arithmetic, fetching instructions — is synchronized to these pulses. Without this synchronization, different parts of the CPU could get out of sync and produce garbage results. So, the clock is what keeps everything working in lockstep.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one full up-down of that pulse we just saw is called a clock cycle. The time it takes to complete one cycle is the clock period, denoted T, and it's measured in seconds — though in practice, we're talking about billionths of a second, or nanoseconds. There's a simple relationship: the period is just one divided by the frequency. Keep this formula in your notes; we'll use it in our numerical problems shortly.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today's headline term: clock rate, also called clock speed. It's simply how many clock cycles happen every second. When your laptop spec says 3.5 GHz, that means the clock ticks 3.5 billion times every second. That's an almost unimaginable number, isn't it? Take a second to appreciate that. But — and this is the key point we'll return to again and again today — a higher clock rate does not automatically mean a faster computer overall. We'll see exactly why shortly.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 give you a sense of scale and history: early processors in the 1970s ran at just a few megahertz. Today, we're at multiple gigahertz. But notice something interesting — this growth has actually flattened out since around the mid-2000s. Why? Because pushing clock speed higher generates more heat and consumes more power, and there are physical limits to how fast you can push electrons through silicon. This is exactly why manufacturers shifted strategy toward multiple cores instead of just raising clock speed — a preview of ideas you'll explore later in this course.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clock speed alone doesn't tell us how fast a computer really is, what does? The gold-standard measure is CPU execution time — literally, how long does it take to run a specific program. Performance is inversely related to this time: the less time a task takes, the higher the performance. But execution time depends on more than just the clock — it depends on the program itself, the compiler, and the processor's internal design. Let's unpack these factors one at a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formula in today's lecture, so let's slow down here. CPU time equals Instruction Count, multiplied by CPI, multiplied by Clock Cycle Time. Instruction Count is simply how many instructions your program executes. CPI, or Cycles Per Instruction, tells us on average how many clock cycles each instruction takes to complete — some instructions are quick, some take longer. And Clock Cycle Time is just the reciprocal of clock rate, which we covered earlier. Multiply these three together, and you get the actual time your program takes to run. This is what truly defines performance — not clock speed alone.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myth-buster moment. Imagine two processors, both running at 3 GHz. Are they equally fast? Not necessarily! If one has a much higher CPI — meaning each instruction takes more cycles to finish — it could actually be slower overall, despite having the identical clock speed. This is why simply comparing GHz numbers on a spec sheet, like we discussed in our icebreaker, is misleading. True performance depends on the full equation: instruction count, CPI, and clock cycle time together.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zoom into CPI a bit more. Not every instruction is equal — a simple addition might take just one clock cycle, while a multiplication might take three, and a memory load could take four or more cycles because it has to fetch data from slower memory. The CPI we use in our formula is an average across all instructions actually executed in the program, weighted by how often each instruction type appears. This is why the same program can perform differently on different processors — the mix of instruction types interacts differently with each processor's internal design.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instruction execution rate, commonly expressed as MIPS — Millions of Instructions Per Second. It's calculated by dividing the clock rate by CPI, then converting to millions. It tells us how many instructions the processor can churn through every second. Sounds like a great universal metric, right? Unfortunately, it has a big flaw, which we'll discuss shortly — MIPS can be misleading when comparing processors with different instruction sets, because a simple instruction on one architecture might do the work of three simple instructions on another.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real-world example you'll recognize. Smartphone processors often run at lower clock speeds than laptop or desktop CPUs — sometimes half the GHz — and yet your phone doesn't feel painfully slow, does it? That's because mobile chip designers optimize heavily for low CPI and efficient instruction sets suited to everyday tasks, alongside power efficiency. This proves our earlier point in a very tangible way: raw clock speed is just one ingredient in the performance recipe.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industry, especially in cloud computing and AI training clusters — which many of you will work with in this program — engineers don't just chase clock speed. They care about performance-per-watt and performance-per-dollar, because running thousands of processors is expensive and generates enormous heat. The same performance equation we just learned underlies decisions about which chips to deploy at scale, whether it's CPUs, GPUs, or the TPUs used for AI model training.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Gamers and enthusiasts sometimes overclock their CPUs — manually pushing the clock rate above the factory setting to squeeze out extra performance. This can genuinely help, but it comes at a cost: more heat, more power draw, and there's a limit to the benefit if other parts of the system, like memory speed, become the actual bottleneck. This is a great real-world illustration of why performance is a balance of multiple factors, not a single dial you can just turn up.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many of you are in the AI and Robotics program, here's one that hits close to home. In robotic control systems, what matters most is often not the highest possible clock speed, but predictable, consistent instruction execution — because a robot arm or autonomous vehicle needs to respond within strict real-time deadlines. A processor with a slightly lower peak clock speed but very consistent CPI can actually be a better choice for these systems than a faster one with unpredictable timing.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work through our first numerical problem together, step by step. We're told the clock rate is 2.5 gigahertz. First, always convert to a standard unit — so 2.5 GHz becomes 2.5 times ten to the power nine Hertz. We want the clock period, T, and we know T equals one divided by frequency. So, T equals one divided by 2.5 times ten to the nine. Let's work that out on the next part of this slide together — pause here and try it yourselves first.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finish this together. One divided by 2.5 times ten to the nine gives us 0.4 times ten to the negative nine seconds — which we write more naturally as 0.4 nanoseconds. So every single clock cycle in this processor takes just 0.4 billionths of a second. That's the kind of timescale we're dealing with in modern computing — genuinely hard to imagine intuitively, but the math is straightforward once you have the formula.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apply the full CPU performance equation. We have a program with 50 million instructions, an average CPI of 4, and a clock rate of 2 GHz. Our job is to find the total CPU execution time. Remember the formula: CPU Time equals Instruction Count, times CPI, times Clock Cycle Time — and Clock Cycle Time is 1 over the clock rate. Take a moment, and let's solve this together step by step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find the clock cycle time: 1 divided by 2 times ten to the nine equals 0.5 nanoseconds. Next, plug everything into our formula: 50 million instructions, times a CPI of 4, times 0.5 nanoseconds per cycle. Multiply that out carefully, and you get 0.1 seconds. So this program takes one-tenth of a second to run on this processor. Notice how we needed three pieces of information — not just clock rate — to get this answer. That's the whole point of today's lecture, captured in one calculation.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revisit our icebreaker question now that we have the tools to answer it properly. Is a higher GHz processor always faster? As we've now proven mathematically, the answer is no. A processor with a higher clock rate but a high CPI can actually be slower in real execution time than a processor with a lower clock rate but efficient, low CPI design. Always insist on seeing actual performance benchmarks or execution time comparisons, not just the clock speed number on a box.</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another common trap: assuming MIPS is a fair, universal way to compare any two processors. It isn't — because different instruction set architectures do different amounts of work per instruction. A single ARM instruction and a single x86 instruction aren't doing equivalent amounts of computation. This is why the industry developed standardized benchmark suites, which run identical real-world programs across different machines to get a fair, apples-to-apples comparison.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myth, since we're on a roll: does doubling the number of cores double your performance? Only if your software is written to actually use multiple cores efficiently — this is called parallelism. Many everyday programs still run largely on a single core for key parts of their work. This concept connects to something called Amdahl's Law, which we'll explore in much greater depth in a future lecture, but for now, just remember: more cores help only as much as your software allows.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do a quick activity to cement what we've learned. Turn to the person next to you, and in two minutes, discuss why your phone — with a lower clock speed than your laptop — doesn't feel dramatically slower in daily use. Use everything we've covered: CPI, instruction set efficiency, and workload type. After two minutes, I'll ask a couple of pairs to share their thinking with the class.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thinking exercise, no calculators needed if you reason it through conceptually — though feel free to actually compute it. Processor A runs at 3 GHz but has a CPI of 5. Processor B runs at 2 GHz but has a much better CPI of 2. Same program, same instruction count. Which one finishes faster? Take thirty seconds to think about this using our CPU time formula, then I'll reveal the answer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check your reasoning. Since instruction count is the same for both, we can compare just CPI divided by clock rate as a proxy for relative time. Processor A gives us 5 divided by 3, about 1.67. Processor B gives us 2 divided by 2, which is exactly 1. Lower is better here since it represents less time — so Processor B, despite its lower clock rate, is actually the faster processor. This is a perfect, concrete confirmation of everything we've discussed today.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it all together. We started with clock rate — how many cycles per second a processor runs. We learned the true measure of performance is CPU time, driven by three factors: instruction count, CPI, and clock cycle time. We learned about CPI and MIPS as related metrics, and crucially, we busted the myth that a bigger GHz number automatically means a faster machine. We saw this play out in smartphones, servers, gaming rigs, and robotics — real systems where this exact math matters. Great work today — let's test your understanding with a short quiz.</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a quick quiz — don't worry, this isn't for grading, it's just to check your own understanding before we wrap up. Give yourselves about four minutes to work through these seven questions, either individually or with the person next to you. Try your best based on what we've covered today. I'll reveal the answers right after, and we'll go through anything that seems tricky.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through these together. Question 1 — clock rate is measured in Hertz, our fundamental unit of frequency. Question 2 is False, and hopefully that felt very natural to answer after today's lecture. Question 3 — the CPU time formula, which I hope is now committed to memory. Question 4 — CPI is Cycles Per Instruction. Question 5 — a quick calculation gives us 0.25 nanoseconds. Question 6 is False, tying back to our discussion on ISA differences. And Question 7 — sometimes faster, which perfectly summarizes today's big idea: it depends on the whole equation, not one number. If you found any of these tricky, jot them down for revision — we'll build directly on this next class.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close, here's what's coming next: we'll build directly on today's foundation with Amdahl's Law, which formalizes how much benefit you actually get from parallelism — very relevant to your later work in AI and robotics. For further reading, I'd recommend the performance chapter in Hennessy and Patterson's classic textbook on computer architecture. I'll post three practice problems on the LMS for you to work through before next class. Thank you all for your engagement today — feel free to drop by during office hours if anything from today's session needs more clarification. See you next time!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082A40"/>
          </a:solidFill>
          <a:ln/>
        </p:spPr>
      </p:sp>
      <p:sp>
        <p:nvSpPr>
          <p:cNvPr id="3" name="Shape 1"/>
          <p:cNvSpPr/>
          <p:nvPr/>
        </p:nvSpPr>
        <p:spPr>
          <a:xfrm>
            <a:off x="-1371600" y="4754880"/>
            <a:ext cx="3657600" cy="3657600"/>
          </a:xfrm>
          <a:prstGeom prst="ellipse">
            <a:avLst/>
          </a:prstGeom>
          <a:solidFill>
            <a:srgbClr val="1C7293"/>
          </a:solidFill>
          <a:ln/>
        </p:spPr>
      </p:sp>
      <p:sp>
        <p:nvSpPr>
          <p:cNvPr id="4" name="Shape 2"/>
          <p:cNvSpPr/>
          <p:nvPr/>
        </p:nvSpPr>
        <p:spPr>
          <a:xfrm>
            <a:off x="640080" y="548640"/>
            <a:ext cx="822960" cy="822960"/>
          </a:xfrm>
          <a:prstGeom prst="ellipse">
            <a:avLst/>
          </a:prstGeom>
          <a:solidFill>
            <a:srgbClr val="F4A259"/>
          </a:solidFill>
          <a:ln/>
        </p:spPr>
      </p:sp>
      <p:pic>
        <p:nvPicPr>
          <p:cNvPr id="5" name="Image 0" descr="icons/clock_0B3D5C.png"/>
          <p:cNvPicPr>
            <a:picLocks noChangeAspect="1"/>
          </p:cNvPicPr>
          <p:nvPr/>
        </p:nvPicPr>
        <p:blipFill>
          <a:blip r:embed="rId3"/>
          <a:stretch>
            <a:fillRect/>
          </a:stretch>
        </p:blipFill>
        <p:spPr>
          <a:xfrm>
            <a:off x="747065" y="655625"/>
            <a:ext cx="608990" cy="608990"/>
          </a:xfrm>
          <a:prstGeom prst="rect">
            <a:avLst/>
          </a:prstGeom>
        </p:spPr>
      </p:pic>
      <p:sp>
        <p:nvSpPr>
          <p:cNvPr id="6" name="Text 3"/>
          <p:cNvSpPr/>
          <p:nvPr/>
        </p:nvSpPr>
        <p:spPr>
          <a:xfrm>
            <a:off x="1645920" y="621792"/>
            <a:ext cx="7315200" cy="457200"/>
          </a:xfrm>
          <a:prstGeom prst="rect">
            <a:avLst/>
          </a:prstGeom>
          <a:noFill/>
          <a:ln/>
        </p:spPr>
        <p:txBody>
          <a:bodyPr wrap="square" lIns="0" tIns="0" rIns="0" bIns="0" rtlCol="0" anchor="ctr"/>
          <a:lstStyle/>
          <a:p>
            <a:pPr marL="0" indent="0">
              <a:buNone/>
            </a:pPr>
            <a:r>
              <a:rPr lang="en-US" sz="1400" b="1" kern="0" spc="200" dirty="0">
                <a:solidFill>
                  <a:srgbClr val="F4A259"/>
                </a:solidFill>
                <a:latin typeface="Calibri" pitchFamily="34" charset="0"/>
                <a:ea typeface="Calibri" pitchFamily="34" charset="-122"/>
                <a:cs typeface="Calibri" pitchFamily="34" charset="-120"/>
              </a:rPr>
              <a:t>COMPUTER ORGANIZATION AND ARCHITECTURE  •  CSS2257</a:t>
            </a:r>
            <a:endParaRPr lang="en-US" sz="1400" dirty="0"/>
          </a:p>
        </p:txBody>
      </p:sp>
      <p:sp>
        <p:nvSpPr>
          <p:cNvPr id="7" name="Text 4"/>
          <p:cNvSpPr/>
          <p:nvPr/>
        </p:nvSpPr>
        <p:spPr>
          <a:xfrm>
            <a:off x="640080" y="1920240"/>
            <a:ext cx="10424160" cy="21945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Clock Rate, Performance Measurement,</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Clock Speed &amp; Instruction Execution Rate</a:t>
            </a:r>
            <a:endParaRPr lang="en-US" sz="4000" dirty="0"/>
          </a:p>
        </p:txBody>
      </p:sp>
      <p:sp>
        <p:nvSpPr>
          <p:cNvPr id="8" name="Text 5"/>
          <p:cNvSpPr/>
          <p:nvPr/>
        </p:nvSpPr>
        <p:spPr>
          <a:xfrm>
            <a:off x="640080" y="4160520"/>
            <a:ext cx="10424160" cy="548640"/>
          </a:xfrm>
          <a:prstGeom prst="rect">
            <a:avLst/>
          </a:prstGeom>
          <a:noFill/>
          <a:ln/>
        </p:spPr>
        <p:txBody>
          <a:bodyPr wrap="square" lIns="0" tIns="0" rIns="0" bIns="0" rtlCol="0" anchor="ctr"/>
          <a:lstStyle/>
          <a:p>
            <a:pPr marL="0" indent="0">
              <a:buNone/>
            </a:pPr>
            <a:r>
              <a:rPr lang="en-US" sz="1800" dirty="0">
                <a:solidFill>
                  <a:srgbClr val="E8EEF2"/>
                </a:solidFill>
                <a:latin typeface="Calibri" pitchFamily="34" charset="0"/>
                <a:ea typeface="Calibri" pitchFamily="34" charset="-122"/>
                <a:cs typeface="Calibri" pitchFamily="34" charset="-120"/>
              </a:rPr>
              <a:t>Presidency University  |  School of PSAIAC  |  Department of AI and Robotics</a:t>
            </a:r>
            <a:endParaRPr lang="en-US" sz="1800" dirty="0"/>
          </a:p>
        </p:txBody>
      </p:sp>
      <p:sp>
        <p:nvSpPr>
          <p:cNvPr id="9" name="Shape 6"/>
          <p:cNvSpPr/>
          <p:nvPr/>
        </p:nvSpPr>
        <p:spPr>
          <a:xfrm>
            <a:off x="658368" y="4892040"/>
            <a:ext cx="2926080" cy="0"/>
          </a:xfrm>
          <a:prstGeom prst="line">
            <a:avLst/>
          </a:prstGeom>
          <a:noFill/>
          <a:ln w="25400">
            <a:solidFill>
              <a:srgbClr val="F4A259"/>
            </a:solidFill>
            <a:prstDash val="solid"/>
          </a:ln>
        </p:spPr>
      </p:sp>
      <p:sp>
        <p:nvSpPr>
          <p:cNvPr id="10" name="Text 7"/>
          <p:cNvSpPr/>
          <p:nvPr/>
        </p:nvSpPr>
        <p:spPr>
          <a:xfrm>
            <a:off x="640080" y="5074920"/>
            <a:ext cx="10424160" cy="1188720"/>
          </a:xfrm>
          <a:prstGeom prst="rect">
            <a:avLst/>
          </a:prstGeom>
          <a:noFill/>
          <a:ln/>
        </p:spPr>
        <p:txBody>
          <a:bodyPr wrap="square" lIns="0" tIns="0" rIns="0" bIns="0" rtlCol="0" anchor="ctr"/>
          <a:lstStyle/>
          <a:p>
            <a:pPr marL="0" indent="0">
              <a:lnSpc>
                <a:spcPct val="130000"/>
              </a:lnSpc>
              <a:buNone/>
            </a:pPr>
            <a:r>
              <a:rPr lang="en-US" sz="1300" dirty="0">
                <a:solidFill>
                  <a:srgbClr val="E8EEF2"/>
                </a:solidFill>
                <a:latin typeface="Calibri" pitchFamily="34" charset="0"/>
                <a:ea typeface="Calibri" pitchFamily="34" charset="-122"/>
                <a:cs typeface="Calibri" pitchFamily="34" charset="-120"/>
              </a:rPr>
              <a:t>Faculty: D. Venkatesan</a:t>
            </a:r>
            <a:endParaRPr lang="en-US" sz="1300" dirty="0"/>
          </a:p>
          <a:p>
            <a:pPr marL="0" indent="0">
              <a:lnSpc>
                <a:spcPct val="130000"/>
              </a:lnSpc>
              <a:buNone/>
            </a:pPr>
            <a:r>
              <a:rPr lang="en-US" sz="1300" dirty="0">
                <a:solidFill>
                  <a:srgbClr val="E8EEF2"/>
                </a:solidFill>
                <a:latin typeface="Calibri" pitchFamily="34" charset="0"/>
                <a:ea typeface="Calibri" pitchFamily="34" charset="-122"/>
                <a:cs typeface="Calibri" pitchFamily="34" charset="-120"/>
              </a:rPr>
              <a:t>Semester: [X]  |  Year: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9692640" y="640080"/>
            <a:ext cx="1645920" cy="1645920"/>
          </a:xfrm>
          <a:prstGeom prst="ellipse">
            <a:avLst/>
          </a:prstGeom>
          <a:solidFill>
            <a:srgbClr val="1C7293"/>
          </a:solidFill>
          <a:ln/>
        </p:spPr>
      </p:sp>
      <p:pic>
        <p:nvPicPr>
          <p:cNvPr id="3" name="Image 0" descr="icons/layers_FFFFFF.png"/>
          <p:cNvPicPr>
            <a:picLocks noChangeAspect="1"/>
          </p:cNvPicPr>
          <p:nvPr/>
        </p:nvPicPr>
        <p:blipFill>
          <a:blip r:embed="rId3"/>
          <a:stretch>
            <a:fillRect/>
          </a:stretch>
        </p:blipFill>
        <p:spPr>
          <a:xfrm>
            <a:off x="9906610" y="854050"/>
            <a:ext cx="1217981" cy="1217981"/>
          </a:xfrm>
          <a:prstGeom prst="rect">
            <a:avLst/>
          </a:prstGeom>
        </p:spPr>
      </p:pic>
      <p:sp>
        <p:nvSpPr>
          <p:cNvPr id="4" name="Text 1"/>
          <p:cNvSpPr/>
          <p:nvPr/>
        </p:nvSpPr>
        <p:spPr>
          <a:xfrm>
            <a:off x="640080" y="685800"/>
            <a:ext cx="7315200" cy="365760"/>
          </a:xfrm>
          <a:prstGeom prst="rect">
            <a:avLst/>
          </a:prstGeom>
          <a:noFill/>
          <a:ln/>
        </p:spPr>
        <p:txBody>
          <a:bodyPr wrap="square" lIns="0" tIns="0" rIns="0" bIns="0" rtlCol="0" anchor="ctr"/>
          <a:lstStyle/>
          <a:p>
            <a:pPr marL="0" indent="0">
              <a:buNone/>
            </a:pPr>
            <a:r>
              <a:rPr lang="en-US" sz="1300" b="1" kern="0" spc="200" dirty="0">
                <a:solidFill>
                  <a:srgbClr val="F4A259"/>
                </a:solidFill>
                <a:latin typeface="Calibri" pitchFamily="34" charset="0"/>
                <a:ea typeface="Calibri" pitchFamily="34" charset="-122"/>
                <a:cs typeface="Calibri" pitchFamily="34" charset="-120"/>
              </a:rPr>
              <a:t>ABOUT THIS COURSE</a:t>
            </a:r>
            <a:endParaRPr lang="en-US" sz="1300" dirty="0"/>
          </a:p>
        </p:txBody>
      </p:sp>
      <p:sp>
        <p:nvSpPr>
          <p:cNvPr id="5" name="Text 2"/>
          <p:cNvSpPr/>
          <p:nvPr/>
        </p:nvSpPr>
        <p:spPr>
          <a:xfrm>
            <a:off x="640080" y="1097280"/>
            <a:ext cx="8686800" cy="13716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Presidency University</a:t>
            </a:r>
            <a:endParaRPr lang="en-US" sz="3000" dirty="0"/>
          </a:p>
          <a:p>
            <a:pPr marL="0" indent="0">
              <a:buNone/>
            </a:pPr>
            <a:r>
              <a:rPr lang="en-US" sz="3000" b="1" dirty="0">
                <a:solidFill>
                  <a:srgbClr val="FFFFFF"/>
                </a:solidFill>
                <a:latin typeface="Cambria" pitchFamily="34" charset="0"/>
                <a:ea typeface="Cambria" pitchFamily="34" charset="-122"/>
                <a:cs typeface="Cambria" pitchFamily="34" charset="-120"/>
              </a:rPr>
              <a:t>School of PSAIAC — Department of AI and Robotics</a:t>
            </a:r>
            <a:endParaRPr lang="en-US" sz="3000" dirty="0"/>
          </a:p>
        </p:txBody>
      </p:sp>
      <p:sp>
        <p:nvSpPr>
          <p:cNvPr id="6" name="Text 3"/>
          <p:cNvSpPr/>
          <p:nvPr/>
        </p:nvSpPr>
        <p:spPr>
          <a:xfrm>
            <a:off x="640080" y="2651760"/>
            <a:ext cx="9875520" cy="3474720"/>
          </a:xfrm>
          <a:prstGeom prst="rect">
            <a:avLst/>
          </a:prstGeom>
          <a:noFill/>
          <a:ln/>
        </p:spPr>
        <p:txBody>
          <a:bodyPr wrap="square" lIns="0" tIns="0" rIns="0" bIns="0" rtlCol="0" anchor="ctr"/>
          <a:lstStyle/>
          <a:p>
            <a:pPr marL="342900" indent="-342900">
              <a:lnSpc>
                <a:spcPct val="115000"/>
              </a:lnSpc>
              <a:spcAft>
                <a:spcPts val="1400"/>
              </a:spcAft>
              <a:buSzPct val="100000"/>
              <a:buChar char="●"/>
            </a:pPr>
            <a:r>
              <a:rPr lang="en-US" sz="1700" dirty="0">
                <a:solidFill>
                  <a:srgbClr val="E8EEF2"/>
                </a:solidFill>
                <a:latin typeface="Calibri" pitchFamily="34" charset="0"/>
                <a:ea typeface="Calibri" pitchFamily="34" charset="-122"/>
                <a:cs typeface="Calibri" pitchFamily="34" charset="-120"/>
              </a:rPr>
              <a:t>Committed to excellence in engineering education</a:t>
            </a:r>
            <a:endParaRPr lang="en-US" sz="1700" dirty="0"/>
          </a:p>
          <a:p>
            <a:pPr marL="342900" indent="-342900">
              <a:lnSpc>
                <a:spcPct val="115000"/>
              </a:lnSpc>
              <a:spcAft>
                <a:spcPts val="1400"/>
              </a:spcAft>
              <a:buSzPct val="100000"/>
              <a:buChar char="●"/>
            </a:pPr>
            <a:r>
              <a:rPr lang="en-US" sz="1700" dirty="0">
                <a:solidFill>
                  <a:srgbClr val="E8EEF2"/>
                </a:solidFill>
                <a:latin typeface="Calibri" pitchFamily="34" charset="0"/>
                <a:ea typeface="Calibri" pitchFamily="34" charset="-122"/>
                <a:cs typeface="Calibri" pitchFamily="34" charset="-120"/>
              </a:rPr>
              <a:t>Computer Organization and Architecture (CSS2257) is a foundational subject for AI and Robotics engineers</a:t>
            </a:r>
            <a:endParaRPr lang="en-US" sz="1700" dirty="0"/>
          </a:p>
          <a:p>
            <a:pPr marL="342900" indent="-342900">
              <a:lnSpc>
                <a:spcPct val="115000"/>
              </a:lnSpc>
              <a:spcAft>
                <a:spcPts val="1400"/>
              </a:spcAft>
              <a:buSzPct val="100000"/>
              <a:buChar char="●"/>
            </a:pPr>
            <a:r>
              <a:rPr lang="en-US" sz="1700" dirty="0">
                <a:solidFill>
                  <a:srgbClr val="E8EEF2"/>
                </a:solidFill>
                <a:latin typeface="Calibri" pitchFamily="34" charset="0"/>
                <a:ea typeface="Calibri" pitchFamily="34" charset="-122"/>
                <a:cs typeface="Calibri" pitchFamily="34" charset="-120"/>
              </a:rPr>
              <a:t>Understanding hardware performance shapes how you design efficient algorithms and systems</a:t>
            </a:r>
            <a:endParaRPr lang="en-US" sz="1700" dirty="0"/>
          </a:p>
        </p:txBody>
      </p:sp>
      <p:sp>
        <p:nvSpPr>
          <p:cNvPr id="7" name="Text 4"/>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AFC6D6"/>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target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GETTING ORIENTED</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Learning Objectives</a:t>
            </a:r>
            <a:endParaRPr lang="en-US" sz="2400" dirty="0"/>
          </a:p>
        </p:txBody>
      </p:sp>
      <p:sp>
        <p:nvSpPr>
          <p:cNvPr id="7" name="Text 4"/>
          <p:cNvSpPr/>
          <p:nvPr/>
        </p:nvSpPr>
        <p:spPr>
          <a:xfrm>
            <a:off x="548640" y="1417320"/>
            <a:ext cx="6492240" cy="4846320"/>
          </a:xfrm>
          <a:prstGeom prst="rect">
            <a:avLst/>
          </a:prstGeom>
          <a:noFill/>
          <a:ln/>
        </p:spPr>
        <p:txBody>
          <a:bodyPr wrap="square" lIns="0" tIns="0" rIns="0" bIns="0" rtlCol="0" anchor="t"/>
          <a:lstStyle/>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Understand what “clock rate” and “clock speed” mean</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Learn how CPU performance is measured and expressed</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Understand Instruction Execution Rate and CPI</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Apply the CPU performance equation to solve numerical problems</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Recognize common misconceptions about processor speed</a:t>
            </a:r>
            <a:endParaRPr lang="en-US" sz="1500" dirty="0"/>
          </a:p>
        </p:txBody>
      </p:sp>
      <p:sp>
        <p:nvSpPr>
          <p:cNvPr id="8" name="Shape 5"/>
          <p:cNvSpPr/>
          <p:nvPr/>
        </p:nvSpPr>
        <p:spPr>
          <a:xfrm>
            <a:off x="7360920" y="1417320"/>
            <a:ext cx="4279392" cy="4846320"/>
          </a:xfrm>
          <a:prstGeom prst="roundRect">
            <a:avLst>
              <a:gd name="adj" fmla="val 2564"/>
            </a:avLst>
          </a:prstGeom>
          <a:solidFill>
            <a:srgbClr val="E8EEF2"/>
          </a:solidFill>
          <a:ln/>
          <a:effectLst>
            <a:outerShdw blurRad="76200" dist="25400" dir="5400000" algn="bl" rotWithShape="0">
              <a:srgbClr val="1A1A2E">
                <a:alpha val="18000"/>
              </a:srgbClr>
            </a:outerShdw>
          </a:effectLst>
        </p:spPr>
      </p:sp>
      <p:sp>
        <p:nvSpPr>
          <p:cNvPr id="9" name="Shape 6"/>
          <p:cNvSpPr/>
          <p:nvPr/>
        </p:nvSpPr>
        <p:spPr>
          <a:xfrm>
            <a:off x="7680960" y="1737360"/>
            <a:ext cx="502920" cy="502920"/>
          </a:xfrm>
          <a:prstGeom prst="ellipse">
            <a:avLst/>
          </a:prstGeom>
          <a:solidFill>
            <a:srgbClr val="0B3D5C"/>
          </a:solidFill>
          <a:ln/>
        </p:spPr>
      </p:sp>
      <p:pic>
        <p:nvPicPr>
          <p:cNvPr id="10" name="Image 1" descr="icons/target_FFFFFF.png"/>
          <p:cNvPicPr>
            <a:picLocks noChangeAspect="1"/>
          </p:cNvPicPr>
          <p:nvPr/>
        </p:nvPicPr>
        <p:blipFill>
          <a:blip r:embed="rId4"/>
          <a:stretch>
            <a:fillRect/>
          </a:stretch>
        </p:blipFill>
        <p:spPr>
          <a:xfrm>
            <a:off x="7746340" y="1802740"/>
            <a:ext cx="372161" cy="372161"/>
          </a:xfrm>
          <a:prstGeom prst="rect">
            <a:avLst/>
          </a:prstGeom>
        </p:spPr>
      </p:pic>
      <p:sp>
        <p:nvSpPr>
          <p:cNvPr id="11" name="Text 7"/>
          <p:cNvSpPr/>
          <p:nvPr/>
        </p:nvSpPr>
        <p:spPr>
          <a:xfrm>
            <a:off x="8321040" y="1709928"/>
            <a:ext cx="2999232" cy="548640"/>
          </a:xfrm>
          <a:prstGeom prst="rect">
            <a:avLst/>
          </a:prstGeom>
          <a:noFill/>
          <a:ln/>
        </p:spPr>
        <p:txBody>
          <a:bodyPr wrap="square" lIns="0" tIns="0" rIns="0" bIns="0"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By the end of this hour</a:t>
            </a:r>
            <a:endParaRPr lang="en-US" sz="1300" dirty="0"/>
          </a:p>
        </p:txBody>
      </p:sp>
      <p:sp>
        <p:nvSpPr>
          <p:cNvPr id="12" name="Text 8"/>
          <p:cNvSpPr/>
          <p:nvPr/>
        </p:nvSpPr>
        <p:spPr>
          <a:xfrm>
            <a:off x="7680960" y="2468880"/>
            <a:ext cx="3639312" cy="3566160"/>
          </a:xfrm>
          <a:prstGeom prst="rect">
            <a:avLst/>
          </a:prstGeom>
          <a:noFill/>
          <a:ln/>
        </p:spPr>
        <p:txBody>
          <a:bodyPr wrap="square" lIns="0" tIns="0" rIns="0" bIns="0" rtlCol="0" anchor="t"/>
          <a:lstStyle/>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You'll be able to confidently read a processor spec sheet, explain why GHz alone is misleading, and calculate real execution time by hand.</a:t>
            </a:r>
            <a:endParaRPr lang="en-US" sz="1250" dirty="0"/>
          </a:p>
        </p:txBody>
      </p:sp>
      <p:sp>
        <p:nvSpPr>
          <p:cNvPr id="13" name="Text 9"/>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7293"/>
        </a:solidFill>
        <a:effectLst/>
      </p:bgPr>
    </p:bg>
    <p:spTree>
      <p:nvGrpSpPr>
        <p:cNvPr id="1" name=""/>
        <p:cNvGrpSpPr/>
        <p:nvPr/>
      </p:nvGrpSpPr>
      <p:grpSpPr>
        <a:xfrm>
          <a:off x="0" y="0"/>
          <a:ext cx="0" cy="0"/>
          <a:chOff x="0" y="0"/>
          <a:chExt cx="0" cy="0"/>
        </a:xfrm>
      </p:grpSpPr>
      <p:sp>
        <p:nvSpPr>
          <p:cNvPr id="2" name="Shape 0"/>
          <p:cNvSpPr/>
          <p:nvPr/>
        </p:nvSpPr>
        <p:spPr>
          <a:xfrm>
            <a:off x="9509760" y="4206240"/>
            <a:ext cx="3657600" cy="3657600"/>
          </a:xfrm>
          <a:prstGeom prst="ellipse">
            <a:avLst/>
          </a:prstGeom>
          <a:solidFill>
            <a:srgbClr val="0B3D5C"/>
          </a:solidFill>
          <a:ln/>
        </p:spPr>
      </p:sp>
      <p:sp>
        <p:nvSpPr>
          <p:cNvPr id="3" name="Shape 1"/>
          <p:cNvSpPr/>
          <p:nvPr/>
        </p:nvSpPr>
        <p:spPr>
          <a:xfrm>
            <a:off x="640080" y="594360"/>
            <a:ext cx="914400" cy="914400"/>
          </a:xfrm>
          <a:prstGeom prst="ellipse">
            <a:avLst/>
          </a:prstGeom>
          <a:solidFill>
            <a:srgbClr val="F4A259"/>
          </a:solidFill>
          <a:ln/>
        </p:spPr>
      </p:sp>
      <p:pic>
        <p:nvPicPr>
          <p:cNvPr id="4" name="Image 0" descr="icons/message_0B3D5C.png"/>
          <p:cNvPicPr>
            <a:picLocks noChangeAspect="1"/>
          </p:cNvPicPr>
          <p:nvPr/>
        </p:nvPicPr>
        <p:blipFill>
          <a:blip r:embed="rId3"/>
          <a:stretch>
            <a:fillRect/>
          </a:stretch>
        </p:blipFill>
        <p:spPr>
          <a:xfrm>
            <a:off x="758952" y="713232"/>
            <a:ext cx="676656" cy="676656"/>
          </a:xfrm>
          <a:prstGeom prst="rect">
            <a:avLst/>
          </a:prstGeom>
        </p:spPr>
      </p:pic>
      <p:sp>
        <p:nvSpPr>
          <p:cNvPr id="5" name="Text 2"/>
          <p:cNvSpPr/>
          <p:nvPr/>
        </p:nvSpPr>
        <p:spPr>
          <a:xfrm>
            <a:off x="1737360" y="713232"/>
            <a:ext cx="7315200" cy="365760"/>
          </a:xfrm>
          <a:prstGeom prst="rect">
            <a:avLst/>
          </a:prstGeom>
          <a:noFill/>
          <a:ln/>
        </p:spPr>
        <p:txBody>
          <a:bodyPr wrap="square" lIns="0" tIns="0" rIns="0" bIns="0" rtlCol="0" anchor="ctr"/>
          <a:lstStyle/>
          <a:p>
            <a:pPr marL="0" indent="0">
              <a:buNone/>
            </a:pPr>
            <a:r>
              <a:rPr lang="en-US" sz="1300" b="1" kern="0" spc="200" dirty="0">
                <a:solidFill>
                  <a:srgbClr val="082A40"/>
                </a:solidFill>
                <a:latin typeface="Calibri" pitchFamily="34" charset="0"/>
                <a:ea typeface="Calibri" pitchFamily="34" charset="-122"/>
                <a:cs typeface="Calibri" pitchFamily="34" charset="-120"/>
              </a:rPr>
              <a:t>ICEBREAKER  •  3-5 MINUTES</a:t>
            </a:r>
            <a:endParaRPr lang="en-US" sz="1300" dirty="0"/>
          </a:p>
        </p:txBody>
      </p:sp>
      <p:sp>
        <p:nvSpPr>
          <p:cNvPr id="6" name="Text 3"/>
          <p:cNvSpPr/>
          <p:nvPr/>
        </p:nvSpPr>
        <p:spPr>
          <a:xfrm>
            <a:off x="640080" y="1737360"/>
            <a:ext cx="10424160" cy="10058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Let's Warm Up</a:t>
            </a:r>
            <a:endParaRPr lang="en-US" sz="2800" dirty="0"/>
          </a:p>
        </p:txBody>
      </p:sp>
      <p:sp>
        <p:nvSpPr>
          <p:cNvPr id="7" name="Shape 4"/>
          <p:cNvSpPr/>
          <p:nvPr/>
        </p:nvSpPr>
        <p:spPr>
          <a:xfrm>
            <a:off x="640080" y="2880360"/>
            <a:ext cx="10881360" cy="2377440"/>
          </a:xfrm>
          <a:prstGeom prst="roundRect">
            <a:avLst>
              <a:gd name="adj" fmla="val 5385"/>
            </a:avLst>
          </a:prstGeom>
          <a:solidFill>
            <a:srgbClr val="FFFFFF"/>
          </a:solidFill>
          <a:ln/>
        </p:spPr>
      </p:sp>
      <p:sp>
        <p:nvSpPr>
          <p:cNvPr id="8" name="Text 5"/>
          <p:cNvSpPr/>
          <p:nvPr/>
        </p:nvSpPr>
        <p:spPr>
          <a:xfrm>
            <a:off x="1005840" y="3108960"/>
            <a:ext cx="10149840" cy="1554480"/>
          </a:xfrm>
          <a:prstGeom prst="rect">
            <a:avLst/>
          </a:prstGeom>
          <a:noFill/>
          <a:ln/>
        </p:spPr>
        <p:txBody>
          <a:bodyPr wrap="square" lIns="0" tIns="0" rIns="0" bIns="0" rtlCol="0" anchor="t"/>
          <a:lstStyle/>
          <a:p>
            <a:pPr marL="0" indent="0">
              <a:lnSpc>
                <a:spcPct val="130000"/>
              </a:lnSpc>
              <a:buNone/>
            </a:pPr>
            <a:r>
              <a:rPr lang="en-US" sz="1700" dirty="0">
                <a:solidFill>
                  <a:srgbClr val="1A1A2E"/>
                </a:solidFill>
                <a:latin typeface="Calibri" pitchFamily="34" charset="0"/>
                <a:ea typeface="Calibri" pitchFamily="34" charset="-122"/>
                <a:cs typeface="Calibri" pitchFamily="34" charset="-120"/>
              </a:rPr>
              <a:t>Q1. When buying a phone or laptop, what specs do you usually check first?</a:t>
            </a:r>
            <a:endParaRPr lang="en-US" sz="1700" dirty="0"/>
          </a:p>
          <a:p>
            <a:pPr marL="0" indent="0">
              <a:lnSpc>
                <a:spcPct val="130000"/>
              </a:lnSpc>
              <a:buNone/>
            </a:pPr>
            <a:r>
              <a:rPr lang="en-US" sz="1700" dirty="0">
                <a:solidFill>
                  <a:srgbClr val="1A1A2E"/>
                </a:solidFill>
                <a:latin typeface="Calibri" pitchFamily="34" charset="0"/>
                <a:ea typeface="Calibri" pitchFamily="34" charset="-122"/>
                <a:cs typeface="Calibri" pitchFamily="34" charset="-120"/>
              </a:rPr>
              <a:t>Q2. Have you heard someone say “this processor is 3 GHz, so it's fast”? What do you think that number means?</a:t>
            </a:r>
            <a:endParaRPr lang="en-US" sz="1700" dirty="0"/>
          </a:p>
          <a:p>
            <a:pPr marL="0" indent="0">
              <a:lnSpc>
                <a:spcPct val="130000"/>
              </a:lnSpc>
              <a:buNone/>
            </a:pPr>
            <a:r>
              <a:rPr lang="en-US" sz="1700" dirty="0">
                <a:solidFill>
                  <a:srgbClr val="1A1A2E"/>
                </a:solidFill>
                <a:latin typeface="Calibri" pitchFamily="34" charset="0"/>
                <a:ea typeface="Calibri" pitchFamily="34" charset="-122"/>
                <a:cs typeface="Calibri" pitchFamily="34" charset="-120"/>
              </a:rPr>
              <a:t>Q3. Do you think a higher GHz processor is always faster? Why or why not?</a:t>
            </a:r>
            <a:endParaRPr lang="en-US" sz="1700" dirty="0"/>
          </a:p>
        </p:txBody>
      </p:sp>
      <p:sp>
        <p:nvSpPr>
          <p:cNvPr id="9" name="Text 6"/>
          <p:cNvSpPr/>
          <p:nvPr/>
        </p:nvSpPr>
        <p:spPr>
          <a:xfrm>
            <a:off x="1005840" y="4572000"/>
            <a:ext cx="10149840" cy="54864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Show of hands, then 2-3 quick responses — no wrong answers here.</a:t>
            </a:r>
            <a:endParaRPr lang="en-US" sz="1300" dirty="0"/>
          </a:p>
        </p:txBody>
      </p:sp>
      <p:sp>
        <p:nvSpPr>
          <p:cNvPr id="10" name="Text 7"/>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AFC6D6"/>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zap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MOTIVATION</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Why This Topic Matters</a:t>
            </a:r>
            <a:endParaRPr lang="en-US" sz="2400" dirty="0"/>
          </a:p>
        </p:txBody>
      </p:sp>
      <p:sp>
        <p:nvSpPr>
          <p:cNvPr id="7" name="Text 4"/>
          <p:cNvSpPr/>
          <p:nvPr/>
        </p:nvSpPr>
        <p:spPr>
          <a:xfrm>
            <a:off x="548640" y="1417320"/>
            <a:ext cx="6492240" cy="4846320"/>
          </a:xfrm>
          <a:prstGeom prst="rect">
            <a:avLst/>
          </a:prstGeom>
          <a:noFill/>
          <a:ln/>
        </p:spPr>
        <p:txBody>
          <a:bodyPr wrap="square" lIns="0" tIns="0" rIns="0" bIns="0" rtlCol="0" anchor="t"/>
          <a:lstStyle/>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Performance measurement guides hardware purchase decisions</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Engineers use it to compare processor designs</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Critical for AI/robotics: training time and real-time control loops depend on it</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Misunderstanding performance metrics leads to poor system design choices</a:t>
            </a:r>
            <a:endParaRPr lang="en-US" sz="1500" dirty="0"/>
          </a:p>
        </p:txBody>
      </p:sp>
      <p:sp>
        <p:nvSpPr>
          <p:cNvPr id="8" name="Shape 5"/>
          <p:cNvSpPr/>
          <p:nvPr/>
        </p:nvSpPr>
        <p:spPr>
          <a:xfrm>
            <a:off x="7360920" y="1417320"/>
            <a:ext cx="4279392" cy="4846320"/>
          </a:xfrm>
          <a:prstGeom prst="roundRect">
            <a:avLst>
              <a:gd name="adj" fmla="val 2564"/>
            </a:avLst>
          </a:prstGeom>
          <a:solidFill>
            <a:srgbClr val="E8EEF2"/>
          </a:solidFill>
          <a:ln/>
          <a:effectLst>
            <a:outerShdw blurRad="76200" dist="25400" dir="5400000" algn="bl" rotWithShape="0">
              <a:srgbClr val="1A1A2E">
                <a:alpha val="18000"/>
              </a:srgbClr>
            </a:outerShdw>
          </a:effectLst>
        </p:spPr>
      </p:sp>
      <p:sp>
        <p:nvSpPr>
          <p:cNvPr id="9" name="Shape 6"/>
          <p:cNvSpPr/>
          <p:nvPr/>
        </p:nvSpPr>
        <p:spPr>
          <a:xfrm>
            <a:off x="7680960" y="1737360"/>
            <a:ext cx="502920" cy="502920"/>
          </a:xfrm>
          <a:prstGeom prst="ellipse">
            <a:avLst/>
          </a:prstGeom>
          <a:solidFill>
            <a:srgbClr val="0B3D5C"/>
          </a:solidFill>
          <a:ln/>
        </p:spPr>
      </p:sp>
      <p:pic>
        <p:nvPicPr>
          <p:cNvPr id="10" name="Image 1" descr="icons/cpu_FFFFFF.png"/>
          <p:cNvPicPr>
            <a:picLocks noChangeAspect="1"/>
          </p:cNvPicPr>
          <p:nvPr/>
        </p:nvPicPr>
        <p:blipFill>
          <a:blip r:embed="rId4"/>
          <a:stretch>
            <a:fillRect/>
          </a:stretch>
        </p:blipFill>
        <p:spPr>
          <a:xfrm>
            <a:off x="7746340" y="1802740"/>
            <a:ext cx="372161" cy="372161"/>
          </a:xfrm>
          <a:prstGeom prst="rect">
            <a:avLst/>
          </a:prstGeom>
        </p:spPr>
      </p:pic>
      <p:sp>
        <p:nvSpPr>
          <p:cNvPr id="11" name="Text 7"/>
          <p:cNvSpPr/>
          <p:nvPr/>
        </p:nvSpPr>
        <p:spPr>
          <a:xfrm>
            <a:off x="8321040" y="1709928"/>
            <a:ext cx="2999232" cy="548640"/>
          </a:xfrm>
          <a:prstGeom prst="rect">
            <a:avLst/>
          </a:prstGeom>
          <a:noFill/>
          <a:ln/>
        </p:spPr>
        <p:txBody>
          <a:bodyPr wrap="square" lIns="0" tIns="0" rIns="0" bIns="0"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For AI &amp; Robotics engineers</a:t>
            </a:r>
            <a:endParaRPr lang="en-US" sz="1300" dirty="0"/>
          </a:p>
        </p:txBody>
      </p:sp>
      <p:sp>
        <p:nvSpPr>
          <p:cNvPr id="12" name="Text 8"/>
          <p:cNvSpPr/>
          <p:nvPr/>
        </p:nvSpPr>
        <p:spPr>
          <a:xfrm>
            <a:off x="7680960" y="2468880"/>
            <a:ext cx="3639312" cy="3566160"/>
          </a:xfrm>
          <a:prstGeom prst="rect">
            <a:avLst/>
          </a:prstGeom>
          <a:noFill/>
          <a:ln/>
        </p:spPr>
        <p:txBody>
          <a:bodyPr wrap="square" lIns="0" tIns="0" rIns="0" bIns="0" rtlCol="0" anchor="t"/>
          <a:lstStyle/>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Every model you train and every control loop you write runs on real hardware with real performance limits. Understanding these metrics is how you make informed engineering decisions.</a:t>
            </a:r>
            <a:endParaRPr lang="en-US" sz="1250" dirty="0"/>
          </a:p>
        </p:txBody>
      </p:sp>
      <p:sp>
        <p:nvSpPr>
          <p:cNvPr id="13" name="Text 9"/>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activity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FOUNDATIONS</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What Is a Clock in a Computer?</a:t>
            </a:r>
            <a:endParaRPr lang="en-US" sz="2400" dirty="0"/>
          </a:p>
        </p:txBody>
      </p:sp>
      <p:sp>
        <p:nvSpPr>
          <p:cNvPr id="7" name="Text 4"/>
          <p:cNvSpPr/>
          <p:nvPr/>
        </p:nvSpPr>
        <p:spPr>
          <a:xfrm>
            <a:off x="548640" y="1417320"/>
            <a:ext cx="6492240" cy="4846320"/>
          </a:xfrm>
          <a:prstGeom prst="rect">
            <a:avLst/>
          </a:prstGeom>
          <a:noFill/>
          <a:ln/>
        </p:spPr>
        <p:txBody>
          <a:bodyPr wrap="square" lIns="0" tIns="0" rIns="0" bIns="0" rtlCol="0" anchor="t"/>
          <a:lstStyle/>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A clock is an electronic oscillator generating regular pulses</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These pulses synchronize operations inside the CPU</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Think of it as the “heartbeat” of the processor</a:t>
            </a:r>
            <a:endParaRPr lang="en-US" sz="1500" dirty="0"/>
          </a:p>
        </p:txBody>
      </p:sp>
      <p:sp>
        <p:nvSpPr>
          <p:cNvPr id="8" name="Shape 5"/>
          <p:cNvSpPr/>
          <p:nvPr/>
        </p:nvSpPr>
        <p:spPr>
          <a:xfrm>
            <a:off x="7360920" y="1417320"/>
            <a:ext cx="4279392" cy="4846320"/>
          </a:xfrm>
          <a:prstGeom prst="roundRect">
            <a:avLst>
              <a:gd name="adj" fmla="val 2564"/>
            </a:avLst>
          </a:prstGeom>
          <a:solidFill>
            <a:srgbClr val="E8EEF2"/>
          </a:solidFill>
          <a:ln/>
          <a:effectLst>
            <a:outerShdw blurRad="76200" dist="25400" dir="5400000" algn="bl" rotWithShape="0">
              <a:srgbClr val="1A1A2E">
                <a:alpha val="18000"/>
              </a:srgbClr>
            </a:outerShdw>
          </a:effectLst>
        </p:spPr>
      </p:sp>
      <p:sp>
        <p:nvSpPr>
          <p:cNvPr id="9" name="Shape 6"/>
          <p:cNvSpPr/>
          <p:nvPr/>
        </p:nvSpPr>
        <p:spPr>
          <a:xfrm>
            <a:off x="7680960" y="1737360"/>
            <a:ext cx="502920" cy="502920"/>
          </a:xfrm>
          <a:prstGeom prst="ellipse">
            <a:avLst/>
          </a:prstGeom>
          <a:solidFill>
            <a:srgbClr val="0B3D5C"/>
          </a:solidFill>
          <a:ln/>
        </p:spPr>
      </p:sp>
      <p:pic>
        <p:nvPicPr>
          <p:cNvPr id="10" name="Image 1" descr="icons/activity_FFFFFF.png"/>
          <p:cNvPicPr>
            <a:picLocks noChangeAspect="1"/>
          </p:cNvPicPr>
          <p:nvPr/>
        </p:nvPicPr>
        <p:blipFill>
          <a:blip r:embed="rId4"/>
          <a:stretch>
            <a:fillRect/>
          </a:stretch>
        </p:blipFill>
        <p:spPr>
          <a:xfrm>
            <a:off x="7746340" y="1802740"/>
            <a:ext cx="372161" cy="372161"/>
          </a:xfrm>
          <a:prstGeom prst="rect">
            <a:avLst/>
          </a:prstGeom>
        </p:spPr>
      </p:pic>
      <p:sp>
        <p:nvSpPr>
          <p:cNvPr id="11" name="Text 7"/>
          <p:cNvSpPr/>
          <p:nvPr/>
        </p:nvSpPr>
        <p:spPr>
          <a:xfrm>
            <a:off x="8321040" y="1709928"/>
            <a:ext cx="2999232" cy="548640"/>
          </a:xfrm>
          <a:prstGeom prst="rect">
            <a:avLst/>
          </a:prstGeom>
          <a:noFill/>
          <a:ln/>
        </p:spPr>
        <p:txBody>
          <a:bodyPr wrap="square" lIns="0" tIns="0" rIns="0" bIns="0"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The heartbeat analogy</a:t>
            </a:r>
            <a:endParaRPr lang="en-US" sz="1300" dirty="0"/>
          </a:p>
        </p:txBody>
      </p:sp>
      <p:sp>
        <p:nvSpPr>
          <p:cNvPr id="12" name="Text 8"/>
          <p:cNvSpPr/>
          <p:nvPr/>
        </p:nvSpPr>
        <p:spPr>
          <a:xfrm>
            <a:off x="7680960" y="2468880"/>
            <a:ext cx="3639312" cy="3566160"/>
          </a:xfrm>
          <a:prstGeom prst="rect">
            <a:avLst/>
          </a:prstGeom>
          <a:noFill/>
          <a:ln/>
        </p:spPr>
        <p:txBody>
          <a:bodyPr wrap="square" lIns="0" tIns="0" rIns="0" bIns="0" rtlCol="0" anchor="t"/>
          <a:lstStyle/>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Just like a heartbeat keeps your body's rhythm steady, the clock keeps every part of the CPU working in lockstep — without it, components would fall out of sync.</a:t>
            </a:r>
            <a:endParaRPr lang="en-US" sz="1250" dirty="0"/>
          </a:p>
        </p:txBody>
      </p:sp>
      <p:sp>
        <p:nvSpPr>
          <p:cNvPr id="13" name="Text 9"/>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cpu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FOUNDATIONS</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Clock Cycle and Clock Period</a:t>
            </a:r>
            <a:endParaRPr lang="en-US" sz="2400" dirty="0"/>
          </a:p>
        </p:txBody>
      </p:sp>
      <p:sp>
        <p:nvSpPr>
          <p:cNvPr id="7" name="Shape 4"/>
          <p:cNvSpPr/>
          <p:nvPr/>
        </p:nvSpPr>
        <p:spPr>
          <a:xfrm>
            <a:off x="548640" y="1417320"/>
            <a:ext cx="11091672" cy="1371600"/>
          </a:xfrm>
          <a:prstGeom prst="roundRect">
            <a:avLst>
              <a:gd name="adj" fmla="val 6667"/>
            </a:avLst>
          </a:prstGeom>
          <a:solidFill>
            <a:srgbClr val="0B3D5C"/>
          </a:solidFill>
          <a:ln/>
        </p:spPr>
      </p:sp>
      <p:sp>
        <p:nvSpPr>
          <p:cNvPr id="8" name="Text 5"/>
          <p:cNvSpPr/>
          <p:nvPr/>
        </p:nvSpPr>
        <p:spPr>
          <a:xfrm>
            <a:off x="731520" y="1417320"/>
            <a:ext cx="10725912" cy="914400"/>
          </a:xfrm>
          <a:prstGeom prst="rect">
            <a:avLst/>
          </a:prstGeom>
          <a:noFill/>
          <a:ln/>
        </p:spPr>
        <p:txBody>
          <a:bodyPr wrap="square" lIns="0" tIns="0" rIns="0" bIns="0" rtlCol="0" anchor="ctr"/>
          <a:lstStyle/>
          <a:p>
            <a:pPr marL="0" indent="0" algn="ctr">
              <a:buNone/>
            </a:pPr>
            <a:r>
              <a:rPr lang="en-US" sz="2600" b="1" dirty="0">
                <a:solidFill>
                  <a:srgbClr val="F4A259"/>
                </a:solidFill>
                <a:latin typeface="Cambria" pitchFamily="34" charset="0"/>
                <a:ea typeface="Cambria" pitchFamily="34" charset="-122"/>
                <a:cs typeface="Cambria" pitchFamily="34" charset="-120"/>
              </a:rPr>
              <a:t>T = 1 / f</a:t>
            </a:r>
            <a:endParaRPr lang="en-US" sz="2600" dirty="0"/>
          </a:p>
        </p:txBody>
      </p:sp>
      <p:sp>
        <p:nvSpPr>
          <p:cNvPr id="9" name="Text 6"/>
          <p:cNvSpPr/>
          <p:nvPr/>
        </p:nvSpPr>
        <p:spPr>
          <a:xfrm>
            <a:off x="731520" y="2240280"/>
            <a:ext cx="10725912" cy="457200"/>
          </a:xfrm>
          <a:prstGeom prst="rect">
            <a:avLst/>
          </a:prstGeom>
          <a:noFill/>
          <a:ln/>
        </p:spPr>
        <p:txBody>
          <a:bodyPr wrap="square" lIns="0" tIns="0" rIns="0" bIns="0" rtlCol="0" anchor="t"/>
          <a:lstStyle/>
          <a:p>
            <a:pPr marL="0" indent="0" algn="ctr">
              <a:buNone/>
            </a:pPr>
            <a:r>
              <a:rPr lang="en-US" sz="1200" dirty="0">
                <a:solidFill>
                  <a:srgbClr val="E8EEF2"/>
                </a:solidFill>
                <a:latin typeface="Calibri" pitchFamily="34" charset="0"/>
                <a:ea typeface="Calibri" pitchFamily="34" charset="-122"/>
                <a:cs typeface="Calibri" pitchFamily="34" charset="-120"/>
              </a:rPr>
              <a:t>T = clock period (seconds)      f = clock frequency (Hz)</a:t>
            </a:r>
            <a:endParaRPr lang="en-US" sz="1200" dirty="0"/>
          </a:p>
        </p:txBody>
      </p:sp>
      <p:sp>
        <p:nvSpPr>
          <p:cNvPr id="10" name="Text 7"/>
          <p:cNvSpPr/>
          <p:nvPr/>
        </p:nvSpPr>
        <p:spPr>
          <a:xfrm>
            <a:off x="548640" y="3108960"/>
            <a:ext cx="11091672" cy="31089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Clock cycle: one complete pulse of the clock signal</a:t>
            </a:r>
            <a:endParaRPr lang="en-US" sz="1500" dirty="0"/>
          </a:p>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Clock period (T): time taken for one clock cycle, usually measured in nanoseconds</a:t>
            </a:r>
            <a:endParaRPr lang="en-US" sz="1500" dirty="0"/>
          </a:p>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The period and the frequency are simple reciprocals of each other</a:t>
            </a:r>
            <a:endParaRPr lang="en-US" sz="1500" dirty="0"/>
          </a:p>
        </p:txBody>
      </p:sp>
      <p:sp>
        <p:nvSpPr>
          <p:cNvPr id="11" name="Text 8"/>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cpu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FOUNDATIONS</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Clock Rate / Clock Speed Defined</a:t>
            </a:r>
            <a:endParaRPr lang="en-US" sz="2400" dirty="0"/>
          </a:p>
        </p:txBody>
      </p:sp>
      <p:sp>
        <p:nvSpPr>
          <p:cNvPr id="7" name="Shape 4"/>
          <p:cNvSpPr/>
          <p:nvPr/>
        </p:nvSpPr>
        <p:spPr>
          <a:xfrm>
            <a:off x="548640" y="1417320"/>
            <a:ext cx="11091672" cy="1371600"/>
          </a:xfrm>
          <a:prstGeom prst="roundRect">
            <a:avLst>
              <a:gd name="adj" fmla="val 6667"/>
            </a:avLst>
          </a:prstGeom>
          <a:solidFill>
            <a:srgbClr val="0B3D5C"/>
          </a:solidFill>
          <a:ln/>
        </p:spPr>
      </p:sp>
      <p:sp>
        <p:nvSpPr>
          <p:cNvPr id="8" name="Text 5"/>
          <p:cNvSpPr/>
          <p:nvPr/>
        </p:nvSpPr>
        <p:spPr>
          <a:xfrm>
            <a:off x="731520" y="1417320"/>
            <a:ext cx="10725912" cy="914400"/>
          </a:xfrm>
          <a:prstGeom prst="rect">
            <a:avLst/>
          </a:prstGeom>
          <a:noFill/>
          <a:ln/>
        </p:spPr>
        <p:txBody>
          <a:bodyPr wrap="square" lIns="0" tIns="0" rIns="0" bIns="0" rtlCol="0" anchor="ctr"/>
          <a:lstStyle/>
          <a:p>
            <a:pPr marL="0" indent="0" algn="ctr">
              <a:buNone/>
            </a:pPr>
            <a:r>
              <a:rPr lang="en-US" sz="2600" b="1" dirty="0">
                <a:solidFill>
                  <a:srgbClr val="F4A259"/>
                </a:solidFill>
                <a:latin typeface="Cambria" pitchFamily="34" charset="0"/>
                <a:ea typeface="Cambria" pitchFamily="34" charset="-122"/>
                <a:cs typeface="Cambria" pitchFamily="34" charset="-120"/>
              </a:rPr>
              <a:t>f = 1 / T</a:t>
            </a:r>
            <a:endParaRPr lang="en-US" sz="2600" dirty="0"/>
          </a:p>
        </p:txBody>
      </p:sp>
      <p:sp>
        <p:nvSpPr>
          <p:cNvPr id="9" name="Text 6"/>
          <p:cNvSpPr/>
          <p:nvPr/>
        </p:nvSpPr>
        <p:spPr>
          <a:xfrm>
            <a:off x="731520" y="2240280"/>
            <a:ext cx="10725912" cy="457200"/>
          </a:xfrm>
          <a:prstGeom prst="rect">
            <a:avLst/>
          </a:prstGeom>
          <a:noFill/>
          <a:ln/>
        </p:spPr>
        <p:txBody>
          <a:bodyPr wrap="square" lIns="0" tIns="0" rIns="0" bIns="0" rtlCol="0" anchor="t"/>
          <a:lstStyle/>
          <a:p>
            <a:pPr marL="0" indent="0" algn="ctr">
              <a:buNone/>
            </a:pPr>
            <a:r>
              <a:rPr lang="en-US" sz="1200" dirty="0">
                <a:solidFill>
                  <a:srgbClr val="E8EEF2"/>
                </a:solidFill>
                <a:latin typeface="Calibri" pitchFamily="34" charset="0"/>
                <a:ea typeface="Calibri" pitchFamily="34" charset="-122"/>
                <a:cs typeface="Calibri" pitchFamily="34" charset="-120"/>
              </a:rPr>
              <a:t>Measured in Hertz (Hz)  —  modern CPUs: Megahertz (MHz) or Gigahertz (GHz)</a:t>
            </a:r>
            <a:endParaRPr lang="en-US" sz="1200" dirty="0"/>
          </a:p>
        </p:txBody>
      </p:sp>
      <p:sp>
        <p:nvSpPr>
          <p:cNvPr id="10" name="Text 7"/>
          <p:cNvSpPr/>
          <p:nvPr/>
        </p:nvSpPr>
        <p:spPr>
          <a:xfrm>
            <a:off x="548640" y="3108960"/>
            <a:ext cx="11091672" cy="31089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Clock rate (or clock speed): number of clock cycles per second</a:t>
            </a:r>
            <a:endParaRPr lang="en-US" sz="1500" dirty="0"/>
          </a:p>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1 GHz = 1 billion cycles every second</a:t>
            </a:r>
            <a:endParaRPr lang="en-US" sz="1500" dirty="0"/>
          </a:p>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Key point: a higher clock rate does NOT automatically mean a faster computer overall</a:t>
            </a:r>
            <a:endParaRPr lang="en-US" sz="1500" dirty="0"/>
          </a:p>
        </p:txBody>
      </p:sp>
      <p:sp>
        <p:nvSpPr>
          <p:cNvPr id="11" name="Text 8"/>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trend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FOUNDATIONS</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Units and Historical Growth</a:t>
            </a:r>
            <a:endParaRPr lang="en-US" sz="2400" dirty="0"/>
          </a:p>
        </p:txBody>
      </p:sp>
      <p:sp>
        <p:nvSpPr>
          <p:cNvPr id="7" name="Text 4"/>
          <p:cNvSpPr/>
          <p:nvPr/>
        </p:nvSpPr>
        <p:spPr>
          <a:xfrm>
            <a:off x="548640" y="1417320"/>
            <a:ext cx="6492240" cy="4846320"/>
          </a:xfrm>
          <a:prstGeom prst="rect">
            <a:avLst/>
          </a:prstGeom>
          <a:noFill/>
          <a:ln/>
        </p:spPr>
        <p:txBody>
          <a:bodyPr wrap="square" lIns="0" tIns="0" rIns="0" bIns="0" rtlCol="0" anchor="t"/>
          <a:lstStyle/>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Hz → KHz → MHz → GHz progression</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1970s CPUs: a few MHz</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Modern CPUs: 3-5 GHz typical</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Growth has slowed due to power and heat limits — not unlimited scaling</a:t>
            </a:r>
            <a:endParaRPr lang="en-US" sz="1500" dirty="0"/>
          </a:p>
        </p:txBody>
      </p:sp>
      <p:sp>
        <p:nvSpPr>
          <p:cNvPr id="8" name="Shape 5"/>
          <p:cNvSpPr/>
          <p:nvPr/>
        </p:nvSpPr>
        <p:spPr>
          <a:xfrm>
            <a:off x="7360920" y="1417320"/>
            <a:ext cx="4279392" cy="4846320"/>
          </a:xfrm>
          <a:prstGeom prst="roundRect">
            <a:avLst>
              <a:gd name="adj" fmla="val 2564"/>
            </a:avLst>
          </a:prstGeom>
          <a:solidFill>
            <a:srgbClr val="E8EEF2"/>
          </a:solidFill>
          <a:ln/>
          <a:effectLst>
            <a:outerShdw blurRad="76200" dist="25400" dir="5400000" algn="bl" rotWithShape="0">
              <a:srgbClr val="1A1A2E">
                <a:alpha val="18000"/>
              </a:srgbClr>
            </a:outerShdw>
          </a:effectLst>
        </p:spPr>
      </p:sp>
      <p:sp>
        <p:nvSpPr>
          <p:cNvPr id="9" name="Shape 6"/>
          <p:cNvSpPr/>
          <p:nvPr/>
        </p:nvSpPr>
        <p:spPr>
          <a:xfrm>
            <a:off x="7680960" y="1737360"/>
            <a:ext cx="502920" cy="502920"/>
          </a:xfrm>
          <a:prstGeom prst="ellipse">
            <a:avLst/>
          </a:prstGeom>
          <a:solidFill>
            <a:srgbClr val="0B3D5C"/>
          </a:solidFill>
          <a:ln/>
        </p:spPr>
      </p:sp>
      <p:pic>
        <p:nvPicPr>
          <p:cNvPr id="10" name="Image 1" descr="icons/trend_FFFFFF.png"/>
          <p:cNvPicPr>
            <a:picLocks noChangeAspect="1"/>
          </p:cNvPicPr>
          <p:nvPr/>
        </p:nvPicPr>
        <p:blipFill>
          <a:blip r:embed="rId4"/>
          <a:stretch>
            <a:fillRect/>
          </a:stretch>
        </p:blipFill>
        <p:spPr>
          <a:xfrm>
            <a:off x="7746340" y="1802740"/>
            <a:ext cx="372161" cy="372161"/>
          </a:xfrm>
          <a:prstGeom prst="rect">
            <a:avLst/>
          </a:prstGeom>
        </p:spPr>
      </p:pic>
      <p:sp>
        <p:nvSpPr>
          <p:cNvPr id="11" name="Text 7"/>
          <p:cNvSpPr/>
          <p:nvPr/>
        </p:nvSpPr>
        <p:spPr>
          <a:xfrm>
            <a:off x="8321040" y="1709928"/>
            <a:ext cx="2999232" cy="548640"/>
          </a:xfrm>
          <a:prstGeom prst="rect">
            <a:avLst/>
          </a:prstGeom>
          <a:noFill/>
          <a:ln/>
        </p:spPr>
        <p:txBody>
          <a:bodyPr wrap="square" lIns="0" tIns="0" rIns="0" bIns="0"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Why growth flattened</a:t>
            </a:r>
            <a:endParaRPr lang="en-US" sz="1300" dirty="0"/>
          </a:p>
        </p:txBody>
      </p:sp>
      <p:sp>
        <p:nvSpPr>
          <p:cNvPr id="12" name="Text 8"/>
          <p:cNvSpPr/>
          <p:nvPr/>
        </p:nvSpPr>
        <p:spPr>
          <a:xfrm>
            <a:off x="7680960" y="2468880"/>
            <a:ext cx="3639312" cy="3566160"/>
          </a:xfrm>
          <a:prstGeom prst="rect">
            <a:avLst/>
          </a:prstGeom>
          <a:noFill/>
          <a:ln/>
        </p:spPr>
        <p:txBody>
          <a:bodyPr wrap="square" lIns="0" tIns="0" rIns="0" bIns="0" rtlCol="0" anchor="t"/>
          <a:lstStyle/>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Since the mid-2000s, pushing clock speed higher meant more heat and power draw. This physical limit is exactly why manufacturers shifted toward multiple cores instead.</a:t>
            </a:r>
            <a:endParaRPr lang="en-US" sz="1250" dirty="0"/>
          </a:p>
        </p:txBody>
      </p:sp>
      <p:sp>
        <p:nvSpPr>
          <p:cNvPr id="13" name="Text 9"/>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search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MEASURING PERFORMANCE</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How Do We Measure CPU Performance?</a:t>
            </a:r>
            <a:endParaRPr lang="en-US" sz="2400" dirty="0"/>
          </a:p>
        </p:txBody>
      </p:sp>
      <p:sp>
        <p:nvSpPr>
          <p:cNvPr id="7" name="Text 4"/>
          <p:cNvSpPr/>
          <p:nvPr/>
        </p:nvSpPr>
        <p:spPr>
          <a:xfrm>
            <a:off x="548640" y="1417320"/>
            <a:ext cx="6492240" cy="4846320"/>
          </a:xfrm>
          <a:prstGeom prst="rect">
            <a:avLst/>
          </a:prstGeom>
          <a:noFill/>
          <a:ln/>
        </p:spPr>
        <p:txBody>
          <a:bodyPr wrap="square" lIns="0" tIns="0" rIns="0" bIns="0" rtlCol="0" anchor="t"/>
          <a:lstStyle/>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Performance isn't just clock speed</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Key metric: CPU execution time — how long a program takes to run</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Performance = 1 / Execution Time</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Multiple factors influence execution time</a:t>
            </a:r>
            <a:endParaRPr lang="en-US" sz="1500" dirty="0"/>
          </a:p>
        </p:txBody>
      </p:sp>
      <p:sp>
        <p:nvSpPr>
          <p:cNvPr id="8" name="Shape 5"/>
          <p:cNvSpPr/>
          <p:nvPr/>
        </p:nvSpPr>
        <p:spPr>
          <a:xfrm>
            <a:off x="7360920" y="1417320"/>
            <a:ext cx="4279392" cy="4846320"/>
          </a:xfrm>
          <a:prstGeom prst="roundRect">
            <a:avLst>
              <a:gd name="adj" fmla="val 2564"/>
            </a:avLst>
          </a:prstGeom>
          <a:solidFill>
            <a:srgbClr val="E8EEF2"/>
          </a:solidFill>
          <a:ln/>
          <a:effectLst>
            <a:outerShdw blurRad="76200" dist="25400" dir="5400000" algn="bl" rotWithShape="0">
              <a:srgbClr val="1A1A2E">
                <a:alpha val="18000"/>
              </a:srgbClr>
            </a:outerShdw>
          </a:effectLst>
        </p:spPr>
      </p:sp>
      <p:sp>
        <p:nvSpPr>
          <p:cNvPr id="9" name="Shape 6"/>
          <p:cNvSpPr/>
          <p:nvPr/>
        </p:nvSpPr>
        <p:spPr>
          <a:xfrm>
            <a:off x="7680960" y="1737360"/>
            <a:ext cx="502920" cy="502920"/>
          </a:xfrm>
          <a:prstGeom prst="ellipse">
            <a:avLst/>
          </a:prstGeom>
          <a:solidFill>
            <a:srgbClr val="0B3D5C"/>
          </a:solidFill>
          <a:ln/>
        </p:spPr>
      </p:sp>
      <p:pic>
        <p:nvPicPr>
          <p:cNvPr id="10" name="Image 1" descr="icons/search_FFFFFF.png"/>
          <p:cNvPicPr>
            <a:picLocks noChangeAspect="1"/>
          </p:cNvPicPr>
          <p:nvPr/>
        </p:nvPicPr>
        <p:blipFill>
          <a:blip r:embed="rId4"/>
          <a:stretch>
            <a:fillRect/>
          </a:stretch>
        </p:blipFill>
        <p:spPr>
          <a:xfrm>
            <a:off x="7746340" y="1802740"/>
            <a:ext cx="372161" cy="372161"/>
          </a:xfrm>
          <a:prstGeom prst="rect">
            <a:avLst/>
          </a:prstGeom>
        </p:spPr>
      </p:pic>
      <p:sp>
        <p:nvSpPr>
          <p:cNvPr id="11" name="Text 7"/>
          <p:cNvSpPr/>
          <p:nvPr/>
        </p:nvSpPr>
        <p:spPr>
          <a:xfrm>
            <a:off x="8321040" y="1709928"/>
            <a:ext cx="2999232" cy="548640"/>
          </a:xfrm>
          <a:prstGeom prst="rect">
            <a:avLst/>
          </a:prstGeom>
          <a:noFill/>
          <a:ln/>
        </p:spPr>
        <p:txBody>
          <a:bodyPr wrap="square" lIns="0" tIns="0" rIns="0" bIns="0"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The real question</a:t>
            </a:r>
            <a:endParaRPr lang="en-US" sz="1300" dirty="0"/>
          </a:p>
        </p:txBody>
      </p:sp>
      <p:sp>
        <p:nvSpPr>
          <p:cNvPr id="12" name="Text 8"/>
          <p:cNvSpPr/>
          <p:nvPr/>
        </p:nvSpPr>
        <p:spPr>
          <a:xfrm>
            <a:off x="7680960" y="2468880"/>
            <a:ext cx="3639312" cy="3566160"/>
          </a:xfrm>
          <a:prstGeom prst="rect">
            <a:avLst/>
          </a:prstGeom>
          <a:noFill/>
          <a:ln/>
        </p:spPr>
        <p:txBody>
          <a:bodyPr wrap="square" lIns="0" tIns="0" rIns="0" bIns="0" rtlCol="0" anchor="t"/>
          <a:lstStyle/>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Not “how many cycles per second?” but “how long does my program actually take to finish?” That's what execution time captures.</a:t>
            </a:r>
            <a:endParaRPr lang="en-US" sz="1250" dirty="0"/>
          </a:p>
        </p:txBody>
      </p:sp>
      <p:sp>
        <p:nvSpPr>
          <p:cNvPr id="13" name="Text 9"/>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cpu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MEASURING PERFORMANCE</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The CPU Performance Equation</a:t>
            </a:r>
            <a:endParaRPr lang="en-US" sz="2400" dirty="0"/>
          </a:p>
        </p:txBody>
      </p:sp>
      <p:sp>
        <p:nvSpPr>
          <p:cNvPr id="7" name="Shape 4"/>
          <p:cNvSpPr/>
          <p:nvPr/>
        </p:nvSpPr>
        <p:spPr>
          <a:xfrm>
            <a:off x="548640" y="1417320"/>
            <a:ext cx="11091672" cy="1371600"/>
          </a:xfrm>
          <a:prstGeom prst="roundRect">
            <a:avLst>
              <a:gd name="adj" fmla="val 6667"/>
            </a:avLst>
          </a:prstGeom>
          <a:solidFill>
            <a:srgbClr val="0B3D5C"/>
          </a:solidFill>
          <a:ln/>
        </p:spPr>
      </p:sp>
      <p:sp>
        <p:nvSpPr>
          <p:cNvPr id="8" name="Text 5"/>
          <p:cNvSpPr/>
          <p:nvPr/>
        </p:nvSpPr>
        <p:spPr>
          <a:xfrm>
            <a:off x="731520" y="1417320"/>
            <a:ext cx="10725912" cy="914400"/>
          </a:xfrm>
          <a:prstGeom prst="rect">
            <a:avLst/>
          </a:prstGeom>
          <a:noFill/>
          <a:ln/>
        </p:spPr>
        <p:txBody>
          <a:bodyPr wrap="square" lIns="0" tIns="0" rIns="0" bIns="0" rtlCol="0" anchor="ctr"/>
          <a:lstStyle/>
          <a:p>
            <a:pPr marL="0" indent="0" algn="ctr">
              <a:buNone/>
            </a:pPr>
            <a:r>
              <a:rPr lang="en-US" sz="2600" b="1" dirty="0">
                <a:solidFill>
                  <a:srgbClr val="F4A259"/>
                </a:solidFill>
                <a:latin typeface="Cambria" pitchFamily="34" charset="0"/>
                <a:ea typeface="Cambria" pitchFamily="34" charset="-122"/>
                <a:cs typeface="Cambria" pitchFamily="34" charset="-120"/>
              </a:rPr>
              <a:t>CPU Time = IC × CPI × Clock Cycle Time</a:t>
            </a:r>
            <a:endParaRPr lang="en-US" sz="2600" dirty="0"/>
          </a:p>
        </p:txBody>
      </p:sp>
      <p:sp>
        <p:nvSpPr>
          <p:cNvPr id="9" name="Text 6"/>
          <p:cNvSpPr/>
          <p:nvPr/>
        </p:nvSpPr>
        <p:spPr>
          <a:xfrm>
            <a:off x="731520" y="2240280"/>
            <a:ext cx="10725912" cy="457200"/>
          </a:xfrm>
          <a:prstGeom prst="rect">
            <a:avLst/>
          </a:prstGeom>
          <a:noFill/>
          <a:ln/>
        </p:spPr>
        <p:txBody>
          <a:bodyPr wrap="square" lIns="0" tIns="0" rIns="0" bIns="0" rtlCol="0" anchor="t"/>
          <a:lstStyle/>
          <a:p>
            <a:pPr marL="0" indent="0" algn="ctr">
              <a:buNone/>
            </a:pPr>
            <a:r>
              <a:rPr lang="en-US" sz="1200" dirty="0">
                <a:solidFill>
                  <a:srgbClr val="E8EEF2"/>
                </a:solidFill>
                <a:latin typeface="Calibri" pitchFamily="34" charset="0"/>
                <a:ea typeface="Calibri" pitchFamily="34" charset="-122"/>
                <a:cs typeface="Calibri" pitchFamily="34" charset="-120"/>
              </a:rPr>
              <a:t>IC = Instruction Count      CPI = Cycles Per Instruction      Clock Cycle Time = 1/f</a:t>
            </a:r>
            <a:endParaRPr lang="en-US" sz="1200" dirty="0"/>
          </a:p>
        </p:txBody>
      </p:sp>
      <p:sp>
        <p:nvSpPr>
          <p:cNvPr id="10" name="Text 7"/>
          <p:cNvSpPr/>
          <p:nvPr/>
        </p:nvSpPr>
        <p:spPr>
          <a:xfrm>
            <a:off x="548640" y="3108960"/>
            <a:ext cx="11091672" cy="31089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Instruction Count (IC): total instructions executed by a program</a:t>
            </a:r>
            <a:endParaRPr lang="en-US" sz="1500" dirty="0"/>
          </a:p>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CPI: average clock cycles per instruction</a:t>
            </a:r>
            <a:endParaRPr lang="en-US" sz="1500" dirty="0"/>
          </a:p>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Clock Cycle Time: T = 1/f</a:t>
            </a:r>
            <a:endParaRPr lang="en-US" sz="1500" dirty="0"/>
          </a:p>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This — not clock speed alone — is what truly defines performance</a:t>
            </a:r>
            <a:endParaRPr lang="en-US" sz="1500" dirty="0"/>
          </a:p>
        </p:txBody>
      </p:sp>
      <p:sp>
        <p:nvSpPr>
          <p:cNvPr id="11" name="Text 8"/>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alert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MEASURING PERFORMANCE</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Why Clock Rate Alone Is Misleading</a:t>
            </a:r>
            <a:endParaRPr lang="en-US" sz="2200" dirty="0"/>
          </a:p>
        </p:txBody>
      </p:sp>
      <p:sp>
        <p:nvSpPr>
          <p:cNvPr id="7" name="Shape 4"/>
          <p:cNvSpPr/>
          <p:nvPr/>
        </p:nvSpPr>
        <p:spPr>
          <a:xfrm>
            <a:off x="548640" y="1463040"/>
            <a:ext cx="5408676" cy="4754880"/>
          </a:xfrm>
          <a:prstGeom prst="roundRect">
            <a:avLst>
              <a:gd name="adj" fmla="val 2308"/>
            </a:avLst>
          </a:prstGeom>
          <a:solidFill>
            <a:srgbClr val="F5E4DA"/>
          </a:solidFill>
          <a:ln/>
        </p:spPr>
      </p:sp>
      <p:sp>
        <p:nvSpPr>
          <p:cNvPr id="8" name="Shape 5"/>
          <p:cNvSpPr/>
          <p:nvPr/>
        </p:nvSpPr>
        <p:spPr>
          <a:xfrm>
            <a:off x="822960" y="1691640"/>
            <a:ext cx="502920" cy="502920"/>
          </a:xfrm>
          <a:prstGeom prst="ellipse">
            <a:avLst/>
          </a:prstGeom>
          <a:solidFill>
            <a:srgbClr val="C86B3C"/>
          </a:solidFill>
          <a:ln/>
        </p:spPr>
      </p:sp>
      <p:pic>
        <p:nvPicPr>
          <p:cNvPr id="9" name="Image 1" descr="icons/alert_FFFFFF.png"/>
          <p:cNvPicPr>
            <a:picLocks noChangeAspect="1"/>
          </p:cNvPicPr>
          <p:nvPr/>
        </p:nvPicPr>
        <p:blipFill>
          <a:blip r:embed="rId4"/>
          <a:stretch>
            <a:fillRect/>
          </a:stretch>
        </p:blipFill>
        <p:spPr>
          <a:xfrm>
            <a:off x="888340" y="1757020"/>
            <a:ext cx="372161" cy="372161"/>
          </a:xfrm>
          <a:prstGeom prst="rect">
            <a:avLst/>
          </a:prstGeom>
        </p:spPr>
      </p:pic>
      <p:sp>
        <p:nvSpPr>
          <p:cNvPr id="10" name="Text 6"/>
          <p:cNvSpPr/>
          <p:nvPr/>
        </p:nvSpPr>
        <p:spPr>
          <a:xfrm>
            <a:off x="1463040" y="1737360"/>
            <a:ext cx="4311396" cy="457200"/>
          </a:xfrm>
          <a:prstGeom prst="rect">
            <a:avLst/>
          </a:prstGeom>
          <a:noFill/>
          <a:ln/>
        </p:spPr>
        <p:txBody>
          <a:bodyPr wrap="square" lIns="0" tIns="0" rIns="0" bIns="0" rtlCol="0" anchor="ctr"/>
          <a:lstStyle/>
          <a:p>
            <a:pPr marL="0" indent="0">
              <a:buNone/>
            </a:pPr>
            <a:r>
              <a:rPr lang="en-US" sz="1500" b="1" dirty="0">
                <a:solidFill>
                  <a:srgbClr val="C86B3C"/>
                </a:solidFill>
                <a:latin typeface="Calibri" pitchFamily="34" charset="0"/>
                <a:ea typeface="Calibri" pitchFamily="34" charset="-122"/>
                <a:cs typeface="Calibri" pitchFamily="34" charset="-120"/>
              </a:rPr>
              <a:t>MYTH</a:t>
            </a:r>
            <a:endParaRPr lang="en-US" sz="1500" dirty="0"/>
          </a:p>
        </p:txBody>
      </p:sp>
      <p:sp>
        <p:nvSpPr>
          <p:cNvPr id="11" name="Text 7"/>
          <p:cNvSpPr/>
          <p:nvPr/>
        </p:nvSpPr>
        <p:spPr>
          <a:xfrm>
            <a:off x="822960" y="2377440"/>
            <a:ext cx="4860036" cy="3566160"/>
          </a:xfrm>
          <a:prstGeom prst="rect">
            <a:avLst/>
          </a:prstGeom>
          <a:noFill/>
          <a:ln/>
        </p:spPr>
        <p:txBody>
          <a:bodyPr wrap="square" lIns="0" tIns="0" rIns="0" bIns="0" rtlCol="0" anchor="t"/>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“Two processors running at the same GHz must perform the same.”</a:t>
            </a:r>
            <a:endParaRPr lang="en-US" sz="1500" dirty="0"/>
          </a:p>
        </p:txBody>
      </p:sp>
      <p:sp>
        <p:nvSpPr>
          <p:cNvPr id="12" name="Shape 8"/>
          <p:cNvSpPr/>
          <p:nvPr/>
        </p:nvSpPr>
        <p:spPr>
          <a:xfrm>
            <a:off x="6231636" y="1463040"/>
            <a:ext cx="5408676" cy="4754880"/>
          </a:xfrm>
          <a:prstGeom prst="roundRect">
            <a:avLst>
              <a:gd name="adj" fmla="val 2308"/>
            </a:avLst>
          </a:prstGeom>
          <a:solidFill>
            <a:srgbClr val="E8EEF2"/>
          </a:solidFill>
          <a:ln/>
        </p:spPr>
      </p:sp>
      <p:sp>
        <p:nvSpPr>
          <p:cNvPr id="13" name="Shape 9"/>
          <p:cNvSpPr/>
          <p:nvPr/>
        </p:nvSpPr>
        <p:spPr>
          <a:xfrm>
            <a:off x="6505956" y="1691640"/>
            <a:ext cx="502920" cy="502920"/>
          </a:xfrm>
          <a:prstGeom prst="ellipse">
            <a:avLst/>
          </a:prstGeom>
          <a:solidFill>
            <a:srgbClr val="1C7293"/>
          </a:solidFill>
          <a:ln/>
        </p:spPr>
      </p:sp>
      <p:pic>
        <p:nvPicPr>
          <p:cNvPr id="14" name="Image 2" descr="icons/check_FFFFFF.png"/>
          <p:cNvPicPr>
            <a:picLocks noChangeAspect="1"/>
          </p:cNvPicPr>
          <p:nvPr/>
        </p:nvPicPr>
        <p:blipFill>
          <a:blip r:embed="rId5"/>
          <a:stretch>
            <a:fillRect/>
          </a:stretch>
        </p:blipFill>
        <p:spPr>
          <a:xfrm>
            <a:off x="6571336" y="1757020"/>
            <a:ext cx="372161" cy="372161"/>
          </a:xfrm>
          <a:prstGeom prst="rect">
            <a:avLst/>
          </a:prstGeom>
        </p:spPr>
      </p:pic>
      <p:sp>
        <p:nvSpPr>
          <p:cNvPr id="15" name="Text 10"/>
          <p:cNvSpPr/>
          <p:nvPr/>
        </p:nvSpPr>
        <p:spPr>
          <a:xfrm>
            <a:off x="7146036" y="1737360"/>
            <a:ext cx="4311396" cy="457200"/>
          </a:xfrm>
          <a:prstGeom prst="rect">
            <a:avLst/>
          </a:prstGeom>
          <a:noFill/>
          <a:ln/>
        </p:spPr>
        <p:txBody>
          <a:bodyPr wrap="square" lIns="0" tIns="0" rIns="0" bIns="0" rtlCol="0" anchor="ctr"/>
          <a:lstStyle/>
          <a:p>
            <a:pPr marL="0" indent="0">
              <a:buNone/>
            </a:pPr>
            <a:r>
              <a:rPr lang="en-US" sz="1500" b="1" dirty="0">
                <a:solidFill>
                  <a:srgbClr val="1C7293"/>
                </a:solidFill>
                <a:latin typeface="Calibri" pitchFamily="34" charset="0"/>
                <a:ea typeface="Calibri" pitchFamily="34" charset="-122"/>
                <a:cs typeface="Calibri" pitchFamily="34" charset="-120"/>
              </a:rPr>
              <a:t>REALITY</a:t>
            </a:r>
            <a:endParaRPr lang="en-US" sz="1500" dirty="0"/>
          </a:p>
        </p:txBody>
      </p:sp>
      <p:sp>
        <p:nvSpPr>
          <p:cNvPr id="16" name="Text 11"/>
          <p:cNvSpPr/>
          <p:nvPr/>
        </p:nvSpPr>
        <p:spPr>
          <a:xfrm>
            <a:off x="6505956" y="2377440"/>
            <a:ext cx="4860036" cy="3566160"/>
          </a:xfrm>
          <a:prstGeom prst="rect">
            <a:avLst/>
          </a:prstGeom>
          <a:noFill/>
          <a:ln/>
        </p:spPr>
        <p:txBody>
          <a:bodyPr wrap="square" lIns="0" tIns="0" rIns="0" bIns="0" rtlCol="0" anchor="t"/>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A higher CPI can completely cancel out a higher clock rate. Instruction set design and compiler efficiency also change instruction count. Two “3 GHz” chips can perform very differently.</a:t>
            </a:r>
            <a:endParaRPr lang="en-US" sz="1500" dirty="0"/>
          </a:p>
        </p:txBody>
      </p:sp>
      <p:sp>
        <p:nvSpPr>
          <p:cNvPr id="17" name="Text 12"/>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settings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MEASURING PERFORMANCE</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CPI — Cycles Per Instruction</a:t>
            </a:r>
            <a:endParaRPr lang="en-US" sz="2400" dirty="0"/>
          </a:p>
        </p:txBody>
      </p:sp>
      <p:sp>
        <p:nvSpPr>
          <p:cNvPr id="7" name="Text 4"/>
          <p:cNvSpPr/>
          <p:nvPr/>
        </p:nvSpPr>
        <p:spPr>
          <a:xfrm>
            <a:off x="548640" y="1417320"/>
            <a:ext cx="6492240" cy="4846320"/>
          </a:xfrm>
          <a:prstGeom prst="rect">
            <a:avLst/>
          </a:prstGeom>
          <a:noFill/>
          <a:ln/>
        </p:spPr>
        <p:txBody>
          <a:bodyPr wrap="square" lIns="0" tIns="0" rIns="0" bIns="0" rtlCol="0" anchor="t"/>
          <a:lstStyle/>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CPI = Total CPU clock cycles for a program ÷ Instruction Count</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Different instructions take different cycle counts</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Average CPI depends on the mix of instructions in a program</a:t>
            </a:r>
            <a:endParaRPr lang="en-US" sz="1500" dirty="0"/>
          </a:p>
        </p:txBody>
      </p:sp>
      <p:sp>
        <p:nvSpPr>
          <p:cNvPr id="8" name="Shape 5"/>
          <p:cNvSpPr/>
          <p:nvPr/>
        </p:nvSpPr>
        <p:spPr>
          <a:xfrm>
            <a:off x="7360920" y="1417320"/>
            <a:ext cx="4279392" cy="4846320"/>
          </a:xfrm>
          <a:prstGeom prst="roundRect">
            <a:avLst>
              <a:gd name="adj" fmla="val 2564"/>
            </a:avLst>
          </a:prstGeom>
          <a:solidFill>
            <a:srgbClr val="E8EEF2"/>
          </a:solidFill>
          <a:ln/>
          <a:effectLst>
            <a:outerShdw blurRad="76200" dist="25400" dir="5400000" algn="bl" rotWithShape="0">
              <a:srgbClr val="1A1A2E">
                <a:alpha val="18000"/>
              </a:srgbClr>
            </a:outerShdw>
          </a:effectLst>
        </p:spPr>
      </p:sp>
      <p:sp>
        <p:nvSpPr>
          <p:cNvPr id="9" name="Shape 6"/>
          <p:cNvSpPr/>
          <p:nvPr/>
        </p:nvSpPr>
        <p:spPr>
          <a:xfrm>
            <a:off x="7680960" y="1737360"/>
            <a:ext cx="502920" cy="502920"/>
          </a:xfrm>
          <a:prstGeom prst="ellipse">
            <a:avLst/>
          </a:prstGeom>
          <a:solidFill>
            <a:srgbClr val="0B3D5C"/>
          </a:solidFill>
          <a:ln/>
        </p:spPr>
      </p:sp>
      <p:pic>
        <p:nvPicPr>
          <p:cNvPr id="10" name="Image 1" descr="icons/settings_FFFFFF.png"/>
          <p:cNvPicPr>
            <a:picLocks noChangeAspect="1"/>
          </p:cNvPicPr>
          <p:nvPr/>
        </p:nvPicPr>
        <p:blipFill>
          <a:blip r:embed="rId4"/>
          <a:stretch>
            <a:fillRect/>
          </a:stretch>
        </p:blipFill>
        <p:spPr>
          <a:xfrm>
            <a:off x="7746340" y="1802740"/>
            <a:ext cx="372161" cy="372161"/>
          </a:xfrm>
          <a:prstGeom prst="rect">
            <a:avLst/>
          </a:prstGeom>
        </p:spPr>
      </p:pic>
      <p:sp>
        <p:nvSpPr>
          <p:cNvPr id="11" name="Text 7"/>
          <p:cNvSpPr/>
          <p:nvPr/>
        </p:nvSpPr>
        <p:spPr>
          <a:xfrm>
            <a:off x="8321040" y="1709928"/>
            <a:ext cx="2999232" cy="548640"/>
          </a:xfrm>
          <a:prstGeom prst="rect">
            <a:avLst/>
          </a:prstGeom>
          <a:noFill/>
          <a:ln/>
        </p:spPr>
        <p:txBody>
          <a:bodyPr wrap="square" lIns="0" tIns="0" rIns="0" bIns="0"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Example cycle counts</a:t>
            </a:r>
            <a:endParaRPr lang="en-US" sz="1300" dirty="0"/>
          </a:p>
        </p:txBody>
      </p:sp>
      <p:sp>
        <p:nvSpPr>
          <p:cNvPr id="12" name="Text 8"/>
          <p:cNvSpPr/>
          <p:nvPr/>
        </p:nvSpPr>
        <p:spPr>
          <a:xfrm>
            <a:off x="7680960" y="2468880"/>
            <a:ext cx="3639312" cy="3566160"/>
          </a:xfrm>
          <a:prstGeom prst="rect">
            <a:avLst/>
          </a:prstGeom>
          <a:noFill/>
          <a:ln/>
        </p:spPr>
        <p:txBody>
          <a:bodyPr wrap="square" lIns="0" tIns="0" rIns="0" bIns="0" rtlCol="0" anchor="t"/>
          <a:lstStyle/>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ADD  →  1 cycle</a:t>
            </a:r>
            <a:endParaRPr lang="en-US" sz="1250" dirty="0"/>
          </a:p>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MULTIPLY  →  3 cycles</a:t>
            </a:r>
            <a:endParaRPr lang="en-US" sz="1250" dirty="0"/>
          </a:p>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MEMORY LOAD  →  4+ cycles</a:t>
            </a:r>
            <a:endParaRPr lang="en-US" sz="1250" dirty="0"/>
          </a:p>
          <a:p>
            <a:pPr marL="0" indent="0">
              <a:lnSpc>
                <a:spcPct val="125000"/>
              </a:lnSpc>
              <a:buNone/>
            </a:pPr>
            <a:endParaRPr lang="en-US" sz="1250" dirty="0"/>
          </a:p>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The overall CPI is a weighted average across everything the program actually executes.</a:t>
            </a:r>
            <a:endParaRPr lang="en-US" sz="1250" dirty="0"/>
          </a:p>
        </p:txBody>
      </p:sp>
      <p:sp>
        <p:nvSpPr>
          <p:cNvPr id="13" name="Text 9"/>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cpu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MEASURING PERFORMANCE</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Instruction Execution Rate (MIPS)</a:t>
            </a:r>
            <a:endParaRPr lang="en-US" sz="2400" dirty="0"/>
          </a:p>
        </p:txBody>
      </p:sp>
      <p:sp>
        <p:nvSpPr>
          <p:cNvPr id="7" name="Shape 4"/>
          <p:cNvSpPr/>
          <p:nvPr/>
        </p:nvSpPr>
        <p:spPr>
          <a:xfrm>
            <a:off x="548640" y="1417320"/>
            <a:ext cx="11091672" cy="1371600"/>
          </a:xfrm>
          <a:prstGeom prst="roundRect">
            <a:avLst>
              <a:gd name="adj" fmla="val 6667"/>
            </a:avLst>
          </a:prstGeom>
          <a:solidFill>
            <a:srgbClr val="0B3D5C"/>
          </a:solidFill>
          <a:ln/>
        </p:spPr>
      </p:sp>
      <p:sp>
        <p:nvSpPr>
          <p:cNvPr id="8" name="Text 5"/>
          <p:cNvSpPr/>
          <p:nvPr/>
        </p:nvSpPr>
        <p:spPr>
          <a:xfrm>
            <a:off x="731520" y="1417320"/>
            <a:ext cx="10725912" cy="914400"/>
          </a:xfrm>
          <a:prstGeom prst="rect">
            <a:avLst/>
          </a:prstGeom>
          <a:noFill/>
          <a:ln/>
        </p:spPr>
        <p:txBody>
          <a:bodyPr wrap="square" lIns="0" tIns="0" rIns="0" bIns="0" rtlCol="0" anchor="ctr"/>
          <a:lstStyle/>
          <a:p>
            <a:pPr marL="0" indent="0" algn="ctr">
              <a:buNone/>
            </a:pPr>
            <a:r>
              <a:rPr lang="en-US" sz="2600" b="1" dirty="0">
                <a:solidFill>
                  <a:srgbClr val="F4A259"/>
                </a:solidFill>
                <a:latin typeface="Cambria" pitchFamily="34" charset="0"/>
                <a:ea typeface="Cambria" pitchFamily="34" charset="-122"/>
                <a:cs typeface="Cambria" pitchFamily="34" charset="-120"/>
              </a:rPr>
              <a:t>MIPS = Clock Rate / (CPI × 10⁶)</a:t>
            </a:r>
            <a:endParaRPr lang="en-US" sz="2600" dirty="0"/>
          </a:p>
        </p:txBody>
      </p:sp>
      <p:sp>
        <p:nvSpPr>
          <p:cNvPr id="9" name="Text 6"/>
          <p:cNvSpPr/>
          <p:nvPr/>
        </p:nvSpPr>
        <p:spPr>
          <a:xfrm>
            <a:off x="731520" y="2240280"/>
            <a:ext cx="10725912" cy="457200"/>
          </a:xfrm>
          <a:prstGeom prst="rect">
            <a:avLst/>
          </a:prstGeom>
          <a:noFill/>
          <a:ln/>
        </p:spPr>
        <p:txBody>
          <a:bodyPr wrap="square" lIns="0" tIns="0" rIns="0" bIns="0" rtlCol="0" anchor="t"/>
          <a:lstStyle/>
          <a:p>
            <a:pPr marL="0" indent="0" algn="ctr">
              <a:buNone/>
            </a:pPr>
            <a:r>
              <a:rPr lang="en-US" sz="1200" dirty="0">
                <a:solidFill>
                  <a:srgbClr val="E8EEF2"/>
                </a:solidFill>
                <a:latin typeface="Calibri" pitchFamily="34" charset="0"/>
                <a:ea typeface="Calibri" pitchFamily="34" charset="-122"/>
                <a:cs typeface="Calibri" pitchFamily="34" charset="-120"/>
              </a:rPr>
              <a:t>MIPS = Millions of Instructions Per Second</a:t>
            </a:r>
            <a:endParaRPr lang="en-US" sz="1200" dirty="0"/>
          </a:p>
        </p:txBody>
      </p:sp>
      <p:sp>
        <p:nvSpPr>
          <p:cNvPr id="10" name="Text 7"/>
          <p:cNvSpPr/>
          <p:nvPr/>
        </p:nvSpPr>
        <p:spPr>
          <a:xfrm>
            <a:off x="548640" y="3108960"/>
            <a:ext cx="11091672" cy="31089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Tells us how many instructions the processor executes per second, in millions</a:t>
            </a:r>
            <a:endParaRPr lang="en-US" sz="1500" dirty="0"/>
          </a:p>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A simple, but limited, performance metric</a:t>
            </a:r>
            <a:endParaRPr lang="en-US" sz="1500" dirty="0"/>
          </a:p>
          <a:p>
            <a:pPr marL="342900" indent="-342900">
              <a:lnSpc>
                <a:spcPct val="120000"/>
              </a:lnSpc>
              <a:spcAft>
                <a:spcPts val="1000"/>
              </a:spcAft>
              <a:buSzPct val="100000"/>
              <a:buChar char="▸"/>
            </a:pPr>
            <a:r>
              <a:rPr lang="en-US" sz="1500" dirty="0">
                <a:solidFill>
                  <a:srgbClr val="1A1A2E"/>
                </a:solidFill>
                <a:latin typeface="Calibri" pitchFamily="34" charset="0"/>
                <a:ea typeface="Calibri" pitchFamily="34" charset="-122"/>
                <a:cs typeface="Calibri" pitchFamily="34" charset="-120"/>
              </a:rPr>
              <a:t>Doesn't account for instruction complexity differences across architectures</a:t>
            </a:r>
            <a:endParaRPr lang="en-US" sz="1500" dirty="0"/>
          </a:p>
        </p:txBody>
      </p:sp>
      <p:sp>
        <p:nvSpPr>
          <p:cNvPr id="11" name="Text 8"/>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phone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REAL-WORLD EXAMPLE</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Smartphone Processors</a:t>
            </a:r>
            <a:endParaRPr lang="en-US" sz="2400" dirty="0"/>
          </a:p>
        </p:txBody>
      </p:sp>
      <p:sp>
        <p:nvSpPr>
          <p:cNvPr id="7" name="Text 4"/>
          <p:cNvSpPr/>
          <p:nvPr/>
        </p:nvSpPr>
        <p:spPr>
          <a:xfrm>
            <a:off x="548640" y="1417320"/>
            <a:ext cx="6492240" cy="4846320"/>
          </a:xfrm>
          <a:prstGeom prst="rect">
            <a:avLst/>
          </a:prstGeom>
          <a:noFill/>
          <a:ln/>
        </p:spPr>
        <p:txBody>
          <a:bodyPr wrap="square" lIns="0" tIns="0" rIns="0" bIns="0" rtlCol="0" anchor="t"/>
          <a:lstStyle/>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Modern smartphone chips (e.g., ARM-based) run at lower GHz than desktops</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Yet they feel snappy due to optimized CPI and efficient instruction sets</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Takeaway: architecture design matters as much as clock speed</a:t>
            </a:r>
            <a:endParaRPr lang="en-US" sz="1500" dirty="0"/>
          </a:p>
        </p:txBody>
      </p:sp>
      <p:sp>
        <p:nvSpPr>
          <p:cNvPr id="8" name="Shape 5"/>
          <p:cNvSpPr/>
          <p:nvPr/>
        </p:nvSpPr>
        <p:spPr>
          <a:xfrm>
            <a:off x="7360920" y="1417320"/>
            <a:ext cx="4279392" cy="4846320"/>
          </a:xfrm>
          <a:prstGeom prst="roundRect">
            <a:avLst>
              <a:gd name="adj" fmla="val 2564"/>
            </a:avLst>
          </a:prstGeom>
          <a:solidFill>
            <a:srgbClr val="E8EEF2"/>
          </a:solidFill>
          <a:ln/>
          <a:effectLst>
            <a:outerShdw blurRad="76200" dist="25400" dir="5400000" algn="bl" rotWithShape="0">
              <a:srgbClr val="1A1A2E">
                <a:alpha val="18000"/>
              </a:srgbClr>
            </a:outerShdw>
          </a:effectLst>
        </p:spPr>
      </p:sp>
      <p:sp>
        <p:nvSpPr>
          <p:cNvPr id="9" name="Shape 6"/>
          <p:cNvSpPr/>
          <p:nvPr/>
        </p:nvSpPr>
        <p:spPr>
          <a:xfrm>
            <a:off x="7680960" y="1737360"/>
            <a:ext cx="502920" cy="502920"/>
          </a:xfrm>
          <a:prstGeom prst="ellipse">
            <a:avLst/>
          </a:prstGeom>
          <a:solidFill>
            <a:srgbClr val="0B3D5C"/>
          </a:solidFill>
          <a:ln/>
        </p:spPr>
      </p:sp>
      <p:pic>
        <p:nvPicPr>
          <p:cNvPr id="10" name="Image 1" descr="icons/phone_FFFFFF.png"/>
          <p:cNvPicPr>
            <a:picLocks noChangeAspect="1"/>
          </p:cNvPicPr>
          <p:nvPr/>
        </p:nvPicPr>
        <p:blipFill>
          <a:blip r:embed="rId4"/>
          <a:stretch>
            <a:fillRect/>
          </a:stretch>
        </p:blipFill>
        <p:spPr>
          <a:xfrm>
            <a:off x="7746340" y="1802740"/>
            <a:ext cx="372161" cy="372161"/>
          </a:xfrm>
          <a:prstGeom prst="rect">
            <a:avLst/>
          </a:prstGeom>
        </p:spPr>
      </p:pic>
      <p:sp>
        <p:nvSpPr>
          <p:cNvPr id="11" name="Text 7"/>
          <p:cNvSpPr/>
          <p:nvPr/>
        </p:nvSpPr>
        <p:spPr>
          <a:xfrm>
            <a:off x="8321040" y="1709928"/>
            <a:ext cx="2999232" cy="548640"/>
          </a:xfrm>
          <a:prstGeom prst="rect">
            <a:avLst/>
          </a:prstGeom>
          <a:noFill/>
          <a:ln/>
        </p:spPr>
        <p:txBody>
          <a:bodyPr wrap="square" lIns="0" tIns="0" rIns="0" bIns="0"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Everyday proof</a:t>
            </a:r>
            <a:endParaRPr lang="en-US" sz="1300" dirty="0"/>
          </a:p>
        </p:txBody>
      </p:sp>
      <p:sp>
        <p:nvSpPr>
          <p:cNvPr id="12" name="Text 8"/>
          <p:cNvSpPr/>
          <p:nvPr/>
        </p:nvSpPr>
        <p:spPr>
          <a:xfrm>
            <a:off x="7680960" y="2468880"/>
            <a:ext cx="3639312" cy="3566160"/>
          </a:xfrm>
          <a:prstGeom prst="rect">
            <a:avLst/>
          </a:prstGeom>
          <a:noFill/>
          <a:ln/>
        </p:spPr>
        <p:txBody>
          <a:bodyPr wrap="square" lIns="0" tIns="0" rIns="0" bIns="0" rtlCol="0" anchor="t"/>
          <a:lstStyle/>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Your phone's chip often runs at roughly half the GHz of a laptop CPU — and still feels fast, because efficient design beats raw clock speed.</a:t>
            </a:r>
            <a:endParaRPr lang="en-US" sz="1250" dirty="0"/>
          </a:p>
        </p:txBody>
      </p:sp>
      <p:sp>
        <p:nvSpPr>
          <p:cNvPr id="13" name="Text 9"/>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server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REAL-WORLD EXAMPLE</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Server &amp; Cloud Computing</a:t>
            </a:r>
            <a:endParaRPr lang="en-US" sz="2400" dirty="0"/>
          </a:p>
        </p:txBody>
      </p:sp>
      <p:sp>
        <p:nvSpPr>
          <p:cNvPr id="7" name="Text 4"/>
          <p:cNvSpPr/>
          <p:nvPr/>
        </p:nvSpPr>
        <p:spPr>
          <a:xfrm>
            <a:off x="548640" y="1417320"/>
            <a:ext cx="6492240" cy="4846320"/>
          </a:xfrm>
          <a:prstGeom prst="rect">
            <a:avLst/>
          </a:prstGeom>
          <a:noFill/>
          <a:ln/>
        </p:spPr>
        <p:txBody>
          <a:bodyPr wrap="square" lIns="0" tIns="0" rIns="0" bIns="0" rtlCol="0" anchor="t"/>
          <a:lstStyle/>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Data centers prioritize instructions-per-watt, not just raw speed</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Performance-per-dollar and performance-per-watt are key industry metrics</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Directly relevant to AI training clusters (GPUs/TPUs follow the same performance logic)</a:t>
            </a:r>
            <a:endParaRPr lang="en-US" sz="1500" dirty="0"/>
          </a:p>
        </p:txBody>
      </p:sp>
      <p:sp>
        <p:nvSpPr>
          <p:cNvPr id="8" name="Shape 5"/>
          <p:cNvSpPr/>
          <p:nvPr/>
        </p:nvSpPr>
        <p:spPr>
          <a:xfrm>
            <a:off x="7360920" y="1417320"/>
            <a:ext cx="4279392" cy="4846320"/>
          </a:xfrm>
          <a:prstGeom prst="roundRect">
            <a:avLst>
              <a:gd name="adj" fmla="val 2564"/>
            </a:avLst>
          </a:prstGeom>
          <a:solidFill>
            <a:srgbClr val="E8EEF2"/>
          </a:solidFill>
          <a:ln/>
          <a:effectLst>
            <a:outerShdw blurRad="76200" dist="25400" dir="5400000" algn="bl" rotWithShape="0">
              <a:srgbClr val="1A1A2E">
                <a:alpha val="18000"/>
              </a:srgbClr>
            </a:outerShdw>
          </a:effectLst>
        </p:spPr>
      </p:sp>
      <p:sp>
        <p:nvSpPr>
          <p:cNvPr id="9" name="Shape 6"/>
          <p:cNvSpPr/>
          <p:nvPr/>
        </p:nvSpPr>
        <p:spPr>
          <a:xfrm>
            <a:off x="7680960" y="1737360"/>
            <a:ext cx="502920" cy="502920"/>
          </a:xfrm>
          <a:prstGeom prst="ellipse">
            <a:avLst/>
          </a:prstGeom>
          <a:solidFill>
            <a:srgbClr val="0B3D5C"/>
          </a:solidFill>
          <a:ln/>
        </p:spPr>
      </p:sp>
      <p:pic>
        <p:nvPicPr>
          <p:cNvPr id="10" name="Image 1" descr="icons/server_FFFFFF.png"/>
          <p:cNvPicPr>
            <a:picLocks noChangeAspect="1"/>
          </p:cNvPicPr>
          <p:nvPr/>
        </p:nvPicPr>
        <p:blipFill>
          <a:blip r:embed="rId4"/>
          <a:stretch>
            <a:fillRect/>
          </a:stretch>
        </p:blipFill>
        <p:spPr>
          <a:xfrm>
            <a:off x="7746340" y="1802740"/>
            <a:ext cx="372161" cy="372161"/>
          </a:xfrm>
          <a:prstGeom prst="rect">
            <a:avLst/>
          </a:prstGeom>
        </p:spPr>
      </p:pic>
      <p:sp>
        <p:nvSpPr>
          <p:cNvPr id="11" name="Text 7"/>
          <p:cNvSpPr/>
          <p:nvPr/>
        </p:nvSpPr>
        <p:spPr>
          <a:xfrm>
            <a:off x="8321040" y="1709928"/>
            <a:ext cx="2999232" cy="548640"/>
          </a:xfrm>
          <a:prstGeom prst="rect">
            <a:avLst/>
          </a:prstGeom>
          <a:noFill/>
          <a:ln/>
        </p:spPr>
        <p:txBody>
          <a:bodyPr wrap="square" lIns="0" tIns="0" rIns="0" bIns="0"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At data-center scale</a:t>
            </a:r>
            <a:endParaRPr lang="en-US" sz="1300" dirty="0"/>
          </a:p>
        </p:txBody>
      </p:sp>
      <p:sp>
        <p:nvSpPr>
          <p:cNvPr id="12" name="Text 8"/>
          <p:cNvSpPr/>
          <p:nvPr/>
        </p:nvSpPr>
        <p:spPr>
          <a:xfrm>
            <a:off x="7680960" y="2468880"/>
            <a:ext cx="3639312" cy="3566160"/>
          </a:xfrm>
          <a:prstGeom prst="rect">
            <a:avLst/>
          </a:prstGeom>
          <a:noFill/>
          <a:ln/>
        </p:spPr>
        <p:txBody>
          <a:bodyPr wrap="square" lIns="0" tIns="0" rIns="0" bIns="0" rtlCol="0" anchor="t"/>
          <a:lstStyle/>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Running thousands of processors is expensive and generates enormous heat, so engineers optimize for efficiency, not just peak clock speed.</a:t>
            </a:r>
            <a:endParaRPr lang="en-US" sz="1250" dirty="0"/>
          </a:p>
        </p:txBody>
      </p:sp>
      <p:sp>
        <p:nvSpPr>
          <p:cNvPr id="13" name="Text 9"/>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zap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REAL-WORLD EXAMPLE</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Gaming and Overclocking</a:t>
            </a:r>
            <a:endParaRPr lang="en-US" sz="2400" dirty="0"/>
          </a:p>
        </p:txBody>
      </p:sp>
      <p:sp>
        <p:nvSpPr>
          <p:cNvPr id="7" name="Text 4"/>
          <p:cNvSpPr/>
          <p:nvPr/>
        </p:nvSpPr>
        <p:spPr>
          <a:xfrm>
            <a:off x="548640" y="1417320"/>
            <a:ext cx="6492240" cy="4846320"/>
          </a:xfrm>
          <a:prstGeom prst="rect">
            <a:avLst/>
          </a:prstGeom>
          <a:noFill/>
          <a:ln/>
        </p:spPr>
        <p:txBody>
          <a:bodyPr wrap="square" lIns="0" tIns="0" rIns="0" bIns="0" rtlCol="0" anchor="t"/>
          <a:lstStyle/>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“Overclocking” manually increases clock rate beyond the factory setting</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Can improve performance, but increases heat and power draw</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Diminishing returns if CPI or memory bottlenecks remain</a:t>
            </a:r>
            <a:endParaRPr lang="en-US" sz="1500" dirty="0"/>
          </a:p>
        </p:txBody>
      </p:sp>
      <p:sp>
        <p:nvSpPr>
          <p:cNvPr id="8" name="Shape 5"/>
          <p:cNvSpPr/>
          <p:nvPr/>
        </p:nvSpPr>
        <p:spPr>
          <a:xfrm>
            <a:off x="7360920" y="1417320"/>
            <a:ext cx="4279392" cy="4846320"/>
          </a:xfrm>
          <a:prstGeom prst="roundRect">
            <a:avLst>
              <a:gd name="adj" fmla="val 2564"/>
            </a:avLst>
          </a:prstGeom>
          <a:solidFill>
            <a:srgbClr val="E8EEF2"/>
          </a:solidFill>
          <a:ln/>
          <a:effectLst>
            <a:outerShdw blurRad="76200" dist="25400" dir="5400000" algn="bl" rotWithShape="0">
              <a:srgbClr val="1A1A2E">
                <a:alpha val="18000"/>
              </a:srgbClr>
            </a:outerShdw>
          </a:effectLst>
        </p:spPr>
      </p:sp>
      <p:sp>
        <p:nvSpPr>
          <p:cNvPr id="9" name="Shape 6"/>
          <p:cNvSpPr/>
          <p:nvPr/>
        </p:nvSpPr>
        <p:spPr>
          <a:xfrm>
            <a:off x="7680960" y="1737360"/>
            <a:ext cx="502920" cy="502920"/>
          </a:xfrm>
          <a:prstGeom prst="ellipse">
            <a:avLst/>
          </a:prstGeom>
          <a:solidFill>
            <a:srgbClr val="0B3D5C"/>
          </a:solidFill>
          <a:ln/>
        </p:spPr>
      </p:sp>
      <p:pic>
        <p:nvPicPr>
          <p:cNvPr id="10" name="Image 1" descr="icons/zap_FFFFFF.png"/>
          <p:cNvPicPr>
            <a:picLocks noChangeAspect="1"/>
          </p:cNvPicPr>
          <p:nvPr/>
        </p:nvPicPr>
        <p:blipFill>
          <a:blip r:embed="rId4"/>
          <a:stretch>
            <a:fillRect/>
          </a:stretch>
        </p:blipFill>
        <p:spPr>
          <a:xfrm>
            <a:off x="7746340" y="1802740"/>
            <a:ext cx="372161" cy="372161"/>
          </a:xfrm>
          <a:prstGeom prst="rect">
            <a:avLst/>
          </a:prstGeom>
        </p:spPr>
      </p:pic>
      <p:sp>
        <p:nvSpPr>
          <p:cNvPr id="11" name="Text 7"/>
          <p:cNvSpPr/>
          <p:nvPr/>
        </p:nvSpPr>
        <p:spPr>
          <a:xfrm>
            <a:off x="8321040" y="1709928"/>
            <a:ext cx="2999232" cy="548640"/>
          </a:xfrm>
          <a:prstGeom prst="rect">
            <a:avLst/>
          </a:prstGeom>
          <a:noFill/>
          <a:ln/>
        </p:spPr>
        <p:txBody>
          <a:bodyPr wrap="square" lIns="0" tIns="0" rIns="0" bIns="0"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Not a magic dial</a:t>
            </a:r>
            <a:endParaRPr lang="en-US" sz="1300" dirty="0"/>
          </a:p>
        </p:txBody>
      </p:sp>
      <p:sp>
        <p:nvSpPr>
          <p:cNvPr id="12" name="Text 8"/>
          <p:cNvSpPr/>
          <p:nvPr/>
        </p:nvSpPr>
        <p:spPr>
          <a:xfrm>
            <a:off x="7680960" y="2468880"/>
            <a:ext cx="3639312" cy="3566160"/>
          </a:xfrm>
          <a:prstGeom prst="rect">
            <a:avLst/>
          </a:prstGeom>
          <a:noFill/>
          <a:ln/>
        </p:spPr>
        <p:txBody>
          <a:bodyPr wrap="square" lIns="0" tIns="0" rIns="0" bIns="0" rtlCol="0" anchor="t"/>
          <a:lstStyle/>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Overclocking is a great illustration that performance is a balance of multiple factors — not something you can just turn up indefinitely.</a:t>
            </a:r>
            <a:endParaRPr lang="en-US" sz="1250" dirty="0"/>
          </a:p>
        </p:txBody>
      </p:sp>
      <p:sp>
        <p:nvSpPr>
          <p:cNvPr id="13" name="Text 9"/>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cpu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REAL-WORLD EXAMPLE</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Robotics Control Loops</a:t>
            </a:r>
            <a:endParaRPr lang="en-US" sz="2400" dirty="0"/>
          </a:p>
        </p:txBody>
      </p:sp>
      <p:sp>
        <p:nvSpPr>
          <p:cNvPr id="7" name="Text 4"/>
          <p:cNvSpPr/>
          <p:nvPr/>
        </p:nvSpPr>
        <p:spPr>
          <a:xfrm>
            <a:off x="548640" y="1417320"/>
            <a:ext cx="6492240" cy="4846320"/>
          </a:xfrm>
          <a:prstGeom prst="rect">
            <a:avLst/>
          </a:prstGeom>
          <a:noFill/>
          <a:ln/>
        </p:spPr>
        <p:txBody>
          <a:bodyPr wrap="square" lIns="0" tIns="0" rIns="0" bIns="0" rtlCol="0" anchor="t"/>
          <a:lstStyle/>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Robotic control systems need predictable, fast instruction execution</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Real-time constraints mean CPI consistency matters more than peak clock speed</a:t>
            </a:r>
            <a:endParaRPr lang="en-US" sz="1500" dirty="0"/>
          </a:p>
          <a:p>
            <a:pPr marL="342900" indent="-342900">
              <a:lnSpc>
                <a:spcPct val="118000"/>
              </a:lnSpc>
              <a:spcAft>
                <a:spcPts val="1200"/>
              </a:spcAft>
              <a:buSzPct val="100000"/>
              <a:buChar char="▸"/>
            </a:pPr>
            <a:r>
              <a:rPr lang="en-US" sz="1500" dirty="0">
                <a:solidFill>
                  <a:srgbClr val="1A1A2E"/>
                </a:solidFill>
                <a:latin typeface="Calibri" pitchFamily="34" charset="0"/>
                <a:ea typeface="Calibri" pitchFamily="34" charset="-122"/>
                <a:cs typeface="Calibri" pitchFamily="34" charset="-120"/>
              </a:rPr>
              <a:t>Directly relevant to your Department of AI and Robotics</a:t>
            </a:r>
            <a:endParaRPr lang="en-US" sz="1500" dirty="0"/>
          </a:p>
        </p:txBody>
      </p:sp>
      <p:sp>
        <p:nvSpPr>
          <p:cNvPr id="8" name="Shape 5"/>
          <p:cNvSpPr/>
          <p:nvPr/>
        </p:nvSpPr>
        <p:spPr>
          <a:xfrm>
            <a:off x="7360920" y="1417320"/>
            <a:ext cx="4279392" cy="4846320"/>
          </a:xfrm>
          <a:prstGeom prst="roundRect">
            <a:avLst>
              <a:gd name="adj" fmla="val 2564"/>
            </a:avLst>
          </a:prstGeom>
          <a:solidFill>
            <a:srgbClr val="E8EEF2"/>
          </a:solidFill>
          <a:ln/>
          <a:effectLst>
            <a:outerShdw blurRad="76200" dist="25400" dir="5400000" algn="bl" rotWithShape="0">
              <a:srgbClr val="1A1A2E">
                <a:alpha val="18000"/>
              </a:srgbClr>
            </a:outerShdw>
          </a:effectLst>
        </p:spPr>
      </p:sp>
      <p:sp>
        <p:nvSpPr>
          <p:cNvPr id="9" name="Shape 6"/>
          <p:cNvSpPr/>
          <p:nvPr/>
        </p:nvSpPr>
        <p:spPr>
          <a:xfrm>
            <a:off x="7680960" y="1737360"/>
            <a:ext cx="502920" cy="502920"/>
          </a:xfrm>
          <a:prstGeom prst="ellipse">
            <a:avLst/>
          </a:prstGeom>
          <a:solidFill>
            <a:srgbClr val="0B3D5C"/>
          </a:solidFill>
          <a:ln/>
        </p:spPr>
      </p:sp>
      <p:pic>
        <p:nvPicPr>
          <p:cNvPr id="10" name="Image 1" descr="icons/cpu_FFFFFF.png"/>
          <p:cNvPicPr>
            <a:picLocks noChangeAspect="1"/>
          </p:cNvPicPr>
          <p:nvPr/>
        </p:nvPicPr>
        <p:blipFill>
          <a:blip r:embed="rId4"/>
          <a:stretch>
            <a:fillRect/>
          </a:stretch>
        </p:blipFill>
        <p:spPr>
          <a:xfrm>
            <a:off x="7746340" y="1802740"/>
            <a:ext cx="372161" cy="372161"/>
          </a:xfrm>
          <a:prstGeom prst="rect">
            <a:avLst/>
          </a:prstGeom>
        </p:spPr>
      </p:pic>
      <p:sp>
        <p:nvSpPr>
          <p:cNvPr id="11" name="Text 7"/>
          <p:cNvSpPr/>
          <p:nvPr/>
        </p:nvSpPr>
        <p:spPr>
          <a:xfrm>
            <a:off x="8321040" y="1709928"/>
            <a:ext cx="2999232" cy="548640"/>
          </a:xfrm>
          <a:prstGeom prst="rect">
            <a:avLst/>
          </a:prstGeom>
          <a:noFill/>
          <a:ln/>
        </p:spPr>
        <p:txBody>
          <a:bodyPr wrap="square" lIns="0" tIns="0" rIns="0" bIns="0" rtlCol="0" anchor="ctr"/>
          <a:lstStyle/>
          <a:p>
            <a:pPr marL="0" indent="0">
              <a:buNone/>
            </a:pPr>
            <a:r>
              <a:rPr lang="en-US" sz="1300" b="1" dirty="0">
                <a:solidFill>
                  <a:srgbClr val="0B3D5C"/>
                </a:solidFill>
                <a:latin typeface="Calibri" pitchFamily="34" charset="0"/>
                <a:ea typeface="Calibri" pitchFamily="34" charset="-122"/>
                <a:cs typeface="Calibri" pitchFamily="34" charset="-120"/>
              </a:rPr>
              <a:t>Close to home</a:t>
            </a:r>
            <a:endParaRPr lang="en-US" sz="1300" dirty="0"/>
          </a:p>
        </p:txBody>
      </p:sp>
      <p:sp>
        <p:nvSpPr>
          <p:cNvPr id="12" name="Text 8"/>
          <p:cNvSpPr/>
          <p:nvPr/>
        </p:nvSpPr>
        <p:spPr>
          <a:xfrm>
            <a:off x="7680960" y="2468880"/>
            <a:ext cx="3639312" cy="3566160"/>
          </a:xfrm>
          <a:prstGeom prst="rect">
            <a:avLst/>
          </a:prstGeom>
          <a:noFill/>
          <a:ln/>
        </p:spPr>
        <p:txBody>
          <a:bodyPr wrap="square" lIns="0" tIns="0" rIns="0" bIns="0" rtlCol="0" anchor="t"/>
          <a:lstStyle/>
          <a:p>
            <a:pPr marL="0" indent="0">
              <a:lnSpc>
                <a:spcPct val="125000"/>
              </a:lnSpc>
              <a:buNone/>
            </a:pPr>
            <a:r>
              <a:rPr lang="en-US" sz="1250" dirty="0">
                <a:solidFill>
                  <a:srgbClr val="1A1A2E"/>
                </a:solidFill>
                <a:latin typeface="Calibri" pitchFamily="34" charset="0"/>
                <a:ea typeface="Calibri" pitchFamily="34" charset="-122"/>
                <a:cs typeface="Calibri" pitchFamily="34" charset="-120"/>
              </a:rPr>
              <a:t>A robot arm or autonomous vehicle needs to respond within strict real-time deadlines — consistent CPI can matter more than a higher peak clock speed.</a:t>
            </a:r>
            <a:endParaRPr lang="en-US" sz="1250" dirty="0"/>
          </a:p>
        </p:txBody>
      </p:sp>
      <p:sp>
        <p:nvSpPr>
          <p:cNvPr id="13" name="Text 9"/>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activity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WORKED EXAMPLE 1</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Calculating Clock Period</a:t>
            </a:r>
            <a:endParaRPr lang="en-US" sz="2400" dirty="0"/>
          </a:p>
        </p:txBody>
      </p:sp>
      <p:sp>
        <p:nvSpPr>
          <p:cNvPr id="7" name="Shape 4"/>
          <p:cNvSpPr/>
          <p:nvPr/>
        </p:nvSpPr>
        <p:spPr>
          <a:xfrm>
            <a:off x="548640" y="1417320"/>
            <a:ext cx="4023360" cy="4846320"/>
          </a:xfrm>
          <a:prstGeom prst="roundRect">
            <a:avLst>
              <a:gd name="adj" fmla="val 2727"/>
            </a:avLst>
          </a:prstGeom>
          <a:solidFill>
            <a:srgbClr val="E8EEF2"/>
          </a:solidFill>
          <a:ln/>
        </p:spPr>
      </p:sp>
      <p:sp>
        <p:nvSpPr>
          <p:cNvPr id="8" name="Text 5"/>
          <p:cNvSpPr/>
          <p:nvPr/>
        </p:nvSpPr>
        <p:spPr>
          <a:xfrm>
            <a:off x="822960" y="1600200"/>
            <a:ext cx="3474720"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Given</a:t>
            </a:r>
            <a:endParaRPr lang="en-US" sz="1400" dirty="0"/>
          </a:p>
        </p:txBody>
      </p:sp>
      <p:sp>
        <p:nvSpPr>
          <p:cNvPr id="9" name="Text 6"/>
          <p:cNvSpPr/>
          <p:nvPr/>
        </p:nvSpPr>
        <p:spPr>
          <a:xfrm>
            <a:off x="822960" y="2057400"/>
            <a:ext cx="3474720" cy="40233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Clock rate: f = 2.5 GHz</a:t>
            </a:r>
            <a:endParaRPr lang="en-US" sz="1350" dirty="0"/>
          </a:p>
          <a:p>
            <a:pPr marL="342900" indent="-342900">
              <a:lnSpc>
                <a:spcPct val="12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Convert: f = 2.5 × 10⁹ Hz</a:t>
            </a:r>
            <a:endParaRPr lang="en-US" sz="1350" dirty="0"/>
          </a:p>
        </p:txBody>
      </p:sp>
      <p:sp>
        <p:nvSpPr>
          <p:cNvPr id="10" name="Text 7"/>
          <p:cNvSpPr/>
          <p:nvPr/>
        </p:nvSpPr>
        <p:spPr>
          <a:xfrm>
            <a:off x="4846320" y="1600200"/>
            <a:ext cx="6793992"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What We Need to Find</a:t>
            </a:r>
            <a:endParaRPr lang="en-US" sz="1400" dirty="0"/>
          </a:p>
        </p:txBody>
      </p:sp>
      <p:sp>
        <p:nvSpPr>
          <p:cNvPr id="11" name="Text 8"/>
          <p:cNvSpPr/>
          <p:nvPr/>
        </p:nvSpPr>
        <p:spPr>
          <a:xfrm>
            <a:off x="4846320" y="2057400"/>
            <a:ext cx="6793992" cy="3291840"/>
          </a:xfrm>
          <a:prstGeom prst="rect">
            <a:avLst/>
          </a:prstGeom>
          <a:noFill/>
          <a:ln/>
        </p:spPr>
        <p:txBody>
          <a:bodyPr wrap="square" lIns="0" tIns="0" rIns="0" bIns="0" rtlCol="0" anchor="t"/>
          <a:lstStyle/>
          <a:p>
            <a:pPr marL="228600" indent="-228600">
              <a:lnSpc>
                <a:spcPct val="125000"/>
              </a:lnSpc>
              <a:spcAft>
                <a:spcPts val="1200"/>
              </a:spcAft>
              <a:buSzPct val="100000"/>
              <a:buFont typeface="+mj-lt"/>
              <a:buAutoNum type="arabicPeriod"/>
            </a:pPr>
            <a:r>
              <a:rPr lang="en-US" sz="1450" dirty="0">
                <a:solidFill>
                  <a:srgbClr val="1A1A2E"/>
                </a:solidFill>
                <a:latin typeface="Calibri" pitchFamily="34" charset="0"/>
                <a:ea typeface="Calibri" pitchFamily="34" charset="-122"/>
                <a:cs typeface="Calibri" pitchFamily="34" charset="-120"/>
              </a:rPr>
              <a:t>We are asked to find the clock period, T.</a:t>
            </a:r>
            <a:endParaRPr lang="en-US" sz="1450" dirty="0"/>
          </a:p>
          <a:p>
            <a:pPr marL="228600" indent="-228600">
              <a:lnSpc>
                <a:spcPct val="125000"/>
              </a:lnSpc>
              <a:spcAft>
                <a:spcPts val="1200"/>
              </a:spcAft>
              <a:buSzPct val="100000"/>
              <a:buFont typeface="+mj-lt"/>
              <a:buAutoNum type="arabicPeriod"/>
            </a:pPr>
            <a:r>
              <a:rPr lang="en-US" sz="1450" dirty="0">
                <a:solidFill>
                  <a:srgbClr val="1A1A2E"/>
                </a:solidFill>
                <a:latin typeface="Calibri" pitchFamily="34" charset="0"/>
                <a:ea typeface="Calibri" pitchFamily="34" charset="-122"/>
                <a:cs typeface="Calibri" pitchFamily="34" charset="-120"/>
              </a:rPr>
              <a:t>Recall the formula: T = 1 / f</a:t>
            </a:r>
            <a:endParaRPr lang="en-US" sz="1450" dirty="0"/>
          </a:p>
          <a:p>
            <a:pPr marL="228600" indent="-228600">
              <a:lnSpc>
                <a:spcPct val="125000"/>
              </a:lnSpc>
              <a:spcAft>
                <a:spcPts val="1200"/>
              </a:spcAft>
              <a:buSzPct val="100000"/>
              <a:buFont typeface="+mj-lt"/>
              <a:buAutoNum type="arabicPeriod"/>
            </a:pPr>
            <a:r>
              <a:rPr lang="en-US" sz="1450" dirty="0">
                <a:solidFill>
                  <a:srgbClr val="1A1A2E"/>
                </a:solidFill>
                <a:latin typeface="Calibri" pitchFamily="34" charset="0"/>
                <a:ea typeface="Calibri" pitchFamily="34" charset="-122"/>
                <a:cs typeface="Calibri" pitchFamily="34" charset="-120"/>
              </a:rPr>
              <a:t>Substitute the given clock rate into the formula.</a:t>
            </a:r>
            <a:endParaRPr lang="en-US" sz="1450" dirty="0"/>
          </a:p>
          <a:p>
            <a:pPr marL="228600" indent="-228600">
              <a:lnSpc>
                <a:spcPct val="125000"/>
              </a:lnSpc>
              <a:spcAft>
                <a:spcPts val="1200"/>
              </a:spcAft>
              <a:buSzPct val="100000"/>
              <a:buFont typeface="+mj-lt"/>
              <a:buAutoNum type="arabicPeriod"/>
            </a:pPr>
            <a:r>
              <a:rPr lang="en-US" sz="1450" dirty="0">
                <a:solidFill>
                  <a:srgbClr val="1A1A2E"/>
                </a:solidFill>
                <a:latin typeface="Calibri" pitchFamily="34" charset="0"/>
                <a:ea typeface="Calibri" pitchFamily="34" charset="-122"/>
                <a:cs typeface="Calibri" pitchFamily="34" charset="-120"/>
              </a:rPr>
              <a:t>Pause here and try it yourself before we solve it together.</a:t>
            </a:r>
            <a:endParaRPr lang="en-US" sz="1450" dirty="0"/>
          </a:p>
        </p:txBody>
      </p:sp>
      <p:sp>
        <p:nvSpPr>
          <p:cNvPr id="12" name="Shape 9"/>
          <p:cNvSpPr/>
          <p:nvPr/>
        </p:nvSpPr>
        <p:spPr>
          <a:xfrm>
            <a:off x="4846320" y="5440680"/>
            <a:ext cx="6793992" cy="777240"/>
          </a:xfrm>
          <a:prstGeom prst="roundRect">
            <a:avLst>
              <a:gd name="adj" fmla="val 11765"/>
            </a:avLst>
          </a:prstGeom>
          <a:solidFill>
            <a:srgbClr val="F4A259"/>
          </a:solidFill>
          <a:ln/>
        </p:spPr>
      </p:sp>
      <p:sp>
        <p:nvSpPr>
          <p:cNvPr id="13" name="Text 10"/>
          <p:cNvSpPr/>
          <p:nvPr/>
        </p:nvSpPr>
        <p:spPr>
          <a:xfrm>
            <a:off x="5029200" y="5440680"/>
            <a:ext cx="6428232" cy="777240"/>
          </a:xfrm>
          <a:prstGeom prst="rect">
            <a:avLst/>
          </a:prstGeom>
          <a:noFill/>
          <a:ln/>
        </p:spPr>
        <p:txBody>
          <a:bodyPr wrap="square" lIns="0" tIns="0" rIns="0" bIns="0" rtlCol="0" anchor="ctr"/>
          <a:lstStyle/>
          <a:p>
            <a:pPr marL="0" indent="0" algn="ctr">
              <a:buNone/>
            </a:pPr>
            <a:r>
              <a:rPr lang="en-US" sz="1700" b="1" dirty="0">
                <a:solidFill>
                  <a:srgbClr val="082A40"/>
                </a:solidFill>
                <a:latin typeface="Cambria" pitchFamily="34" charset="0"/>
                <a:ea typeface="Cambria" pitchFamily="34" charset="-122"/>
                <a:cs typeface="Cambria" pitchFamily="34" charset="-120"/>
              </a:rPr>
              <a:t>Find: T = ?</a:t>
            </a:r>
            <a:endParaRPr lang="en-US" sz="1700" dirty="0"/>
          </a:p>
        </p:txBody>
      </p:sp>
      <p:sp>
        <p:nvSpPr>
          <p:cNvPr id="14" name="Text 11"/>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check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WORKED EXAMPLE 1</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Solution — Clock Period</a:t>
            </a:r>
            <a:endParaRPr lang="en-US" sz="2400" dirty="0"/>
          </a:p>
        </p:txBody>
      </p:sp>
      <p:sp>
        <p:nvSpPr>
          <p:cNvPr id="7" name="Shape 4"/>
          <p:cNvSpPr/>
          <p:nvPr/>
        </p:nvSpPr>
        <p:spPr>
          <a:xfrm>
            <a:off x="548640" y="1417320"/>
            <a:ext cx="4023360" cy="4846320"/>
          </a:xfrm>
          <a:prstGeom prst="roundRect">
            <a:avLst>
              <a:gd name="adj" fmla="val 2727"/>
            </a:avLst>
          </a:prstGeom>
          <a:solidFill>
            <a:srgbClr val="E8EEF2"/>
          </a:solidFill>
          <a:ln/>
        </p:spPr>
        <p:txBody>
          <a:bodyPr/>
          <a:lstStyle/>
          <a:p>
            <a:endParaRPr lang="en-IN" dirty="0"/>
          </a:p>
        </p:txBody>
      </p:sp>
      <p:sp>
        <p:nvSpPr>
          <p:cNvPr id="8" name="Text 5"/>
          <p:cNvSpPr/>
          <p:nvPr/>
        </p:nvSpPr>
        <p:spPr>
          <a:xfrm>
            <a:off x="822960" y="1600200"/>
            <a:ext cx="3474720"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Given</a:t>
            </a:r>
            <a:endParaRPr lang="en-US" sz="1400" dirty="0"/>
          </a:p>
        </p:txBody>
      </p:sp>
      <p:sp>
        <p:nvSpPr>
          <p:cNvPr id="9" name="Text 6"/>
          <p:cNvSpPr/>
          <p:nvPr/>
        </p:nvSpPr>
        <p:spPr>
          <a:xfrm>
            <a:off x="822960" y="2057400"/>
            <a:ext cx="3474720" cy="40233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4000" dirty="0">
                <a:solidFill>
                  <a:srgbClr val="1A1A2E"/>
                </a:solidFill>
                <a:latin typeface="Calibri" pitchFamily="34" charset="0"/>
                <a:ea typeface="Calibri" pitchFamily="34" charset="-122"/>
                <a:cs typeface="Calibri" pitchFamily="34" charset="-120"/>
              </a:rPr>
              <a:t>f = 2.5 × 10⁹ Hz</a:t>
            </a:r>
            <a:endParaRPr lang="en-US" sz="4000" dirty="0"/>
          </a:p>
          <a:p>
            <a:pPr marL="342900" indent="-342900">
              <a:lnSpc>
                <a:spcPct val="120000"/>
              </a:lnSpc>
              <a:spcAft>
                <a:spcPts val="1000"/>
              </a:spcAft>
              <a:buSzPct val="100000"/>
              <a:buChar char="•"/>
            </a:pPr>
            <a:r>
              <a:rPr lang="en-US" sz="4000" dirty="0">
                <a:solidFill>
                  <a:srgbClr val="1A1A2E"/>
                </a:solidFill>
                <a:latin typeface="Calibri" pitchFamily="34" charset="0"/>
                <a:ea typeface="Calibri" pitchFamily="34" charset="-122"/>
                <a:cs typeface="Calibri" pitchFamily="34" charset="-120"/>
              </a:rPr>
              <a:t>Formula: T = 1 / f</a:t>
            </a:r>
            <a:endParaRPr lang="en-US" sz="4000" dirty="0"/>
          </a:p>
        </p:txBody>
      </p:sp>
      <p:sp>
        <p:nvSpPr>
          <p:cNvPr id="10" name="Text 7"/>
          <p:cNvSpPr/>
          <p:nvPr/>
        </p:nvSpPr>
        <p:spPr>
          <a:xfrm>
            <a:off x="4846320" y="1600200"/>
            <a:ext cx="6793992"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Step-by-step Solution</a:t>
            </a:r>
            <a:endParaRPr lang="en-US" sz="1400" dirty="0"/>
          </a:p>
        </p:txBody>
      </p:sp>
      <p:sp>
        <p:nvSpPr>
          <p:cNvPr id="11" name="Text 8"/>
          <p:cNvSpPr/>
          <p:nvPr/>
        </p:nvSpPr>
        <p:spPr>
          <a:xfrm>
            <a:off x="4846320" y="2057400"/>
            <a:ext cx="6793992" cy="3291840"/>
          </a:xfrm>
          <a:prstGeom prst="rect">
            <a:avLst/>
          </a:prstGeom>
          <a:noFill/>
          <a:ln/>
        </p:spPr>
        <p:txBody>
          <a:bodyPr wrap="square" lIns="0" tIns="0" rIns="0" bIns="0" rtlCol="0" anchor="t"/>
          <a:lstStyle/>
          <a:p>
            <a:pPr marL="228600" indent="-228600">
              <a:lnSpc>
                <a:spcPct val="125000"/>
              </a:lnSpc>
              <a:spcAft>
                <a:spcPts val="1200"/>
              </a:spcAft>
              <a:buSzPct val="100000"/>
              <a:buFont typeface="+mj-lt"/>
              <a:buAutoNum type="arabicPeriod"/>
            </a:pPr>
            <a:r>
              <a:rPr lang="en-US" sz="3600" dirty="0">
                <a:solidFill>
                  <a:srgbClr val="1A1A2E"/>
                </a:solidFill>
                <a:latin typeface="Calibri" pitchFamily="34" charset="0"/>
                <a:ea typeface="Calibri" pitchFamily="34" charset="-122"/>
                <a:cs typeface="Calibri" pitchFamily="34" charset="-120"/>
              </a:rPr>
              <a:t>T = 1 / (2.5 × 10⁹)</a:t>
            </a:r>
            <a:endParaRPr lang="en-US" sz="3600" dirty="0"/>
          </a:p>
          <a:p>
            <a:pPr marL="228600" indent="-228600">
              <a:lnSpc>
                <a:spcPct val="125000"/>
              </a:lnSpc>
              <a:spcAft>
                <a:spcPts val="1200"/>
              </a:spcAft>
              <a:buSzPct val="100000"/>
              <a:buFont typeface="+mj-lt"/>
              <a:buAutoNum type="arabicPeriod"/>
            </a:pPr>
            <a:r>
              <a:rPr lang="en-US" sz="3600" dirty="0">
                <a:solidFill>
                  <a:srgbClr val="1A1A2E"/>
                </a:solidFill>
                <a:latin typeface="Calibri" pitchFamily="34" charset="0"/>
                <a:ea typeface="Calibri" pitchFamily="34" charset="-122"/>
                <a:cs typeface="Calibri" pitchFamily="34" charset="-120"/>
              </a:rPr>
              <a:t>T = 0.4 × 10⁻⁹ seconds</a:t>
            </a:r>
            <a:endParaRPr lang="en-US" sz="3600" dirty="0"/>
          </a:p>
          <a:p>
            <a:pPr marL="228600" indent="-228600">
              <a:lnSpc>
                <a:spcPct val="125000"/>
              </a:lnSpc>
              <a:spcAft>
                <a:spcPts val="1200"/>
              </a:spcAft>
              <a:buSzPct val="100000"/>
              <a:buFont typeface="+mj-lt"/>
              <a:buAutoNum type="arabicPeriod"/>
            </a:pPr>
            <a:r>
              <a:rPr lang="en-US" sz="3600" dirty="0">
                <a:solidFill>
                  <a:srgbClr val="1A1A2E"/>
                </a:solidFill>
                <a:latin typeface="Calibri" pitchFamily="34" charset="0"/>
                <a:ea typeface="Calibri" pitchFamily="34" charset="-122"/>
                <a:cs typeface="Calibri" pitchFamily="34" charset="-120"/>
              </a:rPr>
              <a:t>Convert to a familiar unit: T = 0.4 nanoseconds (ns</a:t>
            </a:r>
            <a:r>
              <a:rPr lang="en-US" sz="1450" dirty="0">
                <a:solidFill>
                  <a:srgbClr val="1A1A2E"/>
                </a:solidFill>
                <a:latin typeface="Calibri" pitchFamily="34" charset="0"/>
                <a:ea typeface="Calibri" pitchFamily="34" charset="-122"/>
                <a:cs typeface="Calibri" pitchFamily="34" charset="-120"/>
              </a:rPr>
              <a:t>)</a:t>
            </a:r>
            <a:endParaRPr lang="en-US" sz="1450" dirty="0"/>
          </a:p>
        </p:txBody>
      </p:sp>
      <p:sp>
        <p:nvSpPr>
          <p:cNvPr id="12" name="Shape 9"/>
          <p:cNvSpPr/>
          <p:nvPr/>
        </p:nvSpPr>
        <p:spPr>
          <a:xfrm>
            <a:off x="4846320" y="5440680"/>
            <a:ext cx="6793992" cy="777240"/>
          </a:xfrm>
          <a:prstGeom prst="roundRect">
            <a:avLst>
              <a:gd name="adj" fmla="val 11765"/>
            </a:avLst>
          </a:prstGeom>
          <a:solidFill>
            <a:srgbClr val="F4A259"/>
          </a:solidFill>
          <a:ln/>
        </p:spPr>
      </p:sp>
      <p:sp>
        <p:nvSpPr>
          <p:cNvPr id="13" name="Text 10"/>
          <p:cNvSpPr/>
          <p:nvPr/>
        </p:nvSpPr>
        <p:spPr>
          <a:xfrm>
            <a:off x="5029200" y="5440680"/>
            <a:ext cx="6428232" cy="777240"/>
          </a:xfrm>
          <a:prstGeom prst="rect">
            <a:avLst/>
          </a:prstGeom>
          <a:noFill/>
          <a:ln/>
        </p:spPr>
        <p:txBody>
          <a:bodyPr wrap="square" lIns="0" tIns="0" rIns="0" bIns="0" rtlCol="0" anchor="ctr"/>
          <a:lstStyle/>
          <a:p>
            <a:pPr marL="0" indent="0" algn="ctr">
              <a:buNone/>
            </a:pPr>
            <a:r>
              <a:rPr lang="en-US" sz="1700" b="1" dirty="0">
                <a:solidFill>
                  <a:srgbClr val="082A40"/>
                </a:solidFill>
                <a:latin typeface="Cambria" pitchFamily="34" charset="0"/>
                <a:ea typeface="Cambria" pitchFamily="34" charset="-122"/>
                <a:cs typeface="Cambria" pitchFamily="34" charset="-120"/>
              </a:rPr>
              <a:t>T = 0.4 nanoseconds</a:t>
            </a:r>
            <a:endParaRPr lang="en-US" sz="1700" dirty="0"/>
          </a:p>
        </p:txBody>
      </p:sp>
      <p:sp>
        <p:nvSpPr>
          <p:cNvPr id="14" name="Text 11"/>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activity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WORKED EXAMPLE 2</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CPU Time Calculation</a:t>
            </a:r>
            <a:endParaRPr lang="en-US" sz="2400" dirty="0"/>
          </a:p>
        </p:txBody>
      </p:sp>
      <p:sp>
        <p:nvSpPr>
          <p:cNvPr id="7" name="Shape 4"/>
          <p:cNvSpPr/>
          <p:nvPr/>
        </p:nvSpPr>
        <p:spPr>
          <a:xfrm>
            <a:off x="548640" y="1417320"/>
            <a:ext cx="4023360" cy="4846320"/>
          </a:xfrm>
          <a:prstGeom prst="roundRect">
            <a:avLst>
              <a:gd name="adj" fmla="val 2727"/>
            </a:avLst>
          </a:prstGeom>
          <a:solidFill>
            <a:srgbClr val="E8EEF2"/>
          </a:solidFill>
          <a:ln/>
        </p:spPr>
      </p:sp>
      <p:sp>
        <p:nvSpPr>
          <p:cNvPr id="8" name="Text 5"/>
          <p:cNvSpPr/>
          <p:nvPr/>
        </p:nvSpPr>
        <p:spPr>
          <a:xfrm>
            <a:off x="822960" y="1600200"/>
            <a:ext cx="3474720"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Given</a:t>
            </a:r>
            <a:endParaRPr lang="en-US" sz="1400" dirty="0"/>
          </a:p>
        </p:txBody>
      </p:sp>
      <p:sp>
        <p:nvSpPr>
          <p:cNvPr id="9" name="Text 6"/>
          <p:cNvSpPr/>
          <p:nvPr/>
        </p:nvSpPr>
        <p:spPr>
          <a:xfrm>
            <a:off x="822960" y="2057400"/>
            <a:ext cx="3474720" cy="40233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dirty="0">
                <a:solidFill>
                  <a:srgbClr val="1A1A2E"/>
                </a:solidFill>
                <a:latin typeface="Calibri" pitchFamily="34" charset="0"/>
                <a:ea typeface="Calibri" pitchFamily="34" charset="-122"/>
                <a:cs typeface="Calibri" pitchFamily="34" charset="-120"/>
              </a:rPr>
              <a:t>Instruction Count: IC = 50 × 10⁶</a:t>
            </a:r>
            <a:endParaRPr lang="en-US" dirty="0"/>
          </a:p>
          <a:p>
            <a:pPr marL="342900" indent="-342900">
              <a:lnSpc>
                <a:spcPct val="120000"/>
              </a:lnSpc>
              <a:spcAft>
                <a:spcPts val="1000"/>
              </a:spcAft>
              <a:buSzPct val="100000"/>
              <a:buChar char="•"/>
            </a:pPr>
            <a:r>
              <a:rPr lang="en-US" dirty="0">
                <a:solidFill>
                  <a:srgbClr val="1A1A2E"/>
                </a:solidFill>
                <a:latin typeface="Calibri" pitchFamily="34" charset="0"/>
                <a:ea typeface="Calibri" pitchFamily="34" charset="-122"/>
                <a:cs typeface="Calibri" pitchFamily="34" charset="-120"/>
              </a:rPr>
              <a:t>Average CPI = 4</a:t>
            </a:r>
            <a:endParaRPr lang="en-US" dirty="0"/>
          </a:p>
          <a:p>
            <a:pPr marL="342900" indent="-342900">
              <a:lnSpc>
                <a:spcPct val="120000"/>
              </a:lnSpc>
              <a:spcAft>
                <a:spcPts val="1000"/>
              </a:spcAft>
              <a:buSzPct val="100000"/>
              <a:buChar char="•"/>
            </a:pPr>
            <a:r>
              <a:rPr lang="en-US" dirty="0">
                <a:solidFill>
                  <a:srgbClr val="1A1A2E"/>
                </a:solidFill>
                <a:latin typeface="Calibri" pitchFamily="34" charset="0"/>
                <a:ea typeface="Calibri" pitchFamily="34" charset="-122"/>
                <a:cs typeface="Calibri" pitchFamily="34" charset="-120"/>
              </a:rPr>
              <a:t>Clock rate: f = 2 × 10⁹ Hz</a:t>
            </a:r>
            <a:endParaRPr lang="en-US" dirty="0"/>
          </a:p>
        </p:txBody>
      </p:sp>
      <p:sp>
        <p:nvSpPr>
          <p:cNvPr id="10" name="Text 7"/>
          <p:cNvSpPr/>
          <p:nvPr/>
        </p:nvSpPr>
        <p:spPr>
          <a:xfrm>
            <a:off x="4846320" y="1600200"/>
            <a:ext cx="6793992"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What We Need to Find</a:t>
            </a:r>
            <a:endParaRPr lang="en-US" sz="1400" dirty="0"/>
          </a:p>
        </p:txBody>
      </p:sp>
      <p:sp>
        <p:nvSpPr>
          <p:cNvPr id="11" name="Text 8"/>
          <p:cNvSpPr/>
          <p:nvPr/>
        </p:nvSpPr>
        <p:spPr>
          <a:xfrm>
            <a:off x="4846320" y="2057400"/>
            <a:ext cx="6793992" cy="3291840"/>
          </a:xfrm>
          <a:prstGeom prst="rect">
            <a:avLst/>
          </a:prstGeom>
          <a:noFill/>
          <a:ln/>
        </p:spPr>
        <p:txBody>
          <a:bodyPr wrap="square" lIns="0" tIns="0" rIns="0" bIns="0" rtlCol="0" anchor="t"/>
          <a:lstStyle/>
          <a:p>
            <a:pPr marL="228600" indent="-228600">
              <a:lnSpc>
                <a:spcPct val="125000"/>
              </a:lnSpc>
              <a:spcAft>
                <a:spcPts val="1200"/>
              </a:spcAft>
              <a:buSzPct val="100000"/>
              <a:buFont typeface="+mj-lt"/>
              <a:buAutoNum type="arabicPeriod"/>
            </a:pPr>
            <a:r>
              <a:rPr lang="en-US" sz="2400" dirty="0">
                <a:solidFill>
                  <a:srgbClr val="1A1A2E"/>
                </a:solidFill>
                <a:latin typeface="Calibri" pitchFamily="34" charset="0"/>
                <a:ea typeface="Calibri" pitchFamily="34" charset="-122"/>
                <a:cs typeface="Calibri" pitchFamily="34" charset="-120"/>
              </a:rPr>
              <a:t>Recall: CPU Time = IC × CPI × Clock Cycle Time</a:t>
            </a:r>
            <a:endParaRPr lang="en-US" sz="2400" dirty="0"/>
          </a:p>
          <a:p>
            <a:pPr marL="228600" indent="-228600">
              <a:lnSpc>
                <a:spcPct val="125000"/>
              </a:lnSpc>
              <a:spcAft>
                <a:spcPts val="1200"/>
              </a:spcAft>
              <a:buSzPct val="100000"/>
              <a:buFont typeface="+mj-lt"/>
              <a:buAutoNum type="arabicPeriod"/>
            </a:pPr>
            <a:r>
              <a:rPr lang="en-US" sz="2400" dirty="0">
                <a:solidFill>
                  <a:srgbClr val="1A1A2E"/>
                </a:solidFill>
                <a:latin typeface="Calibri" pitchFamily="34" charset="0"/>
                <a:ea typeface="Calibri" pitchFamily="34" charset="-122"/>
                <a:cs typeface="Calibri" pitchFamily="34" charset="-120"/>
              </a:rPr>
              <a:t>First find Clock Cycle Time using T = 1/f</a:t>
            </a:r>
            <a:endParaRPr lang="en-US" sz="2400" dirty="0"/>
          </a:p>
          <a:p>
            <a:pPr marL="228600" indent="-228600">
              <a:lnSpc>
                <a:spcPct val="125000"/>
              </a:lnSpc>
              <a:spcAft>
                <a:spcPts val="1200"/>
              </a:spcAft>
              <a:buSzPct val="100000"/>
              <a:buFont typeface="+mj-lt"/>
              <a:buAutoNum type="arabicPeriod"/>
            </a:pPr>
            <a:r>
              <a:rPr lang="en-US" sz="2400" dirty="0">
                <a:solidFill>
                  <a:srgbClr val="1A1A2E"/>
                </a:solidFill>
                <a:latin typeface="Calibri" pitchFamily="34" charset="0"/>
                <a:ea typeface="Calibri" pitchFamily="34" charset="-122"/>
                <a:cs typeface="Calibri" pitchFamily="34" charset="-120"/>
              </a:rPr>
              <a:t>Then substitute IC, CPI, and T into the full formula</a:t>
            </a:r>
            <a:endParaRPr lang="en-US" sz="2400" dirty="0"/>
          </a:p>
          <a:p>
            <a:pPr marL="228600" indent="-228600">
              <a:lnSpc>
                <a:spcPct val="125000"/>
              </a:lnSpc>
              <a:spcAft>
                <a:spcPts val="1200"/>
              </a:spcAft>
              <a:buSzPct val="100000"/>
              <a:buFont typeface="+mj-lt"/>
              <a:buAutoNum type="arabicPeriod"/>
            </a:pPr>
            <a:r>
              <a:rPr lang="en-US" sz="2400" dirty="0">
                <a:solidFill>
                  <a:srgbClr val="1A1A2E"/>
                </a:solidFill>
                <a:latin typeface="Calibri" pitchFamily="34" charset="0"/>
                <a:ea typeface="Calibri" pitchFamily="34" charset="-122"/>
                <a:cs typeface="Calibri" pitchFamily="34" charset="-120"/>
              </a:rPr>
              <a:t>Take a moment to try this yourself before the next slide</a:t>
            </a:r>
            <a:endParaRPr lang="en-US" sz="2400" dirty="0"/>
          </a:p>
        </p:txBody>
      </p:sp>
      <p:sp>
        <p:nvSpPr>
          <p:cNvPr id="12" name="Shape 9"/>
          <p:cNvSpPr/>
          <p:nvPr/>
        </p:nvSpPr>
        <p:spPr>
          <a:xfrm>
            <a:off x="4846320" y="5440680"/>
            <a:ext cx="6793992" cy="777240"/>
          </a:xfrm>
          <a:prstGeom prst="roundRect">
            <a:avLst>
              <a:gd name="adj" fmla="val 11765"/>
            </a:avLst>
          </a:prstGeom>
          <a:solidFill>
            <a:srgbClr val="F4A259"/>
          </a:solidFill>
          <a:ln/>
        </p:spPr>
      </p:sp>
      <p:sp>
        <p:nvSpPr>
          <p:cNvPr id="13" name="Text 10"/>
          <p:cNvSpPr/>
          <p:nvPr/>
        </p:nvSpPr>
        <p:spPr>
          <a:xfrm>
            <a:off x="5029200" y="5440680"/>
            <a:ext cx="6428232" cy="777240"/>
          </a:xfrm>
          <a:prstGeom prst="rect">
            <a:avLst/>
          </a:prstGeom>
          <a:noFill/>
          <a:ln/>
        </p:spPr>
        <p:txBody>
          <a:bodyPr wrap="square" lIns="0" tIns="0" rIns="0" bIns="0" rtlCol="0" anchor="ctr"/>
          <a:lstStyle/>
          <a:p>
            <a:pPr marL="0" indent="0" algn="ctr">
              <a:buNone/>
            </a:pPr>
            <a:r>
              <a:rPr lang="en-US" sz="1700" b="1" dirty="0">
                <a:solidFill>
                  <a:srgbClr val="082A40"/>
                </a:solidFill>
                <a:latin typeface="Cambria" pitchFamily="34" charset="0"/>
                <a:ea typeface="Cambria" pitchFamily="34" charset="-122"/>
                <a:cs typeface="Cambria" pitchFamily="34" charset="-120"/>
              </a:rPr>
              <a:t>Find: CPU Execution Time</a:t>
            </a:r>
            <a:endParaRPr lang="en-US" sz="1700" dirty="0"/>
          </a:p>
        </p:txBody>
      </p:sp>
      <p:sp>
        <p:nvSpPr>
          <p:cNvPr id="14" name="Text 11"/>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check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WORKED EXAMPLE 2</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Solution — CPU Time</a:t>
            </a:r>
            <a:endParaRPr lang="en-US" sz="2400" dirty="0"/>
          </a:p>
        </p:txBody>
      </p:sp>
      <p:sp>
        <p:nvSpPr>
          <p:cNvPr id="7" name="Shape 4"/>
          <p:cNvSpPr/>
          <p:nvPr/>
        </p:nvSpPr>
        <p:spPr>
          <a:xfrm>
            <a:off x="548640" y="1417320"/>
            <a:ext cx="4023360" cy="4846320"/>
          </a:xfrm>
          <a:prstGeom prst="roundRect">
            <a:avLst>
              <a:gd name="adj" fmla="val 2727"/>
            </a:avLst>
          </a:prstGeom>
          <a:solidFill>
            <a:srgbClr val="E8EEF2"/>
          </a:solidFill>
          <a:ln/>
        </p:spPr>
      </p:sp>
      <p:sp>
        <p:nvSpPr>
          <p:cNvPr id="8" name="Text 5"/>
          <p:cNvSpPr/>
          <p:nvPr/>
        </p:nvSpPr>
        <p:spPr>
          <a:xfrm>
            <a:off x="822960" y="1600200"/>
            <a:ext cx="3474720"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Given</a:t>
            </a:r>
            <a:endParaRPr lang="en-US" sz="1400" dirty="0"/>
          </a:p>
        </p:txBody>
      </p:sp>
      <p:sp>
        <p:nvSpPr>
          <p:cNvPr id="9" name="Text 6"/>
          <p:cNvSpPr/>
          <p:nvPr/>
        </p:nvSpPr>
        <p:spPr>
          <a:xfrm>
            <a:off x="822960" y="2057400"/>
            <a:ext cx="3474720" cy="40233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IC = 50 × 10⁶</a:t>
            </a:r>
            <a:endParaRPr lang="en-US" sz="2400" dirty="0"/>
          </a:p>
          <a:p>
            <a:pPr marL="342900" indent="-342900">
              <a:lnSpc>
                <a:spcPct val="120000"/>
              </a:lnSpc>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CPI = 4</a:t>
            </a:r>
            <a:endParaRPr lang="en-US" sz="2400" dirty="0"/>
          </a:p>
          <a:p>
            <a:pPr marL="342900" indent="-342900">
              <a:lnSpc>
                <a:spcPct val="120000"/>
              </a:lnSpc>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f = 2 × 10⁹ Hz</a:t>
            </a:r>
            <a:endParaRPr lang="en-US" sz="2400" dirty="0"/>
          </a:p>
        </p:txBody>
      </p:sp>
      <p:sp>
        <p:nvSpPr>
          <p:cNvPr id="10" name="Text 7"/>
          <p:cNvSpPr/>
          <p:nvPr/>
        </p:nvSpPr>
        <p:spPr>
          <a:xfrm>
            <a:off x="4846320" y="1600200"/>
            <a:ext cx="6793992"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Step-by-step Solution</a:t>
            </a:r>
            <a:endParaRPr lang="en-US" sz="1400" dirty="0"/>
          </a:p>
        </p:txBody>
      </p:sp>
      <p:sp>
        <p:nvSpPr>
          <p:cNvPr id="11" name="Text 8"/>
          <p:cNvSpPr/>
          <p:nvPr/>
        </p:nvSpPr>
        <p:spPr>
          <a:xfrm>
            <a:off x="4846320" y="2057400"/>
            <a:ext cx="6793992" cy="3291840"/>
          </a:xfrm>
          <a:prstGeom prst="rect">
            <a:avLst/>
          </a:prstGeom>
          <a:noFill/>
          <a:ln/>
        </p:spPr>
        <p:txBody>
          <a:bodyPr wrap="square" lIns="0" tIns="0" rIns="0" bIns="0" rtlCol="0" anchor="t"/>
          <a:lstStyle/>
          <a:p>
            <a:pPr marL="228600" indent="-228600">
              <a:lnSpc>
                <a:spcPct val="125000"/>
              </a:lnSpc>
              <a:spcAft>
                <a:spcPts val="1200"/>
              </a:spcAft>
              <a:buSzPct val="100000"/>
              <a:buFont typeface="+mj-lt"/>
              <a:buAutoNum type="arabicPeriod"/>
            </a:pPr>
            <a:r>
              <a:rPr lang="en-US" sz="2000" dirty="0">
                <a:solidFill>
                  <a:srgbClr val="1A1A2E"/>
                </a:solidFill>
                <a:latin typeface="Calibri" pitchFamily="34" charset="0"/>
                <a:ea typeface="Calibri" pitchFamily="34" charset="-122"/>
                <a:cs typeface="Calibri" pitchFamily="34" charset="-120"/>
              </a:rPr>
              <a:t>Clock Cycle Time = 1 / (2 × 10⁹) = 0.5 ns</a:t>
            </a:r>
            <a:endParaRPr lang="en-US" sz="2000" dirty="0"/>
          </a:p>
          <a:p>
            <a:pPr marL="228600" indent="-228600">
              <a:lnSpc>
                <a:spcPct val="125000"/>
              </a:lnSpc>
              <a:spcAft>
                <a:spcPts val="1200"/>
              </a:spcAft>
              <a:buSzPct val="100000"/>
              <a:buFont typeface="+mj-lt"/>
              <a:buAutoNum type="arabicPeriod"/>
            </a:pPr>
            <a:r>
              <a:rPr lang="en-US" sz="2000" dirty="0">
                <a:solidFill>
                  <a:srgbClr val="1A1A2E"/>
                </a:solidFill>
                <a:latin typeface="Calibri" pitchFamily="34" charset="0"/>
                <a:ea typeface="Calibri" pitchFamily="34" charset="-122"/>
                <a:cs typeface="Calibri" pitchFamily="34" charset="-120"/>
              </a:rPr>
              <a:t>CPU Time = (50 × 10⁶) × 4 × (0.5 × 10⁻⁹)</a:t>
            </a:r>
            <a:endParaRPr lang="en-US" sz="2000" dirty="0"/>
          </a:p>
          <a:p>
            <a:pPr marL="228600" indent="-228600">
              <a:lnSpc>
                <a:spcPct val="125000"/>
              </a:lnSpc>
              <a:spcAft>
                <a:spcPts val="1200"/>
              </a:spcAft>
              <a:buSzPct val="100000"/>
              <a:buFont typeface="+mj-lt"/>
              <a:buAutoNum type="arabicPeriod"/>
            </a:pPr>
            <a:r>
              <a:rPr lang="en-US" sz="2000" dirty="0">
                <a:solidFill>
                  <a:srgbClr val="1A1A2E"/>
                </a:solidFill>
                <a:latin typeface="Calibri" pitchFamily="34" charset="0"/>
                <a:ea typeface="Calibri" pitchFamily="34" charset="-122"/>
                <a:cs typeface="Calibri" pitchFamily="34" charset="-120"/>
              </a:rPr>
              <a:t>Multiply through carefully to get the final result</a:t>
            </a:r>
            <a:endParaRPr lang="en-US" sz="2000" dirty="0"/>
          </a:p>
        </p:txBody>
      </p:sp>
      <p:sp>
        <p:nvSpPr>
          <p:cNvPr id="12" name="Shape 9"/>
          <p:cNvSpPr/>
          <p:nvPr/>
        </p:nvSpPr>
        <p:spPr>
          <a:xfrm>
            <a:off x="4846320" y="5440680"/>
            <a:ext cx="6793992" cy="777240"/>
          </a:xfrm>
          <a:prstGeom prst="roundRect">
            <a:avLst>
              <a:gd name="adj" fmla="val 11765"/>
            </a:avLst>
          </a:prstGeom>
          <a:solidFill>
            <a:srgbClr val="F4A259"/>
          </a:solidFill>
          <a:ln/>
        </p:spPr>
      </p:sp>
      <p:sp>
        <p:nvSpPr>
          <p:cNvPr id="13" name="Text 10"/>
          <p:cNvSpPr/>
          <p:nvPr/>
        </p:nvSpPr>
        <p:spPr>
          <a:xfrm>
            <a:off x="5029200" y="5440680"/>
            <a:ext cx="6428232" cy="777240"/>
          </a:xfrm>
          <a:prstGeom prst="rect">
            <a:avLst/>
          </a:prstGeom>
          <a:noFill/>
          <a:ln/>
        </p:spPr>
        <p:txBody>
          <a:bodyPr wrap="square" lIns="0" tIns="0" rIns="0" bIns="0" rtlCol="0" anchor="ctr"/>
          <a:lstStyle/>
          <a:p>
            <a:pPr marL="0" indent="0" algn="ctr">
              <a:buNone/>
            </a:pPr>
            <a:r>
              <a:rPr lang="en-US" sz="1700" b="1" dirty="0">
                <a:solidFill>
                  <a:srgbClr val="082A40"/>
                </a:solidFill>
                <a:latin typeface="Cambria" pitchFamily="34" charset="0"/>
                <a:ea typeface="Cambria" pitchFamily="34" charset="-122"/>
                <a:cs typeface="Cambria" pitchFamily="34" charset="-120"/>
              </a:rPr>
              <a:t>CPU Time = 0.1 seconds</a:t>
            </a:r>
            <a:endParaRPr lang="en-US" sz="1700" dirty="0"/>
          </a:p>
        </p:txBody>
      </p:sp>
      <p:sp>
        <p:nvSpPr>
          <p:cNvPr id="14" name="Text 11"/>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alert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COMMON MISCONCEPTIONS</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“Higher GHz Always Means Faster”</a:t>
            </a:r>
            <a:endParaRPr lang="en-US" sz="2200" dirty="0"/>
          </a:p>
        </p:txBody>
      </p:sp>
      <p:sp>
        <p:nvSpPr>
          <p:cNvPr id="7" name="Shape 4"/>
          <p:cNvSpPr/>
          <p:nvPr/>
        </p:nvSpPr>
        <p:spPr>
          <a:xfrm>
            <a:off x="548640" y="1463040"/>
            <a:ext cx="5408676" cy="4754880"/>
          </a:xfrm>
          <a:prstGeom prst="roundRect">
            <a:avLst>
              <a:gd name="adj" fmla="val 2308"/>
            </a:avLst>
          </a:prstGeom>
          <a:solidFill>
            <a:srgbClr val="F5E4DA"/>
          </a:solidFill>
          <a:ln/>
        </p:spPr>
      </p:sp>
      <p:sp>
        <p:nvSpPr>
          <p:cNvPr id="8" name="Shape 5"/>
          <p:cNvSpPr/>
          <p:nvPr/>
        </p:nvSpPr>
        <p:spPr>
          <a:xfrm>
            <a:off x="822960" y="1691640"/>
            <a:ext cx="502920" cy="502920"/>
          </a:xfrm>
          <a:prstGeom prst="ellipse">
            <a:avLst/>
          </a:prstGeom>
          <a:solidFill>
            <a:srgbClr val="C86B3C"/>
          </a:solidFill>
          <a:ln/>
        </p:spPr>
      </p:sp>
      <p:pic>
        <p:nvPicPr>
          <p:cNvPr id="9" name="Image 1" descr="icons/alert_FFFFFF.png"/>
          <p:cNvPicPr>
            <a:picLocks noChangeAspect="1"/>
          </p:cNvPicPr>
          <p:nvPr/>
        </p:nvPicPr>
        <p:blipFill>
          <a:blip r:embed="rId4"/>
          <a:stretch>
            <a:fillRect/>
          </a:stretch>
        </p:blipFill>
        <p:spPr>
          <a:xfrm>
            <a:off x="888340" y="1757020"/>
            <a:ext cx="372161" cy="372161"/>
          </a:xfrm>
          <a:prstGeom prst="rect">
            <a:avLst/>
          </a:prstGeom>
        </p:spPr>
      </p:pic>
      <p:sp>
        <p:nvSpPr>
          <p:cNvPr id="10" name="Text 6"/>
          <p:cNvSpPr/>
          <p:nvPr/>
        </p:nvSpPr>
        <p:spPr>
          <a:xfrm>
            <a:off x="1463040" y="1737360"/>
            <a:ext cx="4311396" cy="457200"/>
          </a:xfrm>
          <a:prstGeom prst="rect">
            <a:avLst/>
          </a:prstGeom>
          <a:noFill/>
          <a:ln/>
        </p:spPr>
        <p:txBody>
          <a:bodyPr wrap="square" lIns="0" tIns="0" rIns="0" bIns="0" rtlCol="0" anchor="ctr"/>
          <a:lstStyle/>
          <a:p>
            <a:pPr marL="0" indent="0">
              <a:buNone/>
            </a:pPr>
            <a:r>
              <a:rPr lang="en-US" sz="1500" b="1" dirty="0">
                <a:solidFill>
                  <a:srgbClr val="C86B3C"/>
                </a:solidFill>
                <a:latin typeface="Calibri" pitchFamily="34" charset="0"/>
                <a:ea typeface="Calibri" pitchFamily="34" charset="-122"/>
                <a:cs typeface="Calibri" pitchFamily="34" charset="-120"/>
              </a:rPr>
              <a:t>MYTH</a:t>
            </a:r>
            <a:endParaRPr lang="en-US" sz="1500" dirty="0"/>
          </a:p>
        </p:txBody>
      </p:sp>
      <p:sp>
        <p:nvSpPr>
          <p:cNvPr id="11" name="Text 7"/>
          <p:cNvSpPr/>
          <p:nvPr/>
        </p:nvSpPr>
        <p:spPr>
          <a:xfrm>
            <a:off x="822960" y="2377440"/>
            <a:ext cx="4860036" cy="3566160"/>
          </a:xfrm>
          <a:prstGeom prst="rect">
            <a:avLst/>
          </a:prstGeom>
          <a:noFill/>
          <a:ln/>
        </p:spPr>
        <p:txBody>
          <a:bodyPr wrap="square" lIns="0" tIns="0" rIns="0" bIns="0" rtlCol="0" anchor="t"/>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A 3 GHz processor is always faster than a 2.5 GHz processor.</a:t>
            </a:r>
            <a:endParaRPr lang="en-US" sz="1500" dirty="0"/>
          </a:p>
        </p:txBody>
      </p:sp>
      <p:sp>
        <p:nvSpPr>
          <p:cNvPr id="12" name="Shape 8"/>
          <p:cNvSpPr/>
          <p:nvPr/>
        </p:nvSpPr>
        <p:spPr>
          <a:xfrm>
            <a:off x="6231636" y="1463040"/>
            <a:ext cx="5408676" cy="4754880"/>
          </a:xfrm>
          <a:prstGeom prst="roundRect">
            <a:avLst>
              <a:gd name="adj" fmla="val 2308"/>
            </a:avLst>
          </a:prstGeom>
          <a:solidFill>
            <a:srgbClr val="E8EEF2"/>
          </a:solidFill>
          <a:ln/>
        </p:spPr>
      </p:sp>
      <p:sp>
        <p:nvSpPr>
          <p:cNvPr id="13" name="Shape 9"/>
          <p:cNvSpPr/>
          <p:nvPr/>
        </p:nvSpPr>
        <p:spPr>
          <a:xfrm>
            <a:off x="6505956" y="1691640"/>
            <a:ext cx="502920" cy="502920"/>
          </a:xfrm>
          <a:prstGeom prst="ellipse">
            <a:avLst/>
          </a:prstGeom>
          <a:solidFill>
            <a:srgbClr val="1C7293"/>
          </a:solidFill>
          <a:ln/>
        </p:spPr>
      </p:sp>
      <p:pic>
        <p:nvPicPr>
          <p:cNvPr id="14" name="Image 2" descr="icons/check_FFFFFF.png"/>
          <p:cNvPicPr>
            <a:picLocks noChangeAspect="1"/>
          </p:cNvPicPr>
          <p:nvPr/>
        </p:nvPicPr>
        <p:blipFill>
          <a:blip r:embed="rId5"/>
          <a:stretch>
            <a:fillRect/>
          </a:stretch>
        </p:blipFill>
        <p:spPr>
          <a:xfrm>
            <a:off x="6571336" y="1757020"/>
            <a:ext cx="372161" cy="372161"/>
          </a:xfrm>
          <a:prstGeom prst="rect">
            <a:avLst/>
          </a:prstGeom>
        </p:spPr>
      </p:pic>
      <p:sp>
        <p:nvSpPr>
          <p:cNvPr id="15" name="Text 10"/>
          <p:cNvSpPr/>
          <p:nvPr/>
        </p:nvSpPr>
        <p:spPr>
          <a:xfrm>
            <a:off x="7146036" y="1737360"/>
            <a:ext cx="4311396" cy="457200"/>
          </a:xfrm>
          <a:prstGeom prst="rect">
            <a:avLst/>
          </a:prstGeom>
          <a:noFill/>
          <a:ln/>
        </p:spPr>
        <p:txBody>
          <a:bodyPr wrap="square" lIns="0" tIns="0" rIns="0" bIns="0" rtlCol="0" anchor="ctr"/>
          <a:lstStyle/>
          <a:p>
            <a:pPr marL="0" indent="0">
              <a:buNone/>
            </a:pPr>
            <a:r>
              <a:rPr lang="en-US" sz="1500" b="1" dirty="0">
                <a:solidFill>
                  <a:srgbClr val="1C7293"/>
                </a:solidFill>
                <a:latin typeface="Calibri" pitchFamily="34" charset="0"/>
                <a:ea typeface="Calibri" pitchFamily="34" charset="-122"/>
                <a:cs typeface="Calibri" pitchFamily="34" charset="-120"/>
              </a:rPr>
              <a:t>REALITY</a:t>
            </a:r>
            <a:endParaRPr lang="en-US" sz="1500" dirty="0"/>
          </a:p>
        </p:txBody>
      </p:sp>
      <p:sp>
        <p:nvSpPr>
          <p:cNvPr id="16" name="Text 11"/>
          <p:cNvSpPr/>
          <p:nvPr/>
        </p:nvSpPr>
        <p:spPr>
          <a:xfrm>
            <a:off x="6505956" y="2377440"/>
            <a:ext cx="4860036" cy="3566160"/>
          </a:xfrm>
          <a:prstGeom prst="rect">
            <a:avLst/>
          </a:prstGeom>
          <a:noFill/>
          <a:ln/>
        </p:spPr>
        <p:txBody>
          <a:bodyPr wrap="square" lIns="0" tIns="0" rIns="0" bIns="0" rtlCol="0" anchor="t"/>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Performance depends on IC, CPI, and clock rate together. A 3 GHz chip with high CPI can be slower than a 2.5 GHz chip with low CPI. Always compare using CPU Time or benchmarks, not clock rate alone.</a:t>
            </a:r>
            <a:endParaRPr lang="en-US" sz="1500" dirty="0"/>
          </a:p>
        </p:txBody>
      </p:sp>
      <p:sp>
        <p:nvSpPr>
          <p:cNvPr id="17" name="Text 12"/>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alert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COMMON MISCONCEPTIONS</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“MIPS Is a Universal Measure”</a:t>
            </a:r>
            <a:endParaRPr lang="en-US" sz="2200" dirty="0"/>
          </a:p>
        </p:txBody>
      </p:sp>
      <p:sp>
        <p:nvSpPr>
          <p:cNvPr id="7" name="Shape 4"/>
          <p:cNvSpPr/>
          <p:nvPr/>
        </p:nvSpPr>
        <p:spPr>
          <a:xfrm>
            <a:off x="548640" y="1463040"/>
            <a:ext cx="5408676" cy="4754880"/>
          </a:xfrm>
          <a:prstGeom prst="roundRect">
            <a:avLst>
              <a:gd name="adj" fmla="val 2308"/>
            </a:avLst>
          </a:prstGeom>
          <a:solidFill>
            <a:srgbClr val="F5E4DA"/>
          </a:solidFill>
          <a:ln/>
        </p:spPr>
      </p:sp>
      <p:sp>
        <p:nvSpPr>
          <p:cNvPr id="8" name="Shape 5"/>
          <p:cNvSpPr/>
          <p:nvPr/>
        </p:nvSpPr>
        <p:spPr>
          <a:xfrm>
            <a:off x="822960" y="1691640"/>
            <a:ext cx="502920" cy="502920"/>
          </a:xfrm>
          <a:prstGeom prst="ellipse">
            <a:avLst/>
          </a:prstGeom>
          <a:solidFill>
            <a:srgbClr val="C86B3C"/>
          </a:solidFill>
          <a:ln/>
        </p:spPr>
      </p:sp>
      <p:pic>
        <p:nvPicPr>
          <p:cNvPr id="9" name="Image 1" descr="icons/alert_FFFFFF.png"/>
          <p:cNvPicPr>
            <a:picLocks noChangeAspect="1"/>
          </p:cNvPicPr>
          <p:nvPr/>
        </p:nvPicPr>
        <p:blipFill>
          <a:blip r:embed="rId4"/>
          <a:stretch>
            <a:fillRect/>
          </a:stretch>
        </p:blipFill>
        <p:spPr>
          <a:xfrm>
            <a:off x="888340" y="1757020"/>
            <a:ext cx="372161" cy="372161"/>
          </a:xfrm>
          <a:prstGeom prst="rect">
            <a:avLst/>
          </a:prstGeom>
        </p:spPr>
      </p:pic>
      <p:sp>
        <p:nvSpPr>
          <p:cNvPr id="10" name="Text 6"/>
          <p:cNvSpPr/>
          <p:nvPr/>
        </p:nvSpPr>
        <p:spPr>
          <a:xfrm>
            <a:off x="1463040" y="1737360"/>
            <a:ext cx="4311396" cy="457200"/>
          </a:xfrm>
          <a:prstGeom prst="rect">
            <a:avLst/>
          </a:prstGeom>
          <a:noFill/>
          <a:ln/>
        </p:spPr>
        <p:txBody>
          <a:bodyPr wrap="square" lIns="0" tIns="0" rIns="0" bIns="0" rtlCol="0" anchor="ctr"/>
          <a:lstStyle/>
          <a:p>
            <a:pPr marL="0" indent="0">
              <a:buNone/>
            </a:pPr>
            <a:r>
              <a:rPr lang="en-US" sz="1500" b="1" dirty="0">
                <a:solidFill>
                  <a:srgbClr val="C86B3C"/>
                </a:solidFill>
                <a:latin typeface="Calibri" pitchFamily="34" charset="0"/>
                <a:ea typeface="Calibri" pitchFamily="34" charset="-122"/>
                <a:cs typeface="Calibri" pitchFamily="34" charset="-120"/>
              </a:rPr>
              <a:t>MYTH</a:t>
            </a:r>
            <a:endParaRPr lang="en-US" sz="1500" dirty="0"/>
          </a:p>
        </p:txBody>
      </p:sp>
      <p:sp>
        <p:nvSpPr>
          <p:cNvPr id="11" name="Text 7"/>
          <p:cNvSpPr/>
          <p:nvPr/>
        </p:nvSpPr>
        <p:spPr>
          <a:xfrm>
            <a:off x="822960" y="2377440"/>
            <a:ext cx="4860036" cy="3566160"/>
          </a:xfrm>
          <a:prstGeom prst="rect">
            <a:avLst/>
          </a:prstGeom>
          <a:noFill/>
          <a:ln/>
        </p:spPr>
        <p:txBody>
          <a:bodyPr wrap="square" lIns="0" tIns="0" rIns="0" bIns="0" rtlCol="0" anchor="t"/>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You can fairly compare any two processors just by comparing their MIPS numbers.</a:t>
            </a:r>
            <a:endParaRPr lang="en-US" sz="1500" dirty="0"/>
          </a:p>
        </p:txBody>
      </p:sp>
      <p:sp>
        <p:nvSpPr>
          <p:cNvPr id="12" name="Shape 8"/>
          <p:cNvSpPr/>
          <p:nvPr/>
        </p:nvSpPr>
        <p:spPr>
          <a:xfrm>
            <a:off x="6231636" y="1463040"/>
            <a:ext cx="5408676" cy="4754880"/>
          </a:xfrm>
          <a:prstGeom prst="roundRect">
            <a:avLst>
              <a:gd name="adj" fmla="val 2308"/>
            </a:avLst>
          </a:prstGeom>
          <a:solidFill>
            <a:srgbClr val="E8EEF2"/>
          </a:solidFill>
          <a:ln/>
        </p:spPr>
      </p:sp>
      <p:sp>
        <p:nvSpPr>
          <p:cNvPr id="13" name="Shape 9"/>
          <p:cNvSpPr/>
          <p:nvPr/>
        </p:nvSpPr>
        <p:spPr>
          <a:xfrm>
            <a:off x="6505956" y="1691640"/>
            <a:ext cx="502920" cy="502920"/>
          </a:xfrm>
          <a:prstGeom prst="ellipse">
            <a:avLst/>
          </a:prstGeom>
          <a:solidFill>
            <a:srgbClr val="1C7293"/>
          </a:solidFill>
          <a:ln/>
        </p:spPr>
      </p:sp>
      <p:pic>
        <p:nvPicPr>
          <p:cNvPr id="14" name="Image 2" descr="icons/check_FFFFFF.png"/>
          <p:cNvPicPr>
            <a:picLocks noChangeAspect="1"/>
          </p:cNvPicPr>
          <p:nvPr/>
        </p:nvPicPr>
        <p:blipFill>
          <a:blip r:embed="rId5"/>
          <a:stretch>
            <a:fillRect/>
          </a:stretch>
        </p:blipFill>
        <p:spPr>
          <a:xfrm>
            <a:off x="6571336" y="1757020"/>
            <a:ext cx="372161" cy="372161"/>
          </a:xfrm>
          <a:prstGeom prst="rect">
            <a:avLst/>
          </a:prstGeom>
        </p:spPr>
      </p:pic>
      <p:sp>
        <p:nvSpPr>
          <p:cNvPr id="15" name="Text 10"/>
          <p:cNvSpPr/>
          <p:nvPr/>
        </p:nvSpPr>
        <p:spPr>
          <a:xfrm>
            <a:off x="7146036" y="1737360"/>
            <a:ext cx="4311396" cy="457200"/>
          </a:xfrm>
          <a:prstGeom prst="rect">
            <a:avLst/>
          </a:prstGeom>
          <a:noFill/>
          <a:ln/>
        </p:spPr>
        <p:txBody>
          <a:bodyPr wrap="square" lIns="0" tIns="0" rIns="0" bIns="0" rtlCol="0" anchor="ctr"/>
          <a:lstStyle/>
          <a:p>
            <a:pPr marL="0" indent="0">
              <a:buNone/>
            </a:pPr>
            <a:r>
              <a:rPr lang="en-US" sz="1500" b="1" dirty="0">
                <a:solidFill>
                  <a:srgbClr val="1C7293"/>
                </a:solidFill>
                <a:latin typeface="Calibri" pitchFamily="34" charset="0"/>
                <a:ea typeface="Calibri" pitchFamily="34" charset="-122"/>
                <a:cs typeface="Calibri" pitchFamily="34" charset="-120"/>
              </a:rPr>
              <a:t>REALITY</a:t>
            </a:r>
            <a:endParaRPr lang="en-US" sz="1500" dirty="0"/>
          </a:p>
        </p:txBody>
      </p:sp>
      <p:sp>
        <p:nvSpPr>
          <p:cNvPr id="16" name="Text 11"/>
          <p:cNvSpPr/>
          <p:nvPr/>
        </p:nvSpPr>
        <p:spPr>
          <a:xfrm>
            <a:off x="6505956" y="2377440"/>
            <a:ext cx="4860036" cy="3566160"/>
          </a:xfrm>
          <a:prstGeom prst="rect">
            <a:avLst/>
          </a:prstGeom>
          <a:noFill/>
          <a:ln/>
        </p:spPr>
        <p:txBody>
          <a:bodyPr wrap="square" lIns="0" tIns="0" rIns="0" bIns="0" rtlCol="0" anchor="t"/>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MIPS varies with instruction set complexity. Comparing MIPS across different architectures (e.g., ARM vs x86) can be misleading. Standardized benchmarks (e.g., SPEC) give a fairer comparison.</a:t>
            </a:r>
            <a:endParaRPr lang="en-US" sz="1500" dirty="0"/>
          </a:p>
        </p:txBody>
      </p:sp>
      <p:sp>
        <p:nvSpPr>
          <p:cNvPr id="17" name="Text 12"/>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alert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COMMON MISCONCEPTIONS</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“More Cores Always Means Faster”</a:t>
            </a:r>
            <a:endParaRPr lang="en-US" sz="2200" dirty="0"/>
          </a:p>
        </p:txBody>
      </p:sp>
      <p:sp>
        <p:nvSpPr>
          <p:cNvPr id="7" name="Shape 4"/>
          <p:cNvSpPr/>
          <p:nvPr/>
        </p:nvSpPr>
        <p:spPr>
          <a:xfrm>
            <a:off x="548640" y="1463040"/>
            <a:ext cx="5408676" cy="4754880"/>
          </a:xfrm>
          <a:prstGeom prst="roundRect">
            <a:avLst>
              <a:gd name="adj" fmla="val 2308"/>
            </a:avLst>
          </a:prstGeom>
          <a:solidFill>
            <a:srgbClr val="F5E4DA"/>
          </a:solidFill>
          <a:ln/>
        </p:spPr>
      </p:sp>
      <p:sp>
        <p:nvSpPr>
          <p:cNvPr id="8" name="Shape 5"/>
          <p:cNvSpPr/>
          <p:nvPr/>
        </p:nvSpPr>
        <p:spPr>
          <a:xfrm>
            <a:off x="822960" y="1691640"/>
            <a:ext cx="502920" cy="502920"/>
          </a:xfrm>
          <a:prstGeom prst="ellipse">
            <a:avLst/>
          </a:prstGeom>
          <a:solidFill>
            <a:srgbClr val="C86B3C"/>
          </a:solidFill>
          <a:ln/>
        </p:spPr>
      </p:sp>
      <p:pic>
        <p:nvPicPr>
          <p:cNvPr id="9" name="Image 1" descr="icons/alert_FFFFFF.png"/>
          <p:cNvPicPr>
            <a:picLocks noChangeAspect="1"/>
          </p:cNvPicPr>
          <p:nvPr/>
        </p:nvPicPr>
        <p:blipFill>
          <a:blip r:embed="rId4"/>
          <a:stretch>
            <a:fillRect/>
          </a:stretch>
        </p:blipFill>
        <p:spPr>
          <a:xfrm>
            <a:off x="888340" y="1757020"/>
            <a:ext cx="372161" cy="372161"/>
          </a:xfrm>
          <a:prstGeom prst="rect">
            <a:avLst/>
          </a:prstGeom>
        </p:spPr>
      </p:pic>
      <p:sp>
        <p:nvSpPr>
          <p:cNvPr id="10" name="Text 6"/>
          <p:cNvSpPr/>
          <p:nvPr/>
        </p:nvSpPr>
        <p:spPr>
          <a:xfrm>
            <a:off x="1463040" y="1737360"/>
            <a:ext cx="4311396" cy="457200"/>
          </a:xfrm>
          <a:prstGeom prst="rect">
            <a:avLst/>
          </a:prstGeom>
          <a:noFill/>
          <a:ln/>
        </p:spPr>
        <p:txBody>
          <a:bodyPr wrap="square" lIns="0" tIns="0" rIns="0" bIns="0" rtlCol="0" anchor="ctr"/>
          <a:lstStyle/>
          <a:p>
            <a:pPr marL="0" indent="0">
              <a:buNone/>
            </a:pPr>
            <a:r>
              <a:rPr lang="en-US" sz="1500" b="1" dirty="0">
                <a:solidFill>
                  <a:srgbClr val="C86B3C"/>
                </a:solidFill>
                <a:latin typeface="Calibri" pitchFamily="34" charset="0"/>
                <a:ea typeface="Calibri" pitchFamily="34" charset="-122"/>
                <a:cs typeface="Calibri" pitchFamily="34" charset="-120"/>
              </a:rPr>
              <a:t>MYTH</a:t>
            </a:r>
            <a:endParaRPr lang="en-US" sz="1500" dirty="0"/>
          </a:p>
        </p:txBody>
      </p:sp>
      <p:sp>
        <p:nvSpPr>
          <p:cNvPr id="11" name="Text 7"/>
          <p:cNvSpPr/>
          <p:nvPr/>
        </p:nvSpPr>
        <p:spPr>
          <a:xfrm>
            <a:off x="822960" y="2377440"/>
            <a:ext cx="4860036" cy="3566160"/>
          </a:xfrm>
          <a:prstGeom prst="rect">
            <a:avLst/>
          </a:prstGeom>
          <a:noFill/>
          <a:ln/>
        </p:spPr>
        <p:txBody>
          <a:bodyPr wrap="square" lIns="0" tIns="0" rIns="0" bIns="0" rtlCol="0" anchor="t"/>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Doubling the number of cores always doubles your performance.</a:t>
            </a:r>
            <a:endParaRPr lang="en-US" sz="1500" dirty="0"/>
          </a:p>
        </p:txBody>
      </p:sp>
      <p:sp>
        <p:nvSpPr>
          <p:cNvPr id="12" name="Shape 8"/>
          <p:cNvSpPr/>
          <p:nvPr/>
        </p:nvSpPr>
        <p:spPr>
          <a:xfrm>
            <a:off x="6231636" y="1463040"/>
            <a:ext cx="5408676" cy="4754880"/>
          </a:xfrm>
          <a:prstGeom prst="roundRect">
            <a:avLst>
              <a:gd name="adj" fmla="val 2308"/>
            </a:avLst>
          </a:prstGeom>
          <a:solidFill>
            <a:srgbClr val="E8EEF2"/>
          </a:solidFill>
          <a:ln/>
        </p:spPr>
      </p:sp>
      <p:sp>
        <p:nvSpPr>
          <p:cNvPr id="13" name="Shape 9"/>
          <p:cNvSpPr/>
          <p:nvPr/>
        </p:nvSpPr>
        <p:spPr>
          <a:xfrm>
            <a:off x="6505956" y="1691640"/>
            <a:ext cx="502920" cy="502920"/>
          </a:xfrm>
          <a:prstGeom prst="ellipse">
            <a:avLst/>
          </a:prstGeom>
          <a:solidFill>
            <a:srgbClr val="1C7293"/>
          </a:solidFill>
          <a:ln/>
        </p:spPr>
      </p:sp>
      <p:pic>
        <p:nvPicPr>
          <p:cNvPr id="14" name="Image 2" descr="icons/check_FFFFFF.png"/>
          <p:cNvPicPr>
            <a:picLocks noChangeAspect="1"/>
          </p:cNvPicPr>
          <p:nvPr/>
        </p:nvPicPr>
        <p:blipFill>
          <a:blip r:embed="rId5"/>
          <a:stretch>
            <a:fillRect/>
          </a:stretch>
        </p:blipFill>
        <p:spPr>
          <a:xfrm>
            <a:off x="6571336" y="1757020"/>
            <a:ext cx="372161" cy="372161"/>
          </a:xfrm>
          <a:prstGeom prst="rect">
            <a:avLst/>
          </a:prstGeom>
        </p:spPr>
      </p:pic>
      <p:sp>
        <p:nvSpPr>
          <p:cNvPr id="15" name="Text 10"/>
          <p:cNvSpPr/>
          <p:nvPr/>
        </p:nvSpPr>
        <p:spPr>
          <a:xfrm>
            <a:off x="7146036" y="1737360"/>
            <a:ext cx="4311396" cy="457200"/>
          </a:xfrm>
          <a:prstGeom prst="rect">
            <a:avLst/>
          </a:prstGeom>
          <a:noFill/>
          <a:ln/>
        </p:spPr>
        <p:txBody>
          <a:bodyPr wrap="square" lIns="0" tIns="0" rIns="0" bIns="0" rtlCol="0" anchor="ctr"/>
          <a:lstStyle/>
          <a:p>
            <a:pPr marL="0" indent="0">
              <a:buNone/>
            </a:pPr>
            <a:r>
              <a:rPr lang="en-US" sz="1500" b="1" dirty="0">
                <a:solidFill>
                  <a:srgbClr val="1C7293"/>
                </a:solidFill>
                <a:latin typeface="Calibri" pitchFamily="34" charset="0"/>
                <a:ea typeface="Calibri" pitchFamily="34" charset="-122"/>
                <a:cs typeface="Calibri" pitchFamily="34" charset="-120"/>
              </a:rPr>
              <a:t>REALITY</a:t>
            </a:r>
            <a:endParaRPr lang="en-US" sz="1500" dirty="0"/>
          </a:p>
        </p:txBody>
      </p:sp>
      <p:sp>
        <p:nvSpPr>
          <p:cNvPr id="16" name="Text 11"/>
          <p:cNvSpPr/>
          <p:nvPr/>
        </p:nvSpPr>
        <p:spPr>
          <a:xfrm>
            <a:off x="6505956" y="2377440"/>
            <a:ext cx="4860036" cy="3566160"/>
          </a:xfrm>
          <a:prstGeom prst="rect">
            <a:avLst/>
          </a:prstGeom>
          <a:noFill/>
          <a:ln/>
        </p:spPr>
        <p:txBody>
          <a:bodyPr wrap="square" lIns="0" tIns="0" rIns="0" bIns="0" rtlCol="0" anchor="t"/>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Multi-core performance depends on whether software can use parallelism — many programs still run key parts on a single core. This connects to Amdahl's Law, covered later in this course.</a:t>
            </a:r>
            <a:endParaRPr lang="en-US" sz="1500" dirty="0"/>
          </a:p>
        </p:txBody>
      </p:sp>
      <p:sp>
        <p:nvSpPr>
          <p:cNvPr id="17" name="Text 12"/>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C7293"/>
        </a:solidFill>
        <a:effectLst/>
      </p:bgPr>
    </p:bg>
    <p:spTree>
      <p:nvGrpSpPr>
        <p:cNvPr id="1" name=""/>
        <p:cNvGrpSpPr/>
        <p:nvPr/>
      </p:nvGrpSpPr>
      <p:grpSpPr>
        <a:xfrm>
          <a:off x="0" y="0"/>
          <a:ext cx="0" cy="0"/>
          <a:chOff x="0" y="0"/>
          <a:chExt cx="0" cy="0"/>
        </a:xfrm>
      </p:grpSpPr>
      <p:sp>
        <p:nvSpPr>
          <p:cNvPr id="2" name="Shape 0"/>
          <p:cNvSpPr/>
          <p:nvPr/>
        </p:nvSpPr>
        <p:spPr>
          <a:xfrm>
            <a:off x="9509760" y="4206240"/>
            <a:ext cx="3657600" cy="3657600"/>
          </a:xfrm>
          <a:prstGeom prst="ellipse">
            <a:avLst/>
          </a:prstGeom>
          <a:solidFill>
            <a:srgbClr val="0B3D5C"/>
          </a:solidFill>
          <a:ln/>
        </p:spPr>
      </p:sp>
      <p:sp>
        <p:nvSpPr>
          <p:cNvPr id="3" name="Shape 1"/>
          <p:cNvSpPr/>
          <p:nvPr/>
        </p:nvSpPr>
        <p:spPr>
          <a:xfrm>
            <a:off x="640080" y="594360"/>
            <a:ext cx="914400" cy="914400"/>
          </a:xfrm>
          <a:prstGeom prst="ellipse">
            <a:avLst/>
          </a:prstGeom>
          <a:solidFill>
            <a:srgbClr val="F4A259"/>
          </a:solidFill>
          <a:ln/>
        </p:spPr>
      </p:sp>
      <p:pic>
        <p:nvPicPr>
          <p:cNvPr id="4" name="Image 0" descr="icons/users_0B3D5C.png"/>
          <p:cNvPicPr>
            <a:picLocks noChangeAspect="1"/>
          </p:cNvPicPr>
          <p:nvPr/>
        </p:nvPicPr>
        <p:blipFill>
          <a:blip r:embed="rId3"/>
          <a:stretch>
            <a:fillRect/>
          </a:stretch>
        </p:blipFill>
        <p:spPr>
          <a:xfrm>
            <a:off x="758952" y="713232"/>
            <a:ext cx="676656" cy="676656"/>
          </a:xfrm>
          <a:prstGeom prst="rect">
            <a:avLst/>
          </a:prstGeom>
        </p:spPr>
      </p:pic>
      <p:sp>
        <p:nvSpPr>
          <p:cNvPr id="5" name="Text 2"/>
          <p:cNvSpPr/>
          <p:nvPr/>
        </p:nvSpPr>
        <p:spPr>
          <a:xfrm>
            <a:off x="1737360" y="713232"/>
            <a:ext cx="7315200" cy="365760"/>
          </a:xfrm>
          <a:prstGeom prst="rect">
            <a:avLst/>
          </a:prstGeom>
          <a:noFill/>
          <a:ln/>
        </p:spPr>
        <p:txBody>
          <a:bodyPr wrap="square" lIns="0" tIns="0" rIns="0" bIns="0" rtlCol="0" anchor="ctr"/>
          <a:lstStyle/>
          <a:p>
            <a:pPr marL="0" indent="0">
              <a:buNone/>
            </a:pPr>
            <a:r>
              <a:rPr lang="en-US" sz="1300" b="1" kern="0" spc="200" dirty="0">
                <a:solidFill>
                  <a:srgbClr val="082A40"/>
                </a:solidFill>
                <a:latin typeface="Calibri" pitchFamily="34" charset="0"/>
                <a:ea typeface="Calibri" pitchFamily="34" charset="-122"/>
                <a:cs typeface="Calibri" pitchFamily="34" charset="-120"/>
              </a:rPr>
              <a:t>QUICK CHECK  •  THINK-PAIR-SHARE  •  2 MINUTES</a:t>
            </a:r>
            <a:endParaRPr lang="en-US" sz="1300" dirty="0"/>
          </a:p>
        </p:txBody>
      </p:sp>
      <p:sp>
        <p:nvSpPr>
          <p:cNvPr id="6" name="Text 3"/>
          <p:cNvSpPr/>
          <p:nvPr/>
        </p:nvSpPr>
        <p:spPr>
          <a:xfrm>
            <a:off x="640080" y="1737360"/>
            <a:ext cx="10424160" cy="10058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Discuss With Your Neighbor</a:t>
            </a:r>
            <a:endParaRPr lang="en-US" sz="2800" dirty="0"/>
          </a:p>
        </p:txBody>
      </p:sp>
      <p:sp>
        <p:nvSpPr>
          <p:cNvPr id="7" name="Shape 4"/>
          <p:cNvSpPr/>
          <p:nvPr/>
        </p:nvSpPr>
        <p:spPr>
          <a:xfrm>
            <a:off x="640080" y="2880360"/>
            <a:ext cx="10881360" cy="2377440"/>
          </a:xfrm>
          <a:prstGeom prst="roundRect">
            <a:avLst>
              <a:gd name="adj" fmla="val 5385"/>
            </a:avLst>
          </a:prstGeom>
          <a:solidFill>
            <a:srgbClr val="FFFFFF"/>
          </a:solidFill>
          <a:ln/>
        </p:spPr>
      </p:sp>
      <p:sp>
        <p:nvSpPr>
          <p:cNvPr id="8" name="Text 5"/>
          <p:cNvSpPr/>
          <p:nvPr/>
        </p:nvSpPr>
        <p:spPr>
          <a:xfrm>
            <a:off x="1005840" y="3108960"/>
            <a:ext cx="10149840" cy="1554480"/>
          </a:xfrm>
          <a:prstGeom prst="rect">
            <a:avLst/>
          </a:prstGeom>
          <a:noFill/>
          <a:ln/>
        </p:spPr>
        <p:txBody>
          <a:bodyPr wrap="square" lIns="0" tIns="0" rIns="0" bIns="0" rtlCol="0" anchor="t"/>
          <a:lstStyle/>
          <a:p>
            <a:pPr marL="0" indent="0">
              <a:lnSpc>
                <a:spcPct val="130000"/>
              </a:lnSpc>
              <a:buNone/>
            </a:pPr>
            <a:r>
              <a:rPr lang="en-US" sz="1700" dirty="0">
                <a:solidFill>
                  <a:srgbClr val="1A1A2E"/>
                </a:solidFill>
                <a:latin typeface="Calibri" pitchFamily="34" charset="0"/>
                <a:ea typeface="Calibri" pitchFamily="34" charset="-122"/>
                <a:cs typeface="Calibri" pitchFamily="34" charset="-120"/>
              </a:rPr>
              <a:t>If your phone has a lower GHz than your laptop, why doesn't it feel 5x slower?</a:t>
            </a:r>
            <a:endParaRPr lang="en-US" sz="1700" dirty="0"/>
          </a:p>
        </p:txBody>
      </p:sp>
      <p:sp>
        <p:nvSpPr>
          <p:cNvPr id="9" name="Text 6"/>
          <p:cNvSpPr/>
          <p:nvPr/>
        </p:nvSpPr>
        <p:spPr>
          <a:xfrm>
            <a:off x="1005840" y="4572000"/>
            <a:ext cx="10149840" cy="54864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Use CPI, instruction set efficiency, and workload type in your reasoning. 2-3 pairs will share with the class.</a:t>
            </a:r>
            <a:endParaRPr lang="en-US" sz="1300" dirty="0"/>
          </a:p>
        </p:txBody>
      </p:sp>
      <p:sp>
        <p:nvSpPr>
          <p:cNvPr id="10" name="Text 7"/>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AFC6D6"/>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activity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MINI ACTIVITY  •  SPOT THE BOTTLENECK</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Which Processor Finishes Faster?</a:t>
            </a:r>
            <a:endParaRPr lang="en-US" sz="2400" dirty="0"/>
          </a:p>
        </p:txBody>
      </p:sp>
      <p:sp>
        <p:nvSpPr>
          <p:cNvPr id="7" name="Shape 4"/>
          <p:cNvSpPr/>
          <p:nvPr/>
        </p:nvSpPr>
        <p:spPr>
          <a:xfrm>
            <a:off x="548640" y="1417320"/>
            <a:ext cx="4023360" cy="4846320"/>
          </a:xfrm>
          <a:prstGeom prst="roundRect">
            <a:avLst>
              <a:gd name="adj" fmla="val 2727"/>
            </a:avLst>
          </a:prstGeom>
          <a:solidFill>
            <a:srgbClr val="E8EEF2"/>
          </a:solidFill>
          <a:ln/>
        </p:spPr>
      </p:sp>
      <p:sp>
        <p:nvSpPr>
          <p:cNvPr id="8" name="Text 5"/>
          <p:cNvSpPr/>
          <p:nvPr/>
        </p:nvSpPr>
        <p:spPr>
          <a:xfrm>
            <a:off x="822960" y="1600200"/>
            <a:ext cx="3474720"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Given</a:t>
            </a:r>
            <a:endParaRPr lang="en-US" sz="1400" dirty="0"/>
          </a:p>
        </p:txBody>
      </p:sp>
      <p:sp>
        <p:nvSpPr>
          <p:cNvPr id="9" name="Text 6"/>
          <p:cNvSpPr/>
          <p:nvPr/>
        </p:nvSpPr>
        <p:spPr>
          <a:xfrm>
            <a:off x="822960" y="2057400"/>
            <a:ext cx="3474720" cy="40233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Processor A: 3 GHz, CPI = 5</a:t>
            </a:r>
            <a:endParaRPr lang="en-US" sz="1350" dirty="0"/>
          </a:p>
          <a:p>
            <a:pPr marL="342900" indent="-342900">
              <a:lnSpc>
                <a:spcPct val="12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Processor B: 2 GHz, CPI = 2</a:t>
            </a:r>
            <a:endParaRPr lang="en-US" sz="1350" dirty="0"/>
          </a:p>
          <a:p>
            <a:pPr marL="342900" indent="-342900">
              <a:lnSpc>
                <a:spcPct val="12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Same instruction count for both</a:t>
            </a:r>
            <a:endParaRPr lang="en-US" sz="1350" dirty="0"/>
          </a:p>
        </p:txBody>
      </p:sp>
      <p:sp>
        <p:nvSpPr>
          <p:cNvPr id="10" name="Text 7"/>
          <p:cNvSpPr/>
          <p:nvPr/>
        </p:nvSpPr>
        <p:spPr>
          <a:xfrm>
            <a:off x="4846320" y="1600200"/>
            <a:ext cx="6793992"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What We Need to Find</a:t>
            </a:r>
            <a:endParaRPr lang="en-US" sz="1400" dirty="0"/>
          </a:p>
        </p:txBody>
      </p:sp>
      <p:sp>
        <p:nvSpPr>
          <p:cNvPr id="11" name="Text 8"/>
          <p:cNvSpPr/>
          <p:nvPr/>
        </p:nvSpPr>
        <p:spPr>
          <a:xfrm>
            <a:off x="4846320" y="2057400"/>
            <a:ext cx="6793992" cy="3291840"/>
          </a:xfrm>
          <a:prstGeom prst="rect">
            <a:avLst/>
          </a:prstGeom>
          <a:noFill/>
          <a:ln/>
        </p:spPr>
        <p:txBody>
          <a:bodyPr wrap="square" lIns="0" tIns="0" rIns="0" bIns="0" rtlCol="0" anchor="t"/>
          <a:lstStyle/>
          <a:p>
            <a:pPr marL="228600" indent="-228600">
              <a:lnSpc>
                <a:spcPct val="125000"/>
              </a:lnSpc>
              <a:spcAft>
                <a:spcPts val="1200"/>
              </a:spcAft>
              <a:buSzPct val="100000"/>
              <a:buFont typeface="+mj-lt"/>
              <a:buAutoNum type="arabicPeriod"/>
            </a:pPr>
            <a:r>
              <a:rPr lang="en-US" sz="1450" dirty="0">
                <a:solidFill>
                  <a:srgbClr val="1A1A2E"/>
                </a:solidFill>
                <a:latin typeface="Calibri" pitchFamily="34" charset="0"/>
                <a:ea typeface="Calibri" pitchFamily="34" charset="-122"/>
                <a:cs typeface="Calibri" pitchFamily="34" charset="-120"/>
              </a:rPr>
              <a:t>Think it through conceptually, or compute it, using the CPU Time formula.</a:t>
            </a:r>
            <a:endParaRPr lang="en-US" sz="1450" dirty="0"/>
          </a:p>
          <a:p>
            <a:pPr marL="228600" indent="-228600">
              <a:lnSpc>
                <a:spcPct val="125000"/>
              </a:lnSpc>
              <a:spcAft>
                <a:spcPts val="1200"/>
              </a:spcAft>
              <a:buSzPct val="100000"/>
              <a:buFont typeface="+mj-lt"/>
              <a:buAutoNum type="arabicPeriod"/>
            </a:pPr>
            <a:r>
              <a:rPr lang="en-US" sz="1450" dirty="0">
                <a:solidFill>
                  <a:srgbClr val="1A1A2E"/>
                </a:solidFill>
                <a:latin typeface="Calibri" pitchFamily="34" charset="0"/>
                <a:ea typeface="Calibri" pitchFamily="34" charset="-122"/>
                <a:cs typeface="Calibri" pitchFamily="34" charset="-120"/>
              </a:rPr>
              <a:t>Hint: compare CPI ÷ clock rate as a proxy for relative time.</a:t>
            </a:r>
            <a:endParaRPr lang="en-US" sz="1450" dirty="0"/>
          </a:p>
          <a:p>
            <a:pPr marL="228600" indent="-228600">
              <a:lnSpc>
                <a:spcPct val="125000"/>
              </a:lnSpc>
              <a:spcAft>
                <a:spcPts val="1200"/>
              </a:spcAft>
              <a:buSzPct val="100000"/>
              <a:buFont typeface="+mj-lt"/>
              <a:buAutoNum type="arabicPeriod"/>
            </a:pPr>
            <a:r>
              <a:rPr lang="en-US" sz="1450" dirty="0">
                <a:solidFill>
                  <a:srgbClr val="1A1A2E"/>
                </a:solidFill>
                <a:latin typeface="Calibri" pitchFamily="34" charset="0"/>
                <a:ea typeface="Calibri" pitchFamily="34" charset="-122"/>
                <a:cs typeface="Calibri" pitchFamily="34" charset="-120"/>
              </a:rPr>
              <a:t>Take thirty seconds before we reveal the answer.</a:t>
            </a:r>
            <a:endParaRPr lang="en-US" sz="1450" dirty="0"/>
          </a:p>
        </p:txBody>
      </p:sp>
      <p:sp>
        <p:nvSpPr>
          <p:cNvPr id="12" name="Shape 9"/>
          <p:cNvSpPr/>
          <p:nvPr/>
        </p:nvSpPr>
        <p:spPr>
          <a:xfrm>
            <a:off x="4846320" y="5440680"/>
            <a:ext cx="6793992" cy="777240"/>
          </a:xfrm>
          <a:prstGeom prst="roundRect">
            <a:avLst>
              <a:gd name="adj" fmla="val 11765"/>
            </a:avLst>
          </a:prstGeom>
          <a:solidFill>
            <a:srgbClr val="F4A259"/>
          </a:solidFill>
          <a:ln/>
        </p:spPr>
      </p:sp>
      <p:sp>
        <p:nvSpPr>
          <p:cNvPr id="13" name="Text 10"/>
          <p:cNvSpPr/>
          <p:nvPr/>
        </p:nvSpPr>
        <p:spPr>
          <a:xfrm>
            <a:off x="5029200" y="5440680"/>
            <a:ext cx="6428232" cy="777240"/>
          </a:xfrm>
          <a:prstGeom prst="rect">
            <a:avLst/>
          </a:prstGeom>
          <a:noFill/>
          <a:ln/>
        </p:spPr>
        <p:txBody>
          <a:bodyPr wrap="square" lIns="0" tIns="0" rIns="0" bIns="0" rtlCol="0" anchor="ctr"/>
          <a:lstStyle/>
          <a:p>
            <a:pPr marL="0" indent="0" algn="ctr">
              <a:buNone/>
            </a:pPr>
            <a:r>
              <a:rPr lang="en-US" sz="1700" b="1" dirty="0">
                <a:solidFill>
                  <a:srgbClr val="082A40"/>
                </a:solidFill>
                <a:latin typeface="Cambria" pitchFamily="34" charset="0"/>
                <a:ea typeface="Cambria" pitchFamily="34" charset="-122"/>
                <a:cs typeface="Cambria" pitchFamily="34" charset="-120"/>
              </a:rPr>
              <a:t>Which one wins?</a:t>
            </a:r>
            <a:endParaRPr lang="en-US" sz="1700" dirty="0"/>
          </a:p>
        </p:txBody>
      </p:sp>
      <p:sp>
        <p:nvSpPr>
          <p:cNvPr id="14" name="Text 11"/>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check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MINI ACTIVITY  •  ANSWER</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Processor B Wins</a:t>
            </a:r>
            <a:endParaRPr lang="en-US" sz="2400" dirty="0"/>
          </a:p>
        </p:txBody>
      </p:sp>
      <p:sp>
        <p:nvSpPr>
          <p:cNvPr id="7" name="Shape 4"/>
          <p:cNvSpPr/>
          <p:nvPr/>
        </p:nvSpPr>
        <p:spPr>
          <a:xfrm>
            <a:off x="548640" y="1417320"/>
            <a:ext cx="4023360" cy="4846320"/>
          </a:xfrm>
          <a:prstGeom prst="roundRect">
            <a:avLst>
              <a:gd name="adj" fmla="val 2727"/>
            </a:avLst>
          </a:prstGeom>
          <a:solidFill>
            <a:srgbClr val="E8EEF2"/>
          </a:solidFill>
          <a:ln/>
        </p:spPr>
      </p:sp>
      <p:sp>
        <p:nvSpPr>
          <p:cNvPr id="8" name="Text 5"/>
          <p:cNvSpPr/>
          <p:nvPr/>
        </p:nvSpPr>
        <p:spPr>
          <a:xfrm>
            <a:off x="822960" y="1600200"/>
            <a:ext cx="3474720"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Given</a:t>
            </a:r>
            <a:endParaRPr lang="en-US" sz="1400" dirty="0"/>
          </a:p>
        </p:txBody>
      </p:sp>
      <p:sp>
        <p:nvSpPr>
          <p:cNvPr id="9" name="Text 6"/>
          <p:cNvSpPr/>
          <p:nvPr/>
        </p:nvSpPr>
        <p:spPr>
          <a:xfrm>
            <a:off x="822960" y="2057400"/>
            <a:ext cx="3474720" cy="40233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Processor A: CPI/rate = 5/3 ≈ 1.67</a:t>
            </a:r>
            <a:endParaRPr lang="en-US" sz="1350" dirty="0"/>
          </a:p>
          <a:p>
            <a:pPr marL="342900" indent="-342900">
              <a:lnSpc>
                <a:spcPct val="12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Processor B: CPI/rate = 2/2 = 1.0</a:t>
            </a:r>
            <a:endParaRPr lang="en-US" sz="1350" dirty="0"/>
          </a:p>
          <a:p>
            <a:pPr marL="342900" indent="-342900">
              <a:lnSpc>
                <a:spcPct val="120000"/>
              </a:lnSpc>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Lower value = less relative time</a:t>
            </a:r>
            <a:endParaRPr lang="en-US" sz="1350" dirty="0"/>
          </a:p>
        </p:txBody>
      </p:sp>
      <p:sp>
        <p:nvSpPr>
          <p:cNvPr id="10" name="Text 7"/>
          <p:cNvSpPr/>
          <p:nvPr/>
        </p:nvSpPr>
        <p:spPr>
          <a:xfrm>
            <a:off x="4846320" y="1600200"/>
            <a:ext cx="6793992" cy="365760"/>
          </a:xfrm>
          <a:prstGeom prst="rect">
            <a:avLst/>
          </a:prstGeom>
          <a:noFill/>
          <a:ln/>
        </p:spPr>
        <p:txBody>
          <a:bodyPr wrap="square" lIns="0" tIns="0" rIns="0" bIns="0" rtlCol="0" anchor="ctr"/>
          <a:lstStyle/>
          <a:p>
            <a:pPr marL="0" indent="0">
              <a:buNone/>
            </a:pPr>
            <a:r>
              <a:rPr lang="en-US" sz="1400" b="1" dirty="0">
                <a:solidFill>
                  <a:srgbClr val="0B3D5C"/>
                </a:solidFill>
                <a:latin typeface="Calibri" pitchFamily="34" charset="0"/>
                <a:ea typeface="Calibri" pitchFamily="34" charset="-122"/>
                <a:cs typeface="Calibri" pitchFamily="34" charset="-120"/>
              </a:rPr>
              <a:t>Step-by-step Solution</a:t>
            </a:r>
            <a:endParaRPr lang="en-US" sz="1400" dirty="0"/>
          </a:p>
        </p:txBody>
      </p:sp>
      <p:sp>
        <p:nvSpPr>
          <p:cNvPr id="11" name="Text 8"/>
          <p:cNvSpPr/>
          <p:nvPr/>
        </p:nvSpPr>
        <p:spPr>
          <a:xfrm>
            <a:off x="4846320" y="2057400"/>
            <a:ext cx="6793992" cy="3291840"/>
          </a:xfrm>
          <a:prstGeom prst="rect">
            <a:avLst/>
          </a:prstGeom>
          <a:noFill/>
          <a:ln/>
        </p:spPr>
        <p:txBody>
          <a:bodyPr wrap="square" lIns="0" tIns="0" rIns="0" bIns="0" rtlCol="0" anchor="t"/>
          <a:lstStyle/>
          <a:p>
            <a:pPr marL="228600" indent="-228600">
              <a:lnSpc>
                <a:spcPct val="125000"/>
              </a:lnSpc>
              <a:spcAft>
                <a:spcPts val="1200"/>
              </a:spcAft>
              <a:buSzPct val="100000"/>
              <a:buFont typeface="+mj-lt"/>
              <a:buAutoNum type="arabicPeriod"/>
            </a:pPr>
            <a:r>
              <a:rPr lang="en-US" sz="1450" dirty="0">
                <a:solidFill>
                  <a:srgbClr val="1A1A2E"/>
                </a:solidFill>
                <a:latin typeface="Calibri" pitchFamily="34" charset="0"/>
                <a:ea typeface="Calibri" pitchFamily="34" charset="-122"/>
                <a:cs typeface="Calibri" pitchFamily="34" charset="-120"/>
              </a:rPr>
              <a:t>Since instruction count is equal, compare CPI ÷ clock rate directly.</a:t>
            </a:r>
            <a:endParaRPr lang="en-US" sz="1450" dirty="0"/>
          </a:p>
          <a:p>
            <a:pPr marL="228600" indent="-228600">
              <a:lnSpc>
                <a:spcPct val="125000"/>
              </a:lnSpc>
              <a:spcAft>
                <a:spcPts val="1200"/>
              </a:spcAft>
              <a:buSzPct val="100000"/>
              <a:buFont typeface="+mj-lt"/>
              <a:buAutoNum type="arabicPeriod"/>
            </a:pPr>
            <a:r>
              <a:rPr lang="en-US" sz="1450" dirty="0">
                <a:solidFill>
                  <a:srgbClr val="1A1A2E"/>
                </a:solidFill>
                <a:latin typeface="Calibri" pitchFamily="34" charset="0"/>
                <a:ea typeface="Calibri" pitchFamily="34" charset="-122"/>
                <a:cs typeface="Calibri" pitchFamily="34" charset="-120"/>
              </a:rPr>
              <a:t>Processor A gives approximately 1.67 — more relative time.</a:t>
            </a:r>
            <a:endParaRPr lang="en-US" sz="1450" dirty="0"/>
          </a:p>
          <a:p>
            <a:pPr marL="228600" indent="-228600">
              <a:lnSpc>
                <a:spcPct val="125000"/>
              </a:lnSpc>
              <a:spcAft>
                <a:spcPts val="1200"/>
              </a:spcAft>
              <a:buSzPct val="100000"/>
              <a:buFont typeface="+mj-lt"/>
              <a:buAutoNum type="arabicPeriod"/>
            </a:pPr>
            <a:r>
              <a:rPr lang="en-US" sz="1450" dirty="0">
                <a:solidFill>
                  <a:srgbClr val="1A1A2E"/>
                </a:solidFill>
                <a:latin typeface="Calibri" pitchFamily="34" charset="0"/>
                <a:ea typeface="Calibri" pitchFamily="34" charset="-122"/>
                <a:cs typeface="Calibri" pitchFamily="34" charset="-120"/>
              </a:rPr>
              <a:t>Processor B gives exactly 1.0 — less relative time, so it's faster.</a:t>
            </a:r>
            <a:endParaRPr lang="en-US" sz="1450" dirty="0"/>
          </a:p>
        </p:txBody>
      </p:sp>
      <p:sp>
        <p:nvSpPr>
          <p:cNvPr id="12" name="Shape 9"/>
          <p:cNvSpPr/>
          <p:nvPr/>
        </p:nvSpPr>
        <p:spPr>
          <a:xfrm>
            <a:off x="4846320" y="5440680"/>
            <a:ext cx="6793992" cy="777240"/>
          </a:xfrm>
          <a:prstGeom prst="roundRect">
            <a:avLst>
              <a:gd name="adj" fmla="val 11765"/>
            </a:avLst>
          </a:prstGeom>
          <a:solidFill>
            <a:srgbClr val="F4A259"/>
          </a:solidFill>
          <a:ln/>
        </p:spPr>
      </p:sp>
      <p:sp>
        <p:nvSpPr>
          <p:cNvPr id="13" name="Text 10"/>
          <p:cNvSpPr/>
          <p:nvPr/>
        </p:nvSpPr>
        <p:spPr>
          <a:xfrm>
            <a:off x="5029200" y="5440680"/>
            <a:ext cx="6428232" cy="777240"/>
          </a:xfrm>
          <a:prstGeom prst="rect">
            <a:avLst/>
          </a:prstGeom>
          <a:noFill/>
          <a:ln/>
        </p:spPr>
        <p:txBody>
          <a:bodyPr wrap="square" lIns="0" tIns="0" rIns="0" bIns="0" rtlCol="0" anchor="ctr"/>
          <a:lstStyle/>
          <a:p>
            <a:pPr marL="0" indent="0" algn="ctr">
              <a:buNone/>
            </a:pPr>
            <a:r>
              <a:rPr lang="en-US" sz="1700" b="1" dirty="0">
                <a:solidFill>
                  <a:srgbClr val="082A40"/>
                </a:solidFill>
                <a:latin typeface="Cambria" pitchFamily="34" charset="0"/>
                <a:ea typeface="Cambria" pitchFamily="34" charset="-122"/>
                <a:cs typeface="Cambria" pitchFamily="34" charset="-120"/>
              </a:rPr>
              <a:t>Processor B is faster — despite the lower clock rate</a:t>
            </a:r>
            <a:endParaRPr lang="en-US" sz="1700" dirty="0"/>
          </a:p>
        </p:txBody>
      </p:sp>
      <p:sp>
        <p:nvSpPr>
          <p:cNvPr id="14" name="Text 11"/>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9692640" y="640080"/>
            <a:ext cx="1645920" cy="1645920"/>
          </a:xfrm>
          <a:prstGeom prst="ellipse">
            <a:avLst/>
          </a:prstGeom>
          <a:solidFill>
            <a:srgbClr val="1C7293"/>
          </a:solidFill>
          <a:ln/>
        </p:spPr>
      </p:sp>
      <p:pic>
        <p:nvPicPr>
          <p:cNvPr id="3" name="Image 0" descr="icons/award_FFFFFF.png"/>
          <p:cNvPicPr>
            <a:picLocks noChangeAspect="1"/>
          </p:cNvPicPr>
          <p:nvPr/>
        </p:nvPicPr>
        <p:blipFill>
          <a:blip r:embed="rId3"/>
          <a:stretch>
            <a:fillRect/>
          </a:stretch>
        </p:blipFill>
        <p:spPr>
          <a:xfrm>
            <a:off x="9906610" y="854050"/>
            <a:ext cx="1217981" cy="1217981"/>
          </a:xfrm>
          <a:prstGeom prst="rect">
            <a:avLst/>
          </a:prstGeom>
        </p:spPr>
      </p:pic>
      <p:sp>
        <p:nvSpPr>
          <p:cNvPr id="4" name="Text 1"/>
          <p:cNvSpPr/>
          <p:nvPr/>
        </p:nvSpPr>
        <p:spPr>
          <a:xfrm>
            <a:off x="640080" y="685800"/>
            <a:ext cx="7315200" cy="365760"/>
          </a:xfrm>
          <a:prstGeom prst="rect">
            <a:avLst/>
          </a:prstGeom>
          <a:noFill/>
          <a:ln/>
        </p:spPr>
        <p:txBody>
          <a:bodyPr wrap="square" lIns="0" tIns="0" rIns="0" bIns="0" rtlCol="0" anchor="ctr"/>
          <a:lstStyle/>
          <a:p>
            <a:pPr marL="0" indent="0">
              <a:buNone/>
            </a:pPr>
            <a:r>
              <a:rPr lang="en-US" sz="1300" b="1" kern="0" spc="200" dirty="0">
                <a:solidFill>
                  <a:srgbClr val="F4A259"/>
                </a:solidFill>
                <a:latin typeface="Calibri" pitchFamily="34" charset="0"/>
                <a:ea typeface="Calibri" pitchFamily="34" charset="-122"/>
                <a:cs typeface="Calibri" pitchFamily="34" charset="-120"/>
              </a:rPr>
              <a:t>WRAP-UP</a:t>
            </a:r>
            <a:endParaRPr lang="en-US" sz="1300" dirty="0"/>
          </a:p>
        </p:txBody>
      </p:sp>
      <p:sp>
        <p:nvSpPr>
          <p:cNvPr id="5" name="Text 2"/>
          <p:cNvSpPr/>
          <p:nvPr/>
        </p:nvSpPr>
        <p:spPr>
          <a:xfrm>
            <a:off x="640080" y="1097280"/>
            <a:ext cx="8686800" cy="13716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Summary of Key Points</a:t>
            </a:r>
            <a:endParaRPr lang="en-US" sz="3000" dirty="0"/>
          </a:p>
        </p:txBody>
      </p:sp>
      <p:sp>
        <p:nvSpPr>
          <p:cNvPr id="6" name="Text 3"/>
          <p:cNvSpPr/>
          <p:nvPr/>
        </p:nvSpPr>
        <p:spPr>
          <a:xfrm>
            <a:off x="640080" y="2651760"/>
            <a:ext cx="9875520" cy="3474720"/>
          </a:xfrm>
          <a:prstGeom prst="rect">
            <a:avLst/>
          </a:prstGeom>
          <a:noFill/>
          <a:ln/>
        </p:spPr>
        <p:txBody>
          <a:bodyPr wrap="square" lIns="0" tIns="0" rIns="0" bIns="0" rtlCol="0" anchor="ctr"/>
          <a:lstStyle/>
          <a:p>
            <a:pPr marL="342900" indent="-342900">
              <a:lnSpc>
                <a:spcPct val="115000"/>
              </a:lnSpc>
              <a:spcAft>
                <a:spcPts val="1400"/>
              </a:spcAft>
              <a:buSzPct val="100000"/>
              <a:buChar char="●"/>
            </a:pPr>
            <a:r>
              <a:rPr lang="en-US" sz="1700" dirty="0">
                <a:solidFill>
                  <a:srgbClr val="E8EEF2"/>
                </a:solidFill>
                <a:latin typeface="Calibri" pitchFamily="34" charset="0"/>
                <a:ea typeface="Calibri" pitchFamily="34" charset="-122"/>
                <a:cs typeface="Calibri" pitchFamily="34" charset="-120"/>
              </a:rPr>
              <a:t>Clock rate = cycles per second (Hz, GHz); clock period = 1/clock rate</a:t>
            </a:r>
            <a:endParaRPr lang="en-US" sz="1700" dirty="0"/>
          </a:p>
          <a:p>
            <a:pPr marL="342900" indent="-342900">
              <a:lnSpc>
                <a:spcPct val="115000"/>
              </a:lnSpc>
              <a:spcAft>
                <a:spcPts val="1400"/>
              </a:spcAft>
              <a:buSzPct val="100000"/>
              <a:buChar char="●"/>
            </a:pPr>
            <a:r>
              <a:rPr lang="en-US" sz="1700" dirty="0">
                <a:solidFill>
                  <a:srgbClr val="E8EEF2"/>
                </a:solidFill>
                <a:latin typeface="Calibri" pitchFamily="34" charset="0"/>
                <a:ea typeface="Calibri" pitchFamily="34" charset="-122"/>
                <a:cs typeface="Calibri" pitchFamily="34" charset="-120"/>
              </a:rPr>
              <a:t>CPU Time = Instruction Count × CPI × Clock Cycle Time</a:t>
            </a:r>
            <a:endParaRPr lang="en-US" sz="1700" dirty="0"/>
          </a:p>
          <a:p>
            <a:pPr marL="342900" indent="-342900">
              <a:lnSpc>
                <a:spcPct val="115000"/>
              </a:lnSpc>
              <a:spcAft>
                <a:spcPts val="1400"/>
              </a:spcAft>
              <a:buSzPct val="100000"/>
              <a:buChar char="●"/>
            </a:pPr>
            <a:r>
              <a:rPr lang="en-US" sz="1700" dirty="0">
                <a:solidFill>
                  <a:srgbClr val="E8EEF2"/>
                </a:solidFill>
                <a:latin typeface="Calibri" pitchFamily="34" charset="0"/>
                <a:ea typeface="Calibri" pitchFamily="34" charset="-122"/>
                <a:cs typeface="Calibri" pitchFamily="34" charset="-120"/>
              </a:rPr>
              <a:t>CPI = average cycles per instruction; MIPS = clock rate / (CPI × 10⁶)</a:t>
            </a:r>
            <a:endParaRPr lang="en-US" sz="1700" dirty="0"/>
          </a:p>
          <a:p>
            <a:pPr marL="342900" indent="-342900">
              <a:lnSpc>
                <a:spcPct val="115000"/>
              </a:lnSpc>
              <a:spcAft>
                <a:spcPts val="1400"/>
              </a:spcAft>
              <a:buSzPct val="100000"/>
              <a:buChar char="●"/>
            </a:pPr>
            <a:r>
              <a:rPr lang="en-US" sz="1700" dirty="0">
                <a:solidFill>
                  <a:srgbClr val="E8EEF2"/>
                </a:solidFill>
                <a:latin typeface="Calibri" pitchFamily="34" charset="0"/>
                <a:ea typeface="Calibri" pitchFamily="34" charset="-122"/>
                <a:cs typeface="Calibri" pitchFamily="34" charset="-120"/>
              </a:rPr>
              <a:t>Performance depends on multiple factors, not clock rate alone</a:t>
            </a:r>
            <a:endParaRPr lang="en-US" sz="1700" dirty="0"/>
          </a:p>
          <a:p>
            <a:pPr marL="342900" indent="-342900">
              <a:lnSpc>
                <a:spcPct val="115000"/>
              </a:lnSpc>
              <a:spcAft>
                <a:spcPts val="1400"/>
              </a:spcAft>
              <a:buSzPct val="100000"/>
              <a:buChar char="●"/>
            </a:pPr>
            <a:r>
              <a:rPr lang="en-US" sz="1700" dirty="0">
                <a:solidFill>
                  <a:srgbClr val="E8EEF2"/>
                </a:solidFill>
                <a:latin typeface="Calibri" pitchFamily="34" charset="0"/>
                <a:ea typeface="Calibri" pitchFamily="34" charset="-122"/>
                <a:cs typeface="Calibri" pitchFamily="34" charset="-120"/>
              </a:rPr>
              <a:t>Real-world design (mobile, servers, robotics) reflects this balance</a:t>
            </a:r>
            <a:endParaRPr lang="en-US" sz="1700" dirty="0"/>
          </a:p>
        </p:txBody>
      </p:sp>
      <p:sp>
        <p:nvSpPr>
          <p:cNvPr id="7" name="Text 4"/>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AFC6D6"/>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help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QUIZ  •  4 MINUTES</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Quick Quiz — CSS2257</a:t>
            </a:r>
            <a:endParaRPr lang="en-US" sz="2400" dirty="0"/>
          </a:p>
        </p:txBody>
      </p:sp>
      <p:sp>
        <p:nvSpPr>
          <p:cNvPr id="7" name="Shape 4"/>
          <p:cNvSpPr/>
          <p:nvPr/>
        </p:nvSpPr>
        <p:spPr>
          <a:xfrm>
            <a:off x="548640" y="1417320"/>
            <a:ext cx="5362956" cy="777240"/>
          </a:xfrm>
          <a:prstGeom prst="roundRect">
            <a:avLst>
              <a:gd name="adj" fmla="val 9412"/>
            </a:avLst>
          </a:prstGeom>
          <a:solidFill>
            <a:srgbClr val="E8EEF2"/>
          </a:solidFill>
          <a:ln/>
        </p:spPr>
      </p:sp>
      <p:sp>
        <p:nvSpPr>
          <p:cNvPr id="8" name="Text 5"/>
          <p:cNvSpPr/>
          <p:nvPr/>
        </p:nvSpPr>
        <p:spPr>
          <a:xfrm>
            <a:off x="713232" y="1463040"/>
            <a:ext cx="5033772" cy="685800"/>
          </a:xfrm>
          <a:prstGeom prst="rect">
            <a:avLst/>
          </a:prstGeom>
          <a:noFill/>
          <a:ln/>
        </p:spPr>
        <p:txBody>
          <a:bodyPr wrap="square" lIns="0" tIns="0" rIns="0" bIns="0" rtlCol="0" anchor="ctr"/>
          <a:lstStyle/>
          <a:p>
            <a:pPr marL="0" indent="0">
              <a:lnSpc>
                <a:spcPct val="110000"/>
              </a:lnSpc>
              <a:buNone/>
            </a:pPr>
            <a:r>
              <a:rPr lang="en-US" sz="1200" b="1" dirty="0">
                <a:solidFill>
                  <a:srgbClr val="1A1A2E"/>
                </a:solidFill>
                <a:latin typeface="Calibri" pitchFamily="34" charset="0"/>
                <a:ea typeface="Calibri" pitchFamily="34" charset="-122"/>
                <a:cs typeface="Calibri" pitchFamily="34" charset="-120"/>
              </a:rPr>
              <a:t>Q1 (MCQ). Clock rate is measured in: (a) Seconds (b) Hertz (c) Bytes (d) Watts</a:t>
            </a:r>
            <a:endParaRPr lang="en-US" sz="1200" dirty="0"/>
          </a:p>
        </p:txBody>
      </p:sp>
      <p:sp>
        <p:nvSpPr>
          <p:cNvPr id="9" name="Shape 6"/>
          <p:cNvSpPr/>
          <p:nvPr/>
        </p:nvSpPr>
        <p:spPr>
          <a:xfrm>
            <a:off x="548640" y="2359152"/>
            <a:ext cx="5362956" cy="777240"/>
          </a:xfrm>
          <a:prstGeom prst="roundRect">
            <a:avLst>
              <a:gd name="adj" fmla="val 9412"/>
            </a:avLst>
          </a:prstGeom>
          <a:solidFill>
            <a:srgbClr val="E8EEF2"/>
          </a:solidFill>
          <a:ln/>
        </p:spPr>
      </p:sp>
      <p:sp>
        <p:nvSpPr>
          <p:cNvPr id="10" name="Text 7"/>
          <p:cNvSpPr/>
          <p:nvPr/>
        </p:nvSpPr>
        <p:spPr>
          <a:xfrm>
            <a:off x="713232" y="2404872"/>
            <a:ext cx="5033772" cy="685800"/>
          </a:xfrm>
          <a:prstGeom prst="rect">
            <a:avLst/>
          </a:prstGeom>
          <a:noFill/>
          <a:ln/>
        </p:spPr>
        <p:txBody>
          <a:bodyPr wrap="square" lIns="0" tIns="0" rIns="0" bIns="0" rtlCol="0" anchor="ctr"/>
          <a:lstStyle/>
          <a:p>
            <a:pPr marL="0" indent="0">
              <a:lnSpc>
                <a:spcPct val="110000"/>
              </a:lnSpc>
              <a:buNone/>
            </a:pPr>
            <a:r>
              <a:rPr lang="en-US" sz="1200" b="1" dirty="0">
                <a:solidFill>
                  <a:srgbClr val="1A1A2E"/>
                </a:solidFill>
                <a:latin typeface="Calibri" pitchFamily="34" charset="0"/>
                <a:ea typeface="Calibri" pitchFamily="34" charset="-122"/>
                <a:cs typeface="Calibri" pitchFamily="34" charset="-120"/>
              </a:rPr>
              <a:t>Q2 (True/False). A higher GHz processor is always faster than a lower GHz processor.</a:t>
            </a:r>
            <a:endParaRPr lang="en-US" sz="1200" dirty="0"/>
          </a:p>
        </p:txBody>
      </p:sp>
      <p:sp>
        <p:nvSpPr>
          <p:cNvPr id="11" name="Shape 8"/>
          <p:cNvSpPr/>
          <p:nvPr/>
        </p:nvSpPr>
        <p:spPr>
          <a:xfrm>
            <a:off x="548640" y="3300984"/>
            <a:ext cx="5362956" cy="777240"/>
          </a:xfrm>
          <a:prstGeom prst="roundRect">
            <a:avLst>
              <a:gd name="adj" fmla="val 9412"/>
            </a:avLst>
          </a:prstGeom>
          <a:solidFill>
            <a:srgbClr val="E8EEF2"/>
          </a:solidFill>
          <a:ln/>
        </p:spPr>
      </p:sp>
      <p:sp>
        <p:nvSpPr>
          <p:cNvPr id="12" name="Text 9"/>
          <p:cNvSpPr/>
          <p:nvPr/>
        </p:nvSpPr>
        <p:spPr>
          <a:xfrm>
            <a:off x="713232" y="3346704"/>
            <a:ext cx="5033772" cy="685800"/>
          </a:xfrm>
          <a:prstGeom prst="rect">
            <a:avLst/>
          </a:prstGeom>
          <a:noFill/>
          <a:ln/>
        </p:spPr>
        <p:txBody>
          <a:bodyPr wrap="square" lIns="0" tIns="0" rIns="0" bIns="0" rtlCol="0" anchor="ctr"/>
          <a:lstStyle/>
          <a:p>
            <a:pPr marL="0" indent="0">
              <a:lnSpc>
                <a:spcPct val="110000"/>
              </a:lnSpc>
              <a:buNone/>
            </a:pPr>
            <a:r>
              <a:rPr lang="en-US" sz="1200" b="1" dirty="0">
                <a:solidFill>
                  <a:srgbClr val="1A1A2E"/>
                </a:solidFill>
                <a:latin typeface="Calibri" pitchFamily="34" charset="0"/>
                <a:ea typeface="Calibri" pitchFamily="34" charset="-122"/>
                <a:cs typeface="Calibri" pitchFamily="34" charset="-120"/>
              </a:rPr>
              <a:t>Q3 (Short Answer). Write the CPU Time formula.</a:t>
            </a:r>
            <a:endParaRPr lang="en-US" sz="1200" dirty="0"/>
          </a:p>
        </p:txBody>
      </p:sp>
      <p:sp>
        <p:nvSpPr>
          <p:cNvPr id="13" name="Shape 10"/>
          <p:cNvSpPr/>
          <p:nvPr/>
        </p:nvSpPr>
        <p:spPr>
          <a:xfrm>
            <a:off x="548640" y="4242816"/>
            <a:ext cx="5362956" cy="777240"/>
          </a:xfrm>
          <a:prstGeom prst="roundRect">
            <a:avLst>
              <a:gd name="adj" fmla="val 9412"/>
            </a:avLst>
          </a:prstGeom>
          <a:solidFill>
            <a:srgbClr val="E8EEF2"/>
          </a:solidFill>
          <a:ln/>
        </p:spPr>
      </p:sp>
      <p:sp>
        <p:nvSpPr>
          <p:cNvPr id="14" name="Text 11"/>
          <p:cNvSpPr/>
          <p:nvPr/>
        </p:nvSpPr>
        <p:spPr>
          <a:xfrm>
            <a:off x="713232" y="4288536"/>
            <a:ext cx="5033772" cy="685800"/>
          </a:xfrm>
          <a:prstGeom prst="rect">
            <a:avLst/>
          </a:prstGeom>
          <a:noFill/>
          <a:ln/>
        </p:spPr>
        <p:txBody>
          <a:bodyPr wrap="square" lIns="0" tIns="0" rIns="0" bIns="0" rtlCol="0" anchor="ctr"/>
          <a:lstStyle/>
          <a:p>
            <a:pPr marL="0" indent="0">
              <a:lnSpc>
                <a:spcPct val="110000"/>
              </a:lnSpc>
              <a:buNone/>
            </a:pPr>
            <a:r>
              <a:rPr lang="en-US" sz="1200" b="1" dirty="0">
                <a:solidFill>
                  <a:srgbClr val="1A1A2E"/>
                </a:solidFill>
                <a:latin typeface="Calibri" pitchFamily="34" charset="0"/>
                <a:ea typeface="Calibri" pitchFamily="34" charset="-122"/>
                <a:cs typeface="Calibri" pitchFamily="34" charset="-120"/>
              </a:rPr>
              <a:t>Q4 (MCQ). CPI stands for: (a) Cycles Per Instruction (b) Cycles Per Interval (c) Clock Per Instruction (d) Core Per Instruction</a:t>
            </a:r>
            <a:endParaRPr lang="en-US" sz="1200" dirty="0"/>
          </a:p>
        </p:txBody>
      </p:sp>
      <p:sp>
        <p:nvSpPr>
          <p:cNvPr id="15" name="Shape 12"/>
          <p:cNvSpPr/>
          <p:nvPr/>
        </p:nvSpPr>
        <p:spPr>
          <a:xfrm>
            <a:off x="6277356" y="1417320"/>
            <a:ext cx="5362956" cy="777240"/>
          </a:xfrm>
          <a:prstGeom prst="roundRect">
            <a:avLst>
              <a:gd name="adj" fmla="val 9412"/>
            </a:avLst>
          </a:prstGeom>
          <a:solidFill>
            <a:srgbClr val="E8EEF2"/>
          </a:solidFill>
          <a:ln/>
        </p:spPr>
      </p:sp>
      <p:sp>
        <p:nvSpPr>
          <p:cNvPr id="16" name="Text 13"/>
          <p:cNvSpPr/>
          <p:nvPr/>
        </p:nvSpPr>
        <p:spPr>
          <a:xfrm>
            <a:off x="6441948" y="1463040"/>
            <a:ext cx="5033772" cy="685800"/>
          </a:xfrm>
          <a:prstGeom prst="rect">
            <a:avLst/>
          </a:prstGeom>
          <a:noFill/>
          <a:ln/>
        </p:spPr>
        <p:txBody>
          <a:bodyPr wrap="square" lIns="0" tIns="0" rIns="0" bIns="0" rtlCol="0" anchor="ctr"/>
          <a:lstStyle/>
          <a:p>
            <a:pPr marL="0" indent="0">
              <a:lnSpc>
                <a:spcPct val="110000"/>
              </a:lnSpc>
              <a:buNone/>
            </a:pPr>
            <a:r>
              <a:rPr lang="en-US" sz="1200" b="1" dirty="0">
                <a:solidFill>
                  <a:srgbClr val="1A1A2E"/>
                </a:solidFill>
                <a:latin typeface="Calibri" pitchFamily="34" charset="0"/>
                <a:ea typeface="Calibri" pitchFamily="34" charset="-122"/>
                <a:cs typeface="Calibri" pitchFamily="34" charset="-120"/>
              </a:rPr>
              <a:t>Q5 (Short Answer). If clock rate = 4 GHz, find the clock period.</a:t>
            </a:r>
            <a:endParaRPr lang="en-US" sz="1200" dirty="0"/>
          </a:p>
        </p:txBody>
      </p:sp>
      <p:sp>
        <p:nvSpPr>
          <p:cNvPr id="17" name="Shape 14"/>
          <p:cNvSpPr/>
          <p:nvPr/>
        </p:nvSpPr>
        <p:spPr>
          <a:xfrm>
            <a:off x="6277356" y="2359152"/>
            <a:ext cx="5362956" cy="777240"/>
          </a:xfrm>
          <a:prstGeom prst="roundRect">
            <a:avLst>
              <a:gd name="adj" fmla="val 9412"/>
            </a:avLst>
          </a:prstGeom>
          <a:solidFill>
            <a:srgbClr val="E8EEF2"/>
          </a:solidFill>
          <a:ln/>
        </p:spPr>
      </p:sp>
      <p:sp>
        <p:nvSpPr>
          <p:cNvPr id="18" name="Text 15"/>
          <p:cNvSpPr/>
          <p:nvPr/>
        </p:nvSpPr>
        <p:spPr>
          <a:xfrm>
            <a:off x="6441948" y="2404872"/>
            <a:ext cx="5033772" cy="685800"/>
          </a:xfrm>
          <a:prstGeom prst="rect">
            <a:avLst/>
          </a:prstGeom>
          <a:noFill/>
          <a:ln/>
        </p:spPr>
        <p:txBody>
          <a:bodyPr wrap="square" lIns="0" tIns="0" rIns="0" bIns="0" rtlCol="0" anchor="ctr"/>
          <a:lstStyle/>
          <a:p>
            <a:pPr marL="0" indent="0">
              <a:lnSpc>
                <a:spcPct val="110000"/>
              </a:lnSpc>
              <a:buNone/>
            </a:pPr>
            <a:r>
              <a:rPr lang="en-US" sz="1200" b="1" dirty="0">
                <a:solidFill>
                  <a:srgbClr val="1A1A2E"/>
                </a:solidFill>
                <a:latin typeface="Calibri" pitchFamily="34" charset="0"/>
                <a:ea typeface="Calibri" pitchFamily="34" charset="-122"/>
                <a:cs typeface="Calibri" pitchFamily="34" charset="-120"/>
              </a:rPr>
              <a:t>Q6 (True/False). MIPS is a perfectly fair way to compare processors with different instruction sets.</a:t>
            </a:r>
            <a:endParaRPr lang="en-US" sz="1200" dirty="0"/>
          </a:p>
        </p:txBody>
      </p:sp>
      <p:sp>
        <p:nvSpPr>
          <p:cNvPr id="19" name="Shape 16"/>
          <p:cNvSpPr/>
          <p:nvPr/>
        </p:nvSpPr>
        <p:spPr>
          <a:xfrm>
            <a:off x="6277356" y="3300984"/>
            <a:ext cx="5362956" cy="777240"/>
          </a:xfrm>
          <a:prstGeom prst="roundRect">
            <a:avLst>
              <a:gd name="adj" fmla="val 9412"/>
            </a:avLst>
          </a:prstGeom>
          <a:solidFill>
            <a:srgbClr val="E8EEF2"/>
          </a:solidFill>
          <a:ln/>
        </p:spPr>
      </p:sp>
      <p:sp>
        <p:nvSpPr>
          <p:cNvPr id="20" name="Text 17"/>
          <p:cNvSpPr/>
          <p:nvPr/>
        </p:nvSpPr>
        <p:spPr>
          <a:xfrm>
            <a:off x="6441948" y="3346704"/>
            <a:ext cx="5033772" cy="685800"/>
          </a:xfrm>
          <a:prstGeom prst="rect">
            <a:avLst/>
          </a:prstGeom>
          <a:noFill/>
          <a:ln/>
        </p:spPr>
        <p:txBody>
          <a:bodyPr wrap="square" lIns="0" tIns="0" rIns="0" bIns="0" rtlCol="0" anchor="ctr"/>
          <a:lstStyle/>
          <a:p>
            <a:pPr marL="0" indent="0">
              <a:lnSpc>
                <a:spcPct val="110000"/>
              </a:lnSpc>
              <a:buNone/>
            </a:pPr>
            <a:r>
              <a:rPr lang="en-US" sz="1200" b="1" dirty="0">
                <a:solidFill>
                  <a:srgbClr val="1A1A2E"/>
                </a:solidFill>
                <a:latin typeface="Calibri" pitchFamily="34" charset="0"/>
                <a:ea typeface="Calibri" pitchFamily="34" charset="-122"/>
                <a:cs typeface="Calibri" pitchFamily="34" charset="-120"/>
              </a:rPr>
              <a:t>Q7 (MCQ). A processor with lower clock rate but lower CPI can be: (a) Never faster (b) Sometimes faster (c) Always slower (d) Irrelevant</a:t>
            </a:r>
            <a:endParaRPr lang="en-US" sz="1200" dirty="0"/>
          </a:p>
        </p:txBody>
      </p:sp>
      <p:sp>
        <p:nvSpPr>
          <p:cNvPr id="21" name="Text 18"/>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3D5C"/>
          </a:solidFill>
          <a:ln/>
        </p:spPr>
      </p:sp>
      <p:sp>
        <p:nvSpPr>
          <p:cNvPr id="3" name="Shape 1"/>
          <p:cNvSpPr/>
          <p:nvPr/>
        </p:nvSpPr>
        <p:spPr>
          <a:xfrm>
            <a:off x="457200" y="256032"/>
            <a:ext cx="566928" cy="566928"/>
          </a:xfrm>
          <a:prstGeom prst="ellipse">
            <a:avLst/>
          </a:prstGeom>
          <a:solidFill>
            <a:srgbClr val="F4A259"/>
          </a:solidFill>
          <a:ln/>
        </p:spPr>
      </p:sp>
      <p:pic>
        <p:nvPicPr>
          <p:cNvPr id="4" name="Image 0" descr="icons/check_0B3D5C.png"/>
          <p:cNvPicPr>
            <a:picLocks noChangeAspect="1"/>
          </p:cNvPicPr>
          <p:nvPr/>
        </p:nvPicPr>
        <p:blipFill>
          <a:blip r:embed="rId3"/>
          <a:stretch>
            <a:fillRect/>
          </a:stretch>
        </p:blipFill>
        <p:spPr>
          <a:xfrm>
            <a:off x="530901" y="329733"/>
            <a:ext cx="419527" cy="419527"/>
          </a:xfrm>
          <a:prstGeom prst="rect">
            <a:avLst/>
          </a:prstGeom>
        </p:spPr>
      </p:pic>
      <p:sp>
        <p:nvSpPr>
          <p:cNvPr id="5" name="Text 2"/>
          <p:cNvSpPr/>
          <p:nvPr/>
        </p:nvSpPr>
        <p:spPr>
          <a:xfrm>
            <a:off x="1188720" y="164592"/>
            <a:ext cx="7315200" cy="320040"/>
          </a:xfrm>
          <a:prstGeom prst="rect">
            <a:avLst/>
          </a:prstGeom>
          <a:noFill/>
          <a:ln/>
        </p:spPr>
        <p:txBody>
          <a:bodyPr wrap="square" lIns="0" tIns="0" rIns="0" bIns="0" rtlCol="0" anchor="ctr"/>
          <a:lstStyle/>
          <a:p>
            <a:pPr marL="0" indent="0">
              <a:buNone/>
            </a:pPr>
            <a:r>
              <a:rPr lang="en-US" sz="1100" b="1" kern="0" spc="150" dirty="0">
                <a:solidFill>
                  <a:srgbClr val="F4A259"/>
                </a:solidFill>
                <a:latin typeface="Calibri" pitchFamily="34" charset="0"/>
                <a:ea typeface="Calibri" pitchFamily="34" charset="-122"/>
                <a:cs typeface="Calibri" pitchFamily="34" charset="-120"/>
              </a:rPr>
              <a:t>QUIZ ANSWERS</a:t>
            </a:r>
            <a:endParaRPr lang="en-US" sz="1100" dirty="0"/>
          </a:p>
        </p:txBody>
      </p:sp>
      <p:sp>
        <p:nvSpPr>
          <p:cNvPr id="6" name="Text 3"/>
          <p:cNvSpPr/>
          <p:nvPr/>
        </p:nvSpPr>
        <p:spPr>
          <a:xfrm>
            <a:off x="1188720" y="457200"/>
            <a:ext cx="1024128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Quiz Answers — CSS2257</a:t>
            </a:r>
            <a:endParaRPr lang="en-US" sz="2400" dirty="0"/>
          </a:p>
        </p:txBody>
      </p:sp>
      <p:sp>
        <p:nvSpPr>
          <p:cNvPr id="7" name="Shape 4"/>
          <p:cNvSpPr/>
          <p:nvPr/>
        </p:nvSpPr>
        <p:spPr>
          <a:xfrm>
            <a:off x="548640" y="1417320"/>
            <a:ext cx="5362956" cy="777240"/>
          </a:xfrm>
          <a:prstGeom prst="roundRect">
            <a:avLst>
              <a:gd name="adj" fmla="val 9412"/>
            </a:avLst>
          </a:prstGeom>
          <a:solidFill>
            <a:srgbClr val="E9F5F0"/>
          </a:solidFill>
          <a:ln/>
        </p:spPr>
      </p:sp>
      <p:sp>
        <p:nvSpPr>
          <p:cNvPr id="8" name="Text 5"/>
          <p:cNvSpPr/>
          <p:nvPr/>
        </p:nvSpPr>
        <p:spPr>
          <a:xfrm>
            <a:off x="713232" y="1463040"/>
            <a:ext cx="5033772" cy="685800"/>
          </a:xfrm>
          <a:prstGeom prst="rect">
            <a:avLst/>
          </a:prstGeom>
          <a:noFill/>
          <a:ln/>
        </p:spPr>
        <p:txBody>
          <a:bodyPr wrap="square" lIns="0" tIns="0" rIns="0" bIns="0" rtlCol="0" anchor="ctr"/>
          <a:lstStyle/>
          <a:p>
            <a:pPr marL="0" indent="0">
              <a:lnSpc>
                <a:spcPct val="110000"/>
              </a:lnSpc>
              <a:buNone/>
            </a:pPr>
            <a:r>
              <a:rPr lang="en-US" sz="1200" dirty="0">
                <a:solidFill>
                  <a:srgbClr val="1A1A2E"/>
                </a:solidFill>
                <a:latin typeface="Calibri" pitchFamily="34" charset="0"/>
                <a:ea typeface="Calibri" pitchFamily="34" charset="-122"/>
                <a:cs typeface="Calibri" pitchFamily="34" charset="-120"/>
              </a:rPr>
              <a:t>A1. (b) Hertz — clock rate is cycles per second</a:t>
            </a:r>
            <a:endParaRPr lang="en-US" sz="1200" dirty="0"/>
          </a:p>
        </p:txBody>
      </p:sp>
      <p:sp>
        <p:nvSpPr>
          <p:cNvPr id="9" name="Shape 6"/>
          <p:cNvSpPr/>
          <p:nvPr/>
        </p:nvSpPr>
        <p:spPr>
          <a:xfrm>
            <a:off x="548640" y="2359152"/>
            <a:ext cx="5362956" cy="777240"/>
          </a:xfrm>
          <a:prstGeom prst="roundRect">
            <a:avLst>
              <a:gd name="adj" fmla="val 9412"/>
            </a:avLst>
          </a:prstGeom>
          <a:solidFill>
            <a:srgbClr val="E9F5F0"/>
          </a:solidFill>
          <a:ln/>
        </p:spPr>
      </p:sp>
      <p:sp>
        <p:nvSpPr>
          <p:cNvPr id="10" name="Text 7"/>
          <p:cNvSpPr/>
          <p:nvPr/>
        </p:nvSpPr>
        <p:spPr>
          <a:xfrm>
            <a:off x="713232" y="2404872"/>
            <a:ext cx="5033772" cy="685800"/>
          </a:xfrm>
          <a:prstGeom prst="rect">
            <a:avLst/>
          </a:prstGeom>
          <a:noFill/>
          <a:ln/>
        </p:spPr>
        <p:txBody>
          <a:bodyPr wrap="square" lIns="0" tIns="0" rIns="0" bIns="0" rtlCol="0" anchor="ctr"/>
          <a:lstStyle/>
          <a:p>
            <a:pPr marL="0" indent="0">
              <a:lnSpc>
                <a:spcPct val="110000"/>
              </a:lnSpc>
              <a:buNone/>
            </a:pPr>
            <a:r>
              <a:rPr lang="en-US" sz="1200" dirty="0">
                <a:solidFill>
                  <a:srgbClr val="1A1A2E"/>
                </a:solidFill>
                <a:latin typeface="Calibri" pitchFamily="34" charset="0"/>
                <a:ea typeface="Calibri" pitchFamily="34" charset="-122"/>
                <a:cs typeface="Calibri" pitchFamily="34" charset="-120"/>
              </a:rPr>
              <a:t>A2. False — performance depends on CPI and instruction count too</a:t>
            </a:r>
            <a:endParaRPr lang="en-US" sz="1200" dirty="0"/>
          </a:p>
        </p:txBody>
      </p:sp>
      <p:sp>
        <p:nvSpPr>
          <p:cNvPr id="11" name="Shape 8"/>
          <p:cNvSpPr/>
          <p:nvPr/>
        </p:nvSpPr>
        <p:spPr>
          <a:xfrm>
            <a:off x="548640" y="3300984"/>
            <a:ext cx="5362956" cy="777240"/>
          </a:xfrm>
          <a:prstGeom prst="roundRect">
            <a:avLst>
              <a:gd name="adj" fmla="val 9412"/>
            </a:avLst>
          </a:prstGeom>
          <a:solidFill>
            <a:srgbClr val="E9F5F0"/>
          </a:solidFill>
          <a:ln/>
        </p:spPr>
      </p:sp>
      <p:sp>
        <p:nvSpPr>
          <p:cNvPr id="12" name="Text 9"/>
          <p:cNvSpPr/>
          <p:nvPr/>
        </p:nvSpPr>
        <p:spPr>
          <a:xfrm>
            <a:off x="713232" y="3346704"/>
            <a:ext cx="5033772" cy="685800"/>
          </a:xfrm>
          <a:prstGeom prst="rect">
            <a:avLst/>
          </a:prstGeom>
          <a:noFill/>
          <a:ln/>
        </p:spPr>
        <p:txBody>
          <a:bodyPr wrap="square" lIns="0" tIns="0" rIns="0" bIns="0" rtlCol="0" anchor="ctr"/>
          <a:lstStyle/>
          <a:p>
            <a:pPr marL="0" indent="0">
              <a:lnSpc>
                <a:spcPct val="110000"/>
              </a:lnSpc>
              <a:buNone/>
            </a:pPr>
            <a:r>
              <a:rPr lang="en-US" sz="1200" dirty="0">
                <a:solidFill>
                  <a:srgbClr val="1A1A2E"/>
                </a:solidFill>
                <a:latin typeface="Calibri" pitchFamily="34" charset="0"/>
                <a:ea typeface="Calibri" pitchFamily="34" charset="-122"/>
                <a:cs typeface="Calibri" pitchFamily="34" charset="-120"/>
              </a:rPr>
              <a:t>A3. CPU Time = IC × CPI × Clock Cycle Time</a:t>
            </a:r>
            <a:endParaRPr lang="en-US" sz="1200" dirty="0"/>
          </a:p>
        </p:txBody>
      </p:sp>
      <p:sp>
        <p:nvSpPr>
          <p:cNvPr id="13" name="Shape 10"/>
          <p:cNvSpPr/>
          <p:nvPr/>
        </p:nvSpPr>
        <p:spPr>
          <a:xfrm>
            <a:off x="548640" y="4242816"/>
            <a:ext cx="5362956" cy="777240"/>
          </a:xfrm>
          <a:prstGeom prst="roundRect">
            <a:avLst>
              <a:gd name="adj" fmla="val 9412"/>
            </a:avLst>
          </a:prstGeom>
          <a:solidFill>
            <a:srgbClr val="E9F5F0"/>
          </a:solidFill>
          <a:ln/>
        </p:spPr>
      </p:sp>
      <p:sp>
        <p:nvSpPr>
          <p:cNvPr id="14" name="Text 11"/>
          <p:cNvSpPr/>
          <p:nvPr/>
        </p:nvSpPr>
        <p:spPr>
          <a:xfrm>
            <a:off x="713232" y="4288536"/>
            <a:ext cx="5033772" cy="685800"/>
          </a:xfrm>
          <a:prstGeom prst="rect">
            <a:avLst/>
          </a:prstGeom>
          <a:noFill/>
          <a:ln/>
        </p:spPr>
        <p:txBody>
          <a:bodyPr wrap="square" lIns="0" tIns="0" rIns="0" bIns="0" rtlCol="0" anchor="ctr"/>
          <a:lstStyle/>
          <a:p>
            <a:pPr marL="0" indent="0">
              <a:lnSpc>
                <a:spcPct val="110000"/>
              </a:lnSpc>
              <a:buNone/>
            </a:pPr>
            <a:r>
              <a:rPr lang="en-US" sz="1200" dirty="0">
                <a:solidFill>
                  <a:srgbClr val="1A1A2E"/>
                </a:solidFill>
                <a:latin typeface="Calibri" pitchFamily="34" charset="0"/>
                <a:ea typeface="Calibri" pitchFamily="34" charset="-122"/>
                <a:cs typeface="Calibri" pitchFamily="34" charset="-120"/>
              </a:rPr>
              <a:t>A4. (a) Cycles Per Instruction</a:t>
            </a:r>
            <a:endParaRPr lang="en-US" sz="1200" dirty="0"/>
          </a:p>
        </p:txBody>
      </p:sp>
      <p:sp>
        <p:nvSpPr>
          <p:cNvPr id="15" name="Shape 12"/>
          <p:cNvSpPr/>
          <p:nvPr/>
        </p:nvSpPr>
        <p:spPr>
          <a:xfrm>
            <a:off x="6277356" y="1417320"/>
            <a:ext cx="5362956" cy="777240"/>
          </a:xfrm>
          <a:prstGeom prst="roundRect">
            <a:avLst>
              <a:gd name="adj" fmla="val 9412"/>
            </a:avLst>
          </a:prstGeom>
          <a:solidFill>
            <a:srgbClr val="E9F5F0"/>
          </a:solidFill>
          <a:ln/>
        </p:spPr>
      </p:sp>
      <p:sp>
        <p:nvSpPr>
          <p:cNvPr id="16" name="Text 13"/>
          <p:cNvSpPr/>
          <p:nvPr/>
        </p:nvSpPr>
        <p:spPr>
          <a:xfrm>
            <a:off x="6441948" y="1463040"/>
            <a:ext cx="5033772" cy="685800"/>
          </a:xfrm>
          <a:prstGeom prst="rect">
            <a:avLst/>
          </a:prstGeom>
          <a:noFill/>
          <a:ln/>
        </p:spPr>
        <p:txBody>
          <a:bodyPr wrap="square" lIns="0" tIns="0" rIns="0" bIns="0" rtlCol="0" anchor="ctr"/>
          <a:lstStyle/>
          <a:p>
            <a:pPr marL="0" indent="0">
              <a:lnSpc>
                <a:spcPct val="110000"/>
              </a:lnSpc>
              <a:buNone/>
            </a:pPr>
            <a:r>
              <a:rPr lang="en-US" sz="1200" dirty="0">
                <a:solidFill>
                  <a:srgbClr val="1A1A2E"/>
                </a:solidFill>
                <a:latin typeface="Calibri" pitchFamily="34" charset="0"/>
                <a:ea typeface="Calibri" pitchFamily="34" charset="-122"/>
                <a:cs typeface="Calibri" pitchFamily="34" charset="-120"/>
              </a:rPr>
              <a:t>A5. T = 1/(4×10⁹) = 0.25 nanoseconds</a:t>
            </a:r>
            <a:endParaRPr lang="en-US" sz="1200" dirty="0"/>
          </a:p>
        </p:txBody>
      </p:sp>
      <p:sp>
        <p:nvSpPr>
          <p:cNvPr id="17" name="Shape 14"/>
          <p:cNvSpPr/>
          <p:nvPr/>
        </p:nvSpPr>
        <p:spPr>
          <a:xfrm>
            <a:off x="6277356" y="2359152"/>
            <a:ext cx="5362956" cy="777240"/>
          </a:xfrm>
          <a:prstGeom prst="roundRect">
            <a:avLst>
              <a:gd name="adj" fmla="val 9412"/>
            </a:avLst>
          </a:prstGeom>
          <a:solidFill>
            <a:srgbClr val="E9F5F0"/>
          </a:solidFill>
          <a:ln/>
        </p:spPr>
      </p:sp>
      <p:sp>
        <p:nvSpPr>
          <p:cNvPr id="18" name="Text 15"/>
          <p:cNvSpPr/>
          <p:nvPr/>
        </p:nvSpPr>
        <p:spPr>
          <a:xfrm>
            <a:off x="6441948" y="2404872"/>
            <a:ext cx="5033772" cy="685800"/>
          </a:xfrm>
          <a:prstGeom prst="rect">
            <a:avLst/>
          </a:prstGeom>
          <a:noFill/>
          <a:ln/>
        </p:spPr>
        <p:txBody>
          <a:bodyPr wrap="square" lIns="0" tIns="0" rIns="0" bIns="0" rtlCol="0" anchor="ctr"/>
          <a:lstStyle/>
          <a:p>
            <a:pPr marL="0" indent="0">
              <a:lnSpc>
                <a:spcPct val="110000"/>
              </a:lnSpc>
              <a:buNone/>
            </a:pPr>
            <a:r>
              <a:rPr lang="en-US" sz="1200" dirty="0">
                <a:solidFill>
                  <a:srgbClr val="1A1A2E"/>
                </a:solidFill>
                <a:latin typeface="Calibri" pitchFamily="34" charset="0"/>
                <a:ea typeface="Calibri" pitchFamily="34" charset="-122"/>
                <a:cs typeface="Calibri" pitchFamily="34" charset="-120"/>
              </a:rPr>
              <a:t>A6. False — MIPS is misleading across different instruction sets</a:t>
            </a:r>
            <a:endParaRPr lang="en-US" sz="1200" dirty="0"/>
          </a:p>
        </p:txBody>
      </p:sp>
      <p:sp>
        <p:nvSpPr>
          <p:cNvPr id="19" name="Shape 16"/>
          <p:cNvSpPr/>
          <p:nvPr/>
        </p:nvSpPr>
        <p:spPr>
          <a:xfrm>
            <a:off x="6277356" y="3300984"/>
            <a:ext cx="5362956" cy="777240"/>
          </a:xfrm>
          <a:prstGeom prst="roundRect">
            <a:avLst>
              <a:gd name="adj" fmla="val 9412"/>
            </a:avLst>
          </a:prstGeom>
          <a:solidFill>
            <a:srgbClr val="E9F5F0"/>
          </a:solidFill>
          <a:ln/>
        </p:spPr>
      </p:sp>
      <p:sp>
        <p:nvSpPr>
          <p:cNvPr id="20" name="Text 17"/>
          <p:cNvSpPr/>
          <p:nvPr/>
        </p:nvSpPr>
        <p:spPr>
          <a:xfrm>
            <a:off x="6441948" y="3346704"/>
            <a:ext cx="5033772" cy="685800"/>
          </a:xfrm>
          <a:prstGeom prst="rect">
            <a:avLst/>
          </a:prstGeom>
          <a:noFill/>
          <a:ln/>
        </p:spPr>
        <p:txBody>
          <a:bodyPr wrap="square" lIns="0" tIns="0" rIns="0" bIns="0" rtlCol="0" anchor="ctr"/>
          <a:lstStyle/>
          <a:p>
            <a:pPr marL="0" indent="0">
              <a:lnSpc>
                <a:spcPct val="110000"/>
              </a:lnSpc>
              <a:buNone/>
            </a:pPr>
            <a:r>
              <a:rPr lang="en-US" sz="1200" dirty="0">
                <a:solidFill>
                  <a:srgbClr val="1A1A2E"/>
                </a:solidFill>
                <a:latin typeface="Calibri" pitchFamily="34" charset="0"/>
                <a:ea typeface="Calibri" pitchFamily="34" charset="-122"/>
                <a:cs typeface="Calibri" pitchFamily="34" charset="-120"/>
              </a:rPr>
              <a:t>A7. (b) Sometimes faster — depends on the full performance equation</a:t>
            </a:r>
            <a:endParaRPr lang="en-US" sz="1200" dirty="0"/>
          </a:p>
        </p:txBody>
      </p:sp>
      <p:sp>
        <p:nvSpPr>
          <p:cNvPr id="21" name="Text 18"/>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640080" y="640080"/>
            <a:ext cx="1005840" cy="1005840"/>
          </a:xfrm>
          <a:prstGeom prst="ellipse">
            <a:avLst/>
          </a:prstGeom>
          <a:solidFill>
            <a:srgbClr val="F4A259"/>
          </a:solidFill>
          <a:ln/>
        </p:spPr>
      </p:sp>
      <p:pic>
        <p:nvPicPr>
          <p:cNvPr id="3" name="Image 0" descr="icons/book_0B3D5C.png"/>
          <p:cNvPicPr>
            <a:picLocks noChangeAspect="1"/>
          </p:cNvPicPr>
          <p:nvPr/>
        </p:nvPicPr>
        <p:blipFill>
          <a:blip r:embed="rId3"/>
          <a:stretch>
            <a:fillRect/>
          </a:stretch>
        </p:blipFill>
        <p:spPr>
          <a:xfrm>
            <a:off x="770839" y="770839"/>
            <a:ext cx="744322" cy="744322"/>
          </a:xfrm>
          <a:prstGeom prst="rect">
            <a:avLst/>
          </a:prstGeom>
        </p:spPr>
      </p:pic>
      <p:sp>
        <p:nvSpPr>
          <p:cNvPr id="4" name="Text 1"/>
          <p:cNvSpPr/>
          <p:nvPr/>
        </p:nvSpPr>
        <p:spPr>
          <a:xfrm>
            <a:off x="1920240" y="822960"/>
            <a:ext cx="8686800" cy="8229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Further Reading &amp; What's Next</a:t>
            </a:r>
            <a:endParaRPr lang="en-US" sz="2800" dirty="0"/>
          </a:p>
        </p:txBody>
      </p:sp>
      <p:sp>
        <p:nvSpPr>
          <p:cNvPr id="5" name="Text 2"/>
          <p:cNvSpPr/>
          <p:nvPr/>
        </p:nvSpPr>
        <p:spPr>
          <a:xfrm>
            <a:off x="822960" y="2194560"/>
            <a:ext cx="10241280" cy="3291840"/>
          </a:xfrm>
          <a:prstGeom prst="rect">
            <a:avLst/>
          </a:prstGeom>
          <a:noFill/>
          <a:ln/>
        </p:spPr>
        <p:txBody>
          <a:bodyPr wrap="square" lIns="0" tIns="0" rIns="0" bIns="0" rtlCol="0" anchor="ctr"/>
          <a:lstStyle/>
          <a:p>
            <a:pPr marL="342900" indent="-342900">
              <a:lnSpc>
                <a:spcPct val="125000"/>
              </a:lnSpc>
              <a:spcAft>
                <a:spcPts val="1600"/>
              </a:spcAft>
              <a:buSzPct val="100000"/>
              <a:buChar char="●"/>
            </a:pPr>
            <a:r>
              <a:rPr lang="en-US" sz="1600" dirty="0">
                <a:solidFill>
                  <a:srgbClr val="E8EEF2"/>
                </a:solidFill>
                <a:latin typeface="Calibri" pitchFamily="34" charset="0"/>
                <a:ea typeface="Calibri" pitchFamily="34" charset="-122"/>
                <a:cs typeface="Calibri" pitchFamily="34" charset="-120"/>
              </a:rPr>
              <a:t>Next topic: Amdahl's Law and Speedup</a:t>
            </a:r>
            <a:endParaRPr lang="en-US" sz="1600" dirty="0"/>
          </a:p>
          <a:p>
            <a:pPr marL="342900" indent="-342900">
              <a:lnSpc>
                <a:spcPct val="125000"/>
              </a:lnSpc>
              <a:spcAft>
                <a:spcPts val="1600"/>
              </a:spcAft>
              <a:buSzPct val="100000"/>
              <a:buChar char="●"/>
            </a:pPr>
            <a:r>
              <a:rPr lang="en-US" sz="1600" dirty="0">
                <a:solidFill>
                  <a:srgbClr val="E8EEF2"/>
                </a:solidFill>
                <a:latin typeface="Calibri" pitchFamily="34" charset="0"/>
                <a:ea typeface="Calibri" pitchFamily="34" charset="-122"/>
                <a:cs typeface="Calibri" pitchFamily="34" charset="-120"/>
              </a:rPr>
              <a:t>Suggested reading: Hennessy &amp; Patterson, “Computer Organization and Design” — Performance chapter</a:t>
            </a:r>
            <a:endParaRPr lang="en-US" sz="1600" dirty="0"/>
          </a:p>
          <a:p>
            <a:pPr marL="342900" indent="-342900">
              <a:lnSpc>
                <a:spcPct val="125000"/>
              </a:lnSpc>
              <a:spcAft>
                <a:spcPts val="1600"/>
              </a:spcAft>
              <a:buSzPct val="100000"/>
              <a:buChar char="●"/>
            </a:pPr>
            <a:r>
              <a:rPr lang="en-US" sz="1600" dirty="0">
                <a:solidFill>
                  <a:srgbClr val="E8EEF2"/>
                </a:solidFill>
                <a:latin typeface="Calibri" pitchFamily="34" charset="0"/>
                <a:ea typeface="Calibri" pitchFamily="34" charset="-122"/>
                <a:cs typeface="Calibri" pitchFamily="34" charset="-120"/>
              </a:rPr>
              <a:t>Assignment: 3 CPU-time practice problems (posted on the LMS)</a:t>
            </a:r>
            <a:endParaRPr lang="en-US" sz="1600" dirty="0"/>
          </a:p>
          <a:p>
            <a:pPr marL="342900" indent="-342900">
              <a:lnSpc>
                <a:spcPct val="125000"/>
              </a:lnSpc>
              <a:spcAft>
                <a:spcPts val="1600"/>
              </a:spcAft>
              <a:buSzPct val="100000"/>
              <a:buChar char="●"/>
            </a:pPr>
            <a:r>
              <a:rPr lang="en-US" sz="1600" dirty="0">
                <a:solidFill>
                  <a:srgbClr val="E8EEF2"/>
                </a:solidFill>
                <a:latin typeface="Calibri" pitchFamily="34" charset="0"/>
                <a:ea typeface="Calibri" pitchFamily="34" charset="-122"/>
                <a:cs typeface="Calibri" pitchFamily="34" charset="-120"/>
              </a:rPr>
              <a:t>Office hours: [Insert faculty office hours]</a:t>
            </a:r>
            <a:endParaRPr lang="en-US" sz="1600" dirty="0"/>
          </a:p>
        </p:txBody>
      </p:sp>
      <p:sp>
        <p:nvSpPr>
          <p:cNvPr id="6" name="Text 3"/>
          <p:cNvSpPr/>
          <p:nvPr/>
        </p:nvSpPr>
        <p:spPr>
          <a:xfrm>
            <a:off x="822960" y="5806440"/>
            <a:ext cx="10241280" cy="457200"/>
          </a:xfrm>
          <a:prstGeom prst="rect">
            <a:avLst/>
          </a:prstGeom>
          <a:noFill/>
          <a:ln/>
        </p:spPr>
        <p:txBody>
          <a:bodyPr wrap="square" lIns="0" tIns="0" rIns="0" bIns="0" rtlCol="0" anchor="ctr"/>
          <a:lstStyle/>
          <a:p>
            <a:pPr marL="0" indent="0">
              <a:buNone/>
            </a:pPr>
            <a:r>
              <a:rPr lang="en-US" sz="1500" i="1" dirty="0">
                <a:solidFill>
                  <a:srgbClr val="F4A259"/>
                </a:solidFill>
                <a:latin typeface="Cambria" pitchFamily="34" charset="0"/>
                <a:ea typeface="Cambria" pitchFamily="34" charset="-122"/>
                <a:cs typeface="Cambria" pitchFamily="34" charset="-120"/>
              </a:rPr>
              <a:t>Thank you  —  see you next class!</a:t>
            </a:r>
            <a:endParaRPr lang="en-US" sz="1500" dirty="0"/>
          </a:p>
        </p:txBody>
      </p:sp>
      <p:sp>
        <p:nvSpPr>
          <p:cNvPr id="7" name="Text 4"/>
          <p:cNvSpPr/>
          <p:nvPr/>
        </p:nvSpPr>
        <p:spPr>
          <a:xfrm>
            <a:off x="457200" y="6473952"/>
            <a:ext cx="11274552" cy="274320"/>
          </a:xfrm>
          <a:prstGeom prst="rect">
            <a:avLst/>
          </a:prstGeom>
          <a:noFill/>
          <a:ln/>
        </p:spPr>
        <p:txBody>
          <a:bodyPr wrap="square" lIns="0" tIns="0" rIns="0" bIns="0" rtlCol="0" anchor="ctr"/>
          <a:lstStyle/>
          <a:p>
            <a:pPr marL="0" indent="0" algn="l">
              <a:buNone/>
            </a:pPr>
            <a:r>
              <a:rPr lang="en-US" sz="900" dirty="0">
                <a:solidFill>
                  <a:srgbClr val="AFC6D6"/>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5736</Words>
  <Application>Microsoft Office PowerPoint</Application>
  <PresentationFormat>Widescreen</PresentationFormat>
  <Paragraphs>346</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venkatesan damodaran</cp:lastModifiedBy>
  <cp:revision>2</cp:revision>
  <dcterms:created xsi:type="dcterms:W3CDTF">2026-08-13T06:07:26Z</dcterms:created>
  <dcterms:modified xsi:type="dcterms:W3CDTF">2026-08-19T03:43:12Z</dcterms:modified>
</cp:coreProperties>
</file>