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3.xml" ContentType="application/vnd.openxmlformats-officedocument.drawingml.chart+xml"/>
  <Override PartName="/ppt/notesSlides/notesSlide24.xml" ContentType="application/vnd.openxmlformats-officedocument.presentationml.notesSlide+xml"/>
  <Override PartName="/ppt/charts/chart4.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8"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1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6233F"/>
                </a:solidFill>
                <a:latin typeface="Arial"/>
              </a:defRPr>
            </a:pPr>
            <a:r>
              <a:rPr lang="en-IN" sz="1300" b="0" i="0" u="none" strike="noStrike">
                <a:solidFill>
                  <a:srgbClr val="16233F"/>
                </a:solidFill>
                <a:latin typeface="Arial"/>
              </a:rPr>
              <a:t>Transistors per Chip (illustrative)</a:t>
            </a:r>
          </a:p>
        </c:rich>
      </c:tx>
      <c:overlay val="0"/>
    </c:title>
    <c:autoTitleDeleted val="0"/>
    <c:plotArea>
      <c:layout/>
      <c:lineChart>
        <c:grouping val="standard"/>
        <c:varyColors val="0"/>
        <c:ser>
          <c:idx val="0"/>
          <c:order val="0"/>
          <c:tx>
            <c:strRef>
              <c:f>Sheet1!$B$1</c:f>
              <c:strCache>
                <c:ptCount val="1"/>
                <c:pt idx="0">
                  <c:v>Transistor count (millions, log-scale trend)</c:v>
                </c:pt>
              </c:strCache>
            </c:strRef>
          </c:tx>
          <c:spPr>
            <a:ln w="38100" cap="flat">
              <a:solidFill>
                <a:srgbClr val="2FD1C6"/>
              </a:solidFill>
              <a:prstDash val="solid"/>
              <a:round/>
            </a:ln>
            <a:effectLst/>
          </c:spPr>
          <c:marker>
            <c:symbol val="circle"/>
            <c:size val="6"/>
            <c:spPr>
              <a:solidFill>
                <a:srgbClr val="2FD1C6"/>
              </a:solidFill>
              <a:ln w="9525" cap="flat">
                <a:solidFill>
                  <a:srgbClr val="2FD1C6"/>
                </a:solidFill>
                <a:prstDash val="solid"/>
                <a:round/>
              </a:ln>
              <a:effectLst/>
            </c:spPr>
          </c:marker>
          <c:cat>
            <c:strRef>
              <c:f>Sheet1!$A$2:$A$7</c:f>
              <c:strCache>
                <c:ptCount val="6"/>
                <c:pt idx="0">
                  <c:v>1975</c:v>
                </c:pt>
                <c:pt idx="1">
                  <c:v>1985</c:v>
                </c:pt>
                <c:pt idx="2">
                  <c:v>1995</c:v>
                </c:pt>
                <c:pt idx="3">
                  <c:v>2005</c:v>
                </c:pt>
                <c:pt idx="4">
                  <c:v>2015</c:v>
                </c:pt>
                <c:pt idx="5">
                  <c:v>2025</c:v>
                </c:pt>
              </c:strCache>
            </c:strRef>
          </c:cat>
          <c:val>
            <c:numRef>
              <c:f>Sheet1!$B$2:$B$7</c:f>
              <c:numCache>
                <c:formatCode>General</c:formatCode>
                <c:ptCount val="6"/>
                <c:pt idx="0">
                  <c:v>0.01</c:v>
                </c:pt>
                <c:pt idx="1">
                  <c:v>0.3</c:v>
                </c:pt>
                <c:pt idx="2">
                  <c:v>6</c:v>
                </c:pt>
                <c:pt idx="3">
                  <c:v>200</c:v>
                </c:pt>
                <c:pt idx="4">
                  <c:v>5000</c:v>
                </c:pt>
                <c:pt idx="5">
                  <c:v>50000</c:v>
                </c:pt>
              </c:numCache>
            </c:numRef>
          </c:val>
          <c:smooth val="0"/>
          <c:extLst>
            <c:ext xmlns:c16="http://schemas.microsoft.com/office/drawing/2014/chart" uri="{C3380CC4-5D6E-409C-BE32-E72D297353CC}">
              <c16:uniqueId val="{00000000-B323-4E00-89AD-13F94BF2CEA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A9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9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6233F"/>
                </a:solidFill>
                <a:latin typeface="Arial"/>
              </a:defRPr>
            </a:pPr>
            <a:r>
              <a:rPr lang="en-US" sz="1300" b="0" i="0" u="none" strike="noStrike">
                <a:solidFill>
                  <a:srgbClr val="16233F"/>
                </a:solidFill>
                <a:latin typeface="Arial"/>
              </a:rPr>
              <a:t>Power Rises with Frequency³ (illustrative)</a:t>
            </a:r>
          </a:p>
        </c:rich>
      </c:tx>
      <c:overlay val="0"/>
    </c:title>
    <c:autoTitleDeleted val="0"/>
    <c:plotArea>
      <c:layout/>
      <c:barChart>
        <c:barDir val="col"/>
        <c:grouping val="clustered"/>
        <c:varyColors val="0"/>
        <c:ser>
          <c:idx val="0"/>
          <c:order val="0"/>
          <c:tx>
            <c:strRef>
              <c:f>Sheet1!$B$1</c:f>
              <c:strCache>
                <c:ptCount val="1"/>
                <c:pt idx="0">
                  <c:v>Relative Power (freq³)</c:v>
                </c:pt>
              </c:strCache>
            </c:strRef>
          </c:tx>
          <c:spPr>
            <a:solidFill>
              <a:srgbClr val="E85D4C"/>
            </a:solidFill>
            <a:effectLst/>
          </c:spPr>
          <c:invertIfNegative val="0"/>
          <c:dLbls>
            <c:numFmt formatCode="#,##0" sourceLinked="0"/>
            <c:spPr>
              <a:noFill/>
              <a:ln>
                <a:noFill/>
              </a:ln>
              <a:effectLst/>
            </c:spPr>
            <c:txPr>
              <a:bodyPr/>
              <a:lstStyle/>
              <a:p>
                <a:pPr>
                  <a:defRPr sz="1000" b="0" i="0" u="none" strike="noStrike">
                    <a:solidFill>
                      <a:srgbClr val="16233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 GHz</c:v>
                </c:pt>
                <c:pt idx="1">
                  <c:v>2 GHz</c:v>
                </c:pt>
                <c:pt idx="2">
                  <c:v>3 GHz</c:v>
                </c:pt>
                <c:pt idx="3">
                  <c:v>4 GHz</c:v>
                </c:pt>
              </c:strCache>
            </c:strRef>
          </c:cat>
          <c:val>
            <c:numRef>
              <c:f>Sheet1!$B$2:$B$5</c:f>
              <c:numCache>
                <c:formatCode>General</c:formatCode>
                <c:ptCount val="4"/>
                <c:pt idx="0">
                  <c:v>1</c:v>
                </c:pt>
                <c:pt idx="1">
                  <c:v>8</c:v>
                </c:pt>
                <c:pt idx="2">
                  <c:v>27</c:v>
                </c:pt>
                <c:pt idx="3">
                  <c:v>64</c:v>
                </c:pt>
              </c:numCache>
            </c:numRef>
          </c:val>
          <c:extLst>
            <c:ext xmlns:c16="http://schemas.microsoft.com/office/drawing/2014/chart" uri="{C3380CC4-5D6E-409C-BE32-E72D297353CC}">
              <c16:uniqueId val="{00000000-9E40-40FF-A667-C0BAB83EF63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A9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9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6233F"/>
                </a:solidFill>
                <a:latin typeface="Arial"/>
              </a:defRPr>
            </a:pPr>
            <a:r>
              <a:rPr lang="en-IN" sz="1300" b="0" i="0" u="none" strike="noStrike">
                <a:solidFill>
                  <a:srgbClr val="16233F"/>
                </a:solidFill>
                <a:latin typeface="Arial"/>
              </a:rPr>
              <a:t>Program Composition</a:t>
            </a:r>
          </a:p>
        </c:rich>
      </c:tx>
      <c:overlay val="0"/>
    </c:title>
    <c:autoTitleDeleted val="0"/>
    <c:plotArea>
      <c:layout/>
      <c:pieChart>
        <c:varyColors val="1"/>
        <c:ser>
          <c:idx val="0"/>
          <c:order val="0"/>
          <c:tx>
            <c:strRef>
              <c:f>Sheet1!$B$1</c:f>
              <c:strCache>
                <c:ptCount val="1"/>
                <c:pt idx="0">
                  <c:v>Program</c:v>
                </c:pt>
              </c:strCache>
            </c:strRef>
          </c:tx>
          <c:spPr>
            <a:solidFill>
              <a:schemeClr val="accent1"/>
            </a:solidFill>
            <a:ln w="9525" cap="flat">
              <a:solidFill>
                <a:srgbClr val="F9F9F9"/>
              </a:solidFill>
              <a:prstDash val="solid"/>
              <a:round/>
            </a:ln>
            <a:effectLst/>
          </c:spPr>
          <c:dPt>
            <c:idx val="0"/>
            <c:bubble3D val="0"/>
            <c:spPr>
              <a:solidFill>
                <a:srgbClr val="2FD1C6"/>
              </a:solidFill>
              <a:effectLst/>
            </c:spPr>
            <c:extLst>
              <c:ext xmlns:c16="http://schemas.microsoft.com/office/drawing/2014/chart" uri="{C3380CC4-5D6E-409C-BE32-E72D297353CC}">
                <c16:uniqueId val="{00000001-2EC0-4859-8FFB-2A64F6D635A6}"/>
              </c:ext>
            </c:extLst>
          </c:dPt>
          <c:dPt>
            <c:idx val="1"/>
            <c:bubble3D val="0"/>
            <c:spPr>
              <a:solidFill>
                <a:srgbClr val="D8DEE8"/>
              </a:solidFill>
              <a:effectLst/>
            </c:spPr>
            <c:extLst>
              <c:ext xmlns:c16="http://schemas.microsoft.com/office/drawing/2014/chart" uri="{C3380CC4-5D6E-409C-BE32-E72D297353CC}">
                <c16:uniqueId val="{00000003-2EC0-4859-8FFB-2A64F6D635A6}"/>
              </c:ext>
            </c:extLst>
          </c:dPt>
          <c:dLbls>
            <c:dLbl>
              <c:idx val="0"/>
              <c:numFmt formatCode="0&quot;%&quot;" sourceLinked="0"/>
              <c:spPr/>
              <c:txPr>
                <a:bodyPr/>
                <a:lstStyle/>
                <a:p>
                  <a:pPr>
                    <a:defRPr sz="1100" b="0" i="0" u="none" strike="noStrike">
                      <a:solidFill>
                        <a:srgbClr val="16233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EC0-4859-8FFB-2A64F6D635A6}"/>
                </c:ext>
              </c:extLst>
            </c:dLbl>
            <c:dLbl>
              <c:idx val="1"/>
              <c:numFmt formatCode="0&quot;%&quot;" sourceLinked="0"/>
              <c:spPr/>
              <c:txPr>
                <a:bodyPr/>
                <a:lstStyle/>
                <a:p>
                  <a:pPr>
                    <a:defRPr sz="1100" b="0" i="0" u="none" strike="noStrike">
                      <a:solidFill>
                        <a:srgbClr val="16233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EC0-4859-8FFB-2A64F6D635A6}"/>
                </c:ext>
              </c:extLst>
            </c:dLbl>
            <c:numFmt formatCode="0&quot;%&quot;"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Parallelizable (80%)</c:v>
                </c:pt>
                <c:pt idx="1">
                  <c:v>Sequential (20%)</c:v>
                </c:pt>
              </c:strCache>
            </c:strRef>
          </c:cat>
          <c:val>
            <c:numRef>
              <c:f>Sheet1!$B$2:$B$3</c:f>
              <c:numCache>
                <c:formatCode>General</c:formatCode>
                <c:ptCount val="2"/>
                <c:pt idx="0">
                  <c:v>80</c:v>
                </c:pt>
                <c:pt idx="1">
                  <c:v>20</c:v>
                </c:pt>
              </c:numCache>
            </c:numRef>
          </c:val>
          <c:extLst>
            <c:ext xmlns:c16="http://schemas.microsoft.com/office/drawing/2014/chart" uri="{C3380CC4-5D6E-409C-BE32-E72D297353CC}">
              <c16:uniqueId val="{00000004-2EC0-4859-8FFB-2A64F6D635A6}"/>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100">
              <a:solidFill>
                <a:srgbClr val="16233F"/>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6233F"/>
                </a:solidFill>
                <a:latin typeface="Arial"/>
              </a:defRPr>
            </a:pPr>
            <a:r>
              <a:rPr lang="en-US" sz="1200" b="0" i="0" u="none" strike="noStrike">
                <a:solidFill>
                  <a:srgbClr val="16233F"/>
                </a:solidFill>
                <a:latin typeface="Arial"/>
              </a:rPr>
              <a:t>Speedup Flattens as Processors Increase (P=0.8)</a:t>
            </a:r>
          </a:p>
        </c:rich>
      </c:tx>
      <c:overlay val="0"/>
    </c:title>
    <c:autoTitleDeleted val="0"/>
    <c:plotArea>
      <c:layout/>
      <c:lineChart>
        <c:grouping val="standard"/>
        <c:varyColors val="0"/>
        <c:ser>
          <c:idx val="0"/>
          <c:order val="0"/>
          <c:tx>
            <c:strRef>
              <c:f>Sheet1!$B$1</c:f>
              <c:strCache>
                <c:ptCount val="1"/>
                <c:pt idx="0">
                  <c:v>Speedup</c:v>
                </c:pt>
              </c:strCache>
            </c:strRef>
          </c:tx>
          <c:spPr>
            <a:ln w="38100" cap="flat">
              <a:solidFill>
                <a:srgbClr val="E8A33D"/>
              </a:solidFill>
              <a:prstDash val="solid"/>
              <a:round/>
            </a:ln>
            <a:effectLst/>
          </c:spPr>
          <c:marker>
            <c:symbol val="circle"/>
            <c:size val="5"/>
            <c:spPr>
              <a:solidFill>
                <a:srgbClr val="E8A33D"/>
              </a:solidFill>
              <a:ln w="9525" cap="flat">
                <a:solidFill>
                  <a:srgbClr val="E8A33D"/>
                </a:solidFill>
                <a:prstDash val="solid"/>
                <a:round/>
              </a:ln>
              <a:effectLst/>
            </c:spPr>
          </c:marker>
          <c:cat>
            <c:strRef>
              <c:f>Sheet1!$A$2:$A$8</c:f>
              <c:strCache>
                <c:ptCount val="7"/>
                <c:pt idx="0">
                  <c:v>1</c:v>
                </c:pt>
                <c:pt idx="1">
                  <c:v>2</c:v>
                </c:pt>
                <c:pt idx="2">
                  <c:v>4</c:v>
                </c:pt>
                <c:pt idx="3">
                  <c:v>8</c:v>
                </c:pt>
                <c:pt idx="4">
                  <c:v>16</c:v>
                </c:pt>
                <c:pt idx="5">
                  <c:v>32</c:v>
                </c:pt>
                <c:pt idx="6">
                  <c:v>64</c:v>
                </c:pt>
              </c:strCache>
            </c:strRef>
          </c:cat>
          <c:val>
            <c:numRef>
              <c:f>Sheet1!$B$2:$B$8</c:f>
              <c:numCache>
                <c:formatCode>General</c:formatCode>
                <c:ptCount val="7"/>
                <c:pt idx="0">
                  <c:v>1</c:v>
                </c:pt>
                <c:pt idx="1">
                  <c:v>1.67</c:v>
                </c:pt>
                <c:pt idx="2">
                  <c:v>2.5</c:v>
                </c:pt>
                <c:pt idx="3">
                  <c:v>3.33</c:v>
                </c:pt>
                <c:pt idx="4">
                  <c:v>4</c:v>
                </c:pt>
                <c:pt idx="5">
                  <c:v>4.4400000000000004</c:v>
                </c:pt>
                <c:pt idx="6">
                  <c:v>4.71</c:v>
                </c:pt>
              </c:numCache>
            </c:numRef>
          </c:val>
          <c:smooth val="0"/>
          <c:extLst>
            <c:ext xmlns:c16="http://schemas.microsoft.com/office/drawing/2014/chart" uri="{C3380CC4-5D6E-409C-BE32-E72D297353CC}">
              <c16:uniqueId val="{00000000-1A70-4A3A-B06E-8612C576B47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A90"/>
                </a:solidFill>
                <a:latin typeface="Arial"/>
              </a:defRPr>
            </a:pPr>
            <a:endParaRPr lang="en-US"/>
          </a:p>
        </c:txPr>
        <c:crossAx val="2094734552"/>
        <c:crosses val="autoZero"/>
        <c:auto val="1"/>
        <c:lblAlgn val="ctr"/>
        <c:lblOffset val="100"/>
        <c:noMultiLvlLbl val="1"/>
      </c:catAx>
      <c:valAx>
        <c:axId val="2094734552"/>
        <c:scaling>
          <c:orientation val="minMax"/>
          <c:max val="6"/>
        </c:scaling>
        <c:delete val="0"/>
        <c:axPos val="l"/>
        <c:majorGridlines>
          <c:spPr>
            <a:ln w="12700" cap="flat">
              <a:solidFill>
                <a:srgbClr val="E3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9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936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welcome to today's session on Computer Organization and Architecture. I'm D. Venkatesan from the Department of AI and Robotics, and today we're going to explore one of the most fundamental questions in computing — how do we actually measure how fast or good a computer is? We'll look at processor clocks, the technology behind them, and how parallelism helps us build faster systems. This is foundational knowledge that will help you throughout your engineering journey, whether you go into hardware design, software optimization, or AI systems.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a quick note before we dive in — this course, Computer Organization and Architecture, is offered by our Department of AI and Robotics because understanding how hardware works is essential even if you eventually specialize in AI, machine learning, or robotics. Every neural network you train, every robot you program, ultimately runs on physical hardware governed by the concepts we'll discuss today. So even though this may feel like a hardware topic, it directly supports everything else you'll learn in this program.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hour, you should be able to answer a simple but surprisingly deep question: what makes one computer faster than another? We'll build up from basic definitions to a formula you can actually use to calculate performance, then we'll talk about why clock speed alone doesn't tell the whole story, and finally we'll explore parallelism — a major reason modern processors are as fast as they are. Keep these objectives in mind; we'll circle back to them in our summary.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a quick warm-up before we get into the theory. Take thirty seconds and think about the first question — when you or your family bought a phone or laptop, what specs did you look at? RAM? Storage? Processor speed? Let's hear two or three quick answers. Now question two: many of you probably have heard GHz thrown around in ads — does anyone want to guess what that number represents? Don't worry about being wrong, we're just activating what you already know. We'll come back to your answers as we go through the lecture, especially when we get to clock speed.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should you, as first-year students, care about this? First, performance isn't just an academic idea — it's what makes your apps feel fast or frustratingly slow. Second, as future engineers, you'll be expected to reason about performance quantitatively, not just say it feels faster. Third, there's a very common myth we're going to bust today: that a higher GHz number always means a faster computer. And for those interested in AI — training a neural network is essentially a performance problem, so these concepts apply directly there too.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define performance properly. We don't just say fast — we measure it in two specific ways. Execution time, sometimes called response time, is how long it takes to finish one specific task, like loading a webpage. Throughput is how many tasks get done in a given period, like how many web requests a server handles per second. Think of it like a highway: execution time is how long it takes one car to travel from A to B, while throughput is how many cars pass a checkpoint per hour. A personal laptop cares more about execution time; a data center server cares more about throughput.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narrow our focus to CPU execution time specifically, since that's what we as computer architects can control. CPU time is the actual time the processor spends computing your program — not the time you spent waiting for a file to load from disk. There's a clean formula for this: CPU Time equals the number of CPU clock cycles used, multiplied by the time each clock cycle takes. This is the foundation formula we'll build on for the rest of the lecture, so keep it in mind.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 answer that icebreaker question about GHz. Think of the CPU clock like a metronome for a musician — it ticks at a perfectly steady rate, and every action inside the processor is synchronized to those ticks. Each tick is one clock cycle. Clock cycle time is how long one tick takes. Clock rate, or frequency, is how many ticks happen per second, the inverse of cycle time. So when someone says 3 GHz, they mean the processor ticks 3 billion times every second. Now you know exactly what that number represents.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critical point, so let's slow down here. Many people assume a processor with a higher GHz number is automatically faster — but that's not always true. Clock rate only tells you how many ticks happen per second, not how much useful work happens on each tick. A cleverly designed processor might do more work per cycle, even at a lower clock rate, and end up faster overall. To capture this, we need one more piece of the puzzle: CPI, or Cycles Per Instruction.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CPI stands for Cycles Per Instruction, and it tells us, on average, how many clock ticks it takes to finish one instruction. A simple addition might complete in a single cycle, while a division might take ten cycles because it's mathematically more complex. When we talk about a processor's CPI, we usually mean the weighted average across all instructions in a program. A lower CPI means the processor is, on average, getting more done per tick — the missing piece from our myth-busting discussion.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can put it all together into the single most important formula of today's lecture: CPU Time equals Instruction Count, multiplied by CPI, multiplied by Clock Cycle Time. There are exactly three ways to make a program run faster: reduce the number of instructions, reduce CPI through better processor design, or reduce clock cycle time by increasing clock rate — which has physical limits. I want you to memorize this formula; we'll use it in our worked examples shortly.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now talk about the technology part of today's topic. In 1965, Gordon Moore observed that the number of transistors we could fit on a chip was roughly doubling every two years — Moore's Law. For decades it was remarkably accurate, which is why your phone today is far more powerful than a room-sized computer from the 1980s. However, Moore's Law is slowing today — we're approaching physical limits at the atomic scale, which is exactly why parallelism has become so important, which we'll discuss next.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Around 2004 and 2005, chip manufacturers hit what's called the Power Wall. As you increase clock frequency, power consumption increases even faster — roughly with the cube of the frequency. That means doubling the clock speed can increase power use up to eight times, turning into heat that's very hard to cool. This is exactly why your CPU's clock speed today isn't wildly different from a processor from 2006. Instead of chasing higher clock speeds, the industry pivoted to putting multiple cores on a single chip.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we can't just keep cranking up clock speed, how do modern processors keep getting faster? The answer is parallelism — doing multiple things simultaneously rather than one after another. We're going to look at three major forms used in modern computer architecture: instruction-level, data-level, and thread-level parallelism. Each solves the speed problem differently, and real processors typically use all three together.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type of parallelism is instruction-level parallelism, most commonly implemented through pipelining. Break instruction execution into five stages: fetch, decode, execute, memory access, and write-back. Without pipelining, one instruction must fully complete before the next starts. With pipelining, while instruction one executes, instruction two is already being decoded, and instruction three is being fetched — all at the same time, in different stages. This is exactly like an assembly line, and it dramatically increases throughput without needing a faster clock.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basic pipelining, modern processors use superscalar execution, where the CPU can start executing more than one instruction in the very same clock cycle — not just overlapping stages, but literally issuing multiple instructions at once. This requires multiple execution units inside the processor, like a supermarket opening several checkout counters instead of just one. Most modern desktop and mobile processors are 4-way or even wider superscalar designs.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type is data-level parallelism, most commonly implemented as SIMD — Single Instruction, Multiple Data. Instead of applying one operation to one piece of data at a time, SIMD applies the same operation to many pieces of data simultaneously — like a t-shirt printing machine stamping the same design onto eight shirts at once. This is central to image processing and to AI and machine learning, where matrix and vector operations dominate. This is exactly why GPUs, which are massively SIMD-oriented, are so good at training neural networks.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type is thread-level parallelism, achieved through multicore processors. Instead of one CPU core doing everything, we place multiple independent cores on the same chip, and each core can run its own separate thread completely independently — like a large restaurant kitchen with multiple chefs, each preparing a different dish at the same time. This is why your laptop likely has 4, 8, or more cores — it lets your operating system run many programs truly simultaneously.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ground this in something you use every day — your smartphone. Modern smartphone chips combine everything we've discussed: multiple CPU cores for thread-level parallelism, often split into performance and efficiency cores to balance speed and battery life. They include SIMD units and dedicated Neural Processing Units for AI tasks like face unlock or camera processing. Their clock speeds are deliberately kept moderate because battery life matters more than raw clock speed for a phone.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another example directly relevant to many of you interested in AI: training a large AI model requires enormous amounts of matrix multiplication — precisely where data-level parallelism shines. GPUs, with thousands of small cores designed for parallel math, vastly outperform CPUs for this kind of workload despite often having a lower clock speed per core. Companies like Google have designed custom chips called TPUs specifically for parallel AI computation. In data centers, priority often shifts to throughput — serving as many users as efficiently as possible.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apply our formula with a concrete example. 50 million instructions, CPI of 2, clock rate of 2 GHz. First, find clock cycle time: 1 divided by 2 billion equals 0.5 nanoseconds. Next, apply the formula: CPU Time equals IC times CPI times Clock Cycle Time — 50,000,000 times 2 times 0.5 nanoseconds. That's 100,000,000 cycles times 0.5 nanoseconds, equaling 50,000,000 nanoseconds, or 0.05 seconds. So this program takes 50 milliseconds to run. A simple formula just told us exactly how long a program takes.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directly ties back to our myth-busting discussion. Processor A runs at 3 GHz with CPI 1.5. Processor B runs at 4 GHz, seemingly faster, with CPI 2.2. Since instruction count is identical, we compare CPI multiplied by clock cycle time. For A: 0.333 nanoseconds times 1.5 gives about 0.5 nanoseconds per instruction. For B: 0.25 nanoseconds times 2.2 gives 0.55 nanoseconds per instruction. Even though B has a higher clock speed, it takes slightly longer per instruction — Processor A is faster overall. A perfect proof that higher GHz doesn't automatically mean faster.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one of the most important laws in parallel computing: Amdahl's Law. No matter how many processors you use, the parts of the program that must run sequentially will always limit your total speedup. Speedup equals 1 divided by the non-parallel fraction plus the parallel fraction divided by the number of processors. Eighty percent parallelizable, twenty percent sequential, four processors: 1 divided by (0.2 plus 0.2) equals 2.5 times speedup — not 4 times, even though we used 4 processors.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deeper insight I want you to internalize: even with infinite processors, our speedup could never exceed 5 times, because that stubborn 20% sequential portion caps how much we can gain. This is exactly why simply adding more cores has diminishing returns — if your software isn't well-parallelized, extra cores sit idle. Writing parallel-friendly code is just as important as having parallel hardware. Hardware gives you potential; software determines how much of that potential you actually use.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do a quick myth round-up. First, higher clock speed doesn't guarantee better performance — CPI matters too. Second, doubling your processor count doesn't double your speed — Amdahl's Law tells us the sequential bottleneck limits this. Third, parallelism isn't free — coordinating multiple cores or threads adds overhead. And fourth, clock speed and CPI aren't independent — architects often make trade-offs between them. Keep these in mind — they're common exam trick questions too.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do a quick check to see if these concepts are sinking in. One minute — turn to the person next to you and work through this. Processor X runs at 5 GHz. Processor Y runs at 3 GHz but has half the CPI of X. Which is faster for the same program? Think about our formula: CPU time is proportional to CPI divided by clock rate. Work it out together, and I'll ask for a few answers in a moment.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through this together. Call Processor X's CPI simply C, so Y's CPI is C over 2. Time per instruction is proportional to CPI divided by clock rate. For X: C divided by 5 gives 0.2C. For Y: C over 2 divided by 3 gives about 0.167C. Since 0.167 is smaller, Processor Y is actually faster, even with a lower clock speed. This reinforces exactly what we discussed — don't judge a processor by its clock speed alone.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quick check before we summarize. If 95% of a program can be parallelized, what's the absolute maximum speedup we could ever achieve, even with unlimited processors? Use the limiting form of Amdahl's Law: 1 divided by (1 minus P). Take twenty seconds to calculate this individually.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bring it all together. We defined performance as execution time and throughput. We built the CPU performance equation — Instruction Count times CPI times Clock Cycle Time. We busted the myth that clock rate alone determines speed. We saw how Moore's Law drove decades of progress until the Power Wall forced the industry toward parallelism. We explored ILP, DLP, and TLP, and learned Amdahl's Law, which reminds us that the sequential part of a program limits how much parallelism can help. If you remember one formula, make it the CPU performance equation.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Great work today, everyone! Let's do a short quiz to check your understanding — this is not for grading, just to help you see what's solid and what needs review. Take about four minutes to answer these seven questions individually or with a neighbor. I'll give you a few minutes, then we'll go through the answers together.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through the answers together. Q1: (b), our core CPU performance equation. Q2: false — CPI matters just as much as clock rate. Q3: (c), SIMD is data-level parallelism. Q4: the Power Wall, caused by power rising with the cube of frequency. Q5: (c), the sequential fraction is the true bottleneck. Q6: true — that overlapping of stages is pipelining. Q7: instruction-level, data-level, and thread-level parallelism. If any felt tricky, please revisit those slides before our next class.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wrap up, please read the performance chapter from Hennessy and Patterson's textbook before our next session. I'll post a short assignment with three performance equation problems on the LMS. Next lecture, we'll move on to Instruction Set Architecture — a natural next step after today's discussion. Thank you all for your excellent participation today, especially during the icebreaker and the quiz. See you next class!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5.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33F"/>
          </a:solidFill>
          <a:ln/>
        </p:spPr>
        <p:txBody>
          <a:bodyPr/>
          <a:lstStyle/>
          <a:p>
            <a:endParaRPr/>
          </a:p>
        </p:txBody>
      </p:sp>
      <p:sp>
        <p:nvSpPr>
          <p:cNvPr id="3" name="Shape 1"/>
          <p:cNvSpPr/>
          <p:nvPr/>
        </p:nvSpPr>
        <p:spPr>
          <a:xfrm>
            <a:off x="9326880" y="-1371600"/>
            <a:ext cx="4572000" cy="4572000"/>
          </a:xfrm>
          <a:prstGeom prst="ellipse">
            <a:avLst/>
          </a:prstGeom>
          <a:solidFill>
            <a:srgbClr val="3B5A77">
              <a:alpha val="30000"/>
            </a:srgbClr>
          </a:solidFill>
          <a:ln/>
        </p:spPr>
        <p:txBody>
          <a:bodyPr/>
          <a:lstStyle/>
          <a:p>
            <a:endParaRPr/>
          </a:p>
        </p:txBody>
      </p:sp>
      <p:sp>
        <p:nvSpPr>
          <p:cNvPr id="4" name="Shape 2"/>
          <p:cNvSpPr/>
          <p:nvPr/>
        </p:nvSpPr>
        <p:spPr>
          <a:xfrm>
            <a:off x="-1371600" y="4754880"/>
            <a:ext cx="3657600" cy="3657600"/>
          </a:xfrm>
          <a:prstGeom prst="ellipse">
            <a:avLst/>
          </a:prstGeom>
          <a:solidFill>
            <a:srgbClr val="3B5A77">
              <a:alpha val="30000"/>
            </a:srgbClr>
          </a:solidFill>
          <a:ln/>
        </p:spPr>
        <p:txBody>
          <a:bodyPr/>
          <a:lstStyle/>
          <a:p>
            <a:endParaRPr/>
          </a:p>
        </p:txBody>
      </p:sp>
      <p:sp>
        <p:nvSpPr>
          <p:cNvPr id="5" name="Text 3"/>
          <p:cNvSpPr/>
          <p:nvPr/>
        </p:nvSpPr>
        <p:spPr>
          <a:xfrm>
            <a:off x="502920" y="548640"/>
            <a:ext cx="7315200" cy="365760"/>
          </a:xfrm>
          <a:prstGeom prst="rect">
            <a:avLst/>
          </a:prstGeom>
          <a:noFill/>
          <a:ln/>
        </p:spPr>
        <p:txBody>
          <a:bodyPr wrap="square" lIns="0" tIns="0" rIns="0" bIns="0" rtlCol="0" anchor="ctr"/>
          <a:lstStyle/>
          <a:p>
            <a:pPr marL="0" indent="0">
              <a:buNone/>
            </a:pPr>
            <a:r>
              <a:rPr lang="en-US" sz="1875" b="1" kern="0" spc="200" dirty="0">
                <a:solidFill>
                  <a:srgbClr val="2FD1C6"/>
                </a:solidFill>
                <a:latin typeface="Calibri" pitchFamily="34" charset="0"/>
                <a:ea typeface="Calibri" pitchFamily="34" charset="-122"/>
                <a:cs typeface="Calibri" pitchFamily="34" charset="-120"/>
              </a:rPr>
              <a:t>PRESIDENCY UNIVERSITY</a:t>
            </a:r>
            <a:endParaRPr lang="en-US" sz="1500" dirty="0"/>
          </a:p>
        </p:txBody>
      </p:sp>
      <p:sp>
        <p:nvSpPr>
          <p:cNvPr id="6" name="Text 4"/>
          <p:cNvSpPr/>
          <p:nvPr/>
        </p:nvSpPr>
        <p:spPr>
          <a:xfrm>
            <a:off x="502920" y="914400"/>
            <a:ext cx="8229600" cy="320040"/>
          </a:xfrm>
          <a:prstGeom prst="rect">
            <a:avLst/>
          </a:prstGeom>
          <a:noFill/>
          <a:ln/>
        </p:spPr>
        <p:txBody>
          <a:bodyPr wrap="square" lIns="0" tIns="0" rIns="0" bIns="0" rtlCol="0" anchor="ctr"/>
          <a:lstStyle/>
          <a:p>
            <a:pPr marL="0" indent="0">
              <a:buNone/>
            </a:pPr>
            <a:r>
              <a:rPr lang="en-US" sz="1625" dirty="0">
                <a:solidFill>
                  <a:srgbClr val="C7D3E3"/>
                </a:solidFill>
                <a:latin typeface="Calibri" pitchFamily="34" charset="0"/>
                <a:ea typeface="Calibri" pitchFamily="34" charset="-122"/>
                <a:cs typeface="Calibri" pitchFamily="34" charset="-120"/>
              </a:rPr>
              <a:t>School: PSAIAC   |   Department of AI and Robotics</a:t>
            </a:r>
            <a:endParaRPr lang="en-US" sz="1300" dirty="0"/>
          </a:p>
        </p:txBody>
      </p:sp>
      <p:sp>
        <p:nvSpPr>
          <p:cNvPr id="7" name="Text 5"/>
          <p:cNvSpPr/>
          <p:nvPr/>
        </p:nvSpPr>
        <p:spPr>
          <a:xfrm>
            <a:off x="502920" y="2194560"/>
            <a:ext cx="9875520" cy="173736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Performance, Processor Clock,</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Technology &amp; Parallelism</a:t>
            </a:r>
            <a:endParaRPr lang="en-US" sz="4400" dirty="0"/>
          </a:p>
        </p:txBody>
      </p:sp>
      <p:sp>
        <p:nvSpPr>
          <p:cNvPr id="8" name="Text 6"/>
          <p:cNvSpPr/>
          <p:nvPr/>
        </p:nvSpPr>
        <p:spPr>
          <a:xfrm>
            <a:off x="502920" y="3977640"/>
            <a:ext cx="8229600" cy="365760"/>
          </a:xfrm>
          <a:prstGeom prst="rect">
            <a:avLst/>
          </a:prstGeom>
          <a:noFill/>
          <a:ln/>
        </p:spPr>
        <p:txBody>
          <a:bodyPr wrap="square" lIns="0" tIns="0" rIns="0" bIns="0" rtlCol="0" anchor="ctr"/>
          <a:lstStyle/>
          <a:p>
            <a:pPr marL="0" indent="0">
              <a:buNone/>
            </a:pPr>
            <a:r>
              <a:rPr lang="en-US" sz="2000" dirty="0">
                <a:solidFill>
                  <a:srgbClr val="2FD1C6"/>
                </a:solidFill>
                <a:latin typeface="Calibri" pitchFamily="34" charset="0"/>
                <a:ea typeface="Calibri" pitchFamily="34" charset="-122"/>
                <a:cs typeface="Calibri" pitchFamily="34" charset="-120"/>
              </a:rPr>
              <a:t>CSS2257  |  Computer Organization and Architecture</a:t>
            </a:r>
            <a:endParaRPr lang="en-US" sz="1600" dirty="0"/>
          </a:p>
        </p:txBody>
      </p:sp>
      <p:sp>
        <p:nvSpPr>
          <p:cNvPr id="9" name="Shape 7"/>
          <p:cNvSpPr/>
          <p:nvPr/>
        </p:nvSpPr>
        <p:spPr>
          <a:xfrm>
            <a:off x="502920" y="4892040"/>
            <a:ext cx="566928" cy="566928"/>
          </a:xfrm>
          <a:prstGeom prst="ellipse">
            <a:avLst/>
          </a:prstGeom>
          <a:solidFill>
            <a:srgbClr val="2FD1C6"/>
          </a:solidFill>
          <a:ln/>
        </p:spPr>
        <p:txBody>
          <a:bodyPr/>
          <a:lstStyle/>
          <a:p>
            <a:endParaRPr/>
          </a:p>
        </p:txBody>
      </p:sp>
      <p:pic>
        <p:nvPicPr>
          <p:cNvPr id="10" name="Image 0" descr="/home/claude/coa_ppt/icons/graduationCap_navy.png"/>
          <p:cNvPicPr>
            <a:picLocks noChangeAspect="1"/>
          </p:cNvPicPr>
          <p:nvPr/>
        </p:nvPicPr>
        <p:blipFill>
          <a:blip r:embed="rId3"/>
          <a:stretch>
            <a:fillRect/>
          </a:stretch>
        </p:blipFill>
        <p:spPr>
          <a:xfrm>
            <a:off x="630936" y="5020056"/>
            <a:ext cx="310896" cy="310896"/>
          </a:xfrm>
          <a:prstGeom prst="rect">
            <a:avLst/>
          </a:prstGeom>
        </p:spPr>
      </p:pic>
      <p:sp>
        <p:nvSpPr>
          <p:cNvPr id="11" name="Text 8"/>
          <p:cNvSpPr/>
          <p:nvPr/>
        </p:nvSpPr>
        <p:spPr>
          <a:xfrm>
            <a:off x="1325880" y="4892040"/>
            <a:ext cx="5486400" cy="594360"/>
          </a:xfrm>
          <a:prstGeom prst="rect">
            <a:avLst/>
          </a:prstGeom>
          <a:noFill/>
          <a:ln/>
        </p:spPr>
        <p:txBody>
          <a:bodyPr wrap="square" lIns="0" tIns="0" rIns="0" bIns="0" rtlCol="0" anchor="t"/>
          <a:lstStyle/>
          <a:p>
            <a:pPr marL="0" indent="0">
              <a:buNone/>
            </a:pPr>
            <a:r>
              <a:rPr lang="en-US" sz="1875" b="1" dirty="0">
                <a:solidFill>
                  <a:srgbClr val="FFFFFF"/>
                </a:solidFill>
                <a:latin typeface="Calibri" pitchFamily="34" charset="0"/>
                <a:ea typeface="Calibri" pitchFamily="34" charset="-122"/>
                <a:cs typeface="Calibri" pitchFamily="34" charset="-120"/>
              </a:rPr>
              <a:t>D. Venkatesan
</a:t>
            </a:r>
            <a:endParaRPr lang="en-US" sz="1500" dirty="0"/>
          </a:p>
          <a:p>
            <a:pPr marL="0" indent="0">
              <a:buNone/>
            </a:pPr>
            <a:r>
              <a:rPr lang="en-US" sz="1500" dirty="0">
                <a:solidFill>
                  <a:srgbClr val="AEC0D6"/>
                </a:solidFill>
                <a:latin typeface="Calibri" pitchFamily="34" charset="0"/>
                <a:ea typeface="Calibri" pitchFamily="34" charset="-122"/>
                <a:cs typeface="Calibri" pitchFamily="34" charset="-120"/>
              </a:rPr>
              <a:t>Faculty, Department of AI and Robotics</a:t>
            </a:r>
            <a:endParaRPr lang="en-US" sz="1500" dirty="0"/>
          </a:p>
        </p:txBody>
      </p:sp>
      <p:sp>
        <p:nvSpPr>
          <p:cNvPr id="12" name="Text 9"/>
          <p:cNvSpPr/>
          <p:nvPr/>
        </p:nvSpPr>
        <p:spPr>
          <a:xfrm>
            <a:off x="502920" y="5989320"/>
            <a:ext cx="4572000" cy="274320"/>
          </a:xfrm>
          <a:prstGeom prst="rect">
            <a:avLst/>
          </a:prstGeom>
          <a:noFill/>
          <a:ln/>
        </p:spPr>
        <p:txBody>
          <a:bodyPr wrap="square" lIns="0" tIns="0" rIns="0" bIns="0" rtlCol="0" anchor="ctr"/>
          <a:lstStyle/>
          <a:p>
            <a:pPr marL="0" indent="0">
              <a:buNone/>
            </a:pPr>
            <a:r>
              <a:rPr lang="en-US" sz="1375" dirty="0">
                <a:solidFill>
                  <a:srgbClr val="8FA3BE"/>
                </a:solidFill>
                <a:latin typeface="Calibri" pitchFamily="34" charset="0"/>
                <a:ea typeface="Calibri" pitchFamily="34" charset="-122"/>
                <a:cs typeface="Calibri" pitchFamily="34" charset="-120"/>
              </a:rPr>
              <a:t>Semester: ___  |  Year: ______</a:t>
            </a:r>
            <a:endParaRPr lang="en-US" sz="1100" dirty="0"/>
          </a:p>
        </p:txBody>
      </p:sp>
      <p:sp>
        <p:nvSpPr>
          <p:cNvPr id="13" name="Text 10"/>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9FB3CC"/>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233F"/>
        </a:solidFill>
        <a:effectLst/>
      </p:bgPr>
    </p:bg>
    <p:spTree>
      <p:nvGrpSpPr>
        <p:cNvPr id="1" name=""/>
        <p:cNvGrpSpPr/>
        <p:nvPr/>
      </p:nvGrpSpPr>
      <p:grpSpPr>
        <a:xfrm>
          <a:off x="0" y="0"/>
          <a:ext cx="0" cy="0"/>
          <a:chOff x="0" y="0"/>
          <a:chExt cx="0" cy="0"/>
        </a:xfrm>
      </p:grpSpPr>
      <p:sp>
        <p:nvSpPr>
          <p:cNvPr id="2" name="Shape 0"/>
          <p:cNvSpPr/>
          <p:nvPr/>
        </p:nvSpPr>
        <p:spPr>
          <a:xfrm>
            <a:off x="5591556" y="914400"/>
            <a:ext cx="1005840" cy="1005840"/>
          </a:xfrm>
          <a:prstGeom prst="ellipse">
            <a:avLst/>
          </a:prstGeom>
          <a:solidFill>
            <a:srgbClr val="2FD1C6"/>
          </a:solidFill>
          <a:ln/>
        </p:spPr>
        <p:txBody>
          <a:bodyPr/>
          <a:lstStyle/>
          <a:p>
            <a:endParaRPr/>
          </a:p>
        </p:txBody>
      </p:sp>
      <p:pic>
        <p:nvPicPr>
          <p:cNvPr id="3" name="Image 0" descr="/home/claude/coa_ppt/icons/university_navy.png"/>
          <p:cNvPicPr>
            <a:picLocks noChangeAspect="1"/>
          </p:cNvPicPr>
          <p:nvPr/>
        </p:nvPicPr>
        <p:blipFill>
          <a:blip r:embed="rId3"/>
          <a:stretch>
            <a:fillRect/>
          </a:stretch>
        </p:blipFill>
        <p:spPr>
          <a:xfrm>
            <a:off x="5832958" y="1155802"/>
            <a:ext cx="523037" cy="523037"/>
          </a:xfrm>
          <a:prstGeom prst="rect">
            <a:avLst/>
          </a:prstGeom>
        </p:spPr>
      </p:pic>
      <p:sp>
        <p:nvSpPr>
          <p:cNvPr id="4" name="Text 1"/>
          <p:cNvSpPr/>
          <p:nvPr/>
        </p:nvSpPr>
        <p:spPr>
          <a:xfrm>
            <a:off x="0" y="2148840"/>
            <a:ext cx="12188952" cy="54864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Presidency University</a:t>
            </a:r>
            <a:endParaRPr lang="en-US" sz="3200" dirty="0"/>
          </a:p>
        </p:txBody>
      </p:sp>
      <p:sp>
        <p:nvSpPr>
          <p:cNvPr id="5" name="Text 2"/>
          <p:cNvSpPr/>
          <p:nvPr/>
        </p:nvSpPr>
        <p:spPr>
          <a:xfrm>
            <a:off x="0" y="2697480"/>
            <a:ext cx="12188952" cy="365760"/>
          </a:xfrm>
          <a:prstGeom prst="rect">
            <a:avLst/>
          </a:prstGeom>
          <a:noFill/>
          <a:ln/>
        </p:spPr>
        <p:txBody>
          <a:bodyPr wrap="square" lIns="0" tIns="0" rIns="0" bIns="0" rtlCol="0" anchor="ctr"/>
          <a:lstStyle/>
          <a:p>
            <a:pPr marL="0" indent="0" algn="ctr">
              <a:buNone/>
            </a:pPr>
            <a:r>
              <a:rPr lang="en-US" sz="2000" dirty="0">
                <a:solidFill>
                  <a:srgbClr val="2FD1C6"/>
                </a:solidFill>
                <a:latin typeface="Calibri" pitchFamily="34" charset="0"/>
                <a:ea typeface="Calibri" pitchFamily="34" charset="-122"/>
                <a:cs typeface="Calibri" pitchFamily="34" charset="-120"/>
              </a:rPr>
              <a:t>School: PSAIAC</a:t>
            </a:r>
            <a:endParaRPr lang="en-US" sz="1600" dirty="0"/>
          </a:p>
        </p:txBody>
      </p:sp>
      <p:sp>
        <p:nvSpPr>
          <p:cNvPr id="6" name="Text 3"/>
          <p:cNvSpPr/>
          <p:nvPr/>
        </p:nvSpPr>
        <p:spPr>
          <a:xfrm>
            <a:off x="0" y="3063240"/>
            <a:ext cx="12188952" cy="365760"/>
          </a:xfrm>
          <a:prstGeom prst="rect">
            <a:avLst/>
          </a:prstGeom>
          <a:noFill/>
          <a:ln/>
        </p:spPr>
        <p:txBody>
          <a:bodyPr wrap="square" lIns="0" tIns="0" rIns="0" bIns="0" rtlCol="0" anchor="ctr"/>
          <a:lstStyle/>
          <a:p>
            <a:pPr marL="0" indent="0" algn="ctr">
              <a:buNone/>
            </a:pPr>
            <a:r>
              <a:rPr lang="en-US" sz="2000" dirty="0">
                <a:solidFill>
                  <a:srgbClr val="2FD1C6"/>
                </a:solidFill>
                <a:latin typeface="Calibri" pitchFamily="34" charset="0"/>
                <a:ea typeface="Calibri" pitchFamily="34" charset="-122"/>
                <a:cs typeface="Calibri" pitchFamily="34" charset="-120"/>
              </a:rPr>
              <a:t>Department of AI and Robotics</a:t>
            </a:r>
            <a:endParaRPr lang="en-US" sz="1600" dirty="0"/>
          </a:p>
        </p:txBody>
      </p:sp>
      <p:sp>
        <p:nvSpPr>
          <p:cNvPr id="7" name="Text 4"/>
          <p:cNvSpPr/>
          <p:nvPr/>
        </p:nvSpPr>
        <p:spPr>
          <a:xfrm>
            <a:off x="0" y="3840480"/>
            <a:ext cx="12188952" cy="365760"/>
          </a:xfrm>
          <a:prstGeom prst="rect">
            <a:avLst/>
          </a:prstGeom>
          <a:noFill/>
          <a:ln/>
        </p:spPr>
        <p:txBody>
          <a:bodyPr wrap="square" lIns="0" tIns="0" rIns="0" bIns="0" rtlCol="0" anchor="ctr"/>
          <a:lstStyle/>
          <a:p>
            <a:pPr marL="0" indent="0" algn="ctr">
              <a:buNone/>
            </a:pPr>
            <a:r>
              <a:rPr lang="en-US" sz="1750" i="1" dirty="0">
                <a:solidFill>
                  <a:srgbClr val="AEC0D6"/>
                </a:solidFill>
                <a:latin typeface="Cambria" pitchFamily="34" charset="0"/>
                <a:ea typeface="Cambria" pitchFamily="34" charset="-122"/>
                <a:cs typeface="Cambria" pitchFamily="34" charset="-120"/>
              </a:rPr>
              <a:t>“Engineering Tomorrow's Intelligent Systems”</a:t>
            </a:r>
            <a:endParaRPr lang="en-US" sz="1400" dirty="0"/>
          </a:p>
        </p:txBody>
      </p:sp>
      <p:sp>
        <p:nvSpPr>
          <p:cNvPr id="8" name="Text 5"/>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9FB3CC"/>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GETTING ORIENTED</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Learning Objectives</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bullseye_navy.png"/>
          <p:cNvPicPr>
            <a:picLocks noChangeAspect="1"/>
          </p:cNvPicPr>
          <p:nvPr/>
        </p:nvPicPr>
        <p:blipFill>
          <a:blip r:embed="rId3"/>
          <a:stretch>
            <a:fillRect/>
          </a:stretch>
        </p:blipFill>
        <p:spPr>
          <a:xfrm>
            <a:off x="11162995" y="665683"/>
            <a:ext cx="451714" cy="451714"/>
          </a:xfrm>
          <a:prstGeom prst="rect">
            <a:avLst/>
          </a:prstGeom>
        </p:spPr>
      </p:pic>
      <p:sp>
        <p:nvSpPr>
          <p:cNvPr id="6" name="Shape 3"/>
          <p:cNvSpPr/>
          <p:nvPr/>
        </p:nvSpPr>
        <p:spPr>
          <a:xfrm>
            <a:off x="502920" y="1828800"/>
            <a:ext cx="5349240" cy="1188720"/>
          </a:xfrm>
          <a:prstGeom prst="roundRect">
            <a:avLst>
              <a:gd name="adj" fmla="val 7692"/>
            </a:avLst>
          </a:prstGeom>
          <a:solidFill>
            <a:srgbClr val="E9EEF5"/>
          </a:solidFill>
          <a:ln/>
        </p:spPr>
        <p:txBody>
          <a:bodyPr/>
          <a:lstStyle/>
          <a:p>
            <a:endParaRPr/>
          </a:p>
        </p:txBody>
      </p:sp>
      <p:sp>
        <p:nvSpPr>
          <p:cNvPr id="7" name="Shape 4"/>
          <p:cNvSpPr/>
          <p:nvPr/>
        </p:nvSpPr>
        <p:spPr>
          <a:xfrm>
            <a:off x="731520" y="2240280"/>
            <a:ext cx="365760" cy="365760"/>
          </a:xfrm>
          <a:prstGeom prst="ellipse">
            <a:avLst/>
          </a:prstGeom>
          <a:solidFill>
            <a:srgbClr val="3B5A77"/>
          </a:solidFill>
          <a:ln/>
        </p:spPr>
        <p:txBody>
          <a:bodyPr/>
          <a:lstStyle/>
          <a:p>
            <a:endParaRPr/>
          </a:p>
        </p:txBody>
      </p:sp>
      <p:sp>
        <p:nvSpPr>
          <p:cNvPr id="8" name="Text 5"/>
          <p:cNvSpPr/>
          <p:nvPr/>
        </p:nvSpPr>
        <p:spPr>
          <a:xfrm>
            <a:off x="731520" y="2240280"/>
            <a:ext cx="365760" cy="36576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p:nvPr/>
        </p:nvSpPr>
        <p:spPr>
          <a:xfrm>
            <a:off x="1280160" y="1965960"/>
            <a:ext cx="4389120" cy="914400"/>
          </a:xfrm>
          <a:prstGeom prst="rect">
            <a:avLst/>
          </a:prstGeom>
          <a:noFill/>
          <a:ln/>
        </p:spPr>
        <p:txBody>
          <a:bodyPr wrap="square" lIns="0" tIns="0" rIns="0" bIns="0" rtlCol="0" anchor="ctr"/>
          <a:lstStyle/>
          <a:p>
            <a:pPr marL="0" indent="0">
              <a:buNone/>
            </a:pPr>
            <a:r>
              <a:rPr lang="en-US" sz="1687" dirty="0">
                <a:solidFill>
                  <a:srgbClr val="16233F"/>
                </a:solidFill>
                <a:latin typeface="Calibri" pitchFamily="34" charset="0"/>
                <a:ea typeface="Calibri" pitchFamily="34" charset="-122"/>
                <a:cs typeface="Calibri" pitchFamily="34" charset="-120"/>
              </a:rPr>
              <a:t>Understand what “performance” means in computing</a:t>
            </a:r>
            <a:endParaRPr lang="en-US" sz="1350" dirty="0"/>
          </a:p>
        </p:txBody>
      </p:sp>
      <p:sp>
        <p:nvSpPr>
          <p:cNvPr id="10" name="Shape 7"/>
          <p:cNvSpPr/>
          <p:nvPr/>
        </p:nvSpPr>
        <p:spPr>
          <a:xfrm>
            <a:off x="6126480" y="1828800"/>
            <a:ext cx="5349240" cy="1188720"/>
          </a:xfrm>
          <a:prstGeom prst="roundRect">
            <a:avLst>
              <a:gd name="adj" fmla="val 7692"/>
            </a:avLst>
          </a:prstGeom>
          <a:solidFill>
            <a:srgbClr val="E9EEF5"/>
          </a:solidFill>
          <a:ln/>
        </p:spPr>
        <p:txBody>
          <a:bodyPr/>
          <a:lstStyle/>
          <a:p>
            <a:endParaRPr/>
          </a:p>
        </p:txBody>
      </p:sp>
      <p:sp>
        <p:nvSpPr>
          <p:cNvPr id="11" name="Shape 8"/>
          <p:cNvSpPr/>
          <p:nvPr/>
        </p:nvSpPr>
        <p:spPr>
          <a:xfrm>
            <a:off x="6355080" y="2240280"/>
            <a:ext cx="365760" cy="365760"/>
          </a:xfrm>
          <a:prstGeom prst="ellipse">
            <a:avLst/>
          </a:prstGeom>
          <a:solidFill>
            <a:srgbClr val="3B5A77"/>
          </a:solidFill>
          <a:ln/>
        </p:spPr>
        <p:txBody>
          <a:bodyPr/>
          <a:lstStyle/>
          <a:p>
            <a:endParaRPr/>
          </a:p>
        </p:txBody>
      </p:sp>
      <p:sp>
        <p:nvSpPr>
          <p:cNvPr id="12" name="Text 9"/>
          <p:cNvSpPr/>
          <p:nvPr/>
        </p:nvSpPr>
        <p:spPr>
          <a:xfrm>
            <a:off x="6355080" y="2240280"/>
            <a:ext cx="365760" cy="36576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p:nvPr/>
        </p:nvSpPr>
        <p:spPr>
          <a:xfrm>
            <a:off x="6903720" y="1965960"/>
            <a:ext cx="4389120" cy="914400"/>
          </a:xfrm>
          <a:prstGeom prst="rect">
            <a:avLst/>
          </a:prstGeom>
          <a:noFill/>
          <a:ln/>
        </p:spPr>
        <p:txBody>
          <a:bodyPr wrap="square" lIns="0" tIns="0" rIns="0" bIns="0" rtlCol="0" anchor="ctr"/>
          <a:lstStyle/>
          <a:p>
            <a:pPr marL="0" indent="0">
              <a:buNone/>
            </a:pPr>
            <a:r>
              <a:rPr lang="en-US" sz="1687" dirty="0">
                <a:solidFill>
                  <a:srgbClr val="16233F"/>
                </a:solidFill>
                <a:latin typeface="Calibri" pitchFamily="34" charset="0"/>
                <a:ea typeface="Calibri" pitchFamily="34" charset="-122"/>
                <a:cs typeface="Calibri" pitchFamily="34" charset="-120"/>
              </a:rPr>
              <a:t>Learn how processor clock speed is defined and measured</a:t>
            </a:r>
            <a:endParaRPr lang="en-US" sz="1350" dirty="0"/>
          </a:p>
        </p:txBody>
      </p:sp>
      <p:sp>
        <p:nvSpPr>
          <p:cNvPr id="14" name="Shape 11"/>
          <p:cNvSpPr/>
          <p:nvPr/>
        </p:nvSpPr>
        <p:spPr>
          <a:xfrm>
            <a:off x="502920" y="3246120"/>
            <a:ext cx="5349240" cy="1188720"/>
          </a:xfrm>
          <a:prstGeom prst="roundRect">
            <a:avLst>
              <a:gd name="adj" fmla="val 7692"/>
            </a:avLst>
          </a:prstGeom>
          <a:solidFill>
            <a:srgbClr val="E9EEF5"/>
          </a:solidFill>
          <a:ln/>
        </p:spPr>
        <p:txBody>
          <a:bodyPr/>
          <a:lstStyle/>
          <a:p>
            <a:endParaRPr/>
          </a:p>
        </p:txBody>
      </p:sp>
      <p:sp>
        <p:nvSpPr>
          <p:cNvPr id="15" name="Shape 12"/>
          <p:cNvSpPr/>
          <p:nvPr/>
        </p:nvSpPr>
        <p:spPr>
          <a:xfrm>
            <a:off x="731520" y="3657600"/>
            <a:ext cx="365760" cy="365760"/>
          </a:xfrm>
          <a:prstGeom prst="ellipse">
            <a:avLst/>
          </a:prstGeom>
          <a:solidFill>
            <a:srgbClr val="3B5A77"/>
          </a:solidFill>
          <a:ln/>
        </p:spPr>
        <p:txBody>
          <a:bodyPr/>
          <a:lstStyle/>
          <a:p>
            <a:endParaRPr/>
          </a:p>
        </p:txBody>
      </p:sp>
      <p:sp>
        <p:nvSpPr>
          <p:cNvPr id="16" name="Text 13"/>
          <p:cNvSpPr/>
          <p:nvPr/>
        </p:nvSpPr>
        <p:spPr>
          <a:xfrm>
            <a:off x="731520" y="3657600"/>
            <a:ext cx="365760" cy="36576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p:nvPr/>
        </p:nvSpPr>
        <p:spPr>
          <a:xfrm>
            <a:off x="1280160" y="3383280"/>
            <a:ext cx="4389120" cy="914400"/>
          </a:xfrm>
          <a:prstGeom prst="rect">
            <a:avLst/>
          </a:prstGeom>
          <a:noFill/>
          <a:ln/>
        </p:spPr>
        <p:txBody>
          <a:bodyPr wrap="square" lIns="0" tIns="0" rIns="0" bIns="0" rtlCol="0" anchor="ctr"/>
          <a:lstStyle/>
          <a:p>
            <a:pPr marL="0" indent="0">
              <a:buNone/>
            </a:pPr>
            <a:r>
              <a:rPr lang="en-US" sz="1687" dirty="0">
                <a:solidFill>
                  <a:srgbClr val="16233F"/>
                </a:solidFill>
                <a:latin typeface="Calibri" pitchFamily="34" charset="0"/>
                <a:ea typeface="Calibri" pitchFamily="34" charset="-122"/>
                <a:cs typeface="Calibri" pitchFamily="34" charset="-120"/>
              </a:rPr>
              <a:t>Understand the CPU performance equation</a:t>
            </a:r>
            <a:endParaRPr lang="en-US" sz="1350" dirty="0"/>
          </a:p>
        </p:txBody>
      </p:sp>
      <p:sp>
        <p:nvSpPr>
          <p:cNvPr id="18" name="Shape 15"/>
          <p:cNvSpPr/>
          <p:nvPr/>
        </p:nvSpPr>
        <p:spPr>
          <a:xfrm>
            <a:off x="6126480" y="3246120"/>
            <a:ext cx="5349240" cy="1188720"/>
          </a:xfrm>
          <a:prstGeom prst="roundRect">
            <a:avLst>
              <a:gd name="adj" fmla="val 7692"/>
            </a:avLst>
          </a:prstGeom>
          <a:solidFill>
            <a:srgbClr val="E9EEF5"/>
          </a:solidFill>
          <a:ln/>
        </p:spPr>
        <p:txBody>
          <a:bodyPr/>
          <a:lstStyle/>
          <a:p>
            <a:endParaRPr/>
          </a:p>
        </p:txBody>
      </p:sp>
      <p:sp>
        <p:nvSpPr>
          <p:cNvPr id="19" name="Shape 16"/>
          <p:cNvSpPr/>
          <p:nvPr/>
        </p:nvSpPr>
        <p:spPr>
          <a:xfrm>
            <a:off x="6355080" y="3657600"/>
            <a:ext cx="365760" cy="365760"/>
          </a:xfrm>
          <a:prstGeom prst="ellipse">
            <a:avLst/>
          </a:prstGeom>
          <a:solidFill>
            <a:srgbClr val="3B5A77"/>
          </a:solidFill>
          <a:ln/>
        </p:spPr>
        <p:txBody>
          <a:bodyPr/>
          <a:lstStyle/>
          <a:p>
            <a:endParaRPr/>
          </a:p>
        </p:txBody>
      </p:sp>
      <p:sp>
        <p:nvSpPr>
          <p:cNvPr id="20" name="Text 17"/>
          <p:cNvSpPr/>
          <p:nvPr/>
        </p:nvSpPr>
        <p:spPr>
          <a:xfrm>
            <a:off x="6355080" y="3657600"/>
            <a:ext cx="365760" cy="36576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8"/>
          <p:cNvSpPr/>
          <p:nvPr/>
        </p:nvSpPr>
        <p:spPr>
          <a:xfrm>
            <a:off x="6903720" y="3383280"/>
            <a:ext cx="4389120" cy="914400"/>
          </a:xfrm>
          <a:prstGeom prst="rect">
            <a:avLst/>
          </a:prstGeom>
          <a:noFill/>
          <a:ln/>
        </p:spPr>
        <p:txBody>
          <a:bodyPr wrap="square" lIns="0" tIns="0" rIns="0" bIns="0" rtlCol="0" anchor="ctr"/>
          <a:lstStyle/>
          <a:p>
            <a:pPr marL="0" indent="0">
              <a:buNone/>
            </a:pPr>
            <a:r>
              <a:rPr lang="en-US" sz="1687" dirty="0">
                <a:solidFill>
                  <a:srgbClr val="16233F"/>
                </a:solidFill>
                <a:latin typeface="Calibri" pitchFamily="34" charset="0"/>
                <a:ea typeface="Calibri" pitchFamily="34" charset="-122"/>
                <a:cs typeface="Calibri" pitchFamily="34" charset="-120"/>
              </a:rPr>
              <a:t>Explore how technology scaling has driven processor evolution</a:t>
            </a:r>
            <a:endParaRPr lang="en-US" sz="1350" dirty="0"/>
          </a:p>
        </p:txBody>
      </p:sp>
      <p:sp>
        <p:nvSpPr>
          <p:cNvPr id="22" name="Shape 19"/>
          <p:cNvSpPr/>
          <p:nvPr/>
        </p:nvSpPr>
        <p:spPr>
          <a:xfrm>
            <a:off x="502920" y="4663440"/>
            <a:ext cx="5349240" cy="1188720"/>
          </a:xfrm>
          <a:prstGeom prst="roundRect">
            <a:avLst>
              <a:gd name="adj" fmla="val 7692"/>
            </a:avLst>
          </a:prstGeom>
          <a:solidFill>
            <a:srgbClr val="E9EEF5"/>
          </a:solidFill>
          <a:ln/>
        </p:spPr>
        <p:txBody>
          <a:bodyPr/>
          <a:lstStyle/>
          <a:p>
            <a:endParaRPr/>
          </a:p>
        </p:txBody>
      </p:sp>
      <p:sp>
        <p:nvSpPr>
          <p:cNvPr id="23" name="Shape 20"/>
          <p:cNvSpPr/>
          <p:nvPr/>
        </p:nvSpPr>
        <p:spPr>
          <a:xfrm>
            <a:off x="731520" y="5074920"/>
            <a:ext cx="365760" cy="365760"/>
          </a:xfrm>
          <a:prstGeom prst="ellipse">
            <a:avLst/>
          </a:prstGeom>
          <a:solidFill>
            <a:srgbClr val="3B5A77"/>
          </a:solidFill>
          <a:ln/>
        </p:spPr>
        <p:txBody>
          <a:bodyPr/>
          <a:lstStyle/>
          <a:p>
            <a:endParaRPr/>
          </a:p>
        </p:txBody>
      </p:sp>
      <p:sp>
        <p:nvSpPr>
          <p:cNvPr id="24" name="Text 21"/>
          <p:cNvSpPr/>
          <p:nvPr/>
        </p:nvSpPr>
        <p:spPr>
          <a:xfrm>
            <a:off x="731520" y="5074920"/>
            <a:ext cx="365760" cy="36576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5</a:t>
            </a:r>
            <a:endParaRPr lang="en-US" sz="1400" dirty="0"/>
          </a:p>
        </p:txBody>
      </p:sp>
      <p:sp>
        <p:nvSpPr>
          <p:cNvPr id="25" name="Text 22"/>
          <p:cNvSpPr/>
          <p:nvPr/>
        </p:nvSpPr>
        <p:spPr>
          <a:xfrm>
            <a:off x="1280160" y="4800600"/>
            <a:ext cx="4389120" cy="914400"/>
          </a:xfrm>
          <a:prstGeom prst="rect">
            <a:avLst/>
          </a:prstGeom>
          <a:noFill/>
          <a:ln/>
        </p:spPr>
        <p:txBody>
          <a:bodyPr wrap="square" lIns="0" tIns="0" rIns="0" bIns="0" rtlCol="0" anchor="ctr"/>
          <a:lstStyle/>
          <a:p>
            <a:pPr marL="0" indent="0">
              <a:buNone/>
            </a:pPr>
            <a:r>
              <a:rPr lang="en-US" sz="1687" dirty="0">
                <a:solidFill>
                  <a:srgbClr val="16233F"/>
                </a:solidFill>
                <a:latin typeface="Calibri" pitchFamily="34" charset="0"/>
                <a:ea typeface="Calibri" pitchFamily="34" charset="-122"/>
                <a:cs typeface="Calibri" pitchFamily="34" charset="-120"/>
              </a:rPr>
              <a:t>Understand different types of parallelism and why they matter</a:t>
            </a:r>
            <a:endParaRPr lang="en-US" sz="1350" dirty="0"/>
          </a:p>
        </p:txBody>
      </p:sp>
      <p:sp>
        <p:nvSpPr>
          <p:cNvPr id="26" name="Shape 23"/>
          <p:cNvSpPr/>
          <p:nvPr/>
        </p:nvSpPr>
        <p:spPr>
          <a:xfrm>
            <a:off x="6126480" y="4663440"/>
            <a:ext cx="5349240" cy="1188720"/>
          </a:xfrm>
          <a:prstGeom prst="roundRect">
            <a:avLst>
              <a:gd name="adj" fmla="val 7692"/>
            </a:avLst>
          </a:prstGeom>
          <a:solidFill>
            <a:srgbClr val="E9EEF5"/>
          </a:solidFill>
          <a:ln/>
        </p:spPr>
        <p:txBody>
          <a:bodyPr/>
          <a:lstStyle/>
          <a:p>
            <a:endParaRPr/>
          </a:p>
        </p:txBody>
      </p:sp>
      <p:sp>
        <p:nvSpPr>
          <p:cNvPr id="27" name="Shape 24"/>
          <p:cNvSpPr/>
          <p:nvPr/>
        </p:nvSpPr>
        <p:spPr>
          <a:xfrm>
            <a:off x="6355080" y="5074920"/>
            <a:ext cx="365760" cy="365760"/>
          </a:xfrm>
          <a:prstGeom prst="ellipse">
            <a:avLst/>
          </a:prstGeom>
          <a:solidFill>
            <a:srgbClr val="3B5A77"/>
          </a:solidFill>
          <a:ln/>
        </p:spPr>
        <p:txBody>
          <a:bodyPr/>
          <a:lstStyle/>
          <a:p>
            <a:endParaRPr/>
          </a:p>
        </p:txBody>
      </p:sp>
      <p:sp>
        <p:nvSpPr>
          <p:cNvPr id="28" name="Text 25"/>
          <p:cNvSpPr/>
          <p:nvPr/>
        </p:nvSpPr>
        <p:spPr>
          <a:xfrm>
            <a:off x="6355080" y="5074920"/>
            <a:ext cx="365760" cy="36576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6</a:t>
            </a:r>
            <a:endParaRPr lang="en-US" sz="1400" dirty="0"/>
          </a:p>
        </p:txBody>
      </p:sp>
      <p:sp>
        <p:nvSpPr>
          <p:cNvPr id="29" name="Text 26"/>
          <p:cNvSpPr/>
          <p:nvPr/>
        </p:nvSpPr>
        <p:spPr>
          <a:xfrm>
            <a:off x="6903720" y="4800600"/>
            <a:ext cx="4389120" cy="914400"/>
          </a:xfrm>
          <a:prstGeom prst="rect">
            <a:avLst/>
          </a:prstGeom>
          <a:noFill/>
          <a:ln/>
        </p:spPr>
        <p:txBody>
          <a:bodyPr wrap="square" lIns="0" tIns="0" rIns="0" bIns="0" rtlCol="0" anchor="ctr"/>
          <a:lstStyle/>
          <a:p>
            <a:pPr marL="0" indent="0">
              <a:buNone/>
            </a:pPr>
            <a:r>
              <a:rPr lang="en-US" sz="1687" dirty="0">
                <a:solidFill>
                  <a:srgbClr val="16233F"/>
                </a:solidFill>
                <a:latin typeface="Calibri" pitchFamily="34" charset="0"/>
                <a:ea typeface="Calibri" pitchFamily="34" charset="-122"/>
                <a:cs typeface="Calibri" pitchFamily="34" charset="-120"/>
              </a:rPr>
              <a:t>Apply Amdahl's Law to real problems</a:t>
            </a:r>
            <a:endParaRPr lang="en-US" sz="1350" dirty="0"/>
          </a:p>
        </p:txBody>
      </p:sp>
      <p:sp>
        <p:nvSpPr>
          <p:cNvPr id="30" name="Text 27"/>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ICEBREAKER</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Let's Warm Up!</a:t>
            </a:r>
            <a:endParaRPr lang="en-US" sz="3000" dirty="0"/>
          </a:p>
        </p:txBody>
      </p:sp>
      <p:sp>
        <p:nvSpPr>
          <p:cNvPr id="4" name="Shape 2"/>
          <p:cNvSpPr/>
          <p:nvPr/>
        </p:nvSpPr>
        <p:spPr>
          <a:xfrm>
            <a:off x="10954512" y="457200"/>
            <a:ext cx="868680" cy="868680"/>
          </a:xfrm>
          <a:prstGeom prst="ellipse">
            <a:avLst/>
          </a:prstGeom>
          <a:solidFill>
            <a:srgbClr val="E8A33D"/>
          </a:solidFill>
          <a:ln/>
        </p:spPr>
        <p:txBody>
          <a:bodyPr/>
          <a:lstStyle/>
          <a:p>
            <a:endParaRPr/>
          </a:p>
        </p:txBody>
      </p:sp>
      <p:pic>
        <p:nvPicPr>
          <p:cNvPr id="5" name="Image 0" descr="/home/claude/coa_ppt/icons/comments_navy.png"/>
          <p:cNvPicPr>
            <a:picLocks noChangeAspect="1"/>
          </p:cNvPicPr>
          <p:nvPr/>
        </p:nvPicPr>
        <p:blipFill>
          <a:blip r:embed="rId3"/>
          <a:stretch>
            <a:fillRect/>
          </a:stretch>
        </p:blipFill>
        <p:spPr>
          <a:xfrm>
            <a:off x="11162995" y="665683"/>
            <a:ext cx="451714" cy="451714"/>
          </a:xfrm>
          <a:prstGeom prst="rect">
            <a:avLst/>
          </a:prstGeom>
        </p:spPr>
      </p:pic>
      <p:sp>
        <p:nvSpPr>
          <p:cNvPr id="6" name="Shape 3"/>
          <p:cNvSpPr/>
          <p:nvPr/>
        </p:nvSpPr>
        <p:spPr>
          <a:xfrm>
            <a:off x="502920" y="1783080"/>
            <a:ext cx="11155680" cy="1188720"/>
          </a:xfrm>
          <a:prstGeom prst="roundRect">
            <a:avLst>
              <a:gd name="adj" fmla="val 7692"/>
            </a:avLst>
          </a:prstGeom>
          <a:solidFill>
            <a:srgbClr val="E9EEF5"/>
          </a:solidFill>
          <a:ln/>
        </p:spPr>
        <p:txBody>
          <a:bodyPr/>
          <a:lstStyle/>
          <a:p>
            <a:endParaRPr/>
          </a:p>
        </p:txBody>
      </p:sp>
      <p:sp>
        <p:nvSpPr>
          <p:cNvPr id="7" name="Shape 4"/>
          <p:cNvSpPr/>
          <p:nvPr/>
        </p:nvSpPr>
        <p:spPr>
          <a:xfrm>
            <a:off x="731520" y="2103120"/>
            <a:ext cx="548640" cy="548640"/>
          </a:xfrm>
          <a:prstGeom prst="ellipse">
            <a:avLst/>
          </a:prstGeom>
          <a:solidFill>
            <a:srgbClr val="E8A33D"/>
          </a:solidFill>
          <a:ln/>
        </p:spPr>
        <p:txBody>
          <a:bodyPr/>
          <a:lstStyle/>
          <a:p>
            <a:endParaRPr/>
          </a:p>
        </p:txBody>
      </p:sp>
      <p:sp>
        <p:nvSpPr>
          <p:cNvPr id="8" name="Text 5"/>
          <p:cNvSpPr/>
          <p:nvPr/>
        </p:nvSpPr>
        <p:spPr>
          <a:xfrm>
            <a:off x="731520" y="2103120"/>
            <a:ext cx="548640" cy="54864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Q1</a:t>
            </a:r>
            <a:endParaRPr lang="en-US" sz="1400" dirty="0"/>
          </a:p>
        </p:txBody>
      </p:sp>
      <p:sp>
        <p:nvSpPr>
          <p:cNvPr id="9" name="Text 6"/>
          <p:cNvSpPr/>
          <p:nvPr/>
        </p:nvSpPr>
        <p:spPr>
          <a:xfrm>
            <a:off x="1508760" y="1920240"/>
            <a:ext cx="9875520" cy="914400"/>
          </a:xfrm>
          <a:prstGeom prst="rect">
            <a:avLst/>
          </a:prstGeom>
          <a:noFill/>
          <a:ln/>
        </p:spPr>
        <p:txBody>
          <a:bodyPr wrap="square" lIns="0" tIns="0" rIns="0" bIns="0" rtlCol="0" anchor="ctr"/>
          <a:lstStyle/>
          <a:p>
            <a:pPr marL="0" indent="0">
              <a:buNone/>
            </a:pPr>
            <a:r>
              <a:rPr lang="en-US" sz="2000" dirty="0">
                <a:solidFill>
                  <a:srgbClr val="16233F"/>
                </a:solidFill>
                <a:latin typeface="Calibri" pitchFamily="34" charset="0"/>
                <a:ea typeface="Calibri" pitchFamily="34" charset="-122"/>
                <a:cs typeface="Calibri" pitchFamily="34" charset="-120"/>
              </a:rPr>
              <a:t>When you buy a laptop or phone, what specs do you check first?</a:t>
            </a:r>
            <a:endParaRPr lang="en-US" sz="1600" dirty="0"/>
          </a:p>
        </p:txBody>
      </p:sp>
      <p:sp>
        <p:nvSpPr>
          <p:cNvPr id="10" name="Shape 7"/>
          <p:cNvSpPr/>
          <p:nvPr/>
        </p:nvSpPr>
        <p:spPr>
          <a:xfrm>
            <a:off x="502920" y="3200400"/>
            <a:ext cx="11155680" cy="1188720"/>
          </a:xfrm>
          <a:prstGeom prst="roundRect">
            <a:avLst>
              <a:gd name="adj" fmla="val 7692"/>
            </a:avLst>
          </a:prstGeom>
          <a:solidFill>
            <a:srgbClr val="E9EEF5"/>
          </a:solidFill>
          <a:ln/>
        </p:spPr>
        <p:txBody>
          <a:bodyPr/>
          <a:lstStyle/>
          <a:p>
            <a:endParaRPr/>
          </a:p>
        </p:txBody>
      </p:sp>
      <p:sp>
        <p:nvSpPr>
          <p:cNvPr id="11" name="Shape 8"/>
          <p:cNvSpPr/>
          <p:nvPr/>
        </p:nvSpPr>
        <p:spPr>
          <a:xfrm>
            <a:off x="731520" y="3520440"/>
            <a:ext cx="548640" cy="548640"/>
          </a:xfrm>
          <a:prstGeom prst="ellipse">
            <a:avLst/>
          </a:prstGeom>
          <a:solidFill>
            <a:srgbClr val="E8A33D"/>
          </a:solidFill>
          <a:ln/>
        </p:spPr>
        <p:txBody>
          <a:bodyPr/>
          <a:lstStyle/>
          <a:p>
            <a:endParaRPr/>
          </a:p>
        </p:txBody>
      </p:sp>
      <p:sp>
        <p:nvSpPr>
          <p:cNvPr id="12" name="Text 9"/>
          <p:cNvSpPr/>
          <p:nvPr/>
        </p:nvSpPr>
        <p:spPr>
          <a:xfrm>
            <a:off x="731520" y="3520440"/>
            <a:ext cx="548640" cy="54864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Q2</a:t>
            </a:r>
            <a:endParaRPr lang="en-US" sz="1400" dirty="0"/>
          </a:p>
        </p:txBody>
      </p:sp>
      <p:sp>
        <p:nvSpPr>
          <p:cNvPr id="13" name="Text 10"/>
          <p:cNvSpPr/>
          <p:nvPr/>
        </p:nvSpPr>
        <p:spPr>
          <a:xfrm>
            <a:off x="1508760" y="3337560"/>
            <a:ext cx="9875520" cy="914400"/>
          </a:xfrm>
          <a:prstGeom prst="rect">
            <a:avLst/>
          </a:prstGeom>
          <a:noFill/>
          <a:ln/>
        </p:spPr>
        <p:txBody>
          <a:bodyPr wrap="square" lIns="0" tIns="0" rIns="0" bIns="0" rtlCol="0" anchor="ctr"/>
          <a:lstStyle/>
          <a:p>
            <a:pPr marL="0" indent="0">
              <a:buNone/>
            </a:pPr>
            <a:r>
              <a:rPr lang="en-US" sz="2000" dirty="0">
                <a:solidFill>
                  <a:srgbClr val="16233F"/>
                </a:solidFill>
                <a:latin typeface="Calibri" pitchFamily="34" charset="0"/>
                <a:ea typeface="Calibri" pitchFamily="34" charset="-122"/>
                <a:cs typeface="Calibri" pitchFamily="34" charset="-120"/>
              </a:rPr>
              <a:t>Have you ever heard someone say “this processor is 3 GHz”? What do you think that means?</a:t>
            </a:r>
            <a:endParaRPr lang="en-US" sz="1600" dirty="0"/>
          </a:p>
        </p:txBody>
      </p:sp>
      <p:sp>
        <p:nvSpPr>
          <p:cNvPr id="14" name="Shape 11"/>
          <p:cNvSpPr/>
          <p:nvPr/>
        </p:nvSpPr>
        <p:spPr>
          <a:xfrm>
            <a:off x="502920" y="4617720"/>
            <a:ext cx="11155680" cy="1188720"/>
          </a:xfrm>
          <a:prstGeom prst="roundRect">
            <a:avLst>
              <a:gd name="adj" fmla="val 7692"/>
            </a:avLst>
          </a:prstGeom>
          <a:solidFill>
            <a:srgbClr val="E9EEF5"/>
          </a:solidFill>
          <a:ln/>
        </p:spPr>
        <p:txBody>
          <a:bodyPr/>
          <a:lstStyle/>
          <a:p>
            <a:endParaRPr/>
          </a:p>
        </p:txBody>
      </p:sp>
      <p:sp>
        <p:nvSpPr>
          <p:cNvPr id="15" name="Shape 12"/>
          <p:cNvSpPr/>
          <p:nvPr/>
        </p:nvSpPr>
        <p:spPr>
          <a:xfrm>
            <a:off x="731520" y="4937760"/>
            <a:ext cx="548640" cy="548640"/>
          </a:xfrm>
          <a:prstGeom prst="ellipse">
            <a:avLst/>
          </a:prstGeom>
          <a:solidFill>
            <a:srgbClr val="E8A33D"/>
          </a:solidFill>
          <a:ln/>
        </p:spPr>
        <p:txBody>
          <a:bodyPr/>
          <a:lstStyle/>
          <a:p>
            <a:endParaRPr/>
          </a:p>
        </p:txBody>
      </p:sp>
      <p:sp>
        <p:nvSpPr>
          <p:cNvPr id="16" name="Text 13"/>
          <p:cNvSpPr/>
          <p:nvPr/>
        </p:nvSpPr>
        <p:spPr>
          <a:xfrm>
            <a:off x="731520" y="4937760"/>
            <a:ext cx="548640" cy="54864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Q3</a:t>
            </a:r>
            <a:endParaRPr lang="en-US" sz="1400" dirty="0"/>
          </a:p>
        </p:txBody>
      </p:sp>
      <p:sp>
        <p:nvSpPr>
          <p:cNvPr id="17" name="Text 14"/>
          <p:cNvSpPr/>
          <p:nvPr/>
        </p:nvSpPr>
        <p:spPr>
          <a:xfrm>
            <a:off x="1508760" y="4754880"/>
            <a:ext cx="9875520" cy="914400"/>
          </a:xfrm>
          <a:prstGeom prst="rect">
            <a:avLst/>
          </a:prstGeom>
          <a:noFill/>
          <a:ln/>
        </p:spPr>
        <p:txBody>
          <a:bodyPr wrap="square" lIns="0" tIns="0" rIns="0" bIns="0" rtlCol="0" anchor="ctr"/>
          <a:lstStyle/>
          <a:p>
            <a:pPr marL="0" indent="0">
              <a:buNone/>
            </a:pPr>
            <a:r>
              <a:rPr lang="en-US" sz="2000" dirty="0">
                <a:solidFill>
                  <a:srgbClr val="16233F"/>
                </a:solidFill>
                <a:latin typeface="Calibri" pitchFamily="34" charset="0"/>
                <a:ea typeface="Calibri" pitchFamily="34" charset="-122"/>
                <a:cs typeface="Calibri" pitchFamily="34" charset="-120"/>
              </a:rPr>
              <a:t>Why do you think a gaming PC needs a different processor than a calculator?</a:t>
            </a:r>
            <a:endParaRPr lang="en-US" sz="1600" dirty="0"/>
          </a:p>
        </p:txBody>
      </p:sp>
      <p:sp>
        <p:nvSpPr>
          <p:cNvPr id="18" name="Text 15"/>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MOTIVATION</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Why This Topic Matters</a:t>
            </a:r>
            <a:endParaRPr lang="en-US" sz="3000" dirty="0"/>
          </a:p>
        </p:txBody>
      </p:sp>
      <p:sp>
        <p:nvSpPr>
          <p:cNvPr id="4" name="Shape 2"/>
          <p:cNvSpPr/>
          <p:nvPr/>
        </p:nvSpPr>
        <p:spPr>
          <a:xfrm>
            <a:off x="10954512" y="457200"/>
            <a:ext cx="868680" cy="868680"/>
          </a:xfrm>
          <a:prstGeom prst="ellipse">
            <a:avLst/>
          </a:prstGeom>
          <a:solidFill>
            <a:srgbClr val="E8A33D"/>
          </a:solidFill>
          <a:ln/>
        </p:spPr>
        <p:txBody>
          <a:bodyPr/>
          <a:lstStyle/>
          <a:p>
            <a:endParaRPr/>
          </a:p>
        </p:txBody>
      </p:sp>
      <p:pic>
        <p:nvPicPr>
          <p:cNvPr id="5" name="Image 0" descr="/home/claude/coa_ppt/icons/lightbulb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502920" y="1600200"/>
            <a:ext cx="6766560" cy="4480560"/>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Performance determines user experience — speed, responsiveness, battery life</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Engineers must measure performance objectively, not just guess</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Clock speed alone is a myth-buster topic — a bigger number isn't always better</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Parallelism is the reason your phone can run 50 apps “at once”</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Foundational for AI/ML: training speed depends directly on these concepts</a:t>
            </a:r>
            <a:endParaRPr lang="en-US" sz="1550" dirty="0"/>
          </a:p>
        </p:txBody>
      </p:sp>
      <p:sp>
        <p:nvSpPr>
          <p:cNvPr id="7" name="Shape 4"/>
          <p:cNvSpPr/>
          <p:nvPr/>
        </p:nvSpPr>
        <p:spPr>
          <a:xfrm>
            <a:off x="7680960" y="1691640"/>
            <a:ext cx="4023360" cy="4206240"/>
          </a:xfrm>
          <a:prstGeom prst="roundRect">
            <a:avLst>
              <a:gd name="adj" fmla="val 2727"/>
            </a:avLst>
          </a:prstGeom>
          <a:solidFill>
            <a:srgbClr val="16233F"/>
          </a:solidFill>
          <a:ln/>
        </p:spPr>
        <p:txBody>
          <a:bodyPr/>
          <a:lstStyle/>
          <a:p>
            <a:endParaRPr/>
          </a:p>
        </p:txBody>
      </p:sp>
      <p:pic>
        <p:nvPicPr>
          <p:cNvPr id="8" name="Image 1" descr="/home/claude/coa_ppt/icons/chartLine_white.png"/>
          <p:cNvPicPr>
            <a:picLocks noChangeAspect="1"/>
          </p:cNvPicPr>
          <p:nvPr/>
        </p:nvPicPr>
        <p:blipFill>
          <a:blip r:embed="rId4"/>
          <a:stretch>
            <a:fillRect/>
          </a:stretch>
        </p:blipFill>
        <p:spPr>
          <a:xfrm>
            <a:off x="9052560" y="2103120"/>
            <a:ext cx="1280160" cy="1280160"/>
          </a:xfrm>
          <a:prstGeom prst="rect">
            <a:avLst/>
          </a:prstGeom>
        </p:spPr>
      </p:pic>
      <p:sp>
        <p:nvSpPr>
          <p:cNvPr id="9" name="Text 5"/>
          <p:cNvSpPr/>
          <p:nvPr/>
        </p:nvSpPr>
        <p:spPr>
          <a:xfrm>
            <a:off x="7955280" y="3566160"/>
            <a:ext cx="3474720" cy="822960"/>
          </a:xfrm>
          <a:prstGeom prst="rect">
            <a:avLst/>
          </a:prstGeom>
          <a:noFill/>
          <a:ln/>
        </p:spPr>
        <p:txBody>
          <a:bodyPr wrap="square" lIns="0" tIns="0" rIns="0" bIns="0" rtlCol="0" anchor="ctr"/>
          <a:lstStyle/>
          <a:p>
            <a:pPr marL="0" indent="0" algn="ctr">
              <a:buNone/>
            </a:pPr>
            <a:r>
              <a:rPr lang="en-US" sz="2250" b="1" i="1" dirty="0">
                <a:solidFill>
                  <a:srgbClr val="FFFFFF"/>
                </a:solidFill>
                <a:latin typeface="Cambria" pitchFamily="34" charset="0"/>
                <a:ea typeface="Cambria" pitchFamily="34" charset="-122"/>
                <a:cs typeface="Cambria" pitchFamily="34" charset="-120"/>
              </a:rPr>
              <a:t>Speed isn't</a:t>
            </a:r>
            <a:endParaRPr lang="en-US" sz="1800" dirty="0"/>
          </a:p>
          <a:p>
            <a:pPr marL="0" indent="0" algn="ctr">
              <a:buNone/>
            </a:pPr>
            <a:r>
              <a:rPr lang="en-US" sz="2250" b="1" i="1" dirty="0">
                <a:solidFill>
                  <a:srgbClr val="FFFFFF"/>
                </a:solidFill>
                <a:latin typeface="Cambria" pitchFamily="34" charset="0"/>
                <a:ea typeface="Cambria" pitchFamily="34" charset="-122"/>
                <a:cs typeface="Cambria" pitchFamily="34" charset="-120"/>
              </a:rPr>
              <a:t>just a number.</a:t>
            </a:r>
            <a:endParaRPr lang="en-US" sz="1800" dirty="0"/>
          </a:p>
        </p:txBody>
      </p:sp>
      <p:sp>
        <p:nvSpPr>
          <p:cNvPr id="10" name="Text 6"/>
          <p:cNvSpPr/>
          <p:nvPr/>
        </p:nvSpPr>
        <p:spPr>
          <a:xfrm>
            <a:off x="7955280" y="4434840"/>
            <a:ext cx="3474720" cy="731520"/>
          </a:xfrm>
          <a:prstGeom prst="rect">
            <a:avLst/>
          </a:prstGeom>
          <a:noFill/>
          <a:ln/>
        </p:spPr>
        <p:txBody>
          <a:bodyPr wrap="square" lIns="0" tIns="0" rIns="0" bIns="0" rtlCol="0" anchor="ctr"/>
          <a:lstStyle/>
          <a:p>
            <a:pPr marL="0" indent="0" algn="ctr">
              <a:buNone/>
            </a:pPr>
            <a:r>
              <a:rPr lang="en-US" sz="1562" dirty="0">
                <a:solidFill>
                  <a:srgbClr val="AEC0D6"/>
                </a:solidFill>
                <a:latin typeface="Calibri" pitchFamily="34" charset="0"/>
                <a:ea typeface="Calibri" pitchFamily="34" charset="-122"/>
                <a:cs typeface="Calibri" pitchFamily="34" charset="-120"/>
              </a:rPr>
              <a:t>It's measured, engineered,</a:t>
            </a:r>
            <a:endParaRPr lang="en-US" sz="1250" dirty="0"/>
          </a:p>
          <a:p>
            <a:pPr marL="0" indent="0" algn="ctr">
              <a:buNone/>
            </a:pPr>
            <a:r>
              <a:rPr lang="en-US" sz="1562" dirty="0">
                <a:solidFill>
                  <a:srgbClr val="AEC0D6"/>
                </a:solidFill>
                <a:latin typeface="Calibri" pitchFamily="34" charset="0"/>
                <a:ea typeface="Calibri" pitchFamily="34" charset="-122"/>
                <a:cs typeface="Calibri" pitchFamily="34" charset="-120"/>
              </a:rPr>
              <a:t>and traded off.</a:t>
            </a:r>
            <a:endParaRPr lang="en-US" sz="1250" dirty="0"/>
          </a:p>
        </p:txBody>
      </p:sp>
      <p:sp>
        <p:nvSpPr>
          <p:cNvPr id="11" name="Text 7"/>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CORE CONCEPT</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What is “Performance”?</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stopwatch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502920" y="1600200"/>
            <a:ext cx="6583680" cy="2377440"/>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Performance = how quickly a system completes a task</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Measured primarily by Execution Time and Throughput</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“X is faster than Y” means X has lower execution time or higher throughput</a:t>
            </a:r>
            <a:endParaRPr lang="en-US" sz="1550" dirty="0"/>
          </a:p>
        </p:txBody>
      </p:sp>
      <p:sp>
        <p:nvSpPr>
          <p:cNvPr id="7" name="Shape 4"/>
          <p:cNvSpPr/>
          <p:nvPr/>
        </p:nvSpPr>
        <p:spPr>
          <a:xfrm>
            <a:off x="502920" y="4160520"/>
            <a:ext cx="3246120" cy="1920240"/>
          </a:xfrm>
          <a:prstGeom prst="roundRect">
            <a:avLst>
              <a:gd name="adj" fmla="val 5714"/>
            </a:avLst>
          </a:prstGeom>
          <a:solidFill>
            <a:srgbClr val="E9EEF5"/>
          </a:solidFill>
          <a:ln/>
        </p:spPr>
        <p:txBody>
          <a:bodyPr/>
          <a:lstStyle/>
          <a:p>
            <a:endParaRPr/>
          </a:p>
        </p:txBody>
      </p:sp>
      <p:sp>
        <p:nvSpPr>
          <p:cNvPr id="8" name="Shape 5"/>
          <p:cNvSpPr/>
          <p:nvPr/>
        </p:nvSpPr>
        <p:spPr>
          <a:xfrm>
            <a:off x="1764792" y="4389120"/>
            <a:ext cx="731520" cy="731520"/>
          </a:xfrm>
          <a:prstGeom prst="ellipse">
            <a:avLst/>
          </a:prstGeom>
          <a:solidFill>
            <a:srgbClr val="3B5A77"/>
          </a:solidFill>
          <a:ln/>
        </p:spPr>
        <p:txBody>
          <a:bodyPr/>
          <a:lstStyle/>
          <a:p>
            <a:endParaRPr/>
          </a:p>
        </p:txBody>
      </p:sp>
      <p:pic>
        <p:nvPicPr>
          <p:cNvPr id="9" name="Image 1" descr="/home/claude/coa_ppt/icons/stopwatch_white.png"/>
          <p:cNvPicPr>
            <a:picLocks noChangeAspect="1"/>
          </p:cNvPicPr>
          <p:nvPr/>
        </p:nvPicPr>
        <p:blipFill>
          <a:blip r:embed="rId4"/>
          <a:stretch>
            <a:fillRect/>
          </a:stretch>
        </p:blipFill>
        <p:spPr>
          <a:xfrm>
            <a:off x="1947672" y="4572000"/>
            <a:ext cx="365760" cy="365760"/>
          </a:xfrm>
          <a:prstGeom prst="rect">
            <a:avLst/>
          </a:prstGeom>
        </p:spPr>
      </p:pic>
      <p:sp>
        <p:nvSpPr>
          <p:cNvPr id="10" name="Text 6"/>
          <p:cNvSpPr/>
          <p:nvPr/>
        </p:nvSpPr>
        <p:spPr>
          <a:xfrm>
            <a:off x="502920" y="5166360"/>
            <a:ext cx="3246120" cy="365760"/>
          </a:xfrm>
          <a:prstGeom prst="rect">
            <a:avLst/>
          </a:prstGeom>
          <a:noFill/>
          <a:ln/>
        </p:spPr>
        <p:txBody>
          <a:bodyPr wrap="square" lIns="0" tIns="0" rIns="0" bIns="0" rtlCol="0" anchor="ctr"/>
          <a:lstStyle/>
          <a:p>
            <a:pPr marL="0" indent="0" algn="ctr">
              <a:buNone/>
            </a:pPr>
            <a:r>
              <a:rPr lang="en-US" sz="1875" b="1" dirty="0">
                <a:solidFill>
                  <a:srgbClr val="16233F"/>
                </a:solidFill>
                <a:latin typeface="Calibri" pitchFamily="34" charset="0"/>
                <a:ea typeface="Calibri" pitchFamily="34" charset="-122"/>
                <a:cs typeface="Calibri" pitchFamily="34" charset="-120"/>
              </a:rPr>
              <a:t>Execution Time</a:t>
            </a:r>
            <a:endParaRPr lang="en-US" sz="1500" dirty="0"/>
          </a:p>
        </p:txBody>
      </p:sp>
      <p:sp>
        <p:nvSpPr>
          <p:cNvPr id="11" name="Text 7"/>
          <p:cNvSpPr/>
          <p:nvPr/>
        </p:nvSpPr>
        <p:spPr>
          <a:xfrm>
            <a:off x="685800" y="5532120"/>
            <a:ext cx="2880360" cy="457200"/>
          </a:xfrm>
          <a:prstGeom prst="rect">
            <a:avLst/>
          </a:prstGeom>
          <a:noFill/>
          <a:ln/>
        </p:spPr>
        <p:txBody>
          <a:bodyPr wrap="square" lIns="0" tIns="0" rIns="0" bIns="0" rtlCol="0" anchor="ctr"/>
          <a:lstStyle/>
          <a:p>
            <a:pPr marL="0" indent="0" algn="ctr">
              <a:buNone/>
            </a:pPr>
            <a:r>
              <a:rPr lang="en-US" sz="1437" dirty="0">
                <a:solidFill>
                  <a:srgbClr val="6B7A90"/>
                </a:solidFill>
                <a:latin typeface="Calibri" pitchFamily="34" charset="0"/>
                <a:ea typeface="Calibri" pitchFamily="34" charset="-122"/>
                <a:cs typeface="Calibri" pitchFamily="34" charset="-120"/>
              </a:rPr>
              <a:t>Time to complete ONE task</a:t>
            </a:r>
            <a:endParaRPr lang="en-US" sz="1150" dirty="0"/>
          </a:p>
        </p:txBody>
      </p:sp>
      <p:sp>
        <p:nvSpPr>
          <p:cNvPr id="12" name="Shape 8"/>
          <p:cNvSpPr/>
          <p:nvPr/>
        </p:nvSpPr>
        <p:spPr>
          <a:xfrm>
            <a:off x="4023360" y="4160520"/>
            <a:ext cx="3246120" cy="1920240"/>
          </a:xfrm>
          <a:prstGeom prst="roundRect">
            <a:avLst>
              <a:gd name="adj" fmla="val 5714"/>
            </a:avLst>
          </a:prstGeom>
          <a:solidFill>
            <a:srgbClr val="E9EEF5"/>
          </a:solidFill>
          <a:ln/>
        </p:spPr>
        <p:txBody>
          <a:bodyPr/>
          <a:lstStyle/>
          <a:p>
            <a:endParaRPr/>
          </a:p>
        </p:txBody>
      </p:sp>
      <p:sp>
        <p:nvSpPr>
          <p:cNvPr id="13" name="Shape 9"/>
          <p:cNvSpPr/>
          <p:nvPr/>
        </p:nvSpPr>
        <p:spPr>
          <a:xfrm>
            <a:off x="5285232" y="4389120"/>
            <a:ext cx="731520" cy="731520"/>
          </a:xfrm>
          <a:prstGeom prst="ellipse">
            <a:avLst/>
          </a:prstGeom>
          <a:solidFill>
            <a:srgbClr val="2FD1C6"/>
          </a:solidFill>
          <a:ln/>
        </p:spPr>
        <p:txBody>
          <a:bodyPr/>
          <a:lstStyle/>
          <a:p>
            <a:endParaRPr/>
          </a:p>
        </p:txBody>
      </p:sp>
      <p:pic>
        <p:nvPicPr>
          <p:cNvPr id="14" name="Image 2" descr="/home/claude/coa_ppt/icons/arrowRight_white.png"/>
          <p:cNvPicPr>
            <a:picLocks noChangeAspect="1"/>
          </p:cNvPicPr>
          <p:nvPr/>
        </p:nvPicPr>
        <p:blipFill>
          <a:blip r:embed="rId5"/>
          <a:stretch>
            <a:fillRect/>
          </a:stretch>
        </p:blipFill>
        <p:spPr>
          <a:xfrm>
            <a:off x="5468112" y="4572000"/>
            <a:ext cx="365760" cy="365760"/>
          </a:xfrm>
          <a:prstGeom prst="rect">
            <a:avLst/>
          </a:prstGeom>
        </p:spPr>
      </p:pic>
      <p:sp>
        <p:nvSpPr>
          <p:cNvPr id="15" name="Text 10"/>
          <p:cNvSpPr/>
          <p:nvPr/>
        </p:nvSpPr>
        <p:spPr>
          <a:xfrm>
            <a:off x="4023360" y="5166360"/>
            <a:ext cx="3246120" cy="365760"/>
          </a:xfrm>
          <a:prstGeom prst="rect">
            <a:avLst/>
          </a:prstGeom>
          <a:noFill/>
          <a:ln/>
        </p:spPr>
        <p:txBody>
          <a:bodyPr wrap="square" lIns="0" tIns="0" rIns="0" bIns="0" rtlCol="0" anchor="ctr"/>
          <a:lstStyle/>
          <a:p>
            <a:pPr marL="0" indent="0" algn="ctr">
              <a:buNone/>
            </a:pPr>
            <a:r>
              <a:rPr lang="en-US" sz="1875" b="1" dirty="0">
                <a:solidFill>
                  <a:srgbClr val="16233F"/>
                </a:solidFill>
                <a:latin typeface="Calibri" pitchFamily="34" charset="0"/>
                <a:ea typeface="Calibri" pitchFamily="34" charset="-122"/>
                <a:cs typeface="Calibri" pitchFamily="34" charset="-120"/>
              </a:rPr>
              <a:t>Throughput</a:t>
            </a:r>
            <a:endParaRPr lang="en-US" sz="1500" dirty="0"/>
          </a:p>
        </p:txBody>
      </p:sp>
      <p:sp>
        <p:nvSpPr>
          <p:cNvPr id="16" name="Text 11"/>
          <p:cNvSpPr/>
          <p:nvPr/>
        </p:nvSpPr>
        <p:spPr>
          <a:xfrm>
            <a:off x="4206240" y="5532120"/>
            <a:ext cx="2880360" cy="457200"/>
          </a:xfrm>
          <a:prstGeom prst="rect">
            <a:avLst/>
          </a:prstGeom>
          <a:noFill/>
          <a:ln/>
        </p:spPr>
        <p:txBody>
          <a:bodyPr wrap="square" lIns="0" tIns="0" rIns="0" bIns="0" rtlCol="0" anchor="ctr"/>
          <a:lstStyle/>
          <a:p>
            <a:pPr marL="0" indent="0" algn="ctr">
              <a:buNone/>
            </a:pPr>
            <a:r>
              <a:rPr lang="en-US" sz="1437" dirty="0">
                <a:solidFill>
                  <a:srgbClr val="6B7A90"/>
                </a:solidFill>
                <a:latin typeface="Calibri" pitchFamily="34" charset="0"/>
                <a:ea typeface="Calibri" pitchFamily="34" charset="-122"/>
                <a:cs typeface="Calibri" pitchFamily="34" charset="-120"/>
              </a:rPr>
              <a:t>Tasks completed per unit time</a:t>
            </a:r>
            <a:endParaRPr lang="en-US" sz="1150" dirty="0"/>
          </a:p>
        </p:txBody>
      </p:sp>
      <p:sp>
        <p:nvSpPr>
          <p:cNvPr id="17" name="Shape 12"/>
          <p:cNvSpPr/>
          <p:nvPr/>
        </p:nvSpPr>
        <p:spPr>
          <a:xfrm>
            <a:off x="7543800" y="4160520"/>
            <a:ext cx="3566160" cy="1920240"/>
          </a:xfrm>
          <a:prstGeom prst="roundRect">
            <a:avLst>
              <a:gd name="adj" fmla="val 5714"/>
            </a:avLst>
          </a:prstGeom>
          <a:solidFill>
            <a:srgbClr val="16233F"/>
          </a:solidFill>
          <a:ln/>
        </p:spPr>
        <p:txBody>
          <a:bodyPr/>
          <a:lstStyle/>
          <a:p>
            <a:endParaRPr/>
          </a:p>
        </p:txBody>
      </p:sp>
      <p:sp>
        <p:nvSpPr>
          <p:cNvPr id="18" name="Text 13"/>
          <p:cNvSpPr/>
          <p:nvPr/>
        </p:nvSpPr>
        <p:spPr>
          <a:xfrm>
            <a:off x="7772400" y="4343400"/>
            <a:ext cx="3108960" cy="320040"/>
          </a:xfrm>
          <a:prstGeom prst="rect">
            <a:avLst/>
          </a:prstGeom>
          <a:noFill/>
          <a:ln/>
        </p:spPr>
        <p:txBody>
          <a:bodyPr wrap="square" lIns="0" tIns="0" rIns="0" bIns="0" rtlCol="0" anchor="ctr"/>
          <a:lstStyle/>
          <a:p>
            <a:pPr marL="0" indent="0">
              <a:buNone/>
            </a:pPr>
            <a:r>
              <a:rPr lang="en-US" sz="1562" b="1" dirty="0">
                <a:solidFill>
                  <a:srgbClr val="2FD1C6"/>
                </a:solidFill>
                <a:latin typeface="Calibri" pitchFamily="34" charset="0"/>
                <a:ea typeface="Calibri" pitchFamily="34" charset="-122"/>
                <a:cs typeface="Calibri" pitchFamily="34" charset="-120"/>
              </a:rPr>
              <a:t>Highway analogy</a:t>
            </a:r>
            <a:endParaRPr lang="en-US" sz="1250" dirty="0"/>
          </a:p>
        </p:txBody>
      </p:sp>
      <p:sp>
        <p:nvSpPr>
          <p:cNvPr id="19" name="Text 14"/>
          <p:cNvSpPr/>
          <p:nvPr/>
        </p:nvSpPr>
        <p:spPr>
          <a:xfrm>
            <a:off x="7772400" y="4709160"/>
            <a:ext cx="3154680" cy="1280160"/>
          </a:xfrm>
          <a:prstGeom prst="rect">
            <a:avLst/>
          </a:prstGeom>
          <a:noFill/>
          <a:ln/>
        </p:spPr>
        <p:txBody>
          <a:bodyPr wrap="square" lIns="0" tIns="0" rIns="0" bIns="0" rtlCol="0" anchor="ctr"/>
          <a:lstStyle/>
          <a:p>
            <a:pPr marL="0" indent="0">
              <a:lnSpc>
                <a:spcPct val="120000"/>
              </a:lnSpc>
              <a:buNone/>
            </a:pPr>
            <a:r>
              <a:rPr lang="en-US" sz="1437" dirty="0">
                <a:solidFill>
                  <a:srgbClr val="D7E1EE"/>
                </a:solidFill>
                <a:latin typeface="Calibri" pitchFamily="34" charset="0"/>
                <a:ea typeface="Calibri" pitchFamily="34" charset="-122"/>
                <a:cs typeface="Calibri" pitchFamily="34" charset="-120"/>
              </a:rPr>
              <a:t>Execution time = how long ONE car takes A→B.</a:t>
            </a:r>
            <a:endParaRPr lang="en-US" sz="1150" dirty="0"/>
          </a:p>
          <a:p>
            <a:pPr marL="0" indent="0">
              <a:lnSpc>
                <a:spcPct val="120000"/>
              </a:lnSpc>
              <a:buNone/>
            </a:pPr>
            <a:r>
              <a:rPr lang="en-US" sz="1437" dirty="0">
                <a:solidFill>
                  <a:srgbClr val="D7E1EE"/>
                </a:solidFill>
                <a:latin typeface="Calibri" pitchFamily="34" charset="0"/>
                <a:ea typeface="Calibri" pitchFamily="34" charset="-122"/>
                <a:cs typeface="Calibri" pitchFamily="34" charset="-120"/>
              </a:rPr>
              <a:t>Throughput = how many cars pass a checkpoint per hour.</a:t>
            </a:r>
            <a:endParaRPr lang="en-US" sz="1150" dirty="0"/>
          </a:p>
        </p:txBody>
      </p:sp>
      <p:sp>
        <p:nvSpPr>
          <p:cNvPr id="20" name="Text 15"/>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CORE CONCEPT</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Execution Time — A Closer Look</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clock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502920" y="1600200"/>
            <a:ext cx="10881360" cy="1920240"/>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CPU Execution Time = time the CPU spends actually working on a program</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Excludes I/O wait time and OS overhead unrelated to the task</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Smaller CPU time = better performance</a:t>
            </a:r>
            <a:endParaRPr lang="en-US" sz="1550" dirty="0"/>
          </a:p>
        </p:txBody>
      </p:sp>
      <p:sp>
        <p:nvSpPr>
          <p:cNvPr id="7" name="Shape 4"/>
          <p:cNvSpPr/>
          <p:nvPr/>
        </p:nvSpPr>
        <p:spPr>
          <a:xfrm>
            <a:off x="502920" y="3840480"/>
            <a:ext cx="11155680" cy="1737360"/>
          </a:xfrm>
          <a:prstGeom prst="roundRect">
            <a:avLst>
              <a:gd name="adj" fmla="val 7368"/>
            </a:avLst>
          </a:prstGeom>
          <a:solidFill>
            <a:srgbClr val="16233F"/>
          </a:solidFill>
          <a:ln/>
        </p:spPr>
        <p:txBody>
          <a:bodyPr/>
          <a:lstStyle/>
          <a:p>
            <a:endParaRPr/>
          </a:p>
        </p:txBody>
      </p:sp>
      <p:sp>
        <p:nvSpPr>
          <p:cNvPr id="8" name="Text 5"/>
          <p:cNvSpPr/>
          <p:nvPr/>
        </p:nvSpPr>
        <p:spPr>
          <a:xfrm>
            <a:off x="502920" y="4343400"/>
            <a:ext cx="11155680" cy="731520"/>
          </a:xfrm>
          <a:prstGeom prst="rect">
            <a:avLst/>
          </a:prstGeom>
          <a:noFill/>
          <a:ln/>
        </p:spPr>
        <p:txBody>
          <a:bodyPr wrap="square" lIns="0" tIns="0" rIns="0" bIns="0" rtlCol="0" anchor="ctr"/>
          <a:lstStyle/>
          <a:p>
            <a:pPr marL="0" indent="0" algn="ctr">
              <a:buNone/>
            </a:pPr>
            <a:r>
              <a:rPr lang="en-US" sz="2750" b="1" dirty="0">
                <a:solidFill>
                  <a:srgbClr val="2FD1C6"/>
                </a:solidFill>
                <a:latin typeface="Cambria" pitchFamily="34" charset="0"/>
                <a:ea typeface="Cambria" pitchFamily="34" charset="-122"/>
                <a:cs typeface="Cambria" pitchFamily="34" charset="-120"/>
              </a:rPr>
              <a:t>CPU Time</a:t>
            </a:r>
            <a:r>
              <a:rPr lang="en-US" sz="2750" dirty="0">
                <a:solidFill>
                  <a:srgbClr val="FFFFFF"/>
                </a:solidFill>
                <a:latin typeface="Cambria" pitchFamily="34" charset="0"/>
                <a:ea typeface="Cambria" pitchFamily="34" charset="-122"/>
                <a:cs typeface="Cambria" pitchFamily="34" charset="-120"/>
              </a:rPr>
              <a:t>  =  </a:t>
            </a:r>
            <a:r>
              <a:rPr lang="en-US" sz="2750" b="1" dirty="0">
                <a:solidFill>
                  <a:srgbClr val="FFFFFF"/>
                </a:solidFill>
                <a:latin typeface="Cambria" pitchFamily="34" charset="0"/>
                <a:ea typeface="Cambria" pitchFamily="34" charset="-122"/>
                <a:cs typeface="Cambria" pitchFamily="34" charset="-120"/>
              </a:rPr>
              <a:t>CPU Clock Cycles</a:t>
            </a:r>
            <a:r>
              <a:rPr lang="en-US" sz="2750" dirty="0">
                <a:solidFill>
                  <a:srgbClr val="FFFFFF"/>
                </a:solidFill>
                <a:latin typeface="Cambria" pitchFamily="34" charset="0"/>
                <a:ea typeface="Cambria" pitchFamily="34" charset="-122"/>
                <a:cs typeface="Cambria" pitchFamily="34" charset="-120"/>
              </a:rPr>
              <a:t>  ×  </a:t>
            </a:r>
            <a:r>
              <a:rPr lang="en-US" sz="2750" b="1" dirty="0">
                <a:solidFill>
                  <a:srgbClr val="E8A33D"/>
                </a:solidFill>
                <a:latin typeface="Cambria" pitchFamily="34" charset="0"/>
                <a:ea typeface="Cambria" pitchFamily="34" charset="-122"/>
                <a:cs typeface="Cambria" pitchFamily="34" charset="-120"/>
              </a:rPr>
              <a:t>Clock Cycle Time</a:t>
            </a:r>
            <a:endParaRPr lang="en-US" sz="2200" dirty="0"/>
          </a:p>
        </p:txBody>
      </p:sp>
      <p:sp>
        <p:nvSpPr>
          <p:cNvPr id="9" name="Text 6"/>
          <p:cNvSpPr/>
          <p:nvPr/>
        </p:nvSpPr>
        <p:spPr>
          <a:xfrm>
            <a:off x="502920" y="5074920"/>
            <a:ext cx="11155680" cy="365760"/>
          </a:xfrm>
          <a:prstGeom prst="rect">
            <a:avLst/>
          </a:prstGeom>
          <a:noFill/>
          <a:ln/>
        </p:spPr>
        <p:txBody>
          <a:bodyPr wrap="square" lIns="0" tIns="0" rIns="0" bIns="0" rtlCol="0" anchor="ctr"/>
          <a:lstStyle/>
          <a:p>
            <a:pPr marL="0" indent="0" algn="ctr">
              <a:buNone/>
            </a:pPr>
            <a:r>
              <a:rPr lang="en-US" sz="1562" i="1" dirty="0">
                <a:solidFill>
                  <a:srgbClr val="AEC0D6"/>
                </a:solidFill>
                <a:latin typeface="Calibri" pitchFamily="34" charset="0"/>
                <a:ea typeface="Calibri" pitchFamily="34" charset="-122"/>
                <a:cs typeface="Calibri" pitchFamily="34" charset="-120"/>
              </a:rPr>
              <a:t>This is the foundation formula for the rest of the lecture.</a:t>
            </a:r>
            <a:endParaRPr lang="en-US" sz="1250" dirty="0"/>
          </a:p>
        </p:txBody>
      </p:sp>
      <p:sp>
        <p:nvSpPr>
          <p:cNvPr id="10" name="Text 7"/>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CORE CONCEPT</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What is a Clock Cycle?</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microchip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502920" y="1600200"/>
            <a:ext cx="6675120" cy="3108960"/>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The CPU clock is like a metronome — it ticks at a constant rate</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Each “tick” is called a clock cycle</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Clock Cycle Time = time for one tick</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Clock Rate = ticks per second = 1 / Clock Cycle Time</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Measured in Hertz (Hz); modern CPUs run in GHz (billions/sec)</a:t>
            </a:r>
            <a:endParaRPr lang="en-US" sz="1550" dirty="0"/>
          </a:p>
        </p:txBody>
      </p:sp>
      <p:sp>
        <p:nvSpPr>
          <p:cNvPr id="7" name="Shape 4"/>
          <p:cNvSpPr/>
          <p:nvPr/>
        </p:nvSpPr>
        <p:spPr>
          <a:xfrm>
            <a:off x="7360920" y="1645920"/>
            <a:ext cx="4480560" cy="3200400"/>
          </a:xfrm>
          <a:prstGeom prst="roundRect">
            <a:avLst>
              <a:gd name="adj" fmla="val 2857"/>
            </a:avLst>
          </a:prstGeom>
          <a:solidFill>
            <a:srgbClr val="E9EEF5"/>
          </a:solidFill>
          <a:ln/>
        </p:spPr>
        <p:txBody>
          <a:bodyPr/>
          <a:lstStyle/>
          <a:p>
            <a:endParaRPr/>
          </a:p>
        </p:txBody>
      </p:sp>
      <p:sp>
        <p:nvSpPr>
          <p:cNvPr id="8" name="Shape 5"/>
          <p:cNvSpPr/>
          <p:nvPr/>
        </p:nvSpPr>
        <p:spPr>
          <a:xfrm>
            <a:off x="7589520" y="2752344"/>
            <a:ext cx="335280" cy="1545336"/>
          </a:xfrm>
          <a:prstGeom prst="rect">
            <a:avLst/>
          </a:prstGeom>
          <a:solidFill>
            <a:srgbClr val="2FD1C6"/>
          </a:solidFill>
          <a:ln/>
        </p:spPr>
        <p:txBody>
          <a:bodyPr/>
          <a:lstStyle/>
          <a:p>
            <a:endParaRPr/>
          </a:p>
        </p:txBody>
      </p:sp>
      <p:sp>
        <p:nvSpPr>
          <p:cNvPr id="9" name="Shape 6"/>
          <p:cNvSpPr/>
          <p:nvPr/>
        </p:nvSpPr>
        <p:spPr>
          <a:xfrm>
            <a:off x="8260080" y="2752344"/>
            <a:ext cx="335280" cy="1545336"/>
          </a:xfrm>
          <a:prstGeom prst="rect">
            <a:avLst/>
          </a:prstGeom>
          <a:solidFill>
            <a:srgbClr val="3B5A77"/>
          </a:solidFill>
          <a:ln/>
        </p:spPr>
        <p:txBody>
          <a:bodyPr/>
          <a:lstStyle/>
          <a:p>
            <a:endParaRPr/>
          </a:p>
        </p:txBody>
      </p:sp>
      <p:sp>
        <p:nvSpPr>
          <p:cNvPr id="10" name="Shape 7"/>
          <p:cNvSpPr/>
          <p:nvPr/>
        </p:nvSpPr>
        <p:spPr>
          <a:xfrm>
            <a:off x="8930640" y="2752344"/>
            <a:ext cx="335280" cy="1545336"/>
          </a:xfrm>
          <a:prstGeom prst="rect">
            <a:avLst/>
          </a:prstGeom>
          <a:solidFill>
            <a:srgbClr val="2FD1C6"/>
          </a:solidFill>
          <a:ln/>
        </p:spPr>
        <p:txBody>
          <a:bodyPr/>
          <a:lstStyle/>
          <a:p>
            <a:endParaRPr/>
          </a:p>
        </p:txBody>
      </p:sp>
      <p:sp>
        <p:nvSpPr>
          <p:cNvPr id="11" name="Shape 8"/>
          <p:cNvSpPr/>
          <p:nvPr/>
        </p:nvSpPr>
        <p:spPr>
          <a:xfrm>
            <a:off x="9601200" y="2752344"/>
            <a:ext cx="335280" cy="1545336"/>
          </a:xfrm>
          <a:prstGeom prst="rect">
            <a:avLst/>
          </a:prstGeom>
          <a:solidFill>
            <a:srgbClr val="3B5A77"/>
          </a:solidFill>
          <a:ln/>
        </p:spPr>
        <p:txBody>
          <a:bodyPr/>
          <a:lstStyle/>
          <a:p>
            <a:endParaRPr/>
          </a:p>
        </p:txBody>
      </p:sp>
      <p:sp>
        <p:nvSpPr>
          <p:cNvPr id="12" name="Shape 9"/>
          <p:cNvSpPr/>
          <p:nvPr/>
        </p:nvSpPr>
        <p:spPr>
          <a:xfrm>
            <a:off x="10271760" y="2752344"/>
            <a:ext cx="335280" cy="1545336"/>
          </a:xfrm>
          <a:prstGeom prst="rect">
            <a:avLst/>
          </a:prstGeom>
          <a:solidFill>
            <a:srgbClr val="2FD1C6"/>
          </a:solidFill>
          <a:ln/>
        </p:spPr>
        <p:txBody>
          <a:bodyPr/>
          <a:lstStyle/>
          <a:p>
            <a:endParaRPr/>
          </a:p>
        </p:txBody>
      </p:sp>
      <p:sp>
        <p:nvSpPr>
          <p:cNvPr id="13" name="Shape 10"/>
          <p:cNvSpPr/>
          <p:nvPr/>
        </p:nvSpPr>
        <p:spPr>
          <a:xfrm>
            <a:off x="10942320" y="2752344"/>
            <a:ext cx="335280" cy="1545336"/>
          </a:xfrm>
          <a:prstGeom prst="rect">
            <a:avLst/>
          </a:prstGeom>
          <a:solidFill>
            <a:srgbClr val="3B5A77"/>
          </a:solidFill>
          <a:ln/>
        </p:spPr>
        <p:txBody>
          <a:bodyPr/>
          <a:lstStyle/>
          <a:p>
            <a:endParaRPr/>
          </a:p>
        </p:txBody>
      </p:sp>
      <p:sp>
        <p:nvSpPr>
          <p:cNvPr id="14" name="Text 11"/>
          <p:cNvSpPr/>
          <p:nvPr/>
        </p:nvSpPr>
        <p:spPr>
          <a:xfrm>
            <a:off x="7589520" y="4572000"/>
            <a:ext cx="4023360" cy="274320"/>
          </a:xfrm>
          <a:prstGeom prst="rect">
            <a:avLst/>
          </a:prstGeom>
          <a:noFill/>
          <a:ln/>
        </p:spPr>
        <p:txBody>
          <a:bodyPr wrap="square" lIns="0" tIns="0" rIns="0" bIns="0" rtlCol="0" anchor="ctr"/>
          <a:lstStyle/>
          <a:p>
            <a:pPr marL="0" indent="0" algn="ctr">
              <a:buNone/>
            </a:pPr>
            <a:r>
              <a:rPr lang="en-US" sz="1375" i="1" dirty="0">
                <a:solidFill>
                  <a:srgbClr val="6B7A90"/>
                </a:solidFill>
                <a:latin typeface="Calibri" pitchFamily="34" charset="0"/>
                <a:ea typeface="Calibri" pitchFamily="34" charset="-122"/>
                <a:cs typeface="Calibri" pitchFamily="34" charset="-120"/>
              </a:rPr>
              <a:t>1 clock cycle</a:t>
            </a:r>
            <a:endParaRPr lang="en-US" sz="1100" dirty="0"/>
          </a:p>
        </p:txBody>
      </p:sp>
      <p:sp>
        <p:nvSpPr>
          <p:cNvPr id="15" name="Text 12"/>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MYTH-BUSTING</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Does Higher Clock Rate Always Mean Faster?</a:t>
            </a:r>
            <a:endParaRPr lang="en-US" sz="3000" dirty="0"/>
          </a:p>
        </p:txBody>
      </p:sp>
      <p:sp>
        <p:nvSpPr>
          <p:cNvPr id="4" name="Shape 2"/>
          <p:cNvSpPr/>
          <p:nvPr/>
        </p:nvSpPr>
        <p:spPr>
          <a:xfrm>
            <a:off x="10954512" y="457200"/>
            <a:ext cx="868680" cy="868680"/>
          </a:xfrm>
          <a:prstGeom prst="ellipse">
            <a:avLst/>
          </a:prstGeom>
          <a:solidFill>
            <a:srgbClr val="E8A33D"/>
          </a:solidFill>
          <a:ln/>
        </p:spPr>
        <p:txBody>
          <a:bodyPr/>
          <a:lstStyle/>
          <a:p>
            <a:endParaRPr/>
          </a:p>
        </p:txBody>
      </p:sp>
      <p:pic>
        <p:nvPicPr>
          <p:cNvPr id="5" name="Image 0" descr="/home/claude/coa_ppt/icons/exclamation_navy.png"/>
          <p:cNvPicPr>
            <a:picLocks noChangeAspect="1"/>
          </p:cNvPicPr>
          <p:nvPr/>
        </p:nvPicPr>
        <p:blipFill>
          <a:blip r:embed="rId3"/>
          <a:stretch>
            <a:fillRect/>
          </a:stretch>
        </p:blipFill>
        <p:spPr>
          <a:xfrm>
            <a:off x="11162995" y="665683"/>
            <a:ext cx="451714" cy="451714"/>
          </a:xfrm>
          <a:prstGeom prst="rect">
            <a:avLst/>
          </a:prstGeom>
        </p:spPr>
      </p:pic>
      <p:sp>
        <p:nvSpPr>
          <p:cNvPr id="6" name="Shape 3"/>
          <p:cNvSpPr/>
          <p:nvPr/>
        </p:nvSpPr>
        <p:spPr>
          <a:xfrm>
            <a:off x="502920" y="1783080"/>
            <a:ext cx="11155680" cy="1005840"/>
          </a:xfrm>
          <a:prstGeom prst="roundRect">
            <a:avLst>
              <a:gd name="adj" fmla="val 9091"/>
            </a:avLst>
          </a:prstGeom>
          <a:solidFill>
            <a:srgbClr val="FBEAEA"/>
          </a:solidFill>
          <a:ln/>
        </p:spPr>
        <p:txBody>
          <a:bodyPr/>
          <a:lstStyle/>
          <a:p>
            <a:endParaRPr/>
          </a:p>
        </p:txBody>
      </p:sp>
      <p:sp>
        <p:nvSpPr>
          <p:cNvPr id="7" name="Text 4"/>
          <p:cNvSpPr/>
          <p:nvPr/>
        </p:nvSpPr>
        <p:spPr>
          <a:xfrm>
            <a:off x="777240" y="1783080"/>
            <a:ext cx="7315200" cy="1005840"/>
          </a:xfrm>
          <a:prstGeom prst="rect">
            <a:avLst/>
          </a:prstGeom>
          <a:noFill/>
          <a:ln/>
        </p:spPr>
        <p:txBody>
          <a:bodyPr wrap="square" lIns="0" tIns="0" rIns="0" bIns="0" rtlCol="0" anchor="ctr"/>
          <a:lstStyle/>
          <a:p>
            <a:pPr marL="0" indent="0">
              <a:buNone/>
            </a:pPr>
            <a:r>
              <a:rPr lang="en-US" sz="2375" i="1" dirty="0">
                <a:solidFill>
                  <a:srgbClr val="8A2A2A"/>
                </a:solidFill>
                <a:latin typeface="Cambria" pitchFamily="34" charset="0"/>
                <a:ea typeface="Cambria" pitchFamily="34" charset="-122"/>
                <a:cs typeface="Cambria" pitchFamily="34" charset="-120"/>
              </a:rPr>
              <a:t>“Higher GHz always means faster.”</a:t>
            </a:r>
            <a:endParaRPr lang="en-US" sz="1900" dirty="0"/>
          </a:p>
        </p:txBody>
      </p:sp>
      <p:sp>
        <p:nvSpPr>
          <p:cNvPr id="8" name="Text 5"/>
          <p:cNvSpPr/>
          <p:nvPr/>
        </p:nvSpPr>
        <p:spPr>
          <a:xfrm>
            <a:off x="9418320" y="1783080"/>
            <a:ext cx="1737360" cy="1005840"/>
          </a:xfrm>
          <a:prstGeom prst="rect">
            <a:avLst/>
          </a:prstGeom>
          <a:noFill/>
          <a:ln/>
        </p:spPr>
        <p:txBody>
          <a:bodyPr wrap="square" lIns="0" tIns="0" rIns="0" bIns="0" rtlCol="0" anchor="ctr"/>
          <a:lstStyle/>
          <a:p>
            <a:pPr marL="0" indent="0" algn="ctr">
              <a:buNone/>
            </a:pPr>
            <a:r>
              <a:rPr lang="en-US" sz="2500" b="1" dirty="0">
                <a:solidFill>
                  <a:srgbClr val="C0392B"/>
                </a:solidFill>
                <a:latin typeface="Calibri" pitchFamily="34" charset="0"/>
                <a:ea typeface="Calibri" pitchFamily="34" charset="-122"/>
                <a:cs typeface="Calibri" pitchFamily="34" charset="-120"/>
              </a:rPr>
              <a:t>MYTH</a:t>
            </a:r>
            <a:endParaRPr lang="en-US" sz="2000" dirty="0"/>
          </a:p>
        </p:txBody>
      </p:sp>
      <p:sp>
        <p:nvSpPr>
          <p:cNvPr id="9" name="Text 6"/>
          <p:cNvSpPr/>
          <p:nvPr/>
        </p:nvSpPr>
        <p:spPr>
          <a:xfrm>
            <a:off x="502920" y="3108960"/>
            <a:ext cx="10881360" cy="2011680"/>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Performance also depends on how much work is done per cycle</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A 3 GHz chip doing more per cycle can beat a 4 GHz chip doing less</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We need one more ingredient: CPI (Cycles Per Instruction)</a:t>
            </a:r>
            <a:endParaRPr lang="en-US" sz="1550" dirty="0"/>
          </a:p>
        </p:txBody>
      </p:sp>
      <p:sp>
        <p:nvSpPr>
          <p:cNvPr id="10" name="Text 7"/>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CORE CONCEPT</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CPI — Cycles Per Instruction</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calculator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502920" y="1600200"/>
            <a:ext cx="5120640" cy="3200400"/>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CPI = average number of clock cycles needed to execute one instruction</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Different instructions can take different numbers of cycles</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CPI is an average across all instructions in a program</a:t>
            </a:r>
            <a:endParaRPr lang="en-US" sz="15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577840" y="1828800"/>
          <a:ext cx="6035040" cy="2194560"/>
        </p:xfrm>
        <a:graphic>
          <a:graphicData uri="http://schemas.openxmlformats.org/drawingml/2006/table">
            <a:tbl>
              <a:tblPr/>
              <a:tblGrid>
                <a:gridCol w="38404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54864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Instruction</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solidFill>
                      <a:srgbClr val="16233F"/>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Cycles</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548640">
                <a:tc>
                  <a:txBody>
                    <a:bodyPr/>
                    <a:lstStyle/>
                    <a:p>
                      <a:pPr marL="0" indent="0" algn="l">
                        <a:buNone/>
                      </a:pPr>
                      <a:r>
                        <a:rPr lang="en-US" sz="1400" dirty="0">
                          <a:solidFill>
                            <a:srgbClr val="16233F"/>
                          </a:solidFill>
                          <a:latin typeface="Calibri" pitchFamily="34" charset="0"/>
                          <a:ea typeface="Calibri" pitchFamily="34" charset="-122"/>
                          <a:cs typeface="Calibri" pitchFamily="34" charset="-120"/>
                        </a:rPr>
                        <a:t>ADD (simple)</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tc>
                  <a:txBody>
                    <a:bodyPr/>
                    <a:lstStyle/>
                    <a:p>
                      <a:pPr marL="0" indent="0" algn="l">
                        <a:buNone/>
                      </a:pPr>
                      <a:r>
                        <a:rPr lang="en-US" sz="1400" dirty="0">
                          <a:solidFill>
                            <a:srgbClr val="16233F"/>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lgn="l">
                        <a:buNone/>
                      </a:pPr>
                      <a:r>
                        <a:rPr lang="en-US" sz="1400" dirty="0">
                          <a:solidFill>
                            <a:srgbClr val="16233F"/>
                          </a:solidFill>
                          <a:latin typeface="Calibri" pitchFamily="34" charset="0"/>
                          <a:ea typeface="Calibri" pitchFamily="34" charset="-122"/>
                          <a:cs typeface="Calibri" pitchFamily="34" charset="-120"/>
                        </a:rPr>
                        <a:t>MUL (multiply)</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tc>
                  <a:txBody>
                    <a:bodyPr/>
                    <a:lstStyle/>
                    <a:p>
                      <a:pPr marL="0" indent="0" algn="l">
                        <a:buNone/>
                      </a:pPr>
                      <a:r>
                        <a:rPr lang="en-US" sz="1400" dirty="0">
                          <a:solidFill>
                            <a:srgbClr val="16233F"/>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lgn="l">
                        <a:buNone/>
                      </a:pPr>
                      <a:r>
                        <a:rPr lang="en-US" sz="1400" dirty="0">
                          <a:solidFill>
                            <a:srgbClr val="16233F"/>
                          </a:solidFill>
                          <a:latin typeface="Calibri" pitchFamily="34" charset="0"/>
                          <a:ea typeface="Calibri" pitchFamily="34" charset="-122"/>
                          <a:cs typeface="Calibri" pitchFamily="34" charset="-120"/>
                        </a:rPr>
                        <a:t>DIV (divide)</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tc>
                  <a:txBody>
                    <a:bodyPr/>
                    <a:lstStyle/>
                    <a:p>
                      <a:pPr marL="0" indent="0" algn="l">
                        <a:buNone/>
                      </a:pPr>
                      <a:r>
                        <a:rPr lang="en-US" sz="1400" dirty="0">
                          <a:solidFill>
                            <a:srgbClr val="16233F"/>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 4"/>
          <p:cNvSpPr/>
          <p:nvPr/>
        </p:nvSpPr>
        <p:spPr>
          <a:xfrm>
            <a:off x="5577840" y="4206240"/>
            <a:ext cx="6035040" cy="548640"/>
          </a:xfrm>
          <a:prstGeom prst="rect">
            <a:avLst/>
          </a:prstGeom>
          <a:noFill/>
          <a:ln/>
        </p:spPr>
        <p:txBody>
          <a:bodyPr wrap="square" lIns="0" tIns="0" rIns="0" bIns="0" rtlCol="0" anchor="ctr"/>
          <a:lstStyle/>
          <a:p>
            <a:pPr marL="0" indent="0">
              <a:buNone/>
            </a:pPr>
            <a:r>
              <a:rPr lang="en-US" sz="1625" i="1" dirty="0">
                <a:solidFill>
                  <a:srgbClr val="6B7A90"/>
                </a:solidFill>
                <a:latin typeface="Calibri" pitchFamily="34" charset="0"/>
                <a:ea typeface="Calibri" pitchFamily="34" charset="-122"/>
                <a:cs typeface="Calibri" pitchFamily="34" charset="-120"/>
              </a:rPr>
              <a:t>A lower CPI means the processor gets more done per tick.</a:t>
            </a:r>
            <a:endParaRPr lang="en-US" sz="1300" dirty="0"/>
          </a:p>
        </p:txBody>
      </p:sp>
      <p:sp>
        <p:nvSpPr>
          <p:cNvPr id="9" name="Text 5"/>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THE KEY FORMULA</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The CPU Performance Equation</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cogs_navy.png"/>
          <p:cNvPicPr>
            <a:picLocks noChangeAspect="1"/>
          </p:cNvPicPr>
          <p:nvPr/>
        </p:nvPicPr>
        <p:blipFill>
          <a:blip r:embed="rId3"/>
          <a:stretch>
            <a:fillRect/>
          </a:stretch>
        </p:blipFill>
        <p:spPr>
          <a:xfrm>
            <a:off x="11162995" y="665683"/>
            <a:ext cx="451714" cy="451714"/>
          </a:xfrm>
          <a:prstGeom prst="rect">
            <a:avLst/>
          </a:prstGeom>
        </p:spPr>
      </p:pic>
      <p:sp>
        <p:nvSpPr>
          <p:cNvPr id="6" name="Shape 3"/>
          <p:cNvSpPr/>
          <p:nvPr/>
        </p:nvSpPr>
        <p:spPr>
          <a:xfrm>
            <a:off x="502920" y="1691640"/>
            <a:ext cx="11155680" cy="1051560"/>
          </a:xfrm>
          <a:prstGeom prst="roundRect">
            <a:avLst>
              <a:gd name="adj" fmla="val 12174"/>
            </a:avLst>
          </a:prstGeom>
          <a:solidFill>
            <a:srgbClr val="16233F"/>
          </a:solidFill>
          <a:ln/>
        </p:spPr>
        <p:txBody>
          <a:bodyPr/>
          <a:lstStyle/>
          <a:p>
            <a:endParaRPr/>
          </a:p>
        </p:txBody>
      </p:sp>
      <p:sp>
        <p:nvSpPr>
          <p:cNvPr id="7" name="Text 4"/>
          <p:cNvSpPr/>
          <p:nvPr/>
        </p:nvSpPr>
        <p:spPr>
          <a:xfrm>
            <a:off x="502920" y="1874520"/>
            <a:ext cx="11155680" cy="685800"/>
          </a:xfrm>
          <a:prstGeom prst="rect">
            <a:avLst/>
          </a:prstGeom>
          <a:noFill/>
          <a:ln/>
        </p:spPr>
        <p:txBody>
          <a:bodyPr wrap="square" lIns="0" tIns="0" rIns="0" bIns="0" rtlCol="0" anchor="ctr"/>
          <a:lstStyle/>
          <a:p>
            <a:pPr marL="0" indent="0" algn="ctr">
              <a:buNone/>
            </a:pPr>
            <a:r>
              <a:rPr lang="en-US" sz="3000" b="1" dirty="0">
                <a:solidFill>
                  <a:srgbClr val="2FD1C6"/>
                </a:solidFill>
                <a:latin typeface="Cambria" pitchFamily="34" charset="0"/>
                <a:ea typeface="Cambria" pitchFamily="34" charset="-122"/>
                <a:cs typeface="Cambria" pitchFamily="34" charset="-120"/>
              </a:rPr>
              <a:t>CPU Time</a:t>
            </a:r>
            <a:r>
              <a:rPr lang="en-US" sz="3000" dirty="0">
                <a:solidFill>
                  <a:srgbClr val="FFFFFF"/>
                </a:solidFill>
                <a:latin typeface="Cambria" pitchFamily="34" charset="0"/>
                <a:ea typeface="Cambria" pitchFamily="34" charset="-122"/>
                <a:cs typeface="Cambria" pitchFamily="34" charset="-120"/>
              </a:rPr>
              <a:t>  =  </a:t>
            </a:r>
            <a:r>
              <a:rPr lang="en-US" sz="3000" b="1" dirty="0">
                <a:solidFill>
                  <a:srgbClr val="FFFFFF"/>
                </a:solidFill>
                <a:latin typeface="Cambria" pitchFamily="34" charset="0"/>
                <a:ea typeface="Cambria" pitchFamily="34" charset="-122"/>
                <a:cs typeface="Cambria" pitchFamily="34" charset="-120"/>
              </a:rPr>
              <a:t>IC</a:t>
            </a:r>
            <a:r>
              <a:rPr lang="en-US" sz="3000" dirty="0">
                <a:solidFill>
                  <a:srgbClr val="FFFFFF"/>
                </a:solidFill>
                <a:latin typeface="Cambria" pitchFamily="34" charset="0"/>
                <a:ea typeface="Cambria" pitchFamily="34" charset="-122"/>
                <a:cs typeface="Cambria" pitchFamily="34" charset="-120"/>
              </a:rPr>
              <a:t>  ×  </a:t>
            </a:r>
            <a:r>
              <a:rPr lang="en-US" sz="3000" b="1" dirty="0">
                <a:solidFill>
                  <a:srgbClr val="E8A33D"/>
                </a:solidFill>
                <a:latin typeface="Cambria" pitchFamily="34" charset="0"/>
                <a:ea typeface="Cambria" pitchFamily="34" charset="-122"/>
                <a:cs typeface="Cambria" pitchFamily="34" charset="-120"/>
              </a:rPr>
              <a:t>CPI</a:t>
            </a:r>
            <a:r>
              <a:rPr lang="en-US" sz="3000" dirty="0">
                <a:solidFill>
                  <a:srgbClr val="FFFFFF"/>
                </a:solidFill>
                <a:latin typeface="Cambria" pitchFamily="34" charset="0"/>
                <a:ea typeface="Cambria" pitchFamily="34" charset="-122"/>
                <a:cs typeface="Cambria" pitchFamily="34" charset="-120"/>
              </a:rPr>
              <a:t>  ×  </a:t>
            </a:r>
            <a:r>
              <a:rPr lang="en-US" sz="3000" b="1" dirty="0">
                <a:solidFill>
                  <a:srgbClr val="7FE8DD"/>
                </a:solidFill>
                <a:latin typeface="Cambria" pitchFamily="34" charset="0"/>
                <a:ea typeface="Cambria" pitchFamily="34" charset="-122"/>
                <a:cs typeface="Cambria" pitchFamily="34" charset="-120"/>
              </a:rPr>
              <a:t>Clock Cycle Time</a:t>
            </a:r>
            <a:endParaRPr lang="en-US" sz="2400" dirty="0"/>
          </a:p>
        </p:txBody>
      </p:sp>
      <p:sp>
        <p:nvSpPr>
          <p:cNvPr id="8" name="Text 5"/>
          <p:cNvSpPr/>
          <p:nvPr/>
        </p:nvSpPr>
        <p:spPr>
          <a:xfrm>
            <a:off x="502920" y="3017520"/>
            <a:ext cx="7315200" cy="365760"/>
          </a:xfrm>
          <a:prstGeom prst="rect">
            <a:avLst/>
          </a:prstGeom>
          <a:noFill/>
          <a:ln/>
        </p:spPr>
        <p:txBody>
          <a:bodyPr wrap="square" lIns="0" tIns="0" rIns="0" bIns="0" rtlCol="0" anchor="ctr"/>
          <a:lstStyle/>
          <a:p>
            <a:pPr marL="0" indent="0">
              <a:buNone/>
            </a:pPr>
            <a:r>
              <a:rPr lang="en-US" sz="1750" b="1" dirty="0">
                <a:solidFill>
                  <a:srgbClr val="16233F"/>
                </a:solidFill>
                <a:latin typeface="Calibri" pitchFamily="34" charset="0"/>
                <a:ea typeface="Calibri" pitchFamily="34" charset="-122"/>
                <a:cs typeface="Calibri" pitchFamily="34" charset="-120"/>
              </a:rPr>
              <a:t>Three ways to improve performance:</a:t>
            </a:r>
            <a:endParaRPr lang="en-US" sz="1400" dirty="0"/>
          </a:p>
        </p:txBody>
      </p:sp>
      <p:sp>
        <p:nvSpPr>
          <p:cNvPr id="9" name="Shape 6"/>
          <p:cNvSpPr/>
          <p:nvPr/>
        </p:nvSpPr>
        <p:spPr>
          <a:xfrm>
            <a:off x="502920" y="3474720"/>
            <a:ext cx="3520440" cy="2468880"/>
          </a:xfrm>
          <a:prstGeom prst="roundRect">
            <a:avLst>
              <a:gd name="adj" fmla="val 4444"/>
            </a:avLst>
          </a:prstGeom>
          <a:solidFill>
            <a:srgbClr val="E9EEF5"/>
          </a:solidFill>
          <a:ln/>
        </p:spPr>
        <p:txBody>
          <a:bodyPr/>
          <a:lstStyle/>
          <a:p>
            <a:endParaRPr/>
          </a:p>
        </p:txBody>
      </p:sp>
      <p:sp>
        <p:nvSpPr>
          <p:cNvPr id="10" name="Shape 7"/>
          <p:cNvSpPr/>
          <p:nvPr/>
        </p:nvSpPr>
        <p:spPr>
          <a:xfrm>
            <a:off x="1874520" y="3703320"/>
            <a:ext cx="777240" cy="777240"/>
          </a:xfrm>
          <a:prstGeom prst="ellipse">
            <a:avLst/>
          </a:prstGeom>
          <a:solidFill>
            <a:srgbClr val="3B5A77"/>
          </a:solidFill>
          <a:ln/>
        </p:spPr>
        <p:txBody>
          <a:bodyPr/>
          <a:lstStyle/>
          <a:p>
            <a:endParaRPr/>
          </a:p>
        </p:txBody>
      </p:sp>
      <p:pic>
        <p:nvPicPr>
          <p:cNvPr id="11" name="Image 1" descr="/home/claude/coa_ppt/icons/thLarge_white.png"/>
          <p:cNvPicPr>
            <a:picLocks noChangeAspect="1"/>
          </p:cNvPicPr>
          <p:nvPr/>
        </p:nvPicPr>
        <p:blipFill>
          <a:blip r:embed="rId4"/>
          <a:stretch>
            <a:fillRect/>
          </a:stretch>
        </p:blipFill>
        <p:spPr>
          <a:xfrm>
            <a:off x="2075688" y="3904488"/>
            <a:ext cx="384048" cy="384048"/>
          </a:xfrm>
          <a:prstGeom prst="rect">
            <a:avLst/>
          </a:prstGeom>
        </p:spPr>
      </p:pic>
      <p:sp>
        <p:nvSpPr>
          <p:cNvPr id="12" name="Text 8"/>
          <p:cNvSpPr/>
          <p:nvPr/>
        </p:nvSpPr>
        <p:spPr>
          <a:xfrm>
            <a:off x="685800" y="4617720"/>
            <a:ext cx="3154680" cy="640080"/>
          </a:xfrm>
          <a:prstGeom prst="rect">
            <a:avLst/>
          </a:prstGeom>
          <a:noFill/>
          <a:ln/>
        </p:spPr>
        <p:txBody>
          <a:bodyPr wrap="square" lIns="0" tIns="0" rIns="0" bIns="0" rtlCol="0" anchor="ctr"/>
          <a:lstStyle/>
          <a:p>
            <a:pPr marL="0" indent="0" algn="ctr">
              <a:buNone/>
            </a:pPr>
            <a:r>
              <a:rPr lang="en-US" sz="1687" b="1" dirty="0">
                <a:solidFill>
                  <a:srgbClr val="16233F"/>
                </a:solidFill>
                <a:latin typeface="Calibri" pitchFamily="34" charset="0"/>
                <a:ea typeface="Calibri" pitchFamily="34" charset="-122"/>
                <a:cs typeface="Calibri" pitchFamily="34" charset="-120"/>
              </a:rPr>
              <a:t>Reduce Instruction Count</a:t>
            </a:r>
            <a:endParaRPr lang="en-US" sz="1350" dirty="0"/>
          </a:p>
        </p:txBody>
      </p:sp>
      <p:sp>
        <p:nvSpPr>
          <p:cNvPr id="13" name="Text 9"/>
          <p:cNvSpPr/>
          <p:nvPr/>
        </p:nvSpPr>
        <p:spPr>
          <a:xfrm>
            <a:off x="685800" y="5257800"/>
            <a:ext cx="3154680" cy="548640"/>
          </a:xfrm>
          <a:prstGeom prst="rect">
            <a:avLst/>
          </a:prstGeom>
          <a:noFill/>
          <a:ln/>
        </p:spPr>
        <p:txBody>
          <a:bodyPr wrap="square" lIns="0" tIns="0" rIns="0" bIns="0" rtlCol="0" anchor="ctr"/>
          <a:lstStyle/>
          <a:p>
            <a:pPr marL="0" indent="0" algn="ctr">
              <a:buNone/>
            </a:pPr>
            <a:r>
              <a:rPr lang="en-US" sz="1437" dirty="0">
                <a:solidFill>
                  <a:srgbClr val="6B7A90"/>
                </a:solidFill>
                <a:latin typeface="Calibri" pitchFamily="34" charset="0"/>
                <a:ea typeface="Calibri" pitchFamily="34" charset="-122"/>
                <a:cs typeface="Calibri" pitchFamily="34" charset="-120"/>
              </a:rPr>
              <a:t>Better compiler / algorithm</a:t>
            </a:r>
            <a:endParaRPr lang="en-US" sz="1150" dirty="0"/>
          </a:p>
        </p:txBody>
      </p:sp>
      <p:sp>
        <p:nvSpPr>
          <p:cNvPr id="14" name="Shape 10"/>
          <p:cNvSpPr/>
          <p:nvPr/>
        </p:nvSpPr>
        <p:spPr>
          <a:xfrm>
            <a:off x="4251960" y="3474720"/>
            <a:ext cx="3520440" cy="2468880"/>
          </a:xfrm>
          <a:prstGeom prst="roundRect">
            <a:avLst>
              <a:gd name="adj" fmla="val 4444"/>
            </a:avLst>
          </a:prstGeom>
          <a:solidFill>
            <a:srgbClr val="E9EEF5"/>
          </a:solidFill>
          <a:ln/>
        </p:spPr>
        <p:txBody>
          <a:bodyPr/>
          <a:lstStyle/>
          <a:p>
            <a:endParaRPr/>
          </a:p>
        </p:txBody>
      </p:sp>
      <p:sp>
        <p:nvSpPr>
          <p:cNvPr id="15" name="Shape 11"/>
          <p:cNvSpPr/>
          <p:nvPr/>
        </p:nvSpPr>
        <p:spPr>
          <a:xfrm>
            <a:off x="5623560" y="3703320"/>
            <a:ext cx="777240" cy="777240"/>
          </a:xfrm>
          <a:prstGeom prst="ellipse">
            <a:avLst/>
          </a:prstGeom>
          <a:solidFill>
            <a:srgbClr val="3B5A77"/>
          </a:solidFill>
          <a:ln/>
        </p:spPr>
        <p:txBody>
          <a:bodyPr/>
          <a:lstStyle/>
          <a:p>
            <a:endParaRPr/>
          </a:p>
        </p:txBody>
      </p:sp>
      <p:pic>
        <p:nvPicPr>
          <p:cNvPr id="16" name="Image 2" descr="/home/claude/coa_ppt/icons/microchip_white.png"/>
          <p:cNvPicPr>
            <a:picLocks noChangeAspect="1"/>
          </p:cNvPicPr>
          <p:nvPr/>
        </p:nvPicPr>
        <p:blipFill>
          <a:blip r:embed="rId5"/>
          <a:stretch>
            <a:fillRect/>
          </a:stretch>
        </p:blipFill>
        <p:spPr>
          <a:xfrm>
            <a:off x="5824728" y="3904488"/>
            <a:ext cx="384048" cy="384048"/>
          </a:xfrm>
          <a:prstGeom prst="rect">
            <a:avLst/>
          </a:prstGeom>
        </p:spPr>
      </p:pic>
      <p:sp>
        <p:nvSpPr>
          <p:cNvPr id="17" name="Text 12"/>
          <p:cNvSpPr/>
          <p:nvPr/>
        </p:nvSpPr>
        <p:spPr>
          <a:xfrm>
            <a:off x="4434840" y="4617720"/>
            <a:ext cx="3154680" cy="640080"/>
          </a:xfrm>
          <a:prstGeom prst="rect">
            <a:avLst/>
          </a:prstGeom>
          <a:noFill/>
          <a:ln/>
        </p:spPr>
        <p:txBody>
          <a:bodyPr wrap="square" lIns="0" tIns="0" rIns="0" bIns="0" rtlCol="0" anchor="ctr"/>
          <a:lstStyle/>
          <a:p>
            <a:pPr marL="0" indent="0" algn="ctr">
              <a:buNone/>
            </a:pPr>
            <a:r>
              <a:rPr lang="en-US" sz="1687" b="1" dirty="0">
                <a:solidFill>
                  <a:srgbClr val="16233F"/>
                </a:solidFill>
                <a:latin typeface="Calibri" pitchFamily="34" charset="0"/>
                <a:ea typeface="Calibri" pitchFamily="34" charset="-122"/>
                <a:cs typeface="Calibri" pitchFamily="34" charset="-120"/>
              </a:rPr>
              <a:t>Reduce CPI</a:t>
            </a:r>
            <a:endParaRPr lang="en-US" sz="1350" dirty="0"/>
          </a:p>
        </p:txBody>
      </p:sp>
      <p:sp>
        <p:nvSpPr>
          <p:cNvPr id="18" name="Text 13"/>
          <p:cNvSpPr/>
          <p:nvPr/>
        </p:nvSpPr>
        <p:spPr>
          <a:xfrm>
            <a:off x="4434840" y="5257800"/>
            <a:ext cx="3154680" cy="548640"/>
          </a:xfrm>
          <a:prstGeom prst="rect">
            <a:avLst/>
          </a:prstGeom>
          <a:noFill/>
          <a:ln/>
        </p:spPr>
        <p:txBody>
          <a:bodyPr wrap="square" lIns="0" tIns="0" rIns="0" bIns="0" rtlCol="0" anchor="ctr"/>
          <a:lstStyle/>
          <a:p>
            <a:pPr marL="0" indent="0" algn="ctr">
              <a:buNone/>
            </a:pPr>
            <a:r>
              <a:rPr lang="en-US" sz="1437" dirty="0">
                <a:solidFill>
                  <a:srgbClr val="6B7A90"/>
                </a:solidFill>
                <a:latin typeface="Calibri" pitchFamily="34" charset="0"/>
                <a:ea typeface="Calibri" pitchFamily="34" charset="-122"/>
                <a:cs typeface="Calibri" pitchFamily="34" charset="-120"/>
              </a:rPr>
              <a:t>Better processor design</a:t>
            </a:r>
            <a:endParaRPr lang="en-US" sz="1150" dirty="0"/>
          </a:p>
        </p:txBody>
      </p:sp>
      <p:sp>
        <p:nvSpPr>
          <p:cNvPr id="19" name="Shape 14"/>
          <p:cNvSpPr/>
          <p:nvPr/>
        </p:nvSpPr>
        <p:spPr>
          <a:xfrm>
            <a:off x="8001000" y="3474720"/>
            <a:ext cx="3520440" cy="2468880"/>
          </a:xfrm>
          <a:prstGeom prst="roundRect">
            <a:avLst>
              <a:gd name="adj" fmla="val 4444"/>
            </a:avLst>
          </a:prstGeom>
          <a:solidFill>
            <a:srgbClr val="E9EEF5"/>
          </a:solidFill>
          <a:ln/>
        </p:spPr>
        <p:txBody>
          <a:bodyPr/>
          <a:lstStyle/>
          <a:p>
            <a:endParaRPr/>
          </a:p>
        </p:txBody>
      </p:sp>
      <p:sp>
        <p:nvSpPr>
          <p:cNvPr id="20" name="Shape 15"/>
          <p:cNvSpPr/>
          <p:nvPr/>
        </p:nvSpPr>
        <p:spPr>
          <a:xfrm>
            <a:off x="9372600" y="3703320"/>
            <a:ext cx="777240" cy="777240"/>
          </a:xfrm>
          <a:prstGeom prst="ellipse">
            <a:avLst/>
          </a:prstGeom>
          <a:solidFill>
            <a:srgbClr val="3B5A77"/>
          </a:solidFill>
          <a:ln/>
        </p:spPr>
        <p:txBody>
          <a:bodyPr/>
          <a:lstStyle/>
          <a:p>
            <a:endParaRPr/>
          </a:p>
        </p:txBody>
      </p:sp>
      <p:pic>
        <p:nvPicPr>
          <p:cNvPr id="21" name="Image 3" descr="/home/claude/coa_ppt/icons/clock_white.png"/>
          <p:cNvPicPr>
            <a:picLocks noChangeAspect="1"/>
          </p:cNvPicPr>
          <p:nvPr/>
        </p:nvPicPr>
        <p:blipFill>
          <a:blip r:embed="rId6"/>
          <a:stretch>
            <a:fillRect/>
          </a:stretch>
        </p:blipFill>
        <p:spPr>
          <a:xfrm>
            <a:off x="9573768" y="3904488"/>
            <a:ext cx="384048" cy="384048"/>
          </a:xfrm>
          <a:prstGeom prst="rect">
            <a:avLst/>
          </a:prstGeom>
        </p:spPr>
      </p:pic>
      <p:sp>
        <p:nvSpPr>
          <p:cNvPr id="22" name="Text 16"/>
          <p:cNvSpPr/>
          <p:nvPr/>
        </p:nvSpPr>
        <p:spPr>
          <a:xfrm>
            <a:off x="8183880" y="4617720"/>
            <a:ext cx="3154680" cy="640080"/>
          </a:xfrm>
          <a:prstGeom prst="rect">
            <a:avLst/>
          </a:prstGeom>
          <a:noFill/>
          <a:ln/>
        </p:spPr>
        <p:txBody>
          <a:bodyPr wrap="square" lIns="0" tIns="0" rIns="0" bIns="0" rtlCol="0" anchor="ctr"/>
          <a:lstStyle/>
          <a:p>
            <a:pPr marL="0" indent="0" algn="ctr">
              <a:buNone/>
            </a:pPr>
            <a:r>
              <a:rPr lang="en-US" sz="1687" b="1" dirty="0">
                <a:solidFill>
                  <a:srgbClr val="16233F"/>
                </a:solidFill>
                <a:latin typeface="Calibri" pitchFamily="34" charset="0"/>
                <a:ea typeface="Calibri" pitchFamily="34" charset="-122"/>
                <a:cs typeface="Calibri" pitchFamily="34" charset="-120"/>
              </a:rPr>
              <a:t>Reduce Clock Cycle Time</a:t>
            </a:r>
            <a:endParaRPr lang="en-US" sz="1350" dirty="0"/>
          </a:p>
        </p:txBody>
      </p:sp>
      <p:sp>
        <p:nvSpPr>
          <p:cNvPr id="23" name="Text 17"/>
          <p:cNvSpPr/>
          <p:nvPr/>
        </p:nvSpPr>
        <p:spPr>
          <a:xfrm>
            <a:off x="8183880" y="5257800"/>
            <a:ext cx="3154680" cy="548640"/>
          </a:xfrm>
          <a:prstGeom prst="rect">
            <a:avLst/>
          </a:prstGeom>
          <a:noFill/>
          <a:ln/>
        </p:spPr>
        <p:txBody>
          <a:bodyPr wrap="square" lIns="0" tIns="0" rIns="0" bIns="0" rtlCol="0" anchor="ctr"/>
          <a:lstStyle/>
          <a:p>
            <a:pPr marL="0" indent="0" algn="ctr">
              <a:buNone/>
            </a:pPr>
            <a:r>
              <a:rPr lang="en-US" sz="1437" dirty="0">
                <a:solidFill>
                  <a:srgbClr val="6B7A90"/>
                </a:solidFill>
                <a:latin typeface="Calibri" pitchFamily="34" charset="0"/>
                <a:ea typeface="Calibri" pitchFamily="34" charset="-122"/>
                <a:cs typeface="Calibri" pitchFamily="34" charset="-120"/>
              </a:rPr>
              <a:t>Higher clock rate — has limits</a:t>
            </a:r>
            <a:endParaRPr lang="en-US" sz="1150" dirty="0"/>
          </a:p>
        </p:txBody>
      </p:sp>
      <p:sp>
        <p:nvSpPr>
          <p:cNvPr id="24" name="Text 18"/>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TECHNOLOGY SCALING</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Technology Scaling — Moore's Law</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chartLine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502920" y="1600200"/>
            <a:ext cx="4846320" cy="3840480"/>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Moore's Law (1965): transistor count roughly doubles every 2 years</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More transistors → more computing power in the same chip area</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Enabled by shrinking transistor size (5nm, 3nm today)</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Moore's Law is slowing down due to physical limits</a:t>
            </a:r>
            <a:endParaRPr lang="en-US" sz="1550" dirty="0"/>
          </a:p>
        </p:txBody>
      </p:sp>
      <p:graphicFrame>
        <p:nvGraphicFramePr>
          <p:cNvPr id="7" name="Chart 0"/>
          <p:cNvGraphicFramePr/>
          <p:nvPr/>
        </p:nvGraphicFramePr>
        <p:xfrm>
          <a:off x="5394960" y="1737360"/>
          <a:ext cx="621792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TECHNOLOGY SCALING</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The Power Wall</a:t>
            </a:r>
            <a:endParaRPr lang="en-US" sz="3000" dirty="0"/>
          </a:p>
        </p:txBody>
      </p:sp>
      <p:sp>
        <p:nvSpPr>
          <p:cNvPr id="4" name="Shape 2"/>
          <p:cNvSpPr/>
          <p:nvPr/>
        </p:nvSpPr>
        <p:spPr>
          <a:xfrm>
            <a:off x="10954512" y="457200"/>
            <a:ext cx="868680" cy="868680"/>
          </a:xfrm>
          <a:prstGeom prst="ellipse">
            <a:avLst/>
          </a:prstGeom>
          <a:solidFill>
            <a:srgbClr val="E85D4C"/>
          </a:solidFill>
          <a:ln/>
        </p:spPr>
        <p:txBody>
          <a:bodyPr/>
          <a:lstStyle/>
          <a:p>
            <a:endParaRPr/>
          </a:p>
        </p:txBody>
      </p:sp>
      <p:pic>
        <p:nvPicPr>
          <p:cNvPr id="5" name="Image 0" descr="/home/claude/coa_ppt/icons/fire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502920" y="1600200"/>
            <a:ext cx="4846320" cy="3840480"/>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Power consumption increases roughly with the CUBE of clock frequency</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Higher clock speed → more heat → cooling becomes impractical</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~2004–2005: industry hit the Power Wall around 3–4 GHz</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Shift: instead of “faster cores,” build “more cores”</a:t>
            </a:r>
            <a:endParaRPr lang="en-US" sz="1550" dirty="0"/>
          </a:p>
        </p:txBody>
      </p:sp>
      <p:graphicFrame>
        <p:nvGraphicFramePr>
          <p:cNvPr id="7" name="Chart 0"/>
          <p:cNvGraphicFramePr/>
          <p:nvPr/>
        </p:nvGraphicFramePr>
        <p:xfrm>
          <a:off x="5394960" y="1737360"/>
          <a:ext cx="621792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3249" y="16800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PARALLELISM</a:t>
            </a:r>
            <a:endParaRPr lang="en-US" sz="1300" dirty="0"/>
          </a:p>
        </p:txBody>
      </p:sp>
      <p:sp>
        <p:nvSpPr>
          <p:cNvPr id="3" name="Text 1"/>
          <p:cNvSpPr/>
          <p:nvPr/>
        </p:nvSpPr>
        <p:spPr>
          <a:xfrm>
            <a:off x="473249" y="45290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Introducing Parallelism</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layerGroup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384048" y="921324"/>
            <a:ext cx="10881360" cy="943287"/>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Parallelism = doing multiple things at the same time instead of one after another</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Born from necessity: clock speed alone couldn't keep improving performance</a:t>
            </a:r>
            <a:endParaRPr lang="en-US" sz="1550" dirty="0"/>
          </a:p>
        </p:txBody>
      </p:sp>
      <p:sp>
        <p:nvSpPr>
          <p:cNvPr id="7" name="Shape 4"/>
          <p:cNvSpPr/>
          <p:nvPr/>
        </p:nvSpPr>
        <p:spPr>
          <a:xfrm>
            <a:off x="502920" y="4070722"/>
            <a:ext cx="3520440" cy="1872877"/>
          </a:xfrm>
          <a:prstGeom prst="roundRect">
            <a:avLst>
              <a:gd name="adj" fmla="val 4068"/>
            </a:avLst>
          </a:prstGeom>
          <a:solidFill>
            <a:srgbClr val="E9EEF5"/>
          </a:solidFill>
          <a:ln/>
        </p:spPr>
        <p:txBody>
          <a:bodyPr/>
          <a:lstStyle/>
          <a:p>
            <a:endParaRPr/>
          </a:p>
        </p:txBody>
      </p:sp>
      <p:sp>
        <p:nvSpPr>
          <p:cNvPr id="8" name="Shape 5"/>
          <p:cNvSpPr/>
          <p:nvPr/>
        </p:nvSpPr>
        <p:spPr>
          <a:xfrm>
            <a:off x="1799805" y="4210122"/>
            <a:ext cx="777240" cy="777240"/>
          </a:xfrm>
          <a:prstGeom prst="ellipse">
            <a:avLst/>
          </a:prstGeom>
          <a:solidFill>
            <a:srgbClr val="3B5A77"/>
          </a:solidFill>
          <a:ln/>
        </p:spPr>
        <p:txBody>
          <a:bodyPr/>
          <a:lstStyle/>
          <a:p>
            <a:endParaRPr/>
          </a:p>
        </p:txBody>
      </p:sp>
      <p:pic>
        <p:nvPicPr>
          <p:cNvPr id="9" name="Image 1" descr="/home/claude/coa_ppt/icons/stream_white.png"/>
          <p:cNvPicPr>
            <a:picLocks noChangeAspect="1"/>
          </p:cNvPicPr>
          <p:nvPr/>
        </p:nvPicPr>
        <p:blipFill>
          <a:blip r:embed="rId4"/>
          <a:stretch>
            <a:fillRect/>
          </a:stretch>
        </p:blipFill>
        <p:spPr>
          <a:xfrm>
            <a:off x="2075688" y="3721608"/>
            <a:ext cx="384048" cy="384048"/>
          </a:xfrm>
          <a:prstGeom prst="rect">
            <a:avLst/>
          </a:prstGeom>
        </p:spPr>
      </p:pic>
      <p:sp>
        <p:nvSpPr>
          <p:cNvPr id="10" name="Text 6"/>
          <p:cNvSpPr/>
          <p:nvPr/>
        </p:nvSpPr>
        <p:spPr>
          <a:xfrm>
            <a:off x="667385" y="5124932"/>
            <a:ext cx="3154680" cy="1280160"/>
          </a:xfrm>
          <a:prstGeom prst="rect">
            <a:avLst/>
          </a:prstGeom>
          <a:noFill/>
          <a:ln/>
        </p:spPr>
        <p:txBody>
          <a:bodyPr wrap="square" lIns="0" tIns="0" rIns="0" bIns="0" rtlCol="0" anchor="t"/>
          <a:lstStyle/>
          <a:p>
            <a:pPr marL="0" indent="0" algn="ctr">
              <a:lnSpc>
                <a:spcPct val="115000"/>
              </a:lnSpc>
              <a:buNone/>
            </a:pPr>
            <a:r>
              <a:rPr lang="en-US" sz="1875" b="1" dirty="0">
                <a:solidFill>
                  <a:srgbClr val="16233F"/>
                </a:solidFill>
                <a:latin typeface="Calibri" pitchFamily="34" charset="0"/>
                <a:ea typeface="Calibri" pitchFamily="34" charset="-122"/>
                <a:cs typeface="Calibri" pitchFamily="34" charset="-120"/>
              </a:rPr>
              <a:t>Instruction-Level</a:t>
            </a:r>
            <a:endParaRPr lang="en-US" sz="1500" dirty="0"/>
          </a:p>
          <a:p>
            <a:pPr marL="0" indent="0" algn="ctr">
              <a:lnSpc>
                <a:spcPct val="115000"/>
              </a:lnSpc>
              <a:buNone/>
            </a:pPr>
            <a:r>
              <a:rPr lang="en-US" sz="1875" b="1" dirty="0">
                <a:solidFill>
                  <a:srgbClr val="16233F"/>
                </a:solidFill>
                <a:latin typeface="Calibri" pitchFamily="34" charset="0"/>
                <a:ea typeface="Calibri" pitchFamily="34" charset="-122"/>
                <a:cs typeface="Calibri" pitchFamily="34" charset="-120"/>
              </a:rPr>
              <a:t>Parallelism (ILP)</a:t>
            </a:r>
            <a:endParaRPr lang="en-US" sz="1500" dirty="0"/>
          </a:p>
        </p:txBody>
      </p:sp>
      <p:sp>
        <p:nvSpPr>
          <p:cNvPr id="11" name="Shape 7"/>
          <p:cNvSpPr/>
          <p:nvPr/>
        </p:nvSpPr>
        <p:spPr>
          <a:xfrm>
            <a:off x="4268685" y="4117282"/>
            <a:ext cx="3520440" cy="2351314"/>
          </a:xfrm>
          <a:prstGeom prst="roundRect">
            <a:avLst>
              <a:gd name="adj" fmla="val 4068"/>
            </a:avLst>
          </a:prstGeom>
          <a:solidFill>
            <a:srgbClr val="16233F"/>
          </a:solidFill>
          <a:ln/>
        </p:spPr>
        <p:txBody>
          <a:bodyPr/>
          <a:lstStyle/>
          <a:p>
            <a:endParaRPr/>
          </a:p>
        </p:txBody>
      </p:sp>
      <p:sp>
        <p:nvSpPr>
          <p:cNvPr id="12" name="Shape 8"/>
          <p:cNvSpPr/>
          <p:nvPr/>
        </p:nvSpPr>
        <p:spPr>
          <a:xfrm>
            <a:off x="5640285" y="4070722"/>
            <a:ext cx="777240" cy="777240"/>
          </a:xfrm>
          <a:prstGeom prst="ellipse">
            <a:avLst/>
          </a:prstGeom>
          <a:solidFill>
            <a:srgbClr val="2FD1C6"/>
          </a:solidFill>
          <a:ln/>
        </p:spPr>
        <p:txBody>
          <a:bodyPr/>
          <a:lstStyle/>
          <a:p>
            <a:endParaRPr/>
          </a:p>
        </p:txBody>
      </p:sp>
      <p:pic>
        <p:nvPicPr>
          <p:cNvPr id="13" name="Image 2" descr="/home/claude/coa_ppt/icons/thLarge_white.png"/>
          <p:cNvPicPr>
            <a:picLocks noChangeAspect="1"/>
          </p:cNvPicPr>
          <p:nvPr/>
        </p:nvPicPr>
        <p:blipFill>
          <a:blip r:embed="rId5"/>
          <a:stretch>
            <a:fillRect/>
          </a:stretch>
        </p:blipFill>
        <p:spPr>
          <a:xfrm>
            <a:off x="5854049" y="4113139"/>
            <a:ext cx="384048" cy="384048"/>
          </a:xfrm>
          <a:prstGeom prst="rect">
            <a:avLst/>
          </a:prstGeom>
        </p:spPr>
      </p:pic>
      <p:sp>
        <p:nvSpPr>
          <p:cNvPr id="14" name="Text 9"/>
          <p:cNvSpPr/>
          <p:nvPr/>
        </p:nvSpPr>
        <p:spPr>
          <a:xfrm>
            <a:off x="4433150" y="5037951"/>
            <a:ext cx="3154680" cy="1280160"/>
          </a:xfrm>
          <a:prstGeom prst="rect">
            <a:avLst/>
          </a:prstGeom>
          <a:noFill/>
          <a:ln/>
        </p:spPr>
        <p:txBody>
          <a:bodyPr wrap="square" lIns="0" tIns="0" rIns="0" bIns="0" rtlCol="0" anchor="t"/>
          <a:lstStyle/>
          <a:p>
            <a:pPr marL="0" indent="0" algn="ctr">
              <a:lnSpc>
                <a:spcPct val="115000"/>
              </a:lnSpc>
              <a:buNone/>
            </a:pPr>
            <a:r>
              <a:rPr lang="en-US" sz="1875" b="1" dirty="0">
                <a:solidFill>
                  <a:srgbClr val="FFFFFF"/>
                </a:solidFill>
                <a:latin typeface="Calibri" pitchFamily="34" charset="0"/>
                <a:ea typeface="Calibri" pitchFamily="34" charset="-122"/>
                <a:cs typeface="Calibri" pitchFamily="34" charset="-120"/>
              </a:rPr>
              <a:t>Data-Level</a:t>
            </a:r>
            <a:endParaRPr lang="en-US" sz="1500" dirty="0"/>
          </a:p>
          <a:p>
            <a:pPr marL="0" indent="0" algn="ctr">
              <a:lnSpc>
                <a:spcPct val="115000"/>
              </a:lnSpc>
              <a:buNone/>
            </a:pPr>
            <a:r>
              <a:rPr lang="en-US" sz="1875" b="1" dirty="0">
                <a:solidFill>
                  <a:srgbClr val="FFFFFF"/>
                </a:solidFill>
                <a:latin typeface="Calibri" pitchFamily="34" charset="0"/>
                <a:ea typeface="Calibri" pitchFamily="34" charset="-122"/>
                <a:cs typeface="Calibri" pitchFamily="34" charset="-120"/>
              </a:rPr>
              <a:t>Parallelism (DLP)</a:t>
            </a:r>
            <a:endParaRPr lang="en-US" sz="1500" dirty="0"/>
          </a:p>
        </p:txBody>
      </p:sp>
      <p:sp>
        <p:nvSpPr>
          <p:cNvPr id="15" name="Shape 10"/>
          <p:cNvSpPr/>
          <p:nvPr/>
        </p:nvSpPr>
        <p:spPr>
          <a:xfrm>
            <a:off x="8001000" y="4004251"/>
            <a:ext cx="3520440" cy="1939348"/>
          </a:xfrm>
          <a:prstGeom prst="roundRect">
            <a:avLst>
              <a:gd name="adj" fmla="val 4068"/>
            </a:avLst>
          </a:prstGeom>
          <a:solidFill>
            <a:srgbClr val="E9EEF5"/>
          </a:solidFill>
          <a:ln/>
        </p:spPr>
        <p:txBody>
          <a:bodyPr/>
          <a:lstStyle/>
          <a:p>
            <a:endParaRPr/>
          </a:p>
        </p:txBody>
      </p:sp>
      <p:sp>
        <p:nvSpPr>
          <p:cNvPr id="16" name="Shape 11"/>
          <p:cNvSpPr/>
          <p:nvPr/>
        </p:nvSpPr>
        <p:spPr>
          <a:xfrm>
            <a:off x="9372600" y="4229920"/>
            <a:ext cx="777240" cy="777240"/>
          </a:xfrm>
          <a:prstGeom prst="ellipse">
            <a:avLst/>
          </a:prstGeom>
          <a:solidFill>
            <a:srgbClr val="3B5A77"/>
          </a:solidFill>
          <a:ln/>
        </p:spPr>
        <p:txBody>
          <a:bodyPr/>
          <a:lstStyle/>
          <a:p>
            <a:endParaRPr/>
          </a:p>
        </p:txBody>
      </p:sp>
      <p:pic>
        <p:nvPicPr>
          <p:cNvPr id="17" name="Image 3" descr="/home/claude/coa_ppt/icons/server_white.png"/>
          <p:cNvPicPr>
            <a:picLocks noChangeAspect="1"/>
          </p:cNvPicPr>
          <p:nvPr/>
        </p:nvPicPr>
        <p:blipFill>
          <a:blip r:embed="rId6"/>
          <a:stretch>
            <a:fillRect/>
          </a:stretch>
        </p:blipFill>
        <p:spPr>
          <a:xfrm>
            <a:off x="9573768" y="3904488"/>
            <a:ext cx="384048" cy="201168"/>
          </a:xfrm>
          <a:prstGeom prst="rect">
            <a:avLst/>
          </a:prstGeom>
        </p:spPr>
      </p:pic>
      <p:sp>
        <p:nvSpPr>
          <p:cNvPr id="18" name="Text 12"/>
          <p:cNvSpPr/>
          <p:nvPr/>
        </p:nvSpPr>
        <p:spPr>
          <a:xfrm>
            <a:off x="8183880" y="4980568"/>
            <a:ext cx="3154680" cy="1280160"/>
          </a:xfrm>
          <a:prstGeom prst="rect">
            <a:avLst/>
          </a:prstGeom>
          <a:noFill/>
          <a:ln/>
        </p:spPr>
        <p:txBody>
          <a:bodyPr wrap="square" lIns="0" tIns="0" rIns="0" bIns="0" rtlCol="0" anchor="t"/>
          <a:lstStyle/>
          <a:p>
            <a:pPr marL="0" indent="0" algn="ctr">
              <a:lnSpc>
                <a:spcPct val="115000"/>
              </a:lnSpc>
              <a:buNone/>
            </a:pPr>
            <a:r>
              <a:rPr lang="en-US" sz="1875" b="1" dirty="0">
                <a:solidFill>
                  <a:srgbClr val="16233F"/>
                </a:solidFill>
                <a:latin typeface="Calibri" pitchFamily="34" charset="0"/>
                <a:ea typeface="Calibri" pitchFamily="34" charset="-122"/>
                <a:cs typeface="Calibri" pitchFamily="34" charset="-120"/>
              </a:rPr>
              <a:t>Thread-Level</a:t>
            </a:r>
            <a:endParaRPr lang="en-US" sz="1500" dirty="0"/>
          </a:p>
          <a:p>
            <a:pPr marL="0" indent="0" algn="ctr">
              <a:lnSpc>
                <a:spcPct val="115000"/>
              </a:lnSpc>
              <a:buNone/>
            </a:pPr>
            <a:r>
              <a:rPr lang="en-US" sz="1875" b="1" dirty="0">
                <a:solidFill>
                  <a:srgbClr val="16233F"/>
                </a:solidFill>
                <a:latin typeface="Calibri" pitchFamily="34" charset="0"/>
                <a:ea typeface="Calibri" pitchFamily="34" charset="-122"/>
                <a:cs typeface="Calibri" pitchFamily="34" charset="-120"/>
              </a:rPr>
              <a:t>Parallelism (TLP)</a:t>
            </a:r>
            <a:endParaRPr lang="en-US" sz="1500" dirty="0"/>
          </a:p>
        </p:txBody>
      </p:sp>
      <p:sp>
        <p:nvSpPr>
          <p:cNvPr id="19" name="Text 13"/>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pic>
        <p:nvPicPr>
          <p:cNvPr id="21" name="Picture 20">
            <a:extLst>
              <a:ext uri="{FF2B5EF4-FFF2-40B4-BE49-F238E27FC236}">
                <a16:creationId xmlns:a16="http://schemas.microsoft.com/office/drawing/2014/main" id="{FDC48277-281A-4146-2605-B3E89360D6ED}"/>
              </a:ext>
            </a:extLst>
          </p:cNvPr>
          <p:cNvPicPr>
            <a:picLocks noChangeAspect="1"/>
          </p:cNvPicPr>
          <p:nvPr/>
        </p:nvPicPr>
        <p:blipFill>
          <a:blip r:embed="rId7"/>
          <a:stretch>
            <a:fillRect/>
          </a:stretch>
        </p:blipFill>
        <p:spPr>
          <a:xfrm>
            <a:off x="384048" y="1690819"/>
            <a:ext cx="8468907" cy="210476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F74D68-CEDE-2652-E9C8-13E12972F9C0}"/>
              </a:ext>
            </a:extLst>
          </p:cNvPr>
          <p:cNvSpPr txBox="1"/>
          <p:nvPr/>
        </p:nvSpPr>
        <p:spPr>
          <a:xfrm>
            <a:off x="1166327" y="304047"/>
            <a:ext cx="8747449" cy="3416320"/>
          </a:xfrm>
          <a:prstGeom prst="rect">
            <a:avLst/>
          </a:prstGeom>
          <a:noFill/>
        </p:spPr>
        <p:txBody>
          <a:bodyPr wrap="square">
            <a:spAutoFit/>
          </a:bodyPr>
          <a:lstStyle/>
          <a:p>
            <a:pPr>
              <a:buNone/>
            </a:pPr>
            <a:r>
              <a:rPr lang="en-US" b="1" dirty="0"/>
              <a:t>What is Pipelining?</a:t>
            </a:r>
          </a:p>
          <a:p>
            <a:pPr>
              <a:buNone/>
            </a:pPr>
            <a:r>
              <a:rPr lang="en-US" b="1" dirty="0"/>
              <a:t>Pipelining</a:t>
            </a:r>
            <a:r>
              <a:rPr lang="en-US" dirty="0"/>
              <a:t> is a technique in computer architecture where the execution of an instruction is divided into </a:t>
            </a:r>
            <a:r>
              <a:rPr lang="en-US" b="1" dirty="0"/>
              <a:t>multiple stages</a:t>
            </a:r>
            <a:r>
              <a:rPr lang="en-US" dirty="0"/>
              <a:t>, and different instructions are processed in different stages </a:t>
            </a:r>
            <a:r>
              <a:rPr lang="en-US" b="1" dirty="0"/>
              <a:t>simultaneously</a:t>
            </a:r>
            <a:r>
              <a:rPr lang="en-US" dirty="0"/>
              <a:t>.</a:t>
            </a:r>
          </a:p>
          <a:p>
            <a:pPr>
              <a:buNone/>
            </a:pPr>
            <a:r>
              <a:rPr lang="en-US" dirty="0"/>
              <a:t>Think of it like an </a:t>
            </a:r>
            <a:r>
              <a:rPr lang="en-US" b="1" dirty="0"/>
              <a:t>assembly line in a factory</a:t>
            </a:r>
            <a:r>
              <a:rPr lang="en-US" dirty="0"/>
              <a:t>.</a:t>
            </a:r>
          </a:p>
          <a:p>
            <a:pPr>
              <a:buNone/>
            </a:pPr>
            <a:r>
              <a:rPr lang="en-US" b="1" dirty="0"/>
              <a:t>Simple Example</a:t>
            </a:r>
          </a:p>
          <a:p>
            <a:pPr>
              <a:buNone/>
            </a:pPr>
            <a:r>
              <a:rPr lang="en-US" dirty="0"/>
              <a:t>Suppose an instruction has 5 stages:</a:t>
            </a:r>
          </a:p>
          <a:p>
            <a:pPr>
              <a:buFont typeface="+mj-lt"/>
              <a:buAutoNum type="arabicPeriod"/>
            </a:pPr>
            <a:r>
              <a:rPr lang="en-US" b="1" dirty="0"/>
              <a:t>IF</a:t>
            </a:r>
            <a:r>
              <a:rPr lang="en-US" dirty="0"/>
              <a:t> – Instruction Fetch </a:t>
            </a:r>
          </a:p>
          <a:p>
            <a:pPr>
              <a:buFont typeface="+mj-lt"/>
              <a:buAutoNum type="arabicPeriod"/>
            </a:pPr>
            <a:r>
              <a:rPr lang="en-US" b="1" dirty="0"/>
              <a:t>ID</a:t>
            </a:r>
            <a:r>
              <a:rPr lang="en-US" dirty="0"/>
              <a:t> – Instruction Decode </a:t>
            </a:r>
          </a:p>
          <a:p>
            <a:pPr>
              <a:buFont typeface="+mj-lt"/>
              <a:buAutoNum type="arabicPeriod"/>
            </a:pPr>
            <a:r>
              <a:rPr lang="en-US" b="1" dirty="0"/>
              <a:t>EX</a:t>
            </a:r>
            <a:r>
              <a:rPr lang="en-US" dirty="0"/>
              <a:t> – Execute </a:t>
            </a:r>
          </a:p>
          <a:p>
            <a:pPr>
              <a:buFont typeface="+mj-lt"/>
              <a:buAutoNum type="arabicPeriod"/>
            </a:pPr>
            <a:r>
              <a:rPr lang="en-US" b="1" dirty="0"/>
              <a:t>MEM</a:t>
            </a:r>
            <a:r>
              <a:rPr lang="en-US" dirty="0"/>
              <a:t> – Memory Access </a:t>
            </a:r>
          </a:p>
          <a:p>
            <a:pPr>
              <a:buFont typeface="+mj-lt"/>
              <a:buAutoNum type="arabicPeriod"/>
            </a:pPr>
            <a:r>
              <a:rPr lang="en-US" b="1" dirty="0"/>
              <a:t>WB</a:t>
            </a:r>
            <a:r>
              <a:rPr lang="en-US" dirty="0"/>
              <a:t> – Write Back</a:t>
            </a:r>
          </a:p>
        </p:txBody>
      </p:sp>
    </p:spTree>
    <p:extLst>
      <p:ext uri="{BB962C8B-B14F-4D97-AF65-F5344CB8AC3E}">
        <p14:creationId xmlns:p14="http://schemas.microsoft.com/office/powerpoint/2010/main" val="410707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PARALLELISM · ILP</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Instruction-Level Parallelism — Pipelining</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stream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502920" y="1600200"/>
            <a:ext cx="10881360" cy="1737360"/>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Break execution into stages: Fetch → Decode → Execute → Memory → Writeback</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Multiple instructions overlap in different stages simultaneously</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Like an assembly line — while one instruction executes, another decodes</a:t>
            </a:r>
            <a:endParaRPr lang="en-US" sz="1550" dirty="0"/>
          </a:p>
        </p:txBody>
      </p:sp>
      <p:sp>
        <p:nvSpPr>
          <p:cNvPr id="7" name="Text 4"/>
          <p:cNvSpPr/>
          <p:nvPr/>
        </p:nvSpPr>
        <p:spPr>
          <a:xfrm>
            <a:off x="502920" y="3429000"/>
            <a:ext cx="822960" cy="420624"/>
          </a:xfrm>
          <a:prstGeom prst="rect">
            <a:avLst/>
          </a:prstGeom>
          <a:noFill/>
          <a:ln/>
        </p:spPr>
        <p:txBody>
          <a:bodyPr wrap="square" lIns="0" tIns="0" rIns="0" bIns="0" rtlCol="0" anchor="ctr"/>
          <a:lstStyle/>
          <a:p>
            <a:pPr marL="0" indent="0">
              <a:buNone/>
            </a:pPr>
            <a:r>
              <a:rPr lang="en-US" sz="1500" b="1" dirty="0">
                <a:solidFill>
                  <a:srgbClr val="3B5A77"/>
                </a:solidFill>
                <a:latin typeface="Calibri" pitchFamily="34" charset="0"/>
                <a:ea typeface="Calibri" pitchFamily="34" charset="-122"/>
                <a:cs typeface="Calibri" pitchFamily="34" charset="-120"/>
              </a:rPr>
              <a:t>IF</a:t>
            </a:r>
            <a:endParaRPr lang="en-US" sz="1200" dirty="0"/>
          </a:p>
        </p:txBody>
      </p:sp>
      <p:sp>
        <p:nvSpPr>
          <p:cNvPr id="8" name="Text 5"/>
          <p:cNvSpPr/>
          <p:nvPr/>
        </p:nvSpPr>
        <p:spPr>
          <a:xfrm>
            <a:off x="502920" y="3922776"/>
            <a:ext cx="822960" cy="420624"/>
          </a:xfrm>
          <a:prstGeom prst="rect">
            <a:avLst/>
          </a:prstGeom>
          <a:noFill/>
          <a:ln/>
        </p:spPr>
        <p:txBody>
          <a:bodyPr wrap="square" lIns="0" tIns="0" rIns="0" bIns="0" rtlCol="0" anchor="ctr"/>
          <a:lstStyle/>
          <a:p>
            <a:pPr marL="0" indent="0">
              <a:buNone/>
            </a:pPr>
            <a:r>
              <a:rPr lang="en-US" sz="1500" b="1" dirty="0">
                <a:solidFill>
                  <a:srgbClr val="3B5A77"/>
                </a:solidFill>
                <a:latin typeface="Calibri" pitchFamily="34" charset="0"/>
                <a:ea typeface="Calibri" pitchFamily="34" charset="-122"/>
                <a:cs typeface="Calibri" pitchFamily="34" charset="-120"/>
              </a:rPr>
              <a:t>ID</a:t>
            </a:r>
            <a:endParaRPr lang="en-US" sz="1200" dirty="0"/>
          </a:p>
        </p:txBody>
      </p:sp>
      <p:sp>
        <p:nvSpPr>
          <p:cNvPr id="9" name="Text 6"/>
          <p:cNvSpPr/>
          <p:nvPr/>
        </p:nvSpPr>
        <p:spPr>
          <a:xfrm>
            <a:off x="502920" y="4416552"/>
            <a:ext cx="822960" cy="420624"/>
          </a:xfrm>
          <a:prstGeom prst="rect">
            <a:avLst/>
          </a:prstGeom>
          <a:noFill/>
          <a:ln/>
        </p:spPr>
        <p:txBody>
          <a:bodyPr wrap="square" lIns="0" tIns="0" rIns="0" bIns="0" rtlCol="0" anchor="ctr"/>
          <a:lstStyle/>
          <a:p>
            <a:pPr marL="0" indent="0">
              <a:buNone/>
            </a:pPr>
            <a:r>
              <a:rPr lang="en-US" sz="1500" b="1" dirty="0">
                <a:solidFill>
                  <a:srgbClr val="3B5A77"/>
                </a:solidFill>
                <a:latin typeface="Calibri" pitchFamily="34" charset="0"/>
                <a:ea typeface="Calibri" pitchFamily="34" charset="-122"/>
                <a:cs typeface="Calibri" pitchFamily="34" charset="-120"/>
              </a:rPr>
              <a:t>EX</a:t>
            </a:r>
            <a:endParaRPr lang="en-US" sz="1200" dirty="0"/>
          </a:p>
        </p:txBody>
      </p:sp>
      <p:sp>
        <p:nvSpPr>
          <p:cNvPr id="10" name="Text 7"/>
          <p:cNvSpPr/>
          <p:nvPr/>
        </p:nvSpPr>
        <p:spPr>
          <a:xfrm>
            <a:off x="502920" y="4910328"/>
            <a:ext cx="822960" cy="420624"/>
          </a:xfrm>
          <a:prstGeom prst="rect">
            <a:avLst/>
          </a:prstGeom>
          <a:noFill/>
          <a:ln/>
        </p:spPr>
        <p:txBody>
          <a:bodyPr wrap="square" lIns="0" tIns="0" rIns="0" bIns="0" rtlCol="0" anchor="ctr"/>
          <a:lstStyle/>
          <a:p>
            <a:pPr marL="0" indent="0">
              <a:buNone/>
            </a:pPr>
            <a:r>
              <a:rPr lang="en-US" sz="1500" b="1" dirty="0">
                <a:solidFill>
                  <a:srgbClr val="3B5A77"/>
                </a:solidFill>
                <a:latin typeface="Calibri" pitchFamily="34" charset="0"/>
                <a:ea typeface="Calibri" pitchFamily="34" charset="-122"/>
                <a:cs typeface="Calibri" pitchFamily="34" charset="-120"/>
              </a:rPr>
              <a:t>MEM</a:t>
            </a:r>
            <a:endParaRPr lang="en-US" sz="1200" dirty="0"/>
          </a:p>
        </p:txBody>
      </p:sp>
      <p:sp>
        <p:nvSpPr>
          <p:cNvPr id="11" name="Text 8"/>
          <p:cNvSpPr/>
          <p:nvPr/>
        </p:nvSpPr>
        <p:spPr>
          <a:xfrm>
            <a:off x="502920" y="5404104"/>
            <a:ext cx="822960" cy="420624"/>
          </a:xfrm>
          <a:prstGeom prst="rect">
            <a:avLst/>
          </a:prstGeom>
          <a:noFill/>
          <a:ln/>
        </p:spPr>
        <p:txBody>
          <a:bodyPr wrap="square" lIns="0" tIns="0" rIns="0" bIns="0" rtlCol="0" anchor="ctr"/>
          <a:lstStyle/>
          <a:p>
            <a:pPr marL="0" indent="0">
              <a:buNone/>
            </a:pPr>
            <a:r>
              <a:rPr lang="en-US" sz="1500" b="1" dirty="0">
                <a:solidFill>
                  <a:srgbClr val="3B5A77"/>
                </a:solidFill>
                <a:latin typeface="Calibri" pitchFamily="34" charset="0"/>
                <a:ea typeface="Calibri" pitchFamily="34" charset="-122"/>
                <a:cs typeface="Calibri" pitchFamily="34" charset="-120"/>
              </a:rPr>
              <a:t>WB</a:t>
            </a:r>
            <a:endParaRPr lang="en-US" sz="1200" dirty="0"/>
          </a:p>
        </p:txBody>
      </p:sp>
      <p:sp>
        <p:nvSpPr>
          <p:cNvPr id="12" name="Shape 9"/>
          <p:cNvSpPr/>
          <p:nvPr/>
        </p:nvSpPr>
        <p:spPr>
          <a:xfrm>
            <a:off x="1417320" y="3429000"/>
            <a:ext cx="1344168" cy="420624"/>
          </a:xfrm>
          <a:prstGeom prst="roundRect">
            <a:avLst>
              <a:gd name="adj" fmla="val 10870"/>
            </a:avLst>
          </a:prstGeom>
          <a:solidFill>
            <a:srgbClr val="2FD1C6"/>
          </a:solidFill>
          <a:ln/>
        </p:spPr>
        <p:txBody>
          <a:bodyPr/>
          <a:lstStyle/>
          <a:p>
            <a:endParaRPr/>
          </a:p>
        </p:txBody>
      </p:sp>
      <p:sp>
        <p:nvSpPr>
          <p:cNvPr id="13" name="Text 10"/>
          <p:cNvSpPr/>
          <p:nvPr/>
        </p:nvSpPr>
        <p:spPr>
          <a:xfrm>
            <a:off x="1417320" y="3429000"/>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I1</a:t>
            </a:r>
            <a:endParaRPr lang="en-US" sz="1100" dirty="0"/>
          </a:p>
        </p:txBody>
      </p:sp>
      <p:sp>
        <p:nvSpPr>
          <p:cNvPr id="14" name="Shape 11"/>
          <p:cNvSpPr/>
          <p:nvPr/>
        </p:nvSpPr>
        <p:spPr>
          <a:xfrm>
            <a:off x="2834640" y="3913632"/>
            <a:ext cx="1344168" cy="420624"/>
          </a:xfrm>
          <a:prstGeom prst="roundRect">
            <a:avLst>
              <a:gd name="adj" fmla="val 10870"/>
            </a:avLst>
          </a:prstGeom>
          <a:solidFill>
            <a:srgbClr val="2FD1C6"/>
          </a:solidFill>
          <a:ln/>
        </p:spPr>
        <p:txBody>
          <a:bodyPr/>
          <a:lstStyle/>
          <a:p>
            <a:endParaRPr/>
          </a:p>
        </p:txBody>
      </p:sp>
      <p:sp>
        <p:nvSpPr>
          <p:cNvPr id="15" name="Text 12"/>
          <p:cNvSpPr/>
          <p:nvPr/>
        </p:nvSpPr>
        <p:spPr>
          <a:xfrm>
            <a:off x="2834640" y="3913632"/>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I1</a:t>
            </a:r>
            <a:endParaRPr lang="en-US" sz="1100" dirty="0"/>
          </a:p>
        </p:txBody>
      </p:sp>
      <p:sp>
        <p:nvSpPr>
          <p:cNvPr id="16" name="Shape 13"/>
          <p:cNvSpPr/>
          <p:nvPr/>
        </p:nvSpPr>
        <p:spPr>
          <a:xfrm>
            <a:off x="4251960" y="4398264"/>
            <a:ext cx="1344168" cy="420624"/>
          </a:xfrm>
          <a:prstGeom prst="roundRect">
            <a:avLst>
              <a:gd name="adj" fmla="val 10870"/>
            </a:avLst>
          </a:prstGeom>
          <a:solidFill>
            <a:srgbClr val="2FD1C6"/>
          </a:solidFill>
          <a:ln/>
        </p:spPr>
        <p:txBody>
          <a:bodyPr/>
          <a:lstStyle/>
          <a:p>
            <a:endParaRPr/>
          </a:p>
        </p:txBody>
      </p:sp>
      <p:sp>
        <p:nvSpPr>
          <p:cNvPr id="17" name="Text 14"/>
          <p:cNvSpPr/>
          <p:nvPr/>
        </p:nvSpPr>
        <p:spPr>
          <a:xfrm>
            <a:off x="4251960" y="4398264"/>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I1</a:t>
            </a:r>
            <a:endParaRPr lang="en-US" sz="1100" dirty="0"/>
          </a:p>
        </p:txBody>
      </p:sp>
      <p:sp>
        <p:nvSpPr>
          <p:cNvPr id="18" name="Shape 15"/>
          <p:cNvSpPr/>
          <p:nvPr/>
        </p:nvSpPr>
        <p:spPr>
          <a:xfrm>
            <a:off x="5669280" y="4882896"/>
            <a:ext cx="1344168" cy="420624"/>
          </a:xfrm>
          <a:prstGeom prst="roundRect">
            <a:avLst>
              <a:gd name="adj" fmla="val 10870"/>
            </a:avLst>
          </a:prstGeom>
          <a:solidFill>
            <a:srgbClr val="2FD1C6"/>
          </a:solidFill>
          <a:ln/>
        </p:spPr>
        <p:txBody>
          <a:bodyPr/>
          <a:lstStyle/>
          <a:p>
            <a:endParaRPr/>
          </a:p>
        </p:txBody>
      </p:sp>
      <p:sp>
        <p:nvSpPr>
          <p:cNvPr id="19" name="Text 16"/>
          <p:cNvSpPr/>
          <p:nvPr/>
        </p:nvSpPr>
        <p:spPr>
          <a:xfrm>
            <a:off x="5669280" y="4882896"/>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I1</a:t>
            </a:r>
            <a:endParaRPr lang="en-US" sz="1100" dirty="0"/>
          </a:p>
        </p:txBody>
      </p:sp>
      <p:sp>
        <p:nvSpPr>
          <p:cNvPr id="20" name="Shape 17"/>
          <p:cNvSpPr/>
          <p:nvPr/>
        </p:nvSpPr>
        <p:spPr>
          <a:xfrm>
            <a:off x="7086600" y="5367528"/>
            <a:ext cx="1344168" cy="420624"/>
          </a:xfrm>
          <a:prstGeom prst="roundRect">
            <a:avLst>
              <a:gd name="adj" fmla="val 10870"/>
            </a:avLst>
          </a:prstGeom>
          <a:solidFill>
            <a:srgbClr val="2FD1C6"/>
          </a:solidFill>
          <a:ln/>
        </p:spPr>
        <p:txBody>
          <a:bodyPr/>
          <a:lstStyle/>
          <a:p>
            <a:endParaRPr/>
          </a:p>
        </p:txBody>
      </p:sp>
      <p:sp>
        <p:nvSpPr>
          <p:cNvPr id="21" name="Text 18"/>
          <p:cNvSpPr/>
          <p:nvPr/>
        </p:nvSpPr>
        <p:spPr>
          <a:xfrm>
            <a:off x="7086600" y="5367528"/>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I1</a:t>
            </a:r>
            <a:endParaRPr lang="en-US" sz="1100" dirty="0"/>
          </a:p>
        </p:txBody>
      </p:sp>
      <p:sp>
        <p:nvSpPr>
          <p:cNvPr id="22" name="Shape 19"/>
          <p:cNvSpPr/>
          <p:nvPr/>
        </p:nvSpPr>
        <p:spPr>
          <a:xfrm>
            <a:off x="2834640" y="3429000"/>
            <a:ext cx="1344168" cy="420624"/>
          </a:xfrm>
          <a:prstGeom prst="roundRect">
            <a:avLst>
              <a:gd name="adj" fmla="val 10870"/>
            </a:avLst>
          </a:prstGeom>
          <a:solidFill>
            <a:srgbClr val="3B5A77"/>
          </a:solidFill>
          <a:ln/>
        </p:spPr>
        <p:txBody>
          <a:bodyPr/>
          <a:lstStyle/>
          <a:p>
            <a:endParaRPr/>
          </a:p>
        </p:txBody>
      </p:sp>
      <p:sp>
        <p:nvSpPr>
          <p:cNvPr id="23" name="Text 20"/>
          <p:cNvSpPr/>
          <p:nvPr/>
        </p:nvSpPr>
        <p:spPr>
          <a:xfrm>
            <a:off x="2834640" y="3429000"/>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I2</a:t>
            </a:r>
            <a:endParaRPr lang="en-US" sz="1100" dirty="0"/>
          </a:p>
        </p:txBody>
      </p:sp>
      <p:sp>
        <p:nvSpPr>
          <p:cNvPr id="24" name="Shape 21"/>
          <p:cNvSpPr/>
          <p:nvPr/>
        </p:nvSpPr>
        <p:spPr>
          <a:xfrm>
            <a:off x="4251960" y="3913632"/>
            <a:ext cx="1344168" cy="420624"/>
          </a:xfrm>
          <a:prstGeom prst="roundRect">
            <a:avLst>
              <a:gd name="adj" fmla="val 10870"/>
            </a:avLst>
          </a:prstGeom>
          <a:solidFill>
            <a:srgbClr val="3B5A77"/>
          </a:solidFill>
          <a:ln/>
        </p:spPr>
        <p:txBody>
          <a:bodyPr/>
          <a:lstStyle/>
          <a:p>
            <a:endParaRPr/>
          </a:p>
        </p:txBody>
      </p:sp>
      <p:sp>
        <p:nvSpPr>
          <p:cNvPr id="25" name="Text 22"/>
          <p:cNvSpPr/>
          <p:nvPr/>
        </p:nvSpPr>
        <p:spPr>
          <a:xfrm>
            <a:off x="4251960" y="3913632"/>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I2</a:t>
            </a:r>
            <a:endParaRPr lang="en-US" sz="1100" dirty="0"/>
          </a:p>
        </p:txBody>
      </p:sp>
      <p:sp>
        <p:nvSpPr>
          <p:cNvPr id="26" name="Shape 23"/>
          <p:cNvSpPr/>
          <p:nvPr/>
        </p:nvSpPr>
        <p:spPr>
          <a:xfrm>
            <a:off x="5669280" y="4398264"/>
            <a:ext cx="1344168" cy="420624"/>
          </a:xfrm>
          <a:prstGeom prst="roundRect">
            <a:avLst>
              <a:gd name="adj" fmla="val 10870"/>
            </a:avLst>
          </a:prstGeom>
          <a:solidFill>
            <a:srgbClr val="3B5A77"/>
          </a:solidFill>
          <a:ln/>
        </p:spPr>
        <p:txBody>
          <a:bodyPr/>
          <a:lstStyle/>
          <a:p>
            <a:endParaRPr/>
          </a:p>
        </p:txBody>
      </p:sp>
      <p:sp>
        <p:nvSpPr>
          <p:cNvPr id="27" name="Text 24"/>
          <p:cNvSpPr/>
          <p:nvPr/>
        </p:nvSpPr>
        <p:spPr>
          <a:xfrm>
            <a:off x="5669280" y="4398264"/>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I2</a:t>
            </a:r>
            <a:endParaRPr lang="en-US" sz="1100" dirty="0"/>
          </a:p>
        </p:txBody>
      </p:sp>
      <p:sp>
        <p:nvSpPr>
          <p:cNvPr id="28" name="Shape 25"/>
          <p:cNvSpPr/>
          <p:nvPr/>
        </p:nvSpPr>
        <p:spPr>
          <a:xfrm>
            <a:off x="7086600" y="4882896"/>
            <a:ext cx="1344168" cy="420624"/>
          </a:xfrm>
          <a:prstGeom prst="roundRect">
            <a:avLst>
              <a:gd name="adj" fmla="val 10870"/>
            </a:avLst>
          </a:prstGeom>
          <a:solidFill>
            <a:srgbClr val="3B5A77"/>
          </a:solidFill>
          <a:ln/>
        </p:spPr>
        <p:txBody>
          <a:bodyPr/>
          <a:lstStyle/>
          <a:p>
            <a:endParaRPr/>
          </a:p>
        </p:txBody>
      </p:sp>
      <p:sp>
        <p:nvSpPr>
          <p:cNvPr id="29" name="Text 26"/>
          <p:cNvSpPr/>
          <p:nvPr/>
        </p:nvSpPr>
        <p:spPr>
          <a:xfrm>
            <a:off x="7086600" y="4882896"/>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I2</a:t>
            </a:r>
            <a:endParaRPr lang="en-US" sz="1100" dirty="0"/>
          </a:p>
        </p:txBody>
      </p:sp>
      <p:sp>
        <p:nvSpPr>
          <p:cNvPr id="30" name="Shape 27"/>
          <p:cNvSpPr/>
          <p:nvPr/>
        </p:nvSpPr>
        <p:spPr>
          <a:xfrm>
            <a:off x="8503920" y="5367528"/>
            <a:ext cx="1344168" cy="420624"/>
          </a:xfrm>
          <a:prstGeom prst="roundRect">
            <a:avLst>
              <a:gd name="adj" fmla="val 10870"/>
            </a:avLst>
          </a:prstGeom>
          <a:solidFill>
            <a:srgbClr val="3B5A77"/>
          </a:solidFill>
          <a:ln/>
        </p:spPr>
        <p:txBody>
          <a:bodyPr/>
          <a:lstStyle/>
          <a:p>
            <a:endParaRPr/>
          </a:p>
        </p:txBody>
      </p:sp>
      <p:sp>
        <p:nvSpPr>
          <p:cNvPr id="31" name="Text 28"/>
          <p:cNvSpPr/>
          <p:nvPr/>
        </p:nvSpPr>
        <p:spPr>
          <a:xfrm>
            <a:off x="8503920" y="5367528"/>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I2</a:t>
            </a:r>
            <a:endParaRPr lang="en-US" sz="1100" dirty="0"/>
          </a:p>
        </p:txBody>
      </p:sp>
      <p:sp>
        <p:nvSpPr>
          <p:cNvPr id="32" name="Shape 29"/>
          <p:cNvSpPr/>
          <p:nvPr/>
        </p:nvSpPr>
        <p:spPr>
          <a:xfrm>
            <a:off x="4251960" y="3429000"/>
            <a:ext cx="1344168" cy="420624"/>
          </a:xfrm>
          <a:prstGeom prst="roundRect">
            <a:avLst>
              <a:gd name="adj" fmla="val 10870"/>
            </a:avLst>
          </a:prstGeom>
          <a:solidFill>
            <a:srgbClr val="2FD1C6"/>
          </a:solidFill>
          <a:ln/>
        </p:spPr>
        <p:txBody>
          <a:bodyPr/>
          <a:lstStyle/>
          <a:p>
            <a:endParaRPr/>
          </a:p>
        </p:txBody>
      </p:sp>
      <p:sp>
        <p:nvSpPr>
          <p:cNvPr id="33" name="Text 30"/>
          <p:cNvSpPr/>
          <p:nvPr/>
        </p:nvSpPr>
        <p:spPr>
          <a:xfrm>
            <a:off x="4251960" y="3429000"/>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I3</a:t>
            </a:r>
            <a:endParaRPr lang="en-US" sz="1100" dirty="0"/>
          </a:p>
        </p:txBody>
      </p:sp>
      <p:sp>
        <p:nvSpPr>
          <p:cNvPr id="34" name="Shape 31"/>
          <p:cNvSpPr/>
          <p:nvPr/>
        </p:nvSpPr>
        <p:spPr>
          <a:xfrm>
            <a:off x="5669280" y="3913632"/>
            <a:ext cx="1344168" cy="420624"/>
          </a:xfrm>
          <a:prstGeom prst="roundRect">
            <a:avLst>
              <a:gd name="adj" fmla="val 10870"/>
            </a:avLst>
          </a:prstGeom>
          <a:solidFill>
            <a:srgbClr val="2FD1C6"/>
          </a:solidFill>
          <a:ln/>
        </p:spPr>
        <p:txBody>
          <a:bodyPr/>
          <a:lstStyle/>
          <a:p>
            <a:endParaRPr/>
          </a:p>
        </p:txBody>
      </p:sp>
      <p:sp>
        <p:nvSpPr>
          <p:cNvPr id="35" name="Text 32"/>
          <p:cNvSpPr/>
          <p:nvPr/>
        </p:nvSpPr>
        <p:spPr>
          <a:xfrm>
            <a:off x="5669280" y="3913632"/>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I3</a:t>
            </a:r>
            <a:endParaRPr lang="en-US" sz="1100" dirty="0"/>
          </a:p>
        </p:txBody>
      </p:sp>
      <p:sp>
        <p:nvSpPr>
          <p:cNvPr id="36" name="Shape 33"/>
          <p:cNvSpPr/>
          <p:nvPr/>
        </p:nvSpPr>
        <p:spPr>
          <a:xfrm>
            <a:off x="7086600" y="4398264"/>
            <a:ext cx="1344168" cy="420624"/>
          </a:xfrm>
          <a:prstGeom prst="roundRect">
            <a:avLst>
              <a:gd name="adj" fmla="val 10870"/>
            </a:avLst>
          </a:prstGeom>
          <a:solidFill>
            <a:srgbClr val="2FD1C6"/>
          </a:solidFill>
          <a:ln/>
        </p:spPr>
        <p:txBody>
          <a:bodyPr/>
          <a:lstStyle/>
          <a:p>
            <a:endParaRPr/>
          </a:p>
        </p:txBody>
      </p:sp>
      <p:sp>
        <p:nvSpPr>
          <p:cNvPr id="37" name="Text 34"/>
          <p:cNvSpPr/>
          <p:nvPr/>
        </p:nvSpPr>
        <p:spPr>
          <a:xfrm>
            <a:off x="7086600" y="4398264"/>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I3</a:t>
            </a:r>
            <a:endParaRPr lang="en-US" sz="1100" dirty="0"/>
          </a:p>
        </p:txBody>
      </p:sp>
      <p:sp>
        <p:nvSpPr>
          <p:cNvPr id="38" name="Shape 35"/>
          <p:cNvSpPr/>
          <p:nvPr/>
        </p:nvSpPr>
        <p:spPr>
          <a:xfrm>
            <a:off x="8503920" y="4882896"/>
            <a:ext cx="1344168" cy="420624"/>
          </a:xfrm>
          <a:prstGeom prst="roundRect">
            <a:avLst>
              <a:gd name="adj" fmla="val 10870"/>
            </a:avLst>
          </a:prstGeom>
          <a:solidFill>
            <a:srgbClr val="2FD1C6"/>
          </a:solidFill>
          <a:ln/>
        </p:spPr>
        <p:txBody>
          <a:bodyPr/>
          <a:lstStyle/>
          <a:p>
            <a:endParaRPr/>
          </a:p>
        </p:txBody>
      </p:sp>
      <p:sp>
        <p:nvSpPr>
          <p:cNvPr id="39" name="Text 36"/>
          <p:cNvSpPr/>
          <p:nvPr/>
        </p:nvSpPr>
        <p:spPr>
          <a:xfrm>
            <a:off x="8503920" y="4882896"/>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I3</a:t>
            </a:r>
            <a:endParaRPr lang="en-US" sz="1100" dirty="0"/>
          </a:p>
        </p:txBody>
      </p:sp>
      <p:sp>
        <p:nvSpPr>
          <p:cNvPr id="40" name="Shape 37"/>
          <p:cNvSpPr/>
          <p:nvPr/>
        </p:nvSpPr>
        <p:spPr>
          <a:xfrm>
            <a:off x="9921240" y="5367528"/>
            <a:ext cx="1344168" cy="420624"/>
          </a:xfrm>
          <a:prstGeom prst="roundRect">
            <a:avLst>
              <a:gd name="adj" fmla="val 10870"/>
            </a:avLst>
          </a:prstGeom>
          <a:solidFill>
            <a:srgbClr val="2FD1C6"/>
          </a:solidFill>
          <a:ln/>
        </p:spPr>
        <p:txBody>
          <a:bodyPr/>
          <a:lstStyle/>
          <a:p>
            <a:endParaRPr/>
          </a:p>
        </p:txBody>
      </p:sp>
      <p:sp>
        <p:nvSpPr>
          <p:cNvPr id="41" name="Text 38"/>
          <p:cNvSpPr/>
          <p:nvPr/>
        </p:nvSpPr>
        <p:spPr>
          <a:xfrm>
            <a:off x="9921240" y="5367528"/>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I3</a:t>
            </a:r>
            <a:endParaRPr lang="en-US" sz="1100" dirty="0"/>
          </a:p>
        </p:txBody>
      </p:sp>
      <p:sp>
        <p:nvSpPr>
          <p:cNvPr id="42" name="Shape 39"/>
          <p:cNvSpPr/>
          <p:nvPr/>
        </p:nvSpPr>
        <p:spPr>
          <a:xfrm>
            <a:off x="5669280" y="3429000"/>
            <a:ext cx="1344168" cy="420624"/>
          </a:xfrm>
          <a:prstGeom prst="roundRect">
            <a:avLst>
              <a:gd name="adj" fmla="val 10870"/>
            </a:avLst>
          </a:prstGeom>
          <a:solidFill>
            <a:srgbClr val="3B5A77"/>
          </a:solidFill>
          <a:ln/>
        </p:spPr>
        <p:txBody>
          <a:bodyPr/>
          <a:lstStyle/>
          <a:p>
            <a:endParaRPr/>
          </a:p>
        </p:txBody>
      </p:sp>
      <p:sp>
        <p:nvSpPr>
          <p:cNvPr id="43" name="Text 40"/>
          <p:cNvSpPr/>
          <p:nvPr/>
        </p:nvSpPr>
        <p:spPr>
          <a:xfrm>
            <a:off x="5669280" y="3429000"/>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I4</a:t>
            </a:r>
            <a:endParaRPr lang="en-US" sz="1100" dirty="0"/>
          </a:p>
        </p:txBody>
      </p:sp>
      <p:sp>
        <p:nvSpPr>
          <p:cNvPr id="44" name="Shape 41"/>
          <p:cNvSpPr/>
          <p:nvPr/>
        </p:nvSpPr>
        <p:spPr>
          <a:xfrm>
            <a:off x="7086600" y="3913632"/>
            <a:ext cx="1344168" cy="420624"/>
          </a:xfrm>
          <a:prstGeom prst="roundRect">
            <a:avLst>
              <a:gd name="adj" fmla="val 10870"/>
            </a:avLst>
          </a:prstGeom>
          <a:solidFill>
            <a:srgbClr val="3B5A77"/>
          </a:solidFill>
          <a:ln/>
        </p:spPr>
        <p:txBody>
          <a:bodyPr/>
          <a:lstStyle/>
          <a:p>
            <a:endParaRPr/>
          </a:p>
        </p:txBody>
      </p:sp>
      <p:sp>
        <p:nvSpPr>
          <p:cNvPr id="45" name="Text 42"/>
          <p:cNvSpPr/>
          <p:nvPr/>
        </p:nvSpPr>
        <p:spPr>
          <a:xfrm>
            <a:off x="7086600" y="3913632"/>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I4</a:t>
            </a:r>
            <a:endParaRPr lang="en-US" sz="1100" dirty="0"/>
          </a:p>
        </p:txBody>
      </p:sp>
      <p:sp>
        <p:nvSpPr>
          <p:cNvPr id="46" name="Shape 43"/>
          <p:cNvSpPr/>
          <p:nvPr/>
        </p:nvSpPr>
        <p:spPr>
          <a:xfrm>
            <a:off x="8503920" y="4398264"/>
            <a:ext cx="1344168" cy="420624"/>
          </a:xfrm>
          <a:prstGeom prst="roundRect">
            <a:avLst>
              <a:gd name="adj" fmla="val 10870"/>
            </a:avLst>
          </a:prstGeom>
          <a:solidFill>
            <a:srgbClr val="3B5A77"/>
          </a:solidFill>
          <a:ln/>
        </p:spPr>
        <p:txBody>
          <a:bodyPr/>
          <a:lstStyle/>
          <a:p>
            <a:endParaRPr/>
          </a:p>
        </p:txBody>
      </p:sp>
      <p:sp>
        <p:nvSpPr>
          <p:cNvPr id="47" name="Text 44"/>
          <p:cNvSpPr/>
          <p:nvPr/>
        </p:nvSpPr>
        <p:spPr>
          <a:xfrm>
            <a:off x="8503920" y="4398264"/>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I4</a:t>
            </a:r>
            <a:endParaRPr lang="en-US" sz="1100" dirty="0"/>
          </a:p>
        </p:txBody>
      </p:sp>
      <p:sp>
        <p:nvSpPr>
          <p:cNvPr id="48" name="Shape 45"/>
          <p:cNvSpPr/>
          <p:nvPr/>
        </p:nvSpPr>
        <p:spPr>
          <a:xfrm>
            <a:off x="9921240" y="4882896"/>
            <a:ext cx="1344168" cy="420624"/>
          </a:xfrm>
          <a:prstGeom prst="roundRect">
            <a:avLst>
              <a:gd name="adj" fmla="val 10870"/>
            </a:avLst>
          </a:prstGeom>
          <a:solidFill>
            <a:srgbClr val="3B5A77"/>
          </a:solidFill>
          <a:ln/>
        </p:spPr>
        <p:txBody>
          <a:bodyPr/>
          <a:lstStyle/>
          <a:p>
            <a:endParaRPr/>
          </a:p>
        </p:txBody>
      </p:sp>
      <p:sp>
        <p:nvSpPr>
          <p:cNvPr id="49" name="Text 46"/>
          <p:cNvSpPr/>
          <p:nvPr/>
        </p:nvSpPr>
        <p:spPr>
          <a:xfrm>
            <a:off x="9921240" y="4882896"/>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I4</a:t>
            </a:r>
            <a:endParaRPr lang="en-US" sz="1100" dirty="0"/>
          </a:p>
        </p:txBody>
      </p:sp>
      <p:sp>
        <p:nvSpPr>
          <p:cNvPr id="50" name="Shape 47"/>
          <p:cNvSpPr/>
          <p:nvPr/>
        </p:nvSpPr>
        <p:spPr>
          <a:xfrm>
            <a:off x="11338560" y="5367528"/>
            <a:ext cx="1344168" cy="420624"/>
          </a:xfrm>
          <a:prstGeom prst="roundRect">
            <a:avLst>
              <a:gd name="adj" fmla="val 10870"/>
            </a:avLst>
          </a:prstGeom>
          <a:solidFill>
            <a:srgbClr val="3B5A77"/>
          </a:solidFill>
          <a:ln/>
        </p:spPr>
        <p:txBody>
          <a:bodyPr/>
          <a:lstStyle/>
          <a:p>
            <a:endParaRPr/>
          </a:p>
        </p:txBody>
      </p:sp>
      <p:sp>
        <p:nvSpPr>
          <p:cNvPr id="51" name="Text 48"/>
          <p:cNvSpPr/>
          <p:nvPr/>
        </p:nvSpPr>
        <p:spPr>
          <a:xfrm>
            <a:off x="11338560" y="5367528"/>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I4</a:t>
            </a:r>
            <a:endParaRPr lang="en-US" sz="1100" dirty="0"/>
          </a:p>
        </p:txBody>
      </p:sp>
      <p:sp>
        <p:nvSpPr>
          <p:cNvPr id="52" name="Shape 49"/>
          <p:cNvSpPr/>
          <p:nvPr/>
        </p:nvSpPr>
        <p:spPr>
          <a:xfrm>
            <a:off x="7086600" y="3429000"/>
            <a:ext cx="1344168" cy="420624"/>
          </a:xfrm>
          <a:prstGeom prst="roundRect">
            <a:avLst>
              <a:gd name="adj" fmla="val 10870"/>
            </a:avLst>
          </a:prstGeom>
          <a:solidFill>
            <a:srgbClr val="2FD1C6"/>
          </a:solidFill>
          <a:ln/>
        </p:spPr>
        <p:txBody>
          <a:bodyPr/>
          <a:lstStyle/>
          <a:p>
            <a:endParaRPr/>
          </a:p>
        </p:txBody>
      </p:sp>
      <p:sp>
        <p:nvSpPr>
          <p:cNvPr id="53" name="Text 50"/>
          <p:cNvSpPr/>
          <p:nvPr/>
        </p:nvSpPr>
        <p:spPr>
          <a:xfrm>
            <a:off x="7086600" y="3429000"/>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I5</a:t>
            </a:r>
            <a:endParaRPr lang="en-US" sz="1100" dirty="0"/>
          </a:p>
        </p:txBody>
      </p:sp>
      <p:sp>
        <p:nvSpPr>
          <p:cNvPr id="54" name="Shape 51"/>
          <p:cNvSpPr/>
          <p:nvPr/>
        </p:nvSpPr>
        <p:spPr>
          <a:xfrm>
            <a:off x="8503920" y="3913632"/>
            <a:ext cx="1344168" cy="420624"/>
          </a:xfrm>
          <a:prstGeom prst="roundRect">
            <a:avLst>
              <a:gd name="adj" fmla="val 10870"/>
            </a:avLst>
          </a:prstGeom>
          <a:solidFill>
            <a:srgbClr val="2FD1C6"/>
          </a:solidFill>
          <a:ln/>
        </p:spPr>
        <p:txBody>
          <a:bodyPr/>
          <a:lstStyle/>
          <a:p>
            <a:endParaRPr/>
          </a:p>
        </p:txBody>
      </p:sp>
      <p:sp>
        <p:nvSpPr>
          <p:cNvPr id="55" name="Text 52"/>
          <p:cNvSpPr/>
          <p:nvPr/>
        </p:nvSpPr>
        <p:spPr>
          <a:xfrm>
            <a:off x="8503920" y="3913632"/>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I5</a:t>
            </a:r>
            <a:endParaRPr lang="en-US" sz="1100" dirty="0"/>
          </a:p>
        </p:txBody>
      </p:sp>
      <p:sp>
        <p:nvSpPr>
          <p:cNvPr id="56" name="Shape 53"/>
          <p:cNvSpPr/>
          <p:nvPr/>
        </p:nvSpPr>
        <p:spPr>
          <a:xfrm>
            <a:off x="9921240" y="4398264"/>
            <a:ext cx="1344168" cy="420624"/>
          </a:xfrm>
          <a:prstGeom prst="roundRect">
            <a:avLst>
              <a:gd name="adj" fmla="val 10870"/>
            </a:avLst>
          </a:prstGeom>
          <a:solidFill>
            <a:srgbClr val="2FD1C6"/>
          </a:solidFill>
          <a:ln/>
        </p:spPr>
        <p:txBody>
          <a:bodyPr/>
          <a:lstStyle/>
          <a:p>
            <a:endParaRPr/>
          </a:p>
        </p:txBody>
      </p:sp>
      <p:sp>
        <p:nvSpPr>
          <p:cNvPr id="57" name="Text 54"/>
          <p:cNvSpPr/>
          <p:nvPr/>
        </p:nvSpPr>
        <p:spPr>
          <a:xfrm>
            <a:off x="9921240" y="4398264"/>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I5</a:t>
            </a:r>
            <a:endParaRPr lang="en-US" sz="1100" dirty="0"/>
          </a:p>
        </p:txBody>
      </p:sp>
      <p:sp>
        <p:nvSpPr>
          <p:cNvPr id="58" name="Shape 55"/>
          <p:cNvSpPr/>
          <p:nvPr/>
        </p:nvSpPr>
        <p:spPr>
          <a:xfrm>
            <a:off x="11338560" y="4882896"/>
            <a:ext cx="1344168" cy="420624"/>
          </a:xfrm>
          <a:prstGeom prst="roundRect">
            <a:avLst>
              <a:gd name="adj" fmla="val 10870"/>
            </a:avLst>
          </a:prstGeom>
          <a:solidFill>
            <a:srgbClr val="2FD1C6"/>
          </a:solidFill>
          <a:ln/>
        </p:spPr>
        <p:txBody>
          <a:bodyPr/>
          <a:lstStyle/>
          <a:p>
            <a:endParaRPr/>
          </a:p>
        </p:txBody>
      </p:sp>
      <p:sp>
        <p:nvSpPr>
          <p:cNvPr id="59" name="Text 56"/>
          <p:cNvSpPr/>
          <p:nvPr/>
        </p:nvSpPr>
        <p:spPr>
          <a:xfrm>
            <a:off x="11338560" y="4882896"/>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I5</a:t>
            </a:r>
            <a:endParaRPr lang="en-US" sz="1100" dirty="0"/>
          </a:p>
        </p:txBody>
      </p:sp>
      <p:sp>
        <p:nvSpPr>
          <p:cNvPr id="60" name="Shape 57"/>
          <p:cNvSpPr/>
          <p:nvPr/>
        </p:nvSpPr>
        <p:spPr>
          <a:xfrm>
            <a:off x="12755880" y="5367528"/>
            <a:ext cx="1344168" cy="420624"/>
          </a:xfrm>
          <a:prstGeom prst="roundRect">
            <a:avLst>
              <a:gd name="adj" fmla="val 10870"/>
            </a:avLst>
          </a:prstGeom>
          <a:solidFill>
            <a:srgbClr val="2FD1C6"/>
          </a:solidFill>
          <a:ln/>
        </p:spPr>
        <p:txBody>
          <a:bodyPr/>
          <a:lstStyle/>
          <a:p>
            <a:endParaRPr/>
          </a:p>
        </p:txBody>
      </p:sp>
      <p:sp>
        <p:nvSpPr>
          <p:cNvPr id="61" name="Text 58"/>
          <p:cNvSpPr/>
          <p:nvPr/>
        </p:nvSpPr>
        <p:spPr>
          <a:xfrm>
            <a:off x="12755880" y="5367528"/>
            <a:ext cx="1344168" cy="420624"/>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I5</a:t>
            </a:r>
            <a:endParaRPr lang="en-US" sz="1100" dirty="0"/>
          </a:p>
        </p:txBody>
      </p:sp>
      <p:sp>
        <p:nvSpPr>
          <p:cNvPr id="62" name="Text 59"/>
          <p:cNvSpPr/>
          <p:nvPr/>
        </p:nvSpPr>
        <p:spPr>
          <a:xfrm>
            <a:off x="1417320" y="5897880"/>
            <a:ext cx="2743200" cy="256032"/>
          </a:xfrm>
          <a:prstGeom prst="rect">
            <a:avLst/>
          </a:prstGeom>
          <a:noFill/>
          <a:ln/>
        </p:spPr>
        <p:txBody>
          <a:bodyPr wrap="square" lIns="0" tIns="0" rIns="0" bIns="0" rtlCol="0" anchor="ctr"/>
          <a:lstStyle/>
          <a:p>
            <a:pPr marL="0" indent="0">
              <a:buNone/>
            </a:pPr>
            <a:r>
              <a:rPr lang="en-US" sz="1312" i="1" dirty="0">
                <a:solidFill>
                  <a:srgbClr val="6B7A90"/>
                </a:solidFill>
                <a:latin typeface="Calibri" pitchFamily="34" charset="0"/>
                <a:ea typeface="Calibri" pitchFamily="34" charset="-122"/>
                <a:cs typeface="Calibri" pitchFamily="34" charset="-120"/>
              </a:rPr>
              <a:t>Cycles →</a:t>
            </a:r>
            <a:endParaRPr lang="en-US" sz="1050" dirty="0"/>
          </a:p>
        </p:txBody>
      </p:sp>
      <p:sp>
        <p:nvSpPr>
          <p:cNvPr id="63" name="Text 60"/>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PARALLELISM · ILP</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ILP — Superscalar Execution</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cogs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502920" y="1600200"/>
            <a:ext cx="4937760" cy="2926080"/>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Superscalar processors can issue MULTIPLE instructions per clock cycle</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Requires multiple execution units (multiple ALUs) working in parallel</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Modern CPUs are often 4-way or wider superscalar</a:t>
            </a:r>
            <a:endParaRPr lang="en-US" sz="1550" dirty="0"/>
          </a:p>
        </p:txBody>
      </p:sp>
      <p:sp>
        <p:nvSpPr>
          <p:cNvPr id="7" name="Text 4"/>
          <p:cNvSpPr/>
          <p:nvPr/>
        </p:nvSpPr>
        <p:spPr>
          <a:xfrm>
            <a:off x="5577840" y="1828800"/>
            <a:ext cx="5760720" cy="365760"/>
          </a:xfrm>
          <a:prstGeom prst="rect">
            <a:avLst/>
          </a:prstGeom>
          <a:noFill/>
          <a:ln/>
        </p:spPr>
        <p:txBody>
          <a:bodyPr wrap="square" lIns="0" tIns="0" rIns="0" bIns="0" rtlCol="0" anchor="ctr"/>
          <a:lstStyle/>
          <a:p>
            <a:pPr marL="0" indent="0">
              <a:buNone/>
            </a:pPr>
            <a:r>
              <a:rPr lang="en-US" sz="1625" b="1" dirty="0">
                <a:solidFill>
                  <a:srgbClr val="16233F"/>
                </a:solidFill>
                <a:latin typeface="Calibri" pitchFamily="34" charset="0"/>
                <a:ea typeface="Calibri" pitchFamily="34" charset="-122"/>
                <a:cs typeface="Calibri" pitchFamily="34" charset="-120"/>
              </a:rPr>
              <a:t>4 instructions issued in ONE cycle:</a:t>
            </a:r>
            <a:endParaRPr lang="en-US" sz="1300" dirty="0"/>
          </a:p>
        </p:txBody>
      </p:sp>
      <p:sp>
        <p:nvSpPr>
          <p:cNvPr id="8" name="Shape 5"/>
          <p:cNvSpPr/>
          <p:nvPr/>
        </p:nvSpPr>
        <p:spPr>
          <a:xfrm>
            <a:off x="5577840" y="2331720"/>
            <a:ext cx="1234440" cy="502920"/>
          </a:xfrm>
          <a:prstGeom prst="roundRect">
            <a:avLst>
              <a:gd name="adj" fmla="val 10909"/>
            </a:avLst>
          </a:prstGeom>
          <a:solidFill>
            <a:srgbClr val="2FD1C6"/>
          </a:solidFill>
          <a:ln/>
        </p:spPr>
        <p:txBody>
          <a:bodyPr/>
          <a:lstStyle/>
          <a:p>
            <a:endParaRPr/>
          </a:p>
        </p:txBody>
      </p:sp>
      <p:sp>
        <p:nvSpPr>
          <p:cNvPr id="9" name="Text 6"/>
          <p:cNvSpPr/>
          <p:nvPr/>
        </p:nvSpPr>
        <p:spPr>
          <a:xfrm>
            <a:off x="5577840" y="2331720"/>
            <a:ext cx="1234440" cy="502920"/>
          </a:xfrm>
          <a:prstGeom prst="rect">
            <a:avLst/>
          </a:prstGeom>
          <a:noFill/>
          <a:ln/>
        </p:spPr>
        <p:txBody>
          <a:bodyPr wrap="square" lIns="0" tIns="0" rIns="0" bIns="0" rtlCol="0" anchor="ctr"/>
          <a:lstStyle/>
          <a:p>
            <a:pPr marL="0" indent="0" algn="ctr">
              <a:buNone/>
            </a:pPr>
            <a:r>
              <a:rPr lang="en-US" sz="1625" b="1" dirty="0">
                <a:solidFill>
                  <a:srgbClr val="FFFFFF"/>
                </a:solidFill>
                <a:latin typeface="Calibri" pitchFamily="34" charset="0"/>
                <a:ea typeface="Calibri" pitchFamily="34" charset="-122"/>
                <a:cs typeface="Calibri" pitchFamily="34" charset="-120"/>
              </a:rPr>
              <a:t>I1</a:t>
            </a:r>
            <a:endParaRPr lang="en-US" sz="1300" dirty="0"/>
          </a:p>
        </p:txBody>
      </p:sp>
      <p:sp>
        <p:nvSpPr>
          <p:cNvPr id="10" name="Shape 7"/>
          <p:cNvSpPr/>
          <p:nvPr/>
        </p:nvSpPr>
        <p:spPr>
          <a:xfrm>
            <a:off x="6172200" y="2834640"/>
            <a:ext cx="0" cy="502920"/>
          </a:xfrm>
          <a:prstGeom prst="line">
            <a:avLst/>
          </a:prstGeom>
          <a:noFill/>
          <a:ln w="19050">
            <a:solidFill>
              <a:srgbClr val="6B7A90"/>
            </a:solidFill>
            <a:prstDash val="solid"/>
            <a:tailEnd type="triangle"/>
          </a:ln>
        </p:spPr>
        <p:txBody>
          <a:bodyPr/>
          <a:lstStyle/>
          <a:p>
            <a:endParaRPr/>
          </a:p>
        </p:txBody>
      </p:sp>
      <p:sp>
        <p:nvSpPr>
          <p:cNvPr id="11" name="Shape 8"/>
          <p:cNvSpPr/>
          <p:nvPr/>
        </p:nvSpPr>
        <p:spPr>
          <a:xfrm>
            <a:off x="5577840" y="3429000"/>
            <a:ext cx="1234440" cy="594360"/>
          </a:xfrm>
          <a:prstGeom prst="roundRect">
            <a:avLst>
              <a:gd name="adj" fmla="val 9231"/>
            </a:avLst>
          </a:prstGeom>
          <a:solidFill>
            <a:srgbClr val="3B5A77"/>
          </a:solidFill>
          <a:ln/>
        </p:spPr>
        <p:txBody>
          <a:bodyPr/>
          <a:lstStyle/>
          <a:p>
            <a:endParaRPr/>
          </a:p>
        </p:txBody>
      </p:sp>
      <p:sp>
        <p:nvSpPr>
          <p:cNvPr id="12" name="Text 9"/>
          <p:cNvSpPr/>
          <p:nvPr/>
        </p:nvSpPr>
        <p:spPr>
          <a:xfrm>
            <a:off x="5577840" y="3429000"/>
            <a:ext cx="1234440" cy="594360"/>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ALU 1</a:t>
            </a:r>
            <a:endParaRPr lang="en-US" sz="1100" dirty="0"/>
          </a:p>
        </p:txBody>
      </p:sp>
      <p:sp>
        <p:nvSpPr>
          <p:cNvPr id="13" name="Shape 10"/>
          <p:cNvSpPr/>
          <p:nvPr/>
        </p:nvSpPr>
        <p:spPr>
          <a:xfrm>
            <a:off x="7040880" y="2331720"/>
            <a:ext cx="1234440" cy="502920"/>
          </a:xfrm>
          <a:prstGeom prst="roundRect">
            <a:avLst>
              <a:gd name="adj" fmla="val 10909"/>
            </a:avLst>
          </a:prstGeom>
          <a:solidFill>
            <a:srgbClr val="2FD1C6"/>
          </a:solidFill>
          <a:ln/>
        </p:spPr>
        <p:txBody>
          <a:bodyPr/>
          <a:lstStyle/>
          <a:p>
            <a:endParaRPr/>
          </a:p>
        </p:txBody>
      </p:sp>
      <p:sp>
        <p:nvSpPr>
          <p:cNvPr id="14" name="Text 11"/>
          <p:cNvSpPr/>
          <p:nvPr/>
        </p:nvSpPr>
        <p:spPr>
          <a:xfrm>
            <a:off x="7040880" y="2331720"/>
            <a:ext cx="1234440" cy="502920"/>
          </a:xfrm>
          <a:prstGeom prst="rect">
            <a:avLst/>
          </a:prstGeom>
          <a:noFill/>
          <a:ln/>
        </p:spPr>
        <p:txBody>
          <a:bodyPr wrap="square" lIns="0" tIns="0" rIns="0" bIns="0" rtlCol="0" anchor="ctr"/>
          <a:lstStyle/>
          <a:p>
            <a:pPr marL="0" indent="0" algn="ctr">
              <a:buNone/>
            </a:pPr>
            <a:r>
              <a:rPr lang="en-US" sz="1625" b="1" dirty="0">
                <a:solidFill>
                  <a:srgbClr val="FFFFFF"/>
                </a:solidFill>
                <a:latin typeface="Calibri" pitchFamily="34" charset="0"/>
                <a:ea typeface="Calibri" pitchFamily="34" charset="-122"/>
                <a:cs typeface="Calibri" pitchFamily="34" charset="-120"/>
              </a:rPr>
              <a:t>I2</a:t>
            </a:r>
            <a:endParaRPr lang="en-US" sz="1300" dirty="0"/>
          </a:p>
        </p:txBody>
      </p:sp>
      <p:sp>
        <p:nvSpPr>
          <p:cNvPr id="15" name="Shape 12"/>
          <p:cNvSpPr/>
          <p:nvPr/>
        </p:nvSpPr>
        <p:spPr>
          <a:xfrm>
            <a:off x="7635240" y="2834640"/>
            <a:ext cx="0" cy="502920"/>
          </a:xfrm>
          <a:prstGeom prst="line">
            <a:avLst/>
          </a:prstGeom>
          <a:noFill/>
          <a:ln w="19050">
            <a:solidFill>
              <a:srgbClr val="6B7A90"/>
            </a:solidFill>
            <a:prstDash val="solid"/>
            <a:tailEnd type="triangle"/>
          </a:ln>
        </p:spPr>
        <p:txBody>
          <a:bodyPr/>
          <a:lstStyle/>
          <a:p>
            <a:endParaRPr/>
          </a:p>
        </p:txBody>
      </p:sp>
      <p:sp>
        <p:nvSpPr>
          <p:cNvPr id="16" name="Shape 13"/>
          <p:cNvSpPr/>
          <p:nvPr/>
        </p:nvSpPr>
        <p:spPr>
          <a:xfrm>
            <a:off x="7040880" y="3429000"/>
            <a:ext cx="1234440" cy="594360"/>
          </a:xfrm>
          <a:prstGeom prst="roundRect">
            <a:avLst>
              <a:gd name="adj" fmla="val 9231"/>
            </a:avLst>
          </a:prstGeom>
          <a:solidFill>
            <a:srgbClr val="3B5A77"/>
          </a:solidFill>
          <a:ln/>
        </p:spPr>
        <p:txBody>
          <a:bodyPr/>
          <a:lstStyle/>
          <a:p>
            <a:endParaRPr/>
          </a:p>
        </p:txBody>
      </p:sp>
      <p:sp>
        <p:nvSpPr>
          <p:cNvPr id="17" name="Text 14"/>
          <p:cNvSpPr/>
          <p:nvPr/>
        </p:nvSpPr>
        <p:spPr>
          <a:xfrm>
            <a:off x="7040880" y="3429000"/>
            <a:ext cx="1234440" cy="594360"/>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ALU 2</a:t>
            </a:r>
            <a:endParaRPr lang="en-US" sz="1100" dirty="0"/>
          </a:p>
        </p:txBody>
      </p:sp>
      <p:sp>
        <p:nvSpPr>
          <p:cNvPr id="18" name="Shape 15"/>
          <p:cNvSpPr/>
          <p:nvPr/>
        </p:nvSpPr>
        <p:spPr>
          <a:xfrm>
            <a:off x="8503920" y="2331720"/>
            <a:ext cx="1234440" cy="502920"/>
          </a:xfrm>
          <a:prstGeom prst="roundRect">
            <a:avLst>
              <a:gd name="adj" fmla="val 10909"/>
            </a:avLst>
          </a:prstGeom>
          <a:solidFill>
            <a:srgbClr val="2FD1C6"/>
          </a:solidFill>
          <a:ln/>
        </p:spPr>
        <p:txBody>
          <a:bodyPr/>
          <a:lstStyle/>
          <a:p>
            <a:endParaRPr/>
          </a:p>
        </p:txBody>
      </p:sp>
      <p:sp>
        <p:nvSpPr>
          <p:cNvPr id="19" name="Text 16"/>
          <p:cNvSpPr/>
          <p:nvPr/>
        </p:nvSpPr>
        <p:spPr>
          <a:xfrm>
            <a:off x="8503920" y="2331720"/>
            <a:ext cx="1234440" cy="502920"/>
          </a:xfrm>
          <a:prstGeom prst="rect">
            <a:avLst/>
          </a:prstGeom>
          <a:noFill/>
          <a:ln/>
        </p:spPr>
        <p:txBody>
          <a:bodyPr wrap="square" lIns="0" tIns="0" rIns="0" bIns="0" rtlCol="0" anchor="ctr"/>
          <a:lstStyle/>
          <a:p>
            <a:pPr marL="0" indent="0" algn="ctr">
              <a:buNone/>
            </a:pPr>
            <a:r>
              <a:rPr lang="en-US" sz="1625" b="1" dirty="0">
                <a:solidFill>
                  <a:srgbClr val="FFFFFF"/>
                </a:solidFill>
                <a:latin typeface="Calibri" pitchFamily="34" charset="0"/>
                <a:ea typeface="Calibri" pitchFamily="34" charset="-122"/>
                <a:cs typeface="Calibri" pitchFamily="34" charset="-120"/>
              </a:rPr>
              <a:t>I3</a:t>
            </a:r>
            <a:endParaRPr lang="en-US" sz="1300" dirty="0"/>
          </a:p>
        </p:txBody>
      </p:sp>
      <p:sp>
        <p:nvSpPr>
          <p:cNvPr id="20" name="Shape 17"/>
          <p:cNvSpPr/>
          <p:nvPr/>
        </p:nvSpPr>
        <p:spPr>
          <a:xfrm>
            <a:off x="9098280" y="2834640"/>
            <a:ext cx="0" cy="502920"/>
          </a:xfrm>
          <a:prstGeom prst="line">
            <a:avLst/>
          </a:prstGeom>
          <a:noFill/>
          <a:ln w="19050">
            <a:solidFill>
              <a:srgbClr val="6B7A90"/>
            </a:solidFill>
            <a:prstDash val="solid"/>
            <a:tailEnd type="triangle"/>
          </a:ln>
        </p:spPr>
        <p:txBody>
          <a:bodyPr/>
          <a:lstStyle/>
          <a:p>
            <a:endParaRPr/>
          </a:p>
        </p:txBody>
      </p:sp>
      <p:sp>
        <p:nvSpPr>
          <p:cNvPr id="21" name="Shape 18"/>
          <p:cNvSpPr/>
          <p:nvPr/>
        </p:nvSpPr>
        <p:spPr>
          <a:xfrm>
            <a:off x="8503920" y="3429000"/>
            <a:ext cx="1234440" cy="594360"/>
          </a:xfrm>
          <a:prstGeom prst="roundRect">
            <a:avLst>
              <a:gd name="adj" fmla="val 9231"/>
            </a:avLst>
          </a:prstGeom>
          <a:solidFill>
            <a:srgbClr val="3B5A77"/>
          </a:solidFill>
          <a:ln/>
        </p:spPr>
        <p:txBody>
          <a:bodyPr/>
          <a:lstStyle/>
          <a:p>
            <a:endParaRPr/>
          </a:p>
        </p:txBody>
      </p:sp>
      <p:sp>
        <p:nvSpPr>
          <p:cNvPr id="22" name="Text 19"/>
          <p:cNvSpPr/>
          <p:nvPr/>
        </p:nvSpPr>
        <p:spPr>
          <a:xfrm>
            <a:off x="8503920" y="3429000"/>
            <a:ext cx="1234440" cy="594360"/>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ALU 3</a:t>
            </a:r>
            <a:endParaRPr lang="en-US" sz="1100" dirty="0"/>
          </a:p>
        </p:txBody>
      </p:sp>
      <p:sp>
        <p:nvSpPr>
          <p:cNvPr id="23" name="Shape 20"/>
          <p:cNvSpPr/>
          <p:nvPr/>
        </p:nvSpPr>
        <p:spPr>
          <a:xfrm>
            <a:off x="9966960" y="2331720"/>
            <a:ext cx="1234440" cy="502920"/>
          </a:xfrm>
          <a:prstGeom prst="roundRect">
            <a:avLst>
              <a:gd name="adj" fmla="val 10909"/>
            </a:avLst>
          </a:prstGeom>
          <a:solidFill>
            <a:srgbClr val="2FD1C6"/>
          </a:solidFill>
          <a:ln/>
        </p:spPr>
        <p:txBody>
          <a:bodyPr/>
          <a:lstStyle/>
          <a:p>
            <a:endParaRPr/>
          </a:p>
        </p:txBody>
      </p:sp>
      <p:sp>
        <p:nvSpPr>
          <p:cNvPr id="24" name="Text 21"/>
          <p:cNvSpPr/>
          <p:nvPr/>
        </p:nvSpPr>
        <p:spPr>
          <a:xfrm>
            <a:off x="9966960" y="2331720"/>
            <a:ext cx="1234440" cy="502920"/>
          </a:xfrm>
          <a:prstGeom prst="rect">
            <a:avLst/>
          </a:prstGeom>
          <a:noFill/>
          <a:ln/>
        </p:spPr>
        <p:txBody>
          <a:bodyPr wrap="square" lIns="0" tIns="0" rIns="0" bIns="0" rtlCol="0" anchor="ctr"/>
          <a:lstStyle/>
          <a:p>
            <a:pPr marL="0" indent="0" algn="ctr">
              <a:buNone/>
            </a:pPr>
            <a:r>
              <a:rPr lang="en-US" sz="1625" b="1" dirty="0">
                <a:solidFill>
                  <a:srgbClr val="FFFFFF"/>
                </a:solidFill>
                <a:latin typeface="Calibri" pitchFamily="34" charset="0"/>
                <a:ea typeface="Calibri" pitchFamily="34" charset="-122"/>
                <a:cs typeface="Calibri" pitchFamily="34" charset="-120"/>
              </a:rPr>
              <a:t>I4</a:t>
            </a:r>
            <a:endParaRPr lang="en-US" sz="1300" dirty="0"/>
          </a:p>
        </p:txBody>
      </p:sp>
      <p:sp>
        <p:nvSpPr>
          <p:cNvPr id="25" name="Shape 22"/>
          <p:cNvSpPr/>
          <p:nvPr/>
        </p:nvSpPr>
        <p:spPr>
          <a:xfrm>
            <a:off x="10561320" y="2834640"/>
            <a:ext cx="0" cy="502920"/>
          </a:xfrm>
          <a:prstGeom prst="line">
            <a:avLst/>
          </a:prstGeom>
          <a:noFill/>
          <a:ln w="19050">
            <a:solidFill>
              <a:srgbClr val="6B7A90"/>
            </a:solidFill>
            <a:prstDash val="solid"/>
            <a:tailEnd type="triangle"/>
          </a:ln>
        </p:spPr>
        <p:txBody>
          <a:bodyPr/>
          <a:lstStyle/>
          <a:p>
            <a:endParaRPr/>
          </a:p>
        </p:txBody>
      </p:sp>
      <p:sp>
        <p:nvSpPr>
          <p:cNvPr id="26" name="Shape 23"/>
          <p:cNvSpPr/>
          <p:nvPr/>
        </p:nvSpPr>
        <p:spPr>
          <a:xfrm>
            <a:off x="9966960" y="3429000"/>
            <a:ext cx="1234440" cy="594360"/>
          </a:xfrm>
          <a:prstGeom prst="roundRect">
            <a:avLst>
              <a:gd name="adj" fmla="val 9231"/>
            </a:avLst>
          </a:prstGeom>
          <a:solidFill>
            <a:srgbClr val="3B5A77"/>
          </a:solidFill>
          <a:ln/>
        </p:spPr>
        <p:txBody>
          <a:bodyPr/>
          <a:lstStyle/>
          <a:p>
            <a:endParaRPr/>
          </a:p>
        </p:txBody>
      </p:sp>
      <p:sp>
        <p:nvSpPr>
          <p:cNvPr id="27" name="Text 24"/>
          <p:cNvSpPr/>
          <p:nvPr/>
        </p:nvSpPr>
        <p:spPr>
          <a:xfrm>
            <a:off x="9966960" y="3429000"/>
            <a:ext cx="1234440" cy="594360"/>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ALU 4</a:t>
            </a:r>
            <a:endParaRPr lang="en-US" sz="1100" dirty="0"/>
          </a:p>
        </p:txBody>
      </p:sp>
      <p:sp>
        <p:nvSpPr>
          <p:cNvPr id="28" name="Text 25"/>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PARALLELISM · DLP</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Data-Level Parallelism — SIMD</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thLarge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502920" y="1600200"/>
            <a:ext cx="4846320" cy="2743200"/>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SIMD = Single Instruction, Multiple Data</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One instruction operates on multiple data elements simultaneously</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Common in image/video processing and AI/ML (matrix operations)</a:t>
            </a:r>
            <a:endParaRPr lang="en-US" sz="1550" dirty="0"/>
          </a:p>
        </p:txBody>
      </p:sp>
      <p:sp>
        <p:nvSpPr>
          <p:cNvPr id="7" name="Shape 4"/>
          <p:cNvSpPr/>
          <p:nvPr/>
        </p:nvSpPr>
        <p:spPr>
          <a:xfrm>
            <a:off x="5669280" y="2560320"/>
            <a:ext cx="1463040" cy="548640"/>
          </a:xfrm>
          <a:prstGeom prst="roundRect">
            <a:avLst>
              <a:gd name="adj" fmla="val 10000"/>
            </a:avLst>
          </a:prstGeom>
          <a:solidFill>
            <a:srgbClr val="16233F"/>
          </a:solidFill>
          <a:ln/>
        </p:spPr>
        <p:txBody>
          <a:bodyPr/>
          <a:lstStyle/>
          <a:p>
            <a:endParaRPr/>
          </a:p>
        </p:txBody>
      </p:sp>
      <p:sp>
        <p:nvSpPr>
          <p:cNvPr id="8" name="Text 5"/>
          <p:cNvSpPr/>
          <p:nvPr/>
        </p:nvSpPr>
        <p:spPr>
          <a:xfrm>
            <a:off x="5669280" y="2560320"/>
            <a:ext cx="14630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 INSTR</a:t>
            </a:r>
            <a:endParaRPr lang="en-US" sz="1200" dirty="0"/>
          </a:p>
        </p:txBody>
      </p:sp>
      <p:sp>
        <p:nvSpPr>
          <p:cNvPr id="9" name="Shape 6"/>
          <p:cNvSpPr/>
          <p:nvPr/>
        </p:nvSpPr>
        <p:spPr>
          <a:xfrm>
            <a:off x="7863840" y="1828800"/>
            <a:ext cx="731520" cy="548640"/>
          </a:xfrm>
          <a:prstGeom prst="roundRect">
            <a:avLst>
              <a:gd name="adj" fmla="val 10000"/>
            </a:avLst>
          </a:prstGeom>
          <a:solidFill>
            <a:srgbClr val="2FD1C6"/>
          </a:solidFill>
          <a:ln/>
        </p:spPr>
        <p:txBody>
          <a:bodyPr/>
          <a:lstStyle/>
          <a:p>
            <a:endParaRPr/>
          </a:p>
        </p:txBody>
      </p:sp>
      <p:sp>
        <p:nvSpPr>
          <p:cNvPr id="10" name="Text 7"/>
          <p:cNvSpPr/>
          <p:nvPr/>
        </p:nvSpPr>
        <p:spPr>
          <a:xfrm>
            <a:off x="7863840" y="1828800"/>
            <a:ext cx="731520" cy="548640"/>
          </a:xfrm>
          <a:prstGeom prst="rect">
            <a:avLst/>
          </a:prstGeom>
          <a:noFill/>
          <a:ln/>
        </p:spPr>
        <p:txBody>
          <a:bodyPr wrap="square" lIns="0" tIns="0" rIns="0" bIns="0" rtlCol="0" anchor="ctr"/>
          <a:lstStyle/>
          <a:p>
            <a:pPr marL="0" indent="0" algn="ctr">
              <a:buNone/>
            </a:pPr>
            <a:r>
              <a:rPr lang="en-US" sz="1375" b="1" dirty="0">
                <a:solidFill>
                  <a:srgbClr val="16233F"/>
                </a:solidFill>
                <a:latin typeface="Calibri" pitchFamily="34" charset="0"/>
                <a:ea typeface="Calibri" pitchFamily="34" charset="-122"/>
                <a:cs typeface="Calibri" pitchFamily="34" charset="-120"/>
              </a:rPr>
              <a:t>d1</a:t>
            </a:r>
            <a:endParaRPr lang="en-US" sz="1100" dirty="0"/>
          </a:p>
        </p:txBody>
      </p:sp>
      <p:sp>
        <p:nvSpPr>
          <p:cNvPr id="11" name="Shape 8"/>
          <p:cNvSpPr/>
          <p:nvPr/>
        </p:nvSpPr>
        <p:spPr>
          <a:xfrm>
            <a:off x="8732520" y="1828800"/>
            <a:ext cx="731520" cy="548640"/>
          </a:xfrm>
          <a:prstGeom prst="roundRect">
            <a:avLst>
              <a:gd name="adj" fmla="val 10000"/>
            </a:avLst>
          </a:prstGeom>
          <a:solidFill>
            <a:srgbClr val="2FD1C6"/>
          </a:solidFill>
          <a:ln/>
        </p:spPr>
        <p:txBody>
          <a:bodyPr/>
          <a:lstStyle/>
          <a:p>
            <a:endParaRPr/>
          </a:p>
        </p:txBody>
      </p:sp>
      <p:sp>
        <p:nvSpPr>
          <p:cNvPr id="12" name="Text 9"/>
          <p:cNvSpPr/>
          <p:nvPr/>
        </p:nvSpPr>
        <p:spPr>
          <a:xfrm>
            <a:off x="8732520" y="1828800"/>
            <a:ext cx="731520" cy="548640"/>
          </a:xfrm>
          <a:prstGeom prst="rect">
            <a:avLst/>
          </a:prstGeom>
          <a:noFill/>
          <a:ln/>
        </p:spPr>
        <p:txBody>
          <a:bodyPr wrap="square" lIns="0" tIns="0" rIns="0" bIns="0" rtlCol="0" anchor="ctr"/>
          <a:lstStyle/>
          <a:p>
            <a:pPr marL="0" indent="0" algn="ctr">
              <a:buNone/>
            </a:pPr>
            <a:r>
              <a:rPr lang="en-US" sz="1375" b="1" dirty="0">
                <a:solidFill>
                  <a:srgbClr val="16233F"/>
                </a:solidFill>
                <a:latin typeface="Calibri" pitchFamily="34" charset="0"/>
                <a:ea typeface="Calibri" pitchFamily="34" charset="-122"/>
                <a:cs typeface="Calibri" pitchFamily="34" charset="-120"/>
              </a:rPr>
              <a:t>d2</a:t>
            </a:r>
            <a:endParaRPr lang="en-US" sz="1100" dirty="0"/>
          </a:p>
        </p:txBody>
      </p:sp>
      <p:sp>
        <p:nvSpPr>
          <p:cNvPr id="13" name="Shape 10"/>
          <p:cNvSpPr/>
          <p:nvPr/>
        </p:nvSpPr>
        <p:spPr>
          <a:xfrm>
            <a:off x="9601200" y="1828800"/>
            <a:ext cx="731520" cy="548640"/>
          </a:xfrm>
          <a:prstGeom prst="roundRect">
            <a:avLst>
              <a:gd name="adj" fmla="val 10000"/>
            </a:avLst>
          </a:prstGeom>
          <a:solidFill>
            <a:srgbClr val="2FD1C6"/>
          </a:solidFill>
          <a:ln/>
        </p:spPr>
        <p:txBody>
          <a:bodyPr/>
          <a:lstStyle/>
          <a:p>
            <a:endParaRPr/>
          </a:p>
        </p:txBody>
      </p:sp>
      <p:sp>
        <p:nvSpPr>
          <p:cNvPr id="14" name="Text 11"/>
          <p:cNvSpPr/>
          <p:nvPr/>
        </p:nvSpPr>
        <p:spPr>
          <a:xfrm>
            <a:off x="9601200" y="1828800"/>
            <a:ext cx="731520" cy="548640"/>
          </a:xfrm>
          <a:prstGeom prst="rect">
            <a:avLst/>
          </a:prstGeom>
          <a:noFill/>
          <a:ln/>
        </p:spPr>
        <p:txBody>
          <a:bodyPr wrap="square" lIns="0" tIns="0" rIns="0" bIns="0" rtlCol="0" anchor="ctr"/>
          <a:lstStyle/>
          <a:p>
            <a:pPr marL="0" indent="0" algn="ctr">
              <a:buNone/>
            </a:pPr>
            <a:r>
              <a:rPr lang="en-US" sz="1375" b="1" dirty="0">
                <a:solidFill>
                  <a:srgbClr val="16233F"/>
                </a:solidFill>
                <a:latin typeface="Calibri" pitchFamily="34" charset="0"/>
                <a:ea typeface="Calibri" pitchFamily="34" charset="-122"/>
                <a:cs typeface="Calibri" pitchFamily="34" charset="-120"/>
              </a:rPr>
              <a:t>d3</a:t>
            </a:r>
            <a:endParaRPr lang="en-US" sz="1100" dirty="0"/>
          </a:p>
        </p:txBody>
      </p:sp>
      <p:sp>
        <p:nvSpPr>
          <p:cNvPr id="15" name="Shape 12"/>
          <p:cNvSpPr/>
          <p:nvPr/>
        </p:nvSpPr>
        <p:spPr>
          <a:xfrm>
            <a:off x="10469880" y="1828800"/>
            <a:ext cx="731520" cy="548640"/>
          </a:xfrm>
          <a:prstGeom prst="roundRect">
            <a:avLst>
              <a:gd name="adj" fmla="val 10000"/>
            </a:avLst>
          </a:prstGeom>
          <a:solidFill>
            <a:srgbClr val="2FD1C6"/>
          </a:solidFill>
          <a:ln/>
        </p:spPr>
        <p:txBody>
          <a:bodyPr/>
          <a:lstStyle/>
          <a:p>
            <a:endParaRPr/>
          </a:p>
        </p:txBody>
      </p:sp>
      <p:sp>
        <p:nvSpPr>
          <p:cNvPr id="16" name="Text 13"/>
          <p:cNvSpPr/>
          <p:nvPr/>
        </p:nvSpPr>
        <p:spPr>
          <a:xfrm>
            <a:off x="10469880" y="1828800"/>
            <a:ext cx="731520" cy="548640"/>
          </a:xfrm>
          <a:prstGeom prst="rect">
            <a:avLst/>
          </a:prstGeom>
          <a:noFill/>
          <a:ln/>
        </p:spPr>
        <p:txBody>
          <a:bodyPr wrap="square" lIns="0" tIns="0" rIns="0" bIns="0" rtlCol="0" anchor="ctr"/>
          <a:lstStyle/>
          <a:p>
            <a:pPr marL="0" indent="0" algn="ctr">
              <a:buNone/>
            </a:pPr>
            <a:r>
              <a:rPr lang="en-US" sz="1375" b="1" dirty="0">
                <a:solidFill>
                  <a:srgbClr val="16233F"/>
                </a:solidFill>
                <a:latin typeface="Calibri" pitchFamily="34" charset="0"/>
                <a:ea typeface="Calibri" pitchFamily="34" charset="-122"/>
                <a:cs typeface="Calibri" pitchFamily="34" charset="-120"/>
              </a:rPr>
              <a:t>d4</a:t>
            </a:r>
            <a:endParaRPr lang="en-US" sz="1100" dirty="0"/>
          </a:p>
        </p:txBody>
      </p:sp>
      <p:sp>
        <p:nvSpPr>
          <p:cNvPr id="17" name="Shape 14"/>
          <p:cNvSpPr/>
          <p:nvPr/>
        </p:nvSpPr>
        <p:spPr>
          <a:xfrm>
            <a:off x="7863840" y="2514600"/>
            <a:ext cx="731520" cy="548640"/>
          </a:xfrm>
          <a:prstGeom prst="roundRect">
            <a:avLst>
              <a:gd name="adj" fmla="val 10000"/>
            </a:avLst>
          </a:prstGeom>
          <a:solidFill>
            <a:srgbClr val="2FD1C6"/>
          </a:solidFill>
          <a:ln/>
        </p:spPr>
        <p:txBody>
          <a:bodyPr/>
          <a:lstStyle/>
          <a:p>
            <a:endParaRPr/>
          </a:p>
        </p:txBody>
      </p:sp>
      <p:sp>
        <p:nvSpPr>
          <p:cNvPr id="18" name="Text 15"/>
          <p:cNvSpPr/>
          <p:nvPr/>
        </p:nvSpPr>
        <p:spPr>
          <a:xfrm>
            <a:off x="7863840" y="2514600"/>
            <a:ext cx="731520" cy="548640"/>
          </a:xfrm>
          <a:prstGeom prst="rect">
            <a:avLst/>
          </a:prstGeom>
          <a:noFill/>
          <a:ln/>
        </p:spPr>
        <p:txBody>
          <a:bodyPr wrap="square" lIns="0" tIns="0" rIns="0" bIns="0" rtlCol="0" anchor="ctr"/>
          <a:lstStyle/>
          <a:p>
            <a:pPr marL="0" indent="0" algn="ctr">
              <a:buNone/>
            </a:pPr>
            <a:r>
              <a:rPr lang="en-US" sz="1375" b="1" dirty="0">
                <a:solidFill>
                  <a:srgbClr val="16233F"/>
                </a:solidFill>
                <a:latin typeface="Calibri" pitchFamily="34" charset="0"/>
                <a:ea typeface="Calibri" pitchFamily="34" charset="-122"/>
                <a:cs typeface="Calibri" pitchFamily="34" charset="-120"/>
              </a:rPr>
              <a:t>d5</a:t>
            </a:r>
            <a:endParaRPr lang="en-US" sz="1100" dirty="0"/>
          </a:p>
        </p:txBody>
      </p:sp>
      <p:sp>
        <p:nvSpPr>
          <p:cNvPr id="19" name="Shape 16"/>
          <p:cNvSpPr/>
          <p:nvPr/>
        </p:nvSpPr>
        <p:spPr>
          <a:xfrm>
            <a:off x="8732520" y="2514600"/>
            <a:ext cx="731520" cy="548640"/>
          </a:xfrm>
          <a:prstGeom prst="roundRect">
            <a:avLst>
              <a:gd name="adj" fmla="val 10000"/>
            </a:avLst>
          </a:prstGeom>
          <a:solidFill>
            <a:srgbClr val="2FD1C6"/>
          </a:solidFill>
          <a:ln/>
        </p:spPr>
        <p:txBody>
          <a:bodyPr/>
          <a:lstStyle/>
          <a:p>
            <a:endParaRPr/>
          </a:p>
        </p:txBody>
      </p:sp>
      <p:sp>
        <p:nvSpPr>
          <p:cNvPr id="20" name="Text 17"/>
          <p:cNvSpPr/>
          <p:nvPr/>
        </p:nvSpPr>
        <p:spPr>
          <a:xfrm>
            <a:off x="8732520" y="2514600"/>
            <a:ext cx="731520" cy="548640"/>
          </a:xfrm>
          <a:prstGeom prst="rect">
            <a:avLst/>
          </a:prstGeom>
          <a:noFill/>
          <a:ln/>
        </p:spPr>
        <p:txBody>
          <a:bodyPr wrap="square" lIns="0" tIns="0" rIns="0" bIns="0" rtlCol="0" anchor="ctr"/>
          <a:lstStyle/>
          <a:p>
            <a:pPr marL="0" indent="0" algn="ctr">
              <a:buNone/>
            </a:pPr>
            <a:r>
              <a:rPr lang="en-US" sz="1375" b="1" dirty="0">
                <a:solidFill>
                  <a:srgbClr val="16233F"/>
                </a:solidFill>
                <a:latin typeface="Calibri" pitchFamily="34" charset="0"/>
                <a:ea typeface="Calibri" pitchFamily="34" charset="-122"/>
                <a:cs typeface="Calibri" pitchFamily="34" charset="-120"/>
              </a:rPr>
              <a:t>d6</a:t>
            </a:r>
            <a:endParaRPr lang="en-US" sz="1100" dirty="0"/>
          </a:p>
        </p:txBody>
      </p:sp>
      <p:sp>
        <p:nvSpPr>
          <p:cNvPr id="21" name="Shape 18"/>
          <p:cNvSpPr/>
          <p:nvPr/>
        </p:nvSpPr>
        <p:spPr>
          <a:xfrm>
            <a:off x="9601200" y="2514600"/>
            <a:ext cx="731520" cy="548640"/>
          </a:xfrm>
          <a:prstGeom prst="roundRect">
            <a:avLst>
              <a:gd name="adj" fmla="val 10000"/>
            </a:avLst>
          </a:prstGeom>
          <a:solidFill>
            <a:srgbClr val="2FD1C6"/>
          </a:solidFill>
          <a:ln/>
        </p:spPr>
        <p:txBody>
          <a:bodyPr/>
          <a:lstStyle/>
          <a:p>
            <a:endParaRPr/>
          </a:p>
        </p:txBody>
      </p:sp>
      <p:sp>
        <p:nvSpPr>
          <p:cNvPr id="22" name="Text 19"/>
          <p:cNvSpPr/>
          <p:nvPr/>
        </p:nvSpPr>
        <p:spPr>
          <a:xfrm>
            <a:off x="9601200" y="2514600"/>
            <a:ext cx="731520" cy="548640"/>
          </a:xfrm>
          <a:prstGeom prst="rect">
            <a:avLst/>
          </a:prstGeom>
          <a:noFill/>
          <a:ln/>
        </p:spPr>
        <p:txBody>
          <a:bodyPr wrap="square" lIns="0" tIns="0" rIns="0" bIns="0" rtlCol="0" anchor="ctr"/>
          <a:lstStyle/>
          <a:p>
            <a:pPr marL="0" indent="0" algn="ctr">
              <a:buNone/>
            </a:pPr>
            <a:r>
              <a:rPr lang="en-US" sz="1375" b="1" dirty="0">
                <a:solidFill>
                  <a:srgbClr val="16233F"/>
                </a:solidFill>
                <a:latin typeface="Calibri" pitchFamily="34" charset="0"/>
                <a:ea typeface="Calibri" pitchFamily="34" charset="-122"/>
                <a:cs typeface="Calibri" pitchFamily="34" charset="-120"/>
              </a:rPr>
              <a:t>d7</a:t>
            </a:r>
            <a:endParaRPr lang="en-US" sz="1100" dirty="0"/>
          </a:p>
        </p:txBody>
      </p:sp>
      <p:sp>
        <p:nvSpPr>
          <p:cNvPr id="23" name="Shape 20"/>
          <p:cNvSpPr/>
          <p:nvPr/>
        </p:nvSpPr>
        <p:spPr>
          <a:xfrm>
            <a:off x="10469880" y="2514600"/>
            <a:ext cx="731520" cy="548640"/>
          </a:xfrm>
          <a:prstGeom prst="roundRect">
            <a:avLst>
              <a:gd name="adj" fmla="val 10000"/>
            </a:avLst>
          </a:prstGeom>
          <a:solidFill>
            <a:srgbClr val="2FD1C6"/>
          </a:solidFill>
          <a:ln/>
        </p:spPr>
        <p:txBody>
          <a:bodyPr/>
          <a:lstStyle/>
          <a:p>
            <a:endParaRPr/>
          </a:p>
        </p:txBody>
      </p:sp>
      <p:sp>
        <p:nvSpPr>
          <p:cNvPr id="24" name="Text 21"/>
          <p:cNvSpPr/>
          <p:nvPr/>
        </p:nvSpPr>
        <p:spPr>
          <a:xfrm>
            <a:off x="10469880" y="2514600"/>
            <a:ext cx="731520" cy="548640"/>
          </a:xfrm>
          <a:prstGeom prst="rect">
            <a:avLst/>
          </a:prstGeom>
          <a:noFill/>
          <a:ln/>
        </p:spPr>
        <p:txBody>
          <a:bodyPr wrap="square" lIns="0" tIns="0" rIns="0" bIns="0" rtlCol="0" anchor="ctr"/>
          <a:lstStyle/>
          <a:p>
            <a:pPr marL="0" indent="0" algn="ctr">
              <a:buNone/>
            </a:pPr>
            <a:r>
              <a:rPr lang="en-US" sz="1375" b="1" dirty="0">
                <a:solidFill>
                  <a:srgbClr val="16233F"/>
                </a:solidFill>
                <a:latin typeface="Calibri" pitchFamily="34" charset="0"/>
                <a:ea typeface="Calibri" pitchFamily="34" charset="-122"/>
                <a:cs typeface="Calibri" pitchFamily="34" charset="-120"/>
              </a:rPr>
              <a:t>d8</a:t>
            </a:r>
            <a:endParaRPr lang="en-US" sz="1100" dirty="0"/>
          </a:p>
        </p:txBody>
      </p:sp>
      <p:sp>
        <p:nvSpPr>
          <p:cNvPr id="25" name="Shape 22"/>
          <p:cNvSpPr/>
          <p:nvPr/>
        </p:nvSpPr>
        <p:spPr>
          <a:xfrm>
            <a:off x="7132320" y="2834640"/>
            <a:ext cx="640080" cy="0"/>
          </a:xfrm>
          <a:prstGeom prst="line">
            <a:avLst/>
          </a:prstGeom>
          <a:noFill/>
          <a:ln w="19050">
            <a:solidFill>
              <a:srgbClr val="6B7A90"/>
            </a:solidFill>
            <a:prstDash val="solid"/>
            <a:tailEnd type="triangle"/>
          </a:ln>
        </p:spPr>
        <p:txBody>
          <a:bodyPr/>
          <a:lstStyle/>
          <a:p>
            <a:endParaRPr/>
          </a:p>
        </p:txBody>
      </p:sp>
      <p:sp>
        <p:nvSpPr>
          <p:cNvPr id="26" name="Text 23"/>
          <p:cNvSpPr/>
          <p:nvPr/>
        </p:nvSpPr>
        <p:spPr>
          <a:xfrm>
            <a:off x="5669280" y="3383280"/>
            <a:ext cx="5669280" cy="365760"/>
          </a:xfrm>
          <a:prstGeom prst="rect">
            <a:avLst/>
          </a:prstGeom>
          <a:noFill/>
          <a:ln/>
        </p:spPr>
        <p:txBody>
          <a:bodyPr wrap="square" lIns="0" tIns="0" rIns="0" bIns="0" rtlCol="0" anchor="ctr"/>
          <a:lstStyle/>
          <a:p>
            <a:pPr marL="0" indent="0">
              <a:buNone/>
            </a:pPr>
            <a:r>
              <a:rPr lang="en-US" sz="1437" i="1" dirty="0">
                <a:solidFill>
                  <a:srgbClr val="6B7A90"/>
                </a:solidFill>
                <a:latin typeface="Calibri" pitchFamily="34" charset="0"/>
                <a:ea typeface="Calibri" pitchFamily="34" charset="-122"/>
                <a:cs typeface="Calibri" pitchFamily="34" charset="-120"/>
              </a:rPr>
              <a:t>One operation applied to 8 data elements at once</a:t>
            </a:r>
            <a:endParaRPr lang="en-US" sz="1150" dirty="0"/>
          </a:p>
        </p:txBody>
      </p:sp>
      <p:sp>
        <p:nvSpPr>
          <p:cNvPr id="27" name="Text 24"/>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PARALLELISM · TLP</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Thread-Level Parallelism — Multicore</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server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502920" y="1600200"/>
            <a:ext cx="4846320" cy="2926080"/>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TLP = running multiple independent threads/programs simultaneously</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Achieved via multicore processors — multiple full CPU cores on one chip</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Each core independently fetches, decodes, and executes instructions</a:t>
            </a:r>
            <a:endParaRPr lang="en-US" sz="1550" dirty="0"/>
          </a:p>
        </p:txBody>
      </p:sp>
      <p:sp>
        <p:nvSpPr>
          <p:cNvPr id="7" name="Shape 4"/>
          <p:cNvSpPr/>
          <p:nvPr/>
        </p:nvSpPr>
        <p:spPr>
          <a:xfrm>
            <a:off x="5760720" y="1828800"/>
            <a:ext cx="1188720" cy="1005840"/>
          </a:xfrm>
          <a:prstGeom prst="roundRect">
            <a:avLst>
              <a:gd name="adj" fmla="val 7273"/>
            </a:avLst>
          </a:prstGeom>
          <a:solidFill>
            <a:srgbClr val="3B5A77"/>
          </a:solidFill>
          <a:ln/>
        </p:spPr>
        <p:txBody>
          <a:bodyPr/>
          <a:lstStyle/>
          <a:p>
            <a:endParaRPr/>
          </a:p>
        </p:txBody>
      </p:sp>
      <p:sp>
        <p:nvSpPr>
          <p:cNvPr id="8" name="Text 5"/>
          <p:cNvSpPr/>
          <p:nvPr/>
        </p:nvSpPr>
        <p:spPr>
          <a:xfrm>
            <a:off x="5760720" y="1828800"/>
            <a:ext cx="1188720" cy="1005840"/>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Core 1</a:t>
            </a:r>
            <a:endParaRPr lang="en-US" sz="1100" dirty="0"/>
          </a:p>
        </p:txBody>
      </p:sp>
      <p:sp>
        <p:nvSpPr>
          <p:cNvPr id="9" name="Shape 6"/>
          <p:cNvSpPr/>
          <p:nvPr/>
        </p:nvSpPr>
        <p:spPr>
          <a:xfrm>
            <a:off x="7132320" y="1828800"/>
            <a:ext cx="1188720" cy="1005840"/>
          </a:xfrm>
          <a:prstGeom prst="roundRect">
            <a:avLst>
              <a:gd name="adj" fmla="val 7273"/>
            </a:avLst>
          </a:prstGeom>
          <a:solidFill>
            <a:srgbClr val="3B5A77"/>
          </a:solidFill>
          <a:ln/>
        </p:spPr>
        <p:txBody>
          <a:bodyPr/>
          <a:lstStyle/>
          <a:p>
            <a:endParaRPr/>
          </a:p>
        </p:txBody>
      </p:sp>
      <p:sp>
        <p:nvSpPr>
          <p:cNvPr id="10" name="Text 7"/>
          <p:cNvSpPr/>
          <p:nvPr/>
        </p:nvSpPr>
        <p:spPr>
          <a:xfrm>
            <a:off x="7132320" y="1828800"/>
            <a:ext cx="1188720" cy="1005840"/>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Core 2</a:t>
            </a:r>
            <a:endParaRPr lang="en-US" sz="1100" dirty="0"/>
          </a:p>
        </p:txBody>
      </p:sp>
      <p:sp>
        <p:nvSpPr>
          <p:cNvPr id="11" name="Shape 8"/>
          <p:cNvSpPr/>
          <p:nvPr/>
        </p:nvSpPr>
        <p:spPr>
          <a:xfrm>
            <a:off x="8503920" y="1828800"/>
            <a:ext cx="1188720" cy="1005840"/>
          </a:xfrm>
          <a:prstGeom prst="roundRect">
            <a:avLst>
              <a:gd name="adj" fmla="val 7273"/>
            </a:avLst>
          </a:prstGeom>
          <a:solidFill>
            <a:srgbClr val="3B5A77"/>
          </a:solidFill>
          <a:ln/>
        </p:spPr>
        <p:txBody>
          <a:bodyPr/>
          <a:lstStyle/>
          <a:p>
            <a:endParaRPr/>
          </a:p>
        </p:txBody>
      </p:sp>
      <p:sp>
        <p:nvSpPr>
          <p:cNvPr id="12" name="Text 9"/>
          <p:cNvSpPr/>
          <p:nvPr/>
        </p:nvSpPr>
        <p:spPr>
          <a:xfrm>
            <a:off x="8503920" y="1828800"/>
            <a:ext cx="1188720" cy="1005840"/>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Core 3</a:t>
            </a:r>
            <a:endParaRPr lang="en-US" sz="1100" dirty="0"/>
          </a:p>
        </p:txBody>
      </p:sp>
      <p:sp>
        <p:nvSpPr>
          <p:cNvPr id="13" name="Shape 10"/>
          <p:cNvSpPr/>
          <p:nvPr/>
        </p:nvSpPr>
        <p:spPr>
          <a:xfrm>
            <a:off x="9875520" y="1828800"/>
            <a:ext cx="1188720" cy="1005840"/>
          </a:xfrm>
          <a:prstGeom prst="roundRect">
            <a:avLst>
              <a:gd name="adj" fmla="val 7273"/>
            </a:avLst>
          </a:prstGeom>
          <a:solidFill>
            <a:srgbClr val="3B5A77"/>
          </a:solidFill>
          <a:ln/>
        </p:spPr>
        <p:txBody>
          <a:bodyPr/>
          <a:lstStyle/>
          <a:p>
            <a:endParaRPr/>
          </a:p>
        </p:txBody>
      </p:sp>
      <p:sp>
        <p:nvSpPr>
          <p:cNvPr id="14" name="Text 11"/>
          <p:cNvSpPr/>
          <p:nvPr/>
        </p:nvSpPr>
        <p:spPr>
          <a:xfrm>
            <a:off x="9875520" y="1828800"/>
            <a:ext cx="1188720" cy="1005840"/>
          </a:xfrm>
          <a:prstGeom prst="rect">
            <a:avLst/>
          </a:prstGeom>
          <a:noFill/>
          <a:ln/>
        </p:spPr>
        <p:txBody>
          <a:bodyPr wrap="square" lIns="0" tIns="0" rIns="0" bIns="0" rtlCol="0" anchor="ctr"/>
          <a:lstStyle/>
          <a:p>
            <a:pPr marL="0" indent="0" algn="ctr">
              <a:buNone/>
            </a:pPr>
            <a:r>
              <a:rPr lang="en-US" sz="1375" b="1" dirty="0">
                <a:solidFill>
                  <a:srgbClr val="FFFFFF"/>
                </a:solidFill>
                <a:latin typeface="Calibri" pitchFamily="34" charset="0"/>
                <a:ea typeface="Calibri" pitchFamily="34" charset="-122"/>
                <a:cs typeface="Calibri" pitchFamily="34" charset="-120"/>
              </a:rPr>
              <a:t>Core 4</a:t>
            </a:r>
            <a:endParaRPr lang="en-US" sz="1100" dirty="0"/>
          </a:p>
        </p:txBody>
      </p:sp>
      <p:sp>
        <p:nvSpPr>
          <p:cNvPr id="15" name="Shape 12"/>
          <p:cNvSpPr/>
          <p:nvPr/>
        </p:nvSpPr>
        <p:spPr>
          <a:xfrm>
            <a:off x="5760720" y="3017520"/>
            <a:ext cx="1188720" cy="1005840"/>
          </a:xfrm>
          <a:prstGeom prst="roundRect">
            <a:avLst>
              <a:gd name="adj" fmla="val 7273"/>
            </a:avLst>
          </a:prstGeom>
          <a:solidFill>
            <a:srgbClr val="2FD1C6"/>
          </a:solidFill>
          <a:ln/>
        </p:spPr>
        <p:txBody>
          <a:bodyPr/>
          <a:lstStyle/>
          <a:p>
            <a:endParaRPr/>
          </a:p>
        </p:txBody>
      </p:sp>
      <p:sp>
        <p:nvSpPr>
          <p:cNvPr id="16" name="Text 13"/>
          <p:cNvSpPr/>
          <p:nvPr/>
        </p:nvSpPr>
        <p:spPr>
          <a:xfrm>
            <a:off x="5760720" y="3017520"/>
            <a:ext cx="1188720" cy="1005840"/>
          </a:xfrm>
          <a:prstGeom prst="rect">
            <a:avLst/>
          </a:prstGeom>
          <a:noFill/>
          <a:ln/>
        </p:spPr>
        <p:txBody>
          <a:bodyPr wrap="square" lIns="0" tIns="0" rIns="0" bIns="0" rtlCol="0" anchor="ctr"/>
          <a:lstStyle/>
          <a:p>
            <a:pPr marL="0" indent="0" algn="ctr">
              <a:buNone/>
            </a:pPr>
            <a:r>
              <a:rPr lang="en-US" sz="1375" b="1" dirty="0">
                <a:solidFill>
                  <a:srgbClr val="16233F"/>
                </a:solidFill>
                <a:latin typeface="Calibri" pitchFamily="34" charset="0"/>
                <a:ea typeface="Calibri" pitchFamily="34" charset="-122"/>
                <a:cs typeface="Calibri" pitchFamily="34" charset="-120"/>
              </a:rPr>
              <a:t>Core 5</a:t>
            </a:r>
            <a:endParaRPr lang="en-US" sz="1100" dirty="0"/>
          </a:p>
        </p:txBody>
      </p:sp>
      <p:sp>
        <p:nvSpPr>
          <p:cNvPr id="17" name="Shape 14"/>
          <p:cNvSpPr/>
          <p:nvPr/>
        </p:nvSpPr>
        <p:spPr>
          <a:xfrm>
            <a:off x="7132320" y="3017520"/>
            <a:ext cx="1188720" cy="1005840"/>
          </a:xfrm>
          <a:prstGeom prst="roundRect">
            <a:avLst>
              <a:gd name="adj" fmla="val 7273"/>
            </a:avLst>
          </a:prstGeom>
          <a:solidFill>
            <a:srgbClr val="2FD1C6"/>
          </a:solidFill>
          <a:ln/>
        </p:spPr>
        <p:txBody>
          <a:bodyPr/>
          <a:lstStyle/>
          <a:p>
            <a:endParaRPr/>
          </a:p>
        </p:txBody>
      </p:sp>
      <p:sp>
        <p:nvSpPr>
          <p:cNvPr id="18" name="Text 15"/>
          <p:cNvSpPr/>
          <p:nvPr/>
        </p:nvSpPr>
        <p:spPr>
          <a:xfrm>
            <a:off x="7132320" y="3017520"/>
            <a:ext cx="1188720" cy="1005840"/>
          </a:xfrm>
          <a:prstGeom prst="rect">
            <a:avLst/>
          </a:prstGeom>
          <a:noFill/>
          <a:ln/>
        </p:spPr>
        <p:txBody>
          <a:bodyPr wrap="square" lIns="0" tIns="0" rIns="0" bIns="0" rtlCol="0" anchor="ctr"/>
          <a:lstStyle/>
          <a:p>
            <a:pPr marL="0" indent="0" algn="ctr">
              <a:buNone/>
            </a:pPr>
            <a:r>
              <a:rPr lang="en-US" sz="1375" b="1" dirty="0">
                <a:solidFill>
                  <a:srgbClr val="16233F"/>
                </a:solidFill>
                <a:latin typeface="Calibri" pitchFamily="34" charset="0"/>
                <a:ea typeface="Calibri" pitchFamily="34" charset="-122"/>
                <a:cs typeface="Calibri" pitchFamily="34" charset="-120"/>
              </a:rPr>
              <a:t>Core 6</a:t>
            </a:r>
            <a:endParaRPr lang="en-US" sz="1100" dirty="0"/>
          </a:p>
        </p:txBody>
      </p:sp>
      <p:sp>
        <p:nvSpPr>
          <p:cNvPr id="19" name="Shape 16"/>
          <p:cNvSpPr/>
          <p:nvPr/>
        </p:nvSpPr>
        <p:spPr>
          <a:xfrm>
            <a:off x="8503920" y="3017520"/>
            <a:ext cx="1188720" cy="1005840"/>
          </a:xfrm>
          <a:prstGeom prst="roundRect">
            <a:avLst>
              <a:gd name="adj" fmla="val 7273"/>
            </a:avLst>
          </a:prstGeom>
          <a:solidFill>
            <a:srgbClr val="2FD1C6"/>
          </a:solidFill>
          <a:ln/>
        </p:spPr>
        <p:txBody>
          <a:bodyPr/>
          <a:lstStyle/>
          <a:p>
            <a:endParaRPr/>
          </a:p>
        </p:txBody>
      </p:sp>
      <p:sp>
        <p:nvSpPr>
          <p:cNvPr id="20" name="Text 17"/>
          <p:cNvSpPr/>
          <p:nvPr/>
        </p:nvSpPr>
        <p:spPr>
          <a:xfrm>
            <a:off x="8503920" y="3017520"/>
            <a:ext cx="1188720" cy="1005840"/>
          </a:xfrm>
          <a:prstGeom prst="rect">
            <a:avLst/>
          </a:prstGeom>
          <a:noFill/>
          <a:ln/>
        </p:spPr>
        <p:txBody>
          <a:bodyPr wrap="square" lIns="0" tIns="0" rIns="0" bIns="0" rtlCol="0" anchor="ctr"/>
          <a:lstStyle/>
          <a:p>
            <a:pPr marL="0" indent="0" algn="ctr">
              <a:buNone/>
            </a:pPr>
            <a:r>
              <a:rPr lang="en-US" sz="1375" b="1" dirty="0">
                <a:solidFill>
                  <a:srgbClr val="16233F"/>
                </a:solidFill>
                <a:latin typeface="Calibri" pitchFamily="34" charset="0"/>
                <a:ea typeface="Calibri" pitchFamily="34" charset="-122"/>
                <a:cs typeface="Calibri" pitchFamily="34" charset="-120"/>
              </a:rPr>
              <a:t>Core 7</a:t>
            </a:r>
            <a:endParaRPr lang="en-US" sz="1100" dirty="0"/>
          </a:p>
        </p:txBody>
      </p:sp>
      <p:sp>
        <p:nvSpPr>
          <p:cNvPr id="21" name="Shape 18"/>
          <p:cNvSpPr/>
          <p:nvPr/>
        </p:nvSpPr>
        <p:spPr>
          <a:xfrm>
            <a:off x="9875520" y="3017520"/>
            <a:ext cx="1188720" cy="1005840"/>
          </a:xfrm>
          <a:prstGeom prst="roundRect">
            <a:avLst>
              <a:gd name="adj" fmla="val 7273"/>
            </a:avLst>
          </a:prstGeom>
          <a:solidFill>
            <a:srgbClr val="2FD1C6"/>
          </a:solidFill>
          <a:ln/>
        </p:spPr>
        <p:txBody>
          <a:bodyPr/>
          <a:lstStyle/>
          <a:p>
            <a:endParaRPr/>
          </a:p>
        </p:txBody>
      </p:sp>
      <p:sp>
        <p:nvSpPr>
          <p:cNvPr id="22" name="Text 19"/>
          <p:cNvSpPr/>
          <p:nvPr/>
        </p:nvSpPr>
        <p:spPr>
          <a:xfrm>
            <a:off x="9875520" y="3017520"/>
            <a:ext cx="1188720" cy="1005840"/>
          </a:xfrm>
          <a:prstGeom prst="rect">
            <a:avLst/>
          </a:prstGeom>
          <a:noFill/>
          <a:ln/>
        </p:spPr>
        <p:txBody>
          <a:bodyPr wrap="square" lIns="0" tIns="0" rIns="0" bIns="0" rtlCol="0" anchor="ctr"/>
          <a:lstStyle/>
          <a:p>
            <a:pPr marL="0" indent="0" algn="ctr">
              <a:buNone/>
            </a:pPr>
            <a:r>
              <a:rPr lang="en-US" sz="1375" b="1" dirty="0">
                <a:solidFill>
                  <a:srgbClr val="16233F"/>
                </a:solidFill>
                <a:latin typeface="Calibri" pitchFamily="34" charset="0"/>
                <a:ea typeface="Calibri" pitchFamily="34" charset="-122"/>
                <a:cs typeface="Calibri" pitchFamily="34" charset="-120"/>
              </a:rPr>
              <a:t>Core 8</a:t>
            </a:r>
            <a:endParaRPr lang="en-US" sz="1100" dirty="0"/>
          </a:p>
        </p:txBody>
      </p:sp>
      <p:sp>
        <p:nvSpPr>
          <p:cNvPr id="23" name="Text 20"/>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REAL-WORLD EXAMPLE</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Smartphones: Everything at Once</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mobileAlt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502920" y="1600200"/>
            <a:ext cx="6309360" cy="3474720"/>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Modern smartphone chips combine ALL three parallelism types</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Big.LITTLE / performance-efficiency core design for battery life</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Neural Processing Units (NPUs) use SIMD-style parallelism for AI tasks</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Clock speed deliberately kept moderate (2–3 GHz) to save battery</a:t>
            </a:r>
            <a:endParaRPr lang="en-US" sz="1550" dirty="0"/>
          </a:p>
        </p:txBody>
      </p:sp>
      <p:sp>
        <p:nvSpPr>
          <p:cNvPr id="7" name="Shape 4"/>
          <p:cNvSpPr/>
          <p:nvPr/>
        </p:nvSpPr>
        <p:spPr>
          <a:xfrm>
            <a:off x="7589520" y="1920240"/>
            <a:ext cx="3931920" cy="822960"/>
          </a:xfrm>
          <a:prstGeom prst="roundRect">
            <a:avLst>
              <a:gd name="adj" fmla="val 11111"/>
            </a:avLst>
          </a:prstGeom>
          <a:solidFill>
            <a:srgbClr val="E9EEF5"/>
          </a:solidFill>
          <a:ln/>
        </p:spPr>
        <p:txBody>
          <a:bodyPr/>
          <a:lstStyle/>
          <a:p>
            <a:endParaRPr/>
          </a:p>
        </p:txBody>
      </p:sp>
      <p:sp>
        <p:nvSpPr>
          <p:cNvPr id="8" name="Shape 5"/>
          <p:cNvSpPr/>
          <p:nvPr/>
        </p:nvSpPr>
        <p:spPr>
          <a:xfrm>
            <a:off x="7818120" y="2148840"/>
            <a:ext cx="365760" cy="365760"/>
          </a:xfrm>
          <a:prstGeom prst="ellipse">
            <a:avLst/>
          </a:prstGeom>
          <a:solidFill>
            <a:srgbClr val="3B5A77"/>
          </a:solidFill>
          <a:ln/>
        </p:spPr>
        <p:txBody>
          <a:bodyPr/>
          <a:lstStyle/>
          <a:p>
            <a:endParaRPr/>
          </a:p>
        </p:txBody>
      </p:sp>
      <p:sp>
        <p:nvSpPr>
          <p:cNvPr id="9" name="Text 6"/>
          <p:cNvSpPr/>
          <p:nvPr/>
        </p:nvSpPr>
        <p:spPr>
          <a:xfrm>
            <a:off x="8366760" y="1920240"/>
            <a:ext cx="3017520" cy="822960"/>
          </a:xfrm>
          <a:prstGeom prst="rect">
            <a:avLst/>
          </a:prstGeom>
          <a:noFill/>
          <a:ln/>
        </p:spPr>
        <p:txBody>
          <a:bodyPr wrap="square" lIns="0" tIns="0" rIns="0" bIns="0" rtlCol="0" anchor="ctr"/>
          <a:lstStyle/>
          <a:p>
            <a:pPr marL="0" indent="0">
              <a:buNone/>
            </a:pPr>
            <a:r>
              <a:rPr lang="en-US" sz="1750" b="1" dirty="0">
                <a:solidFill>
                  <a:srgbClr val="16233F"/>
                </a:solidFill>
                <a:latin typeface="Calibri" pitchFamily="34" charset="0"/>
                <a:ea typeface="Calibri" pitchFamily="34" charset="-122"/>
                <a:cs typeface="Calibri" pitchFamily="34" charset="-120"/>
              </a:rPr>
              <a:t>CPU cores</a:t>
            </a:r>
            <a:endParaRPr lang="en-US" sz="1400" dirty="0"/>
          </a:p>
        </p:txBody>
      </p:sp>
      <p:sp>
        <p:nvSpPr>
          <p:cNvPr id="10" name="Shape 7"/>
          <p:cNvSpPr/>
          <p:nvPr/>
        </p:nvSpPr>
        <p:spPr>
          <a:xfrm>
            <a:off x="7589520" y="2971800"/>
            <a:ext cx="3931920" cy="822960"/>
          </a:xfrm>
          <a:prstGeom prst="roundRect">
            <a:avLst>
              <a:gd name="adj" fmla="val 11111"/>
            </a:avLst>
          </a:prstGeom>
          <a:solidFill>
            <a:srgbClr val="E9EEF5"/>
          </a:solidFill>
          <a:ln/>
        </p:spPr>
        <p:txBody>
          <a:bodyPr/>
          <a:lstStyle/>
          <a:p>
            <a:endParaRPr/>
          </a:p>
        </p:txBody>
      </p:sp>
      <p:sp>
        <p:nvSpPr>
          <p:cNvPr id="11" name="Shape 8"/>
          <p:cNvSpPr/>
          <p:nvPr/>
        </p:nvSpPr>
        <p:spPr>
          <a:xfrm>
            <a:off x="7818120" y="3200400"/>
            <a:ext cx="365760" cy="365760"/>
          </a:xfrm>
          <a:prstGeom prst="ellipse">
            <a:avLst/>
          </a:prstGeom>
          <a:solidFill>
            <a:srgbClr val="2FD1C6"/>
          </a:solidFill>
          <a:ln/>
        </p:spPr>
        <p:txBody>
          <a:bodyPr/>
          <a:lstStyle/>
          <a:p>
            <a:endParaRPr/>
          </a:p>
        </p:txBody>
      </p:sp>
      <p:sp>
        <p:nvSpPr>
          <p:cNvPr id="12" name="Text 9"/>
          <p:cNvSpPr/>
          <p:nvPr/>
        </p:nvSpPr>
        <p:spPr>
          <a:xfrm>
            <a:off x="8366760" y="2971800"/>
            <a:ext cx="3017520" cy="822960"/>
          </a:xfrm>
          <a:prstGeom prst="rect">
            <a:avLst/>
          </a:prstGeom>
          <a:noFill/>
          <a:ln/>
        </p:spPr>
        <p:txBody>
          <a:bodyPr wrap="square" lIns="0" tIns="0" rIns="0" bIns="0" rtlCol="0" anchor="ctr"/>
          <a:lstStyle/>
          <a:p>
            <a:pPr marL="0" indent="0">
              <a:buNone/>
            </a:pPr>
            <a:r>
              <a:rPr lang="en-US" sz="1750" b="1" dirty="0">
                <a:solidFill>
                  <a:srgbClr val="16233F"/>
                </a:solidFill>
                <a:latin typeface="Calibri" pitchFamily="34" charset="0"/>
                <a:ea typeface="Calibri" pitchFamily="34" charset="-122"/>
                <a:cs typeface="Calibri" pitchFamily="34" charset="-120"/>
              </a:rPr>
              <a:t>GPU</a:t>
            </a:r>
            <a:endParaRPr lang="en-US" sz="1400" dirty="0"/>
          </a:p>
        </p:txBody>
      </p:sp>
      <p:sp>
        <p:nvSpPr>
          <p:cNvPr id="13" name="Shape 10"/>
          <p:cNvSpPr/>
          <p:nvPr/>
        </p:nvSpPr>
        <p:spPr>
          <a:xfrm>
            <a:off x="7589520" y="4023360"/>
            <a:ext cx="3931920" cy="822960"/>
          </a:xfrm>
          <a:prstGeom prst="roundRect">
            <a:avLst>
              <a:gd name="adj" fmla="val 11111"/>
            </a:avLst>
          </a:prstGeom>
          <a:solidFill>
            <a:srgbClr val="E9EEF5"/>
          </a:solidFill>
          <a:ln/>
        </p:spPr>
        <p:txBody>
          <a:bodyPr/>
          <a:lstStyle/>
          <a:p>
            <a:endParaRPr/>
          </a:p>
        </p:txBody>
      </p:sp>
      <p:sp>
        <p:nvSpPr>
          <p:cNvPr id="14" name="Shape 11"/>
          <p:cNvSpPr/>
          <p:nvPr/>
        </p:nvSpPr>
        <p:spPr>
          <a:xfrm>
            <a:off x="7818120" y="4251960"/>
            <a:ext cx="365760" cy="365760"/>
          </a:xfrm>
          <a:prstGeom prst="ellipse">
            <a:avLst/>
          </a:prstGeom>
          <a:solidFill>
            <a:srgbClr val="E8A33D"/>
          </a:solidFill>
          <a:ln/>
        </p:spPr>
        <p:txBody>
          <a:bodyPr/>
          <a:lstStyle/>
          <a:p>
            <a:endParaRPr/>
          </a:p>
        </p:txBody>
      </p:sp>
      <p:sp>
        <p:nvSpPr>
          <p:cNvPr id="15" name="Text 12"/>
          <p:cNvSpPr/>
          <p:nvPr/>
        </p:nvSpPr>
        <p:spPr>
          <a:xfrm>
            <a:off x="8366760" y="4023360"/>
            <a:ext cx="3017520" cy="822960"/>
          </a:xfrm>
          <a:prstGeom prst="rect">
            <a:avLst/>
          </a:prstGeom>
          <a:noFill/>
          <a:ln/>
        </p:spPr>
        <p:txBody>
          <a:bodyPr wrap="square" lIns="0" tIns="0" rIns="0" bIns="0" rtlCol="0" anchor="ctr"/>
          <a:lstStyle/>
          <a:p>
            <a:pPr marL="0" indent="0">
              <a:buNone/>
            </a:pPr>
            <a:r>
              <a:rPr lang="en-US" sz="1750" b="1" dirty="0">
                <a:solidFill>
                  <a:srgbClr val="16233F"/>
                </a:solidFill>
                <a:latin typeface="Calibri" pitchFamily="34" charset="0"/>
                <a:ea typeface="Calibri" pitchFamily="34" charset="-122"/>
                <a:cs typeface="Calibri" pitchFamily="34" charset="-120"/>
              </a:rPr>
              <a:t>NPU (AI)</a:t>
            </a:r>
            <a:endParaRPr lang="en-US" sz="1400" dirty="0"/>
          </a:p>
        </p:txBody>
      </p:sp>
      <p:sp>
        <p:nvSpPr>
          <p:cNvPr id="16" name="Text 13"/>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REAL-WORLD EXAMPLE</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AI Training and Data Centers</a:t>
            </a:r>
            <a:endParaRPr lang="en-US" sz="3000" dirty="0"/>
          </a:p>
        </p:txBody>
      </p:sp>
      <p:sp>
        <p:nvSpPr>
          <p:cNvPr id="4" name="Shape 2"/>
          <p:cNvSpPr/>
          <p:nvPr/>
        </p:nvSpPr>
        <p:spPr>
          <a:xfrm>
            <a:off x="10954512" y="457200"/>
            <a:ext cx="868680" cy="868680"/>
          </a:xfrm>
          <a:prstGeom prst="ellipse">
            <a:avLst/>
          </a:prstGeom>
          <a:solidFill>
            <a:srgbClr val="E8A33D"/>
          </a:solidFill>
          <a:ln/>
        </p:spPr>
        <p:txBody>
          <a:bodyPr/>
          <a:lstStyle/>
          <a:p>
            <a:endParaRPr/>
          </a:p>
        </p:txBody>
      </p:sp>
      <p:pic>
        <p:nvPicPr>
          <p:cNvPr id="5" name="Image 0" descr="/home/claude/coa_ppt/icons/robot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502920" y="1600200"/>
            <a:ext cx="6400800" cy="3657600"/>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Training large AI models needs massive parallelism, not just high clock speed</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GPUs (thousands of small cores) exploit data-level parallelism for matrix math</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Data centers prioritize throughput (many users served) over single-task speed</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Companies design custom chips (e.g., TPUs) optimized for parallel AI workloads</a:t>
            </a:r>
            <a:endParaRPr lang="en-US" sz="1550" dirty="0"/>
          </a:p>
        </p:txBody>
      </p:sp>
      <p:sp>
        <p:nvSpPr>
          <p:cNvPr id="7" name="Text 4"/>
          <p:cNvSpPr/>
          <p:nvPr/>
        </p:nvSpPr>
        <p:spPr>
          <a:xfrm>
            <a:off x="7772400" y="2011680"/>
            <a:ext cx="3657600" cy="320040"/>
          </a:xfrm>
          <a:prstGeom prst="rect">
            <a:avLst/>
          </a:prstGeom>
          <a:noFill/>
          <a:ln/>
        </p:spPr>
        <p:txBody>
          <a:bodyPr wrap="square" lIns="0" tIns="0" rIns="0" bIns="0" rtlCol="0" anchor="ctr"/>
          <a:lstStyle/>
          <a:p>
            <a:pPr marL="0" indent="0">
              <a:buNone/>
            </a:pPr>
            <a:r>
              <a:rPr lang="en-US" sz="1562" b="1" dirty="0">
                <a:solidFill>
                  <a:srgbClr val="16233F"/>
                </a:solidFill>
                <a:latin typeface="Calibri" pitchFamily="34" charset="0"/>
                <a:ea typeface="Calibri" pitchFamily="34" charset="-122"/>
                <a:cs typeface="Calibri" pitchFamily="34" charset="-120"/>
              </a:rPr>
              <a:t>CPU vs GPU — core count</a:t>
            </a:r>
            <a:endParaRPr lang="en-US" sz="1250" dirty="0"/>
          </a:p>
        </p:txBody>
      </p:sp>
      <p:sp>
        <p:nvSpPr>
          <p:cNvPr id="8" name="Shape 5"/>
          <p:cNvSpPr/>
          <p:nvPr/>
        </p:nvSpPr>
        <p:spPr>
          <a:xfrm>
            <a:off x="7772400" y="2468880"/>
            <a:ext cx="3566160" cy="548640"/>
          </a:xfrm>
          <a:prstGeom prst="roundRect">
            <a:avLst>
              <a:gd name="adj" fmla="val 13333"/>
            </a:avLst>
          </a:prstGeom>
          <a:solidFill>
            <a:srgbClr val="3B5A77"/>
          </a:solidFill>
          <a:ln/>
        </p:spPr>
        <p:txBody>
          <a:bodyPr/>
          <a:lstStyle/>
          <a:p>
            <a:endParaRPr/>
          </a:p>
        </p:txBody>
      </p:sp>
      <p:sp>
        <p:nvSpPr>
          <p:cNvPr id="9" name="Text 6"/>
          <p:cNvSpPr/>
          <p:nvPr/>
        </p:nvSpPr>
        <p:spPr>
          <a:xfrm>
            <a:off x="7772400" y="2468880"/>
            <a:ext cx="3566160" cy="548640"/>
          </a:xfrm>
          <a:prstGeom prst="rect">
            <a:avLst/>
          </a:prstGeom>
          <a:noFill/>
          <a:ln/>
        </p:spPr>
        <p:txBody>
          <a:bodyPr wrap="square" lIns="0" tIns="0" rIns="0" bIns="0" rtlCol="0" anchor="ctr"/>
          <a:lstStyle/>
          <a:p>
            <a:pPr marL="0" indent="0" algn="ctr">
              <a:buNone/>
            </a:pPr>
            <a:r>
              <a:rPr lang="en-US" sz="1562" b="1" dirty="0">
                <a:solidFill>
                  <a:srgbClr val="FFFFFF"/>
                </a:solidFill>
                <a:latin typeface="Calibri" pitchFamily="34" charset="0"/>
                <a:ea typeface="Calibri" pitchFamily="34" charset="-122"/>
                <a:cs typeface="Calibri" pitchFamily="34" charset="-120"/>
              </a:rPr>
              <a:t>CPU: ~8–32 large cores</a:t>
            </a:r>
            <a:endParaRPr lang="en-US" sz="1250" dirty="0"/>
          </a:p>
        </p:txBody>
      </p:sp>
      <p:sp>
        <p:nvSpPr>
          <p:cNvPr id="10" name="Shape 7"/>
          <p:cNvSpPr/>
          <p:nvPr/>
        </p:nvSpPr>
        <p:spPr>
          <a:xfrm>
            <a:off x="7772400" y="3200400"/>
            <a:ext cx="3566160" cy="1463040"/>
          </a:xfrm>
          <a:prstGeom prst="roundRect">
            <a:avLst>
              <a:gd name="adj" fmla="val 5000"/>
            </a:avLst>
          </a:prstGeom>
          <a:solidFill>
            <a:srgbClr val="2FD1C6"/>
          </a:solidFill>
          <a:ln/>
        </p:spPr>
        <p:txBody>
          <a:bodyPr/>
          <a:lstStyle/>
          <a:p>
            <a:endParaRPr/>
          </a:p>
        </p:txBody>
      </p:sp>
      <p:sp>
        <p:nvSpPr>
          <p:cNvPr id="11" name="Text 8"/>
          <p:cNvSpPr/>
          <p:nvPr/>
        </p:nvSpPr>
        <p:spPr>
          <a:xfrm>
            <a:off x="7772400" y="3200400"/>
            <a:ext cx="3566160" cy="1463040"/>
          </a:xfrm>
          <a:prstGeom prst="rect">
            <a:avLst/>
          </a:prstGeom>
          <a:noFill/>
          <a:ln/>
        </p:spPr>
        <p:txBody>
          <a:bodyPr wrap="square" lIns="0" tIns="0" rIns="0" bIns="0" rtlCol="0" anchor="ctr"/>
          <a:lstStyle/>
          <a:p>
            <a:pPr marL="0" indent="0" algn="ctr">
              <a:buNone/>
            </a:pPr>
            <a:r>
              <a:rPr lang="en-US" sz="1625" b="1" dirty="0">
                <a:solidFill>
                  <a:srgbClr val="16233F"/>
                </a:solidFill>
                <a:latin typeface="Calibri" pitchFamily="34" charset="0"/>
                <a:ea typeface="Calibri" pitchFamily="34" charset="-122"/>
                <a:cs typeface="Calibri" pitchFamily="34" charset="-120"/>
              </a:rPr>
              <a:t>GPU: thousands of</a:t>
            </a:r>
            <a:endParaRPr lang="en-US" sz="1300" dirty="0"/>
          </a:p>
          <a:p>
            <a:pPr marL="0" indent="0" algn="ctr">
              <a:buNone/>
            </a:pPr>
            <a:r>
              <a:rPr lang="en-US" sz="1625" b="1" dirty="0">
                <a:solidFill>
                  <a:srgbClr val="16233F"/>
                </a:solidFill>
                <a:latin typeface="Calibri" pitchFamily="34" charset="0"/>
                <a:ea typeface="Calibri" pitchFamily="34" charset="-122"/>
                <a:cs typeface="Calibri" pitchFamily="34" charset="-120"/>
              </a:rPr>
              <a:t>small parallel cores</a:t>
            </a:r>
            <a:endParaRPr lang="en-US" sz="1300" dirty="0"/>
          </a:p>
        </p:txBody>
      </p:sp>
      <p:sp>
        <p:nvSpPr>
          <p:cNvPr id="12" name="Text 9"/>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WORKED EXAMPLE 1</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Applying the CPU Performance Equation</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calculator_navy.png"/>
          <p:cNvPicPr>
            <a:picLocks noChangeAspect="1"/>
          </p:cNvPicPr>
          <p:nvPr/>
        </p:nvPicPr>
        <p:blipFill>
          <a:blip r:embed="rId3"/>
          <a:stretch>
            <a:fillRect/>
          </a:stretch>
        </p:blipFill>
        <p:spPr>
          <a:xfrm>
            <a:off x="11162995" y="665683"/>
            <a:ext cx="451714" cy="451714"/>
          </a:xfrm>
          <a:prstGeom prst="rect">
            <a:avLst/>
          </a:prstGeom>
        </p:spPr>
      </p:pic>
      <p:sp>
        <p:nvSpPr>
          <p:cNvPr id="6" name="Shape 3"/>
          <p:cNvSpPr/>
          <p:nvPr/>
        </p:nvSpPr>
        <p:spPr>
          <a:xfrm>
            <a:off x="502920" y="1645920"/>
            <a:ext cx="11155680" cy="777240"/>
          </a:xfrm>
          <a:prstGeom prst="roundRect">
            <a:avLst>
              <a:gd name="adj" fmla="val 11765"/>
            </a:avLst>
          </a:prstGeom>
          <a:solidFill>
            <a:srgbClr val="E9EEF5"/>
          </a:solidFill>
          <a:ln/>
        </p:spPr>
        <p:txBody>
          <a:bodyPr/>
          <a:lstStyle/>
          <a:p>
            <a:endParaRPr/>
          </a:p>
        </p:txBody>
      </p:sp>
      <p:sp>
        <p:nvSpPr>
          <p:cNvPr id="7" name="Text 4"/>
          <p:cNvSpPr/>
          <p:nvPr/>
        </p:nvSpPr>
        <p:spPr>
          <a:xfrm>
            <a:off x="731520" y="1645920"/>
            <a:ext cx="10698480" cy="777240"/>
          </a:xfrm>
          <a:prstGeom prst="rect">
            <a:avLst/>
          </a:prstGeom>
          <a:noFill/>
          <a:ln/>
        </p:spPr>
        <p:txBody>
          <a:bodyPr wrap="square" lIns="0" tIns="0" rIns="0" bIns="0" rtlCol="0" anchor="ctr"/>
          <a:lstStyle/>
          <a:p>
            <a:pPr marL="0" indent="0">
              <a:buNone/>
            </a:pPr>
            <a:r>
              <a:rPr lang="en-US" sz="1812" dirty="0">
                <a:solidFill>
                  <a:srgbClr val="16233F"/>
                </a:solidFill>
                <a:latin typeface="Calibri" pitchFamily="34" charset="0"/>
                <a:ea typeface="Calibri" pitchFamily="34" charset="-122"/>
                <a:cs typeface="Calibri" pitchFamily="34" charset="-120"/>
              </a:rPr>
              <a:t>A program has 50 million instructions. CPI = 2. Clock rate = 2 GHz. Find CPU execution time.</a:t>
            </a:r>
            <a:endParaRPr lang="en-US" sz="1450" dirty="0"/>
          </a:p>
        </p:txBody>
      </p:sp>
      <p:sp>
        <p:nvSpPr>
          <p:cNvPr id="8" name="Shape 5"/>
          <p:cNvSpPr/>
          <p:nvPr/>
        </p:nvSpPr>
        <p:spPr>
          <a:xfrm>
            <a:off x="502920" y="2651760"/>
            <a:ext cx="411480" cy="411480"/>
          </a:xfrm>
          <a:prstGeom prst="ellipse">
            <a:avLst/>
          </a:prstGeom>
          <a:solidFill>
            <a:srgbClr val="3B5A77"/>
          </a:solidFill>
          <a:ln/>
        </p:spPr>
        <p:txBody>
          <a:bodyPr/>
          <a:lstStyle/>
          <a:p>
            <a:endParaRPr/>
          </a:p>
        </p:txBody>
      </p:sp>
      <p:sp>
        <p:nvSpPr>
          <p:cNvPr id="9" name="Text 6"/>
          <p:cNvSpPr/>
          <p:nvPr/>
        </p:nvSpPr>
        <p:spPr>
          <a:xfrm>
            <a:off x="502920" y="2651760"/>
            <a:ext cx="411480" cy="411480"/>
          </a:xfrm>
          <a:prstGeom prst="rect">
            <a:avLst/>
          </a:prstGeom>
          <a:noFill/>
          <a:ln/>
        </p:spPr>
        <p:txBody>
          <a:bodyPr wrap="square" lIns="0" tIns="0" rIns="0" bIns="0" rtlCol="0" anchor="ctr"/>
          <a:lstStyle/>
          <a:p>
            <a:pPr marL="0" indent="0" algn="ctr">
              <a:buNone/>
            </a:pPr>
            <a:r>
              <a:rPr lang="en-US" sz="1625"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097280" y="2606040"/>
            <a:ext cx="10058400" cy="502920"/>
          </a:xfrm>
          <a:prstGeom prst="rect">
            <a:avLst/>
          </a:prstGeom>
          <a:noFill/>
          <a:ln/>
        </p:spPr>
        <p:txBody>
          <a:bodyPr wrap="square" lIns="0" tIns="0" rIns="0" bIns="0" rtlCol="0" anchor="ctr"/>
          <a:lstStyle/>
          <a:p>
            <a:pPr marL="0" indent="0">
              <a:buNone/>
            </a:pPr>
            <a:r>
              <a:rPr lang="en-US" sz="2000" dirty="0">
                <a:solidFill>
                  <a:srgbClr val="3E4C63"/>
                </a:solidFill>
                <a:latin typeface="Cambria" pitchFamily="34" charset="0"/>
                <a:ea typeface="Cambria" pitchFamily="34" charset="-122"/>
                <a:cs typeface="Cambria" pitchFamily="34" charset="-120"/>
              </a:rPr>
              <a:t>Clock Cycle Time = 1 / 2 GHz = 0.5 ns</a:t>
            </a:r>
            <a:endParaRPr lang="en-US" sz="1600" dirty="0"/>
          </a:p>
        </p:txBody>
      </p:sp>
      <p:sp>
        <p:nvSpPr>
          <p:cNvPr id="11" name="Shape 8"/>
          <p:cNvSpPr/>
          <p:nvPr/>
        </p:nvSpPr>
        <p:spPr>
          <a:xfrm>
            <a:off x="502920" y="3310128"/>
            <a:ext cx="411480" cy="411480"/>
          </a:xfrm>
          <a:prstGeom prst="ellipse">
            <a:avLst/>
          </a:prstGeom>
          <a:solidFill>
            <a:srgbClr val="3B5A77"/>
          </a:solidFill>
          <a:ln/>
        </p:spPr>
        <p:txBody>
          <a:bodyPr/>
          <a:lstStyle/>
          <a:p>
            <a:endParaRPr/>
          </a:p>
        </p:txBody>
      </p:sp>
      <p:sp>
        <p:nvSpPr>
          <p:cNvPr id="12" name="Text 9"/>
          <p:cNvSpPr/>
          <p:nvPr/>
        </p:nvSpPr>
        <p:spPr>
          <a:xfrm>
            <a:off x="502920" y="3310128"/>
            <a:ext cx="411480" cy="411480"/>
          </a:xfrm>
          <a:prstGeom prst="rect">
            <a:avLst/>
          </a:prstGeom>
          <a:noFill/>
          <a:ln/>
        </p:spPr>
        <p:txBody>
          <a:bodyPr wrap="square" lIns="0" tIns="0" rIns="0" bIns="0" rtlCol="0" anchor="ctr"/>
          <a:lstStyle/>
          <a:p>
            <a:pPr marL="0" indent="0" algn="ctr">
              <a:buNone/>
            </a:pPr>
            <a:r>
              <a:rPr lang="en-US" sz="1625"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1097280" y="3264408"/>
            <a:ext cx="10058400" cy="502920"/>
          </a:xfrm>
          <a:prstGeom prst="rect">
            <a:avLst/>
          </a:prstGeom>
          <a:noFill/>
          <a:ln/>
        </p:spPr>
        <p:txBody>
          <a:bodyPr wrap="square" lIns="0" tIns="0" rIns="0" bIns="0" rtlCol="0" anchor="ctr"/>
          <a:lstStyle/>
          <a:p>
            <a:pPr marL="0" indent="0">
              <a:buNone/>
            </a:pPr>
            <a:r>
              <a:rPr lang="en-US" sz="2000" dirty="0">
                <a:solidFill>
                  <a:srgbClr val="3E4C63"/>
                </a:solidFill>
                <a:latin typeface="Cambria" pitchFamily="34" charset="0"/>
                <a:ea typeface="Cambria" pitchFamily="34" charset="-122"/>
                <a:cs typeface="Cambria" pitchFamily="34" charset="-120"/>
              </a:rPr>
              <a:t>CPU Time = IC × CPI × Clock Cycle Time</a:t>
            </a:r>
            <a:endParaRPr lang="en-US" sz="1600" dirty="0"/>
          </a:p>
        </p:txBody>
      </p:sp>
      <p:sp>
        <p:nvSpPr>
          <p:cNvPr id="14" name="Shape 11"/>
          <p:cNvSpPr/>
          <p:nvPr/>
        </p:nvSpPr>
        <p:spPr>
          <a:xfrm>
            <a:off x="502920" y="3968496"/>
            <a:ext cx="411480" cy="411480"/>
          </a:xfrm>
          <a:prstGeom prst="ellipse">
            <a:avLst/>
          </a:prstGeom>
          <a:solidFill>
            <a:srgbClr val="3B5A77"/>
          </a:solidFill>
          <a:ln/>
        </p:spPr>
        <p:txBody>
          <a:bodyPr/>
          <a:lstStyle/>
          <a:p>
            <a:endParaRPr/>
          </a:p>
        </p:txBody>
      </p:sp>
      <p:sp>
        <p:nvSpPr>
          <p:cNvPr id="15" name="Text 12"/>
          <p:cNvSpPr/>
          <p:nvPr/>
        </p:nvSpPr>
        <p:spPr>
          <a:xfrm>
            <a:off x="502920" y="3968496"/>
            <a:ext cx="411480" cy="411480"/>
          </a:xfrm>
          <a:prstGeom prst="rect">
            <a:avLst/>
          </a:prstGeom>
          <a:noFill/>
          <a:ln/>
        </p:spPr>
        <p:txBody>
          <a:bodyPr wrap="square" lIns="0" tIns="0" rIns="0" bIns="0" rtlCol="0" anchor="ctr"/>
          <a:lstStyle/>
          <a:p>
            <a:pPr marL="0" indent="0" algn="ctr">
              <a:buNone/>
            </a:pPr>
            <a:r>
              <a:rPr lang="en-US" sz="1625"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p:nvPr/>
        </p:nvSpPr>
        <p:spPr>
          <a:xfrm>
            <a:off x="1097280" y="3922776"/>
            <a:ext cx="10058400" cy="502920"/>
          </a:xfrm>
          <a:prstGeom prst="rect">
            <a:avLst/>
          </a:prstGeom>
          <a:noFill/>
          <a:ln/>
        </p:spPr>
        <p:txBody>
          <a:bodyPr wrap="square" lIns="0" tIns="0" rIns="0" bIns="0" rtlCol="0" anchor="ctr"/>
          <a:lstStyle/>
          <a:p>
            <a:pPr marL="0" indent="0">
              <a:buNone/>
            </a:pPr>
            <a:r>
              <a:rPr lang="en-US" sz="2000" dirty="0">
                <a:solidFill>
                  <a:srgbClr val="3E4C63"/>
                </a:solidFill>
                <a:latin typeface="Cambria" pitchFamily="34" charset="0"/>
                <a:ea typeface="Cambria" pitchFamily="34" charset="-122"/>
                <a:cs typeface="Cambria" pitchFamily="34" charset="-120"/>
              </a:rPr>
              <a:t>= 50,000,000 × 2 × 0.5 ns</a:t>
            </a:r>
            <a:endParaRPr lang="en-US" sz="1600" dirty="0"/>
          </a:p>
        </p:txBody>
      </p:sp>
      <p:sp>
        <p:nvSpPr>
          <p:cNvPr id="17" name="Shape 14"/>
          <p:cNvSpPr/>
          <p:nvPr/>
        </p:nvSpPr>
        <p:spPr>
          <a:xfrm>
            <a:off x="502920" y="4626864"/>
            <a:ext cx="411480" cy="411480"/>
          </a:xfrm>
          <a:prstGeom prst="ellipse">
            <a:avLst/>
          </a:prstGeom>
          <a:solidFill>
            <a:srgbClr val="3B5A77"/>
          </a:solidFill>
          <a:ln/>
        </p:spPr>
        <p:txBody>
          <a:bodyPr/>
          <a:lstStyle/>
          <a:p>
            <a:endParaRPr/>
          </a:p>
        </p:txBody>
      </p:sp>
      <p:sp>
        <p:nvSpPr>
          <p:cNvPr id="18" name="Text 15"/>
          <p:cNvSpPr/>
          <p:nvPr/>
        </p:nvSpPr>
        <p:spPr>
          <a:xfrm>
            <a:off x="502920" y="4626864"/>
            <a:ext cx="411480" cy="411480"/>
          </a:xfrm>
          <a:prstGeom prst="rect">
            <a:avLst/>
          </a:prstGeom>
          <a:noFill/>
          <a:ln/>
        </p:spPr>
        <p:txBody>
          <a:bodyPr wrap="square" lIns="0" tIns="0" rIns="0" bIns="0" rtlCol="0" anchor="ctr"/>
          <a:lstStyle/>
          <a:p>
            <a:pPr marL="0" indent="0" algn="ctr">
              <a:buNone/>
            </a:pPr>
            <a:r>
              <a:rPr lang="en-US" sz="1625"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6"/>
          <p:cNvSpPr/>
          <p:nvPr/>
        </p:nvSpPr>
        <p:spPr>
          <a:xfrm>
            <a:off x="1097280" y="4581144"/>
            <a:ext cx="10058400" cy="502920"/>
          </a:xfrm>
          <a:prstGeom prst="rect">
            <a:avLst/>
          </a:prstGeom>
          <a:noFill/>
          <a:ln/>
        </p:spPr>
        <p:txBody>
          <a:bodyPr wrap="square" lIns="0" tIns="0" rIns="0" bIns="0" rtlCol="0" anchor="ctr"/>
          <a:lstStyle/>
          <a:p>
            <a:pPr marL="0" indent="0">
              <a:buNone/>
            </a:pPr>
            <a:r>
              <a:rPr lang="en-US" sz="2000" b="1" dirty="0">
                <a:solidFill>
                  <a:srgbClr val="16233F"/>
                </a:solidFill>
                <a:latin typeface="Cambria" pitchFamily="34" charset="0"/>
                <a:ea typeface="Cambria" pitchFamily="34" charset="-122"/>
                <a:cs typeface="Cambria" pitchFamily="34" charset="-120"/>
              </a:rPr>
              <a:t>= 50,000,000 ns  =  0.05 seconds</a:t>
            </a:r>
            <a:endParaRPr lang="en-US" sz="1600" dirty="0"/>
          </a:p>
        </p:txBody>
      </p:sp>
      <p:sp>
        <p:nvSpPr>
          <p:cNvPr id="20" name="Shape 17"/>
          <p:cNvSpPr/>
          <p:nvPr/>
        </p:nvSpPr>
        <p:spPr>
          <a:xfrm>
            <a:off x="502920" y="5486400"/>
            <a:ext cx="11155680" cy="566928"/>
          </a:xfrm>
          <a:prstGeom prst="roundRect">
            <a:avLst>
              <a:gd name="adj" fmla="val 12903"/>
            </a:avLst>
          </a:prstGeom>
          <a:solidFill>
            <a:srgbClr val="16233F"/>
          </a:solidFill>
          <a:ln/>
        </p:spPr>
        <p:txBody>
          <a:bodyPr/>
          <a:lstStyle/>
          <a:p>
            <a:endParaRPr/>
          </a:p>
        </p:txBody>
      </p:sp>
      <p:sp>
        <p:nvSpPr>
          <p:cNvPr id="21" name="Text 18"/>
          <p:cNvSpPr/>
          <p:nvPr/>
        </p:nvSpPr>
        <p:spPr>
          <a:xfrm>
            <a:off x="502920" y="5486400"/>
            <a:ext cx="11155680" cy="566928"/>
          </a:xfrm>
          <a:prstGeom prst="rect">
            <a:avLst/>
          </a:prstGeom>
          <a:noFill/>
          <a:ln/>
        </p:spPr>
        <p:txBody>
          <a:bodyPr wrap="square" lIns="0" tIns="0" rIns="0" bIns="0" rtlCol="0" anchor="ctr"/>
          <a:lstStyle/>
          <a:p>
            <a:pPr marL="0" indent="0" algn="ctr">
              <a:buNone/>
            </a:pPr>
            <a:r>
              <a:rPr lang="en-US" sz="1750" b="1" dirty="0">
                <a:solidFill>
                  <a:srgbClr val="2FD1C6"/>
                </a:solidFill>
                <a:latin typeface="Calibri" pitchFamily="34" charset="0"/>
                <a:ea typeface="Calibri" pitchFamily="34" charset="-122"/>
                <a:cs typeface="Calibri" pitchFamily="34" charset="-120"/>
              </a:rPr>
              <a:t>Answer: this program takes 50 milliseconds to run.</a:t>
            </a:r>
            <a:endParaRPr lang="en-US" sz="1400" dirty="0"/>
          </a:p>
        </p:txBody>
      </p:sp>
      <p:sp>
        <p:nvSpPr>
          <p:cNvPr id="22" name="Text 19"/>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WORKED EXAMPLE 2</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Comparing Two Processors</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calculator_navy.png"/>
          <p:cNvPicPr>
            <a:picLocks noChangeAspect="1"/>
          </p:cNvPicPr>
          <p:nvPr/>
        </p:nvPicPr>
        <p:blipFill>
          <a:blip r:embed="rId3"/>
          <a:stretch>
            <a:fillRect/>
          </a:stretch>
        </p:blipFill>
        <p:spPr>
          <a:xfrm>
            <a:off x="11162995" y="665683"/>
            <a:ext cx="451714" cy="451714"/>
          </a:xfrm>
          <a:prstGeom prst="rect">
            <a:avLst/>
          </a:prstGeom>
        </p:spPr>
      </p:pic>
      <p:sp>
        <p:nvSpPr>
          <p:cNvPr id="6" name="Shape 3"/>
          <p:cNvSpPr/>
          <p:nvPr/>
        </p:nvSpPr>
        <p:spPr>
          <a:xfrm>
            <a:off x="502920" y="1600200"/>
            <a:ext cx="11155680" cy="685800"/>
          </a:xfrm>
          <a:prstGeom prst="roundRect">
            <a:avLst>
              <a:gd name="adj" fmla="val 13333"/>
            </a:avLst>
          </a:prstGeom>
          <a:solidFill>
            <a:srgbClr val="E9EEF5"/>
          </a:solidFill>
          <a:ln/>
        </p:spPr>
        <p:txBody>
          <a:bodyPr/>
          <a:lstStyle/>
          <a:p>
            <a:endParaRPr/>
          </a:p>
        </p:txBody>
      </p:sp>
      <p:sp>
        <p:nvSpPr>
          <p:cNvPr id="7" name="Text 4"/>
          <p:cNvSpPr/>
          <p:nvPr/>
        </p:nvSpPr>
        <p:spPr>
          <a:xfrm>
            <a:off x="731520" y="1600200"/>
            <a:ext cx="10698480" cy="685800"/>
          </a:xfrm>
          <a:prstGeom prst="rect">
            <a:avLst/>
          </a:prstGeom>
          <a:noFill/>
          <a:ln/>
        </p:spPr>
        <p:txBody>
          <a:bodyPr wrap="square" lIns="0" tIns="0" rIns="0" bIns="0" rtlCol="0" anchor="ctr"/>
          <a:lstStyle/>
          <a:p>
            <a:pPr marL="0" indent="0">
              <a:buNone/>
            </a:pPr>
            <a:r>
              <a:rPr lang="en-US" sz="1687" dirty="0">
                <a:solidFill>
                  <a:srgbClr val="16233F"/>
                </a:solidFill>
                <a:latin typeface="Calibri" pitchFamily="34" charset="0"/>
                <a:ea typeface="Calibri" pitchFamily="34" charset="-122"/>
                <a:cs typeface="Calibri" pitchFamily="34" charset="-120"/>
              </a:rPr>
              <a:t>Same program, same instruction count. Processor A: 3 GHz, CPI 1.5. Processor B: 4 GHz, CPI 2.2. Which is faster?</a:t>
            </a:r>
            <a:endParaRPr lang="en-US" sz="13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2514600"/>
          <a:ext cx="11155680" cy="2377440"/>
        </p:xfrm>
        <a:graphic>
          <a:graphicData uri="http://schemas.openxmlformats.org/drawingml/2006/table">
            <a:tbl>
              <a:tblPr/>
              <a:tblGrid>
                <a:gridCol w="38404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75488">
                <a:tc>
                  <a:txBody>
                    <a:bodyPr/>
                    <a:lstStyle/>
                    <a:p>
                      <a:pPr marL="0" indent="0">
                        <a:buNone/>
                      </a:pP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solidFill>
                      <a:srgbClr val="16233F"/>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Processor A</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solidFill>
                      <a:srgbClr val="16233F"/>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Processor B</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475488">
                <a:tc>
                  <a:txBody>
                    <a:bodyPr/>
                    <a:lstStyle/>
                    <a:p>
                      <a:pPr marL="0" indent="0">
                        <a:buNone/>
                      </a:pPr>
                      <a:r>
                        <a:rPr lang="en-US" sz="1400" dirty="0">
                          <a:solidFill>
                            <a:srgbClr val="16233F"/>
                          </a:solidFill>
                          <a:latin typeface="Calibri" pitchFamily="34" charset="0"/>
                          <a:ea typeface="Calibri" pitchFamily="34" charset="-122"/>
                          <a:cs typeface="Calibri" pitchFamily="34" charset="-120"/>
                        </a:rPr>
                        <a:t>Clock Rate</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tc>
                  <a:txBody>
                    <a:bodyPr/>
                    <a:lstStyle/>
                    <a:p>
                      <a:pPr marL="0" indent="0" algn="ctr">
                        <a:buNone/>
                      </a:pPr>
                      <a:r>
                        <a:rPr lang="en-US" sz="1400" dirty="0">
                          <a:solidFill>
                            <a:srgbClr val="16233F"/>
                          </a:solidFill>
                          <a:latin typeface="Calibri" pitchFamily="34" charset="0"/>
                          <a:ea typeface="Calibri" pitchFamily="34" charset="-122"/>
                          <a:cs typeface="Calibri" pitchFamily="34" charset="-120"/>
                        </a:rPr>
                        <a:t>3 GHz</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tc>
                  <a:txBody>
                    <a:bodyPr/>
                    <a:lstStyle/>
                    <a:p>
                      <a:pPr marL="0" indent="0" algn="ctr">
                        <a:buNone/>
                      </a:pPr>
                      <a:r>
                        <a:rPr lang="en-US" sz="1400" dirty="0">
                          <a:solidFill>
                            <a:srgbClr val="16233F"/>
                          </a:solidFill>
                          <a:latin typeface="Calibri" pitchFamily="34" charset="0"/>
                          <a:ea typeface="Calibri" pitchFamily="34" charset="-122"/>
                          <a:cs typeface="Calibri" pitchFamily="34" charset="-120"/>
                        </a:rPr>
                        <a:t>4 GHz</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400" dirty="0">
                          <a:solidFill>
                            <a:srgbClr val="16233F"/>
                          </a:solidFill>
                          <a:latin typeface="Calibri" pitchFamily="34" charset="0"/>
                          <a:ea typeface="Calibri" pitchFamily="34" charset="-122"/>
                          <a:cs typeface="Calibri" pitchFamily="34" charset="-120"/>
                        </a:rPr>
                        <a:t>CPI</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tc>
                  <a:txBody>
                    <a:bodyPr/>
                    <a:lstStyle/>
                    <a:p>
                      <a:pPr marL="0" indent="0" algn="ctr">
                        <a:buNone/>
                      </a:pPr>
                      <a:r>
                        <a:rPr lang="en-US" sz="1400" dirty="0">
                          <a:solidFill>
                            <a:srgbClr val="16233F"/>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tc>
                  <a:txBody>
                    <a:bodyPr/>
                    <a:lstStyle/>
                    <a:p>
                      <a:pPr marL="0" indent="0" algn="ctr">
                        <a:buNone/>
                      </a:pPr>
                      <a:r>
                        <a:rPr lang="en-US" sz="1400" dirty="0">
                          <a:solidFill>
                            <a:srgbClr val="16233F"/>
                          </a:solidFill>
                          <a:latin typeface="Calibri" pitchFamily="34" charset="0"/>
                          <a:ea typeface="Calibri" pitchFamily="34" charset="-122"/>
                          <a:cs typeface="Calibri" pitchFamily="34" charset="-120"/>
                        </a:rPr>
                        <a:t>2.2</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400" dirty="0">
                          <a:solidFill>
                            <a:srgbClr val="16233F"/>
                          </a:solidFill>
                          <a:latin typeface="Calibri" pitchFamily="34" charset="0"/>
                          <a:ea typeface="Calibri" pitchFamily="34" charset="-122"/>
                          <a:cs typeface="Calibri" pitchFamily="34" charset="-120"/>
                        </a:rPr>
                        <a:t>Cycle Time</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tc>
                  <a:txBody>
                    <a:bodyPr/>
                    <a:lstStyle/>
                    <a:p>
                      <a:pPr marL="0" indent="0" algn="ctr">
                        <a:buNone/>
                      </a:pPr>
                      <a:r>
                        <a:rPr lang="en-US" sz="1400" dirty="0">
                          <a:solidFill>
                            <a:srgbClr val="16233F"/>
                          </a:solidFill>
                          <a:latin typeface="Calibri" pitchFamily="34" charset="0"/>
                          <a:ea typeface="Calibri" pitchFamily="34" charset="-122"/>
                          <a:cs typeface="Calibri" pitchFamily="34" charset="-120"/>
                        </a:rPr>
                        <a:t>0.333 ns</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tc>
                  <a:txBody>
                    <a:bodyPr/>
                    <a:lstStyle/>
                    <a:p>
                      <a:pPr marL="0" indent="0" algn="ctr">
                        <a:buNone/>
                      </a:pPr>
                      <a:r>
                        <a:rPr lang="en-US" sz="1400" dirty="0">
                          <a:solidFill>
                            <a:srgbClr val="16233F"/>
                          </a:solidFill>
                          <a:latin typeface="Calibri" pitchFamily="34" charset="0"/>
                          <a:ea typeface="Calibri" pitchFamily="34" charset="-122"/>
                          <a:cs typeface="Calibri" pitchFamily="34" charset="-120"/>
                        </a:rPr>
                        <a:t>0.25 ns</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400" b="1" dirty="0">
                          <a:solidFill>
                            <a:srgbClr val="16233F"/>
                          </a:solidFill>
                          <a:latin typeface="Calibri" pitchFamily="34" charset="0"/>
                          <a:ea typeface="Calibri" pitchFamily="34" charset="-122"/>
                          <a:cs typeface="Calibri" pitchFamily="34" charset="-120"/>
                        </a:rPr>
                        <a:t>Time / Instruction</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tc>
                  <a:txBody>
                    <a:bodyPr/>
                    <a:lstStyle/>
                    <a:p>
                      <a:pPr marL="0" indent="0" algn="ctr">
                        <a:buNone/>
                      </a:pPr>
                      <a:r>
                        <a:rPr lang="en-US" sz="1400" b="1" dirty="0">
                          <a:solidFill>
                            <a:srgbClr val="1F7A5C"/>
                          </a:solidFill>
                          <a:latin typeface="Calibri" pitchFamily="34" charset="0"/>
                          <a:ea typeface="Calibri" pitchFamily="34" charset="-122"/>
                          <a:cs typeface="Calibri" pitchFamily="34" charset="-120"/>
                        </a:rPr>
                        <a:t>≈ 0.50 ns</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tc>
                  <a:txBody>
                    <a:bodyPr/>
                    <a:lstStyle/>
                    <a:p>
                      <a:pPr marL="0" indent="0" algn="ctr">
                        <a:buNone/>
                      </a:pPr>
                      <a:r>
                        <a:rPr lang="en-US" sz="1400" b="1" dirty="0">
                          <a:solidFill>
                            <a:srgbClr val="16233F"/>
                          </a:solidFill>
                          <a:latin typeface="Calibri" pitchFamily="34" charset="0"/>
                          <a:ea typeface="Calibri" pitchFamily="34" charset="-122"/>
                          <a:cs typeface="Calibri" pitchFamily="34" charset="-120"/>
                        </a:rPr>
                        <a:t>≈ 0.55 ns</a:t>
                      </a:r>
                      <a:endParaRPr lang="en-US" sz="1400" dirty="0">
                        <a:latin typeface="Calibri" charset="0"/>
                        <a:ea typeface="Calibri" charset="0"/>
                        <a:cs typeface="Calibri" charset="0"/>
                      </a:endParaRPr>
                    </a:p>
                  </a:txBody>
                  <a:tcPr anchor="ctr">
                    <a:lnL w="12700" cap="flat" cmpd="sng" algn="ctr">
                      <a:solidFill>
                        <a:srgbClr val="D5DEE9"/>
                      </a:solidFill>
                      <a:prstDash val="solid"/>
                      <a:round/>
                      <a:headEnd type="none" w="med" len="med"/>
                      <a:tailEnd type="none" w="med" len="med"/>
                    </a:lnL>
                    <a:lnR w="12700" cap="flat" cmpd="sng" algn="ctr">
                      <a:solidFill>
                        <a:srgbClr val="D5DEE9"/>
                      </a:solidFill>
                      <a:prstDash val="solid"/>
                      <a:round/>
                      <a:headEnd type="none" w="med" len="med"/>
                      <a:tailEnd type="none" w="med" len="med"/>
                    </a:lnR>
                    <a:lnT w="12700" cap="flat" cmpd="sng" algn="ctr">
                      <a:solidFill>
                        <a:srgbClr val="D5DEE9"/>
                      </a:solidFill>
                      <a:prstDash val="solid"/>
                      <a:round/>
                      <a:headEnd type="none" w="med" len="med"/>
                      <a:tailEnd type="none" w="med" len="med"/>
                    </a:lnT>
                    <a:lnB w="12700" cap="flat" cmpd="sng" algn="ctr">
                      <a:solidFill>
                        <a:srgbClr val="D5DEE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Shape 5"/>
          <p:cNvSpPr/>
          <p:nvPr/>
        </p:nvSpPr>
        <p:spPr>
          <a:xfrm>
            <a:off x="502920" y="5166360"/>
            <a:ext cx="11155680" cy="685800"/>
          </a:xfrm>
          <a:prstGeom prst="roundRect">
            <a:avLst>
              <a:gd name="adj" fmla="val 13333"/>
            </a:avLst>
          </a:prstGeom>
          <a:solidFill>
            <a:srgbClr val="16233F"/>
          </a:solidFill>
          <a:ln/>
        </p:spPr>
        <p:txBody>
          <a:bodyPr/>
          <a:lstStyle/>
          <a:p>
            <a:endParaRPr/>
          </a:p>
        </p:txBody>
      </p:sp>
      <p:sp>
        <p:nvSpPr>
          <p:cNvPr id="10" name="Text 6"/>
          <p:cNvSpPr/>
          <p:nvPr/>
        </p:nvSpPr>
        <p:spPr>
          <a:xfrm>
            <a:off x="502920" y="5166360"/>
            <a:ext cx="11155680" cy="685800"/>
          </a:xfrm>
          <a:prstGeom prst="rect">
            <a:avLst/>
          </a:prstGeom>
          <a:noFill/>
          <a:ln/>
        </p:spPr>
        <p:txBody>
          <a:bodyPr wrap="square" lIns="0" tIns="0" rIns="0" bIns="0" rtlCol="0" anchor="ctr"/>
          <a:lstStyle/>
          <a:p>
            <a:pPr marL="0" indent="0" algn="ctr">
              <a:buNone/>
            </a:pPr>
            <a:r>
              <a:rPr lang="en-US" sz="1875" b="1" dirty="0">
                <a:solidFill>
                  <a:srgbClr val="2FD1C6"/>
                </a:solidFill>
                <a:latin typeface="Calibri" pitchFamily="34" charset="0"/>
                <a:ea typeface="Calibri" pitchFamily="34" charset="-122"/>
                <a:cs typeface="Calibri" pitchFamily="34" charset="-120"/>
              </a:rPr>
              <a:t>Processor A is faster overall — despite the LOWER clock speed.</a:t>
            </a:r>
            <a:endParaRPr lang="en-US" sz="1500" dirty="0"/>
          </a:p>
        </p:txBody>
      </p:sp>
      <p:sp>
        <p:nvSpPr>
          <p:cNvPr id="11" name="Text 7"/>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WORKED EXAMPLE 3</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Introducing Amdahl's Law</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link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502920" y="1600200"/>
            <a:ext cx="6035040" cy="2743200"/>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Speedup from parallelism is limited by the portion that MUST stay sequential</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P = fraction of program that can be parallelized, N = number of processors</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Problem: 80% of a program can be parallelized. Using 4 processors, find speedup.</a:t>
            </a:r>
            <a:endParaRPr lang="en-US" sz="1550" dirty="0"/>
          </a:p>
        </p:txBody>
      </p:sp>
      <p:sp>
        <p:nvSpPr>
          <p:cNvPr id="7" name="Shape 4"/>
          <p:cNvSpPr/>
          <p:nvPr/>
        </p:nvSpPr>
        <p:spPr>
          <a:xfrm>
            <a:off x="502920" y="3749040"/>
            <a:ext cx="6309360" cy="914400"/>
          </a:xfrm>
          <a:prstGeom prst="roundRect">
            <a:avLst>
              <a:gd name="adj" fmla="val 10000"/>
            </a:avLst>
          </a:prstGeom>
          <a:solidFill>
            <a:srgbClr val="16233F"/>
          </a:solidFill>
          <a:ln/>
        </p:spPr>
        <p:txBody>
          <a:bodyPr/>
          <a:lstStyle/>
          <a:p>
            <a:endParaRPr/>
          </a:p>
        </p:txBody>
      </p:sp>
      <p:sp>
        <p:nvSpPr>
          <p:cNvPr id="8" name="Text 5"/>
          <p:cNvSpPr/>
          <p:nvPr/>
        </p:nvSpPr>
        <p:spPr>
          <a:xfrm>
            <a:off x="502920" y="3749040"/>
            <a:ext cx="6309360" cy="914400"/>
          </a:xfrm>
          <a:prstGeom prst="rect">
            <a:avLst/>
          </a:prstGeom>
          <a:noFill/>
          <a:ln/>
        </p:spPr>
        <p:txBody>
          <a:bodyPr wrap="square" lIns="0" tIns="0" rIns="0" bIns="0" rtlCol="0" anchor="ctr"/>
          <a:lstStyle/>
          <a:p>
            <a:pPr marL="0" indent="0" algn="ctr">
              <a:buNone/>
            </a:pPr>
            <a:r>
              <a:rPr lang="en-US" sz="2375" b="1" dirty="0">
                <a:solidFill>
                  <a:srgbClr val="2FD1C6"/>
                </a:solidFill>
                <a:latin typeface="Cambria" pitchFamily="34" charset="0"/>
                <a:ea typeface="Cambria" pitchFamily="34" charset="-122"/>
                <a:cs typeface="Cambria" pitchFamily="34" charset="-120"/>
              </a:rPr>
              <a:t>Speedup = 1 / [ (1−P) + P/N ]</a:t>
            </a:r>
            <a:endParaRPr lang="en-US" sz="1900" dirty="0"/>
          </a:p>
        </p:txBody>
      </p:sp>
      <p:sp>
        <p:nvSpPr>
          <p:cNvPr id="9" name="Text 6"/>
          <p:cNvSpPr/>
          <p:nvPr/>
        </p:nvSpPr>
        <p:spPr>
          <a:xfrm>
            <a:off x="502920" y="4800600"/>
            <a:ext cx="6309360" cy="457200"/>
          </a:xfrm>
          <a:prstGeom prst="rect">
            <a:avLst/>
          </a:prstGeom>
          <a:noFill/>
          <a:ln/>
        </p:spPr>
        <p:txBody>
          <a:bodyPr wrap="square" lIns="0" tIns="0" rIns="0" bIns="0" rtlCol="0" anchor="ctr"/>
          <a:lstStyle/>
          <a:p>
            <a:pPr marL="0" indent="0" algn="ctr">
              <a:buNone/>
            </a:pPr>
            <a:r>
              <a:rPr lang="en-US" sz="1875" b="1" dirty="0">
                <a:solidFill>
                  <a:srgbClr val="16233F"/>
                </a:solidFill>
                <a:latin typeface="Calibri" pitchFamily="34" charset="0"/>
                <a:ea typeface="Calibri" pitchFamily="34" charset="-122"/>
                <a:cs typeface="Calibri" pitchFamily="34" charset="-120"/>
              </a:rPr>
              <a:t>= 1 / (0.2 + 0.8/4) = 1 / 0.4  =  2.5× speedup</a:t>
            </a:r>
            <a:endParaRPr lang="en-US" sz="1500" dirty="0"/>
          </a:p>
        </p:txBody>
      </p:sp>
      <p:graphicFrame>
        <p:nvGraphicFramePr>
          <p:cNvPr id="10" name="Chart 0"/>
          <p:cNvGraphicFramePr/>
          <p:nvPr/>
        </p:nvGraphicFramePr>
        <p:xfrm>
          <a:off x="7498080" y="1828800"/>
          <a:ext cx="411480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WORKED EXAMPLE 3</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Interpreting Amdahl's Law</a:t>
            </a:r>
            <a:endParaRPr lang="en-US" sz="3000" dirty="0"/>
          </a:p>
        </p:txBody>
      </p:sp>
      <p:sp>
        <p:nvSpPr>
          <p:cNvPr id="4" name="Shape 2"/>
          <p:cNvSpPr/>
          <p:nvPr/>
        </p:nvSpPr>
        <p:spPr>
          <a:xfrm>
            <a:off x="10954512" y="457200"/>
            <a:ext cx="868680" cy="868680"/>
          </a:xfrm>
          <a:prstGeom prst="ellipse">
            <a:avLst/>
          </a:prstGeom>
          <a:solidFill>
            <a:srgbClr val="2FD1C6"/>
          </a:solidFill>
          <a:ln/>
        </p:spPr>
        <p:txBody>
          <a:bodyPr/>
          <a:lstStyle/>
          <a:p>
            <a:endParaRPr/>
          </a:p>
        </p:txBody>
      </p:sp>
      <p:pic>
        <p:nvPicPr>
          <p:cNvPr id="5" name="Image 0" descr="/home/claude/coa_ppt/icons/infinity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502920" y="1600200"/>
            <a:ext cx="4937760" cy="3657600"/>
          </a:xfrm>
          <a:prstGeom prst="rect">
            <a:avLst/>
          </a:prstGeom>
          <a:noFill/>
          <a:ln/>
        </p:spPr>
        <p:txBody>
          <a:bodyPr wrap="square" lIns="0" tIns="0" rIns="0" bIns="0" rtlCol="0" anchor="t"/>
          <a:lstStyle/>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Even with infinite processors, speedup is capped at 1 / (1 − P)</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Our example: max possible speedup = 1 / 0.2 = 5× (even unlimited processors!)</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The sequential portion is the real bottleneck</a:t>
            </a:r>
            <a:endParaRPr lang="en-US" sz="1550" dirty="0"/>
          </a:p>
          <a:p>
            <a:pPr marL="228600" indent="-228600">
              <a:spcAft>
                <a:spcPts val="1400"/>
              </a:spcAft>
              <a:buSzPct val="100000"/>
              <a:buChar char="▪"/>
            </a:pPr>
            <a:r>
              <a:rPr lang="en-US" sz="1937" dirty="0">
                <a:solidFill>
                  <a:srgbClr val="16233F"/>
                </a:solidFill>
                <a:latin typeface="Calibri" pitchFamily="34" charset="0"/>
                <a:ea typeface="Calibri" pitchFamily="34" charset="-122"/>
                <a:cs typeface="Calibri" pitchFamily="34" charset="-120"/>
              </a:rPr>
              <a:t>“Just add more cores” has diminishing returns</a:t>
            </a:r>
            <a:endParaRPr lang="en-US" sz="1550" dirty="0"/>
          </a:p>
        </p:txBody>
      </p:sp>
      <p:graphicFrame>
        <p:nvGraphicFramePr>
          <p:cNvPr id="7" name="Chart 0"/>
          <p:cNvGraphicFramePr/>
          <p:nvPr/>
        </p:nvGraphicFramePr>
        <p:xfrm>
          <a:off x="5577840" y="1737360"/>
          <a:ext cx="603504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MYTH-BUSTING RECAP</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Common Misconceptions</a:t>
            </a:r>
            <a:endParaRPr lang="en-US" sz="3000" dirty="0"/>
          </a:p>
        </p:txBody>
      </p:sp>
      <p:sp>
        <p:nvSpPr>
          <p:cNvPr id="4" name="Shape 2"/>
          <p:cNvSpPr/>
          <p:nvPr/>
        </p:nvSpPr>
        <p:spPr>
          <a:xfrm>
            <a:off x="10954512" y="457200"/>
            <a:ext cx="868680" cy="868680"/>
          </a:xfrm>
          <a:prstGeom prst="ellipse">
            <a:avLst/>
          </a:prstGeom>
          <a:solidFill>
            <a:srgbClr val="E85D4C"/>
          </a:solidFill>
          <a:ln/>
        </p:spPr>
        <p:txBody>
          <a:bodyPr/>
          <a:lstStyle/>
          <a:p>
            <a:endParaRPr/>
          </a:p>
        </p:txBody>
      </p:sp>
      <p:pic>
        <p:nvPicPr>
          <p:cNvPr id="5" name="Image 0" descr="/home/claude/coa_ppt/icons/exclamation_navy.png"/>
          <p:cNvPicPr>
            <a:picLocks noChangeAspect="1"/>
          </p:cNvPicPr>
          <p:nvPr/>
        </p:nvPicPr>
        <p:blipFill>
          <a:blip r:embed="rId3"/>
          <a:stretch>
            <a:fillRect/>
          </a:stretch>
        </p:blipFill>
        <p:spPr>
          <a:xfrm>
            <a:off x="11162995" y="665683"/>
            <a:ext cx="451714" cy="451714"/>
          </a:xfrm>
          <a:prstGeom prst="rect">
            <a:avLst/>
          </a:prstGeom>
        </p:spPr>
      </p:pic>
      <p:sp>
        <p:nvSpPr>
          <p:cNvPr id="6" name="Shape 3"/>
          <p:cNvSpPr/>
          <p:nvPr/>
        </p:nvSpPr>
        <p:spPr>
          <a:xfrm>
            <a:off x="502920" y="1828800"/>
            <a:ext cx="5349240" cy="1645920"/>
          </a:xfrm>
          <a:prstGeom prst="roundRect">
            <a:avLst>
              <a:gd name="adj" fmla="val 5556"/>
            </a:avLst>
          </a:prstGeom>
          <a:solidFill>
            <a:srgbClr val="E9EEF5"/>
          </a:solidFill>
          <a:ln/>
        </p:spPr>
        <p:txBody>
          <a:bodyPr/>
          <a:lstStyle/>
          <a:p>
            <a:endParaRPr/>
          </a:p>
        </p:txBody>
      </p:sp>
      <p:sp>
        <p:nvSpPr>
          <p:cNvPr id="7" name="Shape 4"/>
          <p:cNvSpPr/>
          <p:nvPr/>
        </p:nvSpPr>
        <p:spPr>
          <a:xfrm>
            <a:off x="731520" y="2057400"/>
            <a:ext cx="502920" cy="502920"/>
          </a:xfrm>
          <a:prstGeom prst="ellipse">
            <a:avLst/>
          </a:prstGeom>
          <a:solidFill>
            <a:srgbClr val="E85D4C"/>
          </a:solidFill>
          <a:ln/>
        </p:spPr>
        <p:txBody>
          <a:bodyPr/>
          <a:lstStyle/>
          <a:p>
            <a:endParaRPr/>
          </a:p>
        </p:txBody>
      </p:sp>
      <p:sp>
        <p:nvSpPr>
          <p:cNvPr id="8" name="Text 5"/>
          <p:cNvSpPr/>
          <p:nvPr/>
        </p:nvSpPr>
        <p:spPr>
          <a:xfrm>
            <a:off x="731520" y="2057400"/>
            <a:ext cx="502920" cy="502920"/>
          </a:xfrm>
          <a:prstGeom prst="rect">
            <a:avLst/>
          </a:prstGeom>
          <a:noFill/>
          <a:ln/>
        </p:spPr>
        <p:txBody>
          <a:bodyPr wrap="square" lIns="0" tIns="0" rIns="0" bIns="0" rtlCol="0" anchor="ctr"/>
          <a:lstStyle/>
          <a:p>
            <a:pPr marL="0" indent="0" algn="ctr">
              <a:buNone/>
            </a:pPr>
            <a:r>
              <a:rPr lang="en-US" sz="2250" b="1" dirty="0">
                <a:solidFill>
                  <a:srgbClr val="FFFFFF"/>
                </a:solidFill>
                <a:latin typeface="Calibri" pitchFamily="34" charset="0"/>
                <a:ea typeface="Calibri" pitchFamily="34" charset="-122"/>
                <a:cs typeface="Calibri" pitchFamily="34" charset="-120"/>
              </a:rPr>
              <a:t>✕</a:t>
            </a:r>
            <a:endParaRPr lang="en-US" sz="1800" dirty="0"/>
          </a:p>
        </p:txBody>
      </p:sp>
      <p:sp>
        <p:nvSpPr>
          <p:cNvPr id="9" name="Text 6"/>
          <p:cNvSpPr/>
          <p:nvPr/>
        </p:nvSpPr>
        <p:spPr>
          <a:xfrm>
            <a:off x="1371600" y="1965960"/>
            <a:ext cx="4297680" cy="640080"/>
          </a:xfrm>
          <a:prstGeom prst="rect">
            <a:avLst/>
          </a:prstGeom>
          <a:noFill/>
          <a:ln/>
        </p:spPr>
        <p:txBody>
          <a:bodyPr wrap="square" lIns="0" tIns="0" rIns="0" bIns="0" rtlCol="0" anchor="t"/>
          <a:lstStyle/>
          <a:p>
            <a:pPr marL="0" indent="0">
              <a:buNone/>
            </a:pPr>
            <a:r>
              <a:rPr lang="en-US" sz="1687" b="1" dirty="0">
                <a:solidFill>
                  <a:srgbClr val="16233F"/>
                </a:solidFill>
                <a:latin typeface="Calibri" pitchFamily="34" charset="0"/>
                <a:ea typeface="Calibri" pitchFamily="34" charset="-122"/>
                <a:cs typeface="Calibri" pitchFamily="34" charset="-120"/>
              </a:rPr>
              <a:t>Higher clock speed always means faster</a:t>
            </a:r>
            <a:endParaRPr lang="en-US" sz="1350" dirty="0"/>
          </a:p>
        </p:txBody>
      </p:sp>
      <p:sp>
        <p:nvSpPr>
          <p:cNvPr id="10" name="Text 7"/>
          <p:cNvSpPr/>
          <p:nvPr/>
        </p:nvSpPr>
        <p:spPr>
          <a:xfrm>
            <a:off x="1371600" y="2880360"/>
            <a:ext cx="4297680" cy="365760"/>
          </a:xfrm>
          <a:prstGeom prst="rect">
            <a:avLst/>
          </a:prstGeom>
          <a:noFill/>
          <a:ln/>
        </p:spPr>
        <p:txBody>
          <a:bodyPr wrap="square" lIns="0" tIns="0" rIns="0" bIns="0" rtlCol="0" anchor="ctr"/>
          <a:lstStyle/>
          <a:p>
            <a:pPr marL="0" indent="0">
              <a:buNone/>
            </a:pPr>
            <a:r>
              <a:rPr lang="en-US" sz="1375" b="1" dirty="0">
                <a:solidFill>
                  <a:srgbClr val="C0392B"/>
                </a:solidFill>
                <a:latin typeface="Calibri" pitchFamily="34" charset="0"/>
                <a:ea typeface="Calibri" pitchFamily="34" charset="-122"/>
                <a:cs typeface="Calibri" pitchFamily="34" charset="-120"/>
              </a:rPr>
              <a:t>FALSE</a:t>
            </a:r>
            <a:endParaRPr lang="en-US" sz="1100" dirty="0"/>
          </a:p>
        </p:txBody>
      </p:sp>
      <p:sp>
        <p:nvSpPr>
          <p:cNvPr id="11" name="Shape 8"/>
          <p:cNvSpPr/>
          <p:nvPr/>
        </p:nvSpPr>
        <p:spPr>
          <a:xfrm>
            <a:off x="6126480" y="1828800"/>
            <a:ext cx="5349240" cy="1645920"/>
          </a:xfrm>
          <a:prstGeom prst="roundRect">
            <a:avLst>
              <a:gd name="adj" fmla="val 5556"/>
            </a:avLst>
          </a:prstGeom>
          <a:solidFill>
            <a:srgbClr val="E9EEF5"/>
          </a:solidFill>
          <a:ln/>
        </p:spPr>
        <p:txBody>
          <a:bodyPr/>
          <a:lstStyle/>
          <a:p>
            <a:endParaRPr/>
          </a:p>
        </p:txBody>
      </p:sp>
      <p:sp>
        <p:nvSpPr>
          <p:cNvPr id="12" name="Shape 9"/>
          <p:cNvSpPr/>
          <p:nvPr/>
        </p:nvSpPr>
        <p:spPr>
          <a:xfrm>
            <a:off x="6355080" y="2057400"/>
            <a:ext cx="502920" cy="502920"/>
          </a:xfrm>
          <a:prstGeom prst="ellipse">
            <a:avLst/>
          </a:prstGeom>
          <a:solidFill>
            <a:srgbClr val="E85D4C"/>
          </a:solidFill>
          <a:ln/>
        </p:spPr>
        <p:txBody>
          <a:bodyPr/>
          <a:lstStyle/>
          <a:p>
            <a:endParaRPr/>
          </a:p>
        </p:txBody>
      </p:sp>
      <p:sp>
        <p:nvSpPr>
          <p:cNvPr id="13" name="Text 10"/>
          <p:cNvSpPr/>
          <p:nvPr/>
        </p:nvSpPr>
        <p:spPr>
          <a:xfrm>
            <a:off x="6355080" y="2057400"/>
            <a:ext cx="502920" cy="502920"/>
          </a:xfrm>
          <a:prstGeom prst="rect">
            <a:avLst/>
          </a:prstGeom>
          <a:noFill/>
          <a:ln/>
        </p:spPr>
        <p:txBody>
          <a:bodyPr wrap="square" lIns="0" tIns="0" rIns="0" bIns="0" rtlCol="0" anchor="ctr"/>
          <a:lstStyle/>
          <a:p>
            <a:pPr marL="0" indent="0" algn="ctr">
              <a:buNone/>
            </a:pPr>
            <a:r>
              <a:rPr lang="en-US" sz="2250" b="1" dirty="0">
                <a:solidFill>
                  <a:srgbClr val="FFFFFF"/>
                </a:solidFill>
                <a:latin typeface="Calibri" pitchFamily="34" charset="0"/>
                <a:ea typeface="Calibri" pitchFamily="34" charset="-122"/>
                <a:cs typeface="Calibri" pitchFamily="34" charset="-120"/>
              </a:rPr>
              <a:t>✕</a:t>
            </a:r>
            <a:endParaRPr lang="en-US" sz="1800" dirty="0"/>
          </a:p>
        </p:txBody>
      </p:sp>
      <p:sp>
        <p:nvSpPr>
          <p:cNvPr id="14" name="Text 11"/>
          <p:cNvSpPr/>
          <p:nvPr/>
        </p:nvSpPr>
        <p:spPr>
          <a:xfrm>
            <a:off x="6995160" y="1965960"/>
            <a:ext cx="4297680" cy="640080"/>
          </a:xfrm>
          <a:prstGeom prst="rect">
            <a:avLst/>
          </a:prstGeom>
          <a:noFill/>
          <a:ln/>
        </p:spPr>
        <p:txBody>
          <a:bodyPr wrap="square" lIns="0" tIns="0" rIns="0" bIns="0" rtlCol="0" anchor="t"/>
          <a:lstStyle/>
          <a:p>
            <a:pPr marL="0" indent="0">
              <a:buNone/>
            </a:pPr>
            <a:r>
              <a:rPr lang="en-US" sz="1687" b="1" dirty="0">
                <a:solidFill>
                  <a:srgbClr val="16233F"/>
                </a:solidFill>
                <a:latin typeface="Calibri" pitchFamily="34" charset="0"/>
                <a:ea typeface="Calibri" pitchFamily="34" charset="-122"/>
                <a:cs typeface="Calibri" pitchFamily="34" charset="-120"/>
              </a:rPr>
              <a:t>More cores always means proportionally faster</a:t>
            </a:r>
            <a:endParaRPr lang="en-US" sz="1350" dirty="0"/>
          </a:p>
        </p:txBody>
      </p:sp>
      <p:sp>
        <p:nvSpPr>
          <p:cNvPr id="15" name="Text 12"/>
          <p:cNvSpPr/>
          <p:nvPr/>
        </p:nvSpPr>
        <p:spPr>
          <a:xfrm>
            <a:off x="6995160" y="2880360"/>
            <a:ext cx="4297680" cy="365760"/>
          </a:xfrm>
          <a:prstGeom prst="rect">
            <a:avLst/>
          </a:prstGeom>
          <a:noFill/>
          <a:ln/>
        </p:spPr>
        <p:txBody>
          <a:bodyPr wrap="square" lIns="0" tIns="0" rIns="0" bIns="0" rtlCol="0" anchor="ctr"/>
          <a:lstStyle/>
          <a:p>
            <a:pPr marL="0" indent="0">
              <a:buNone/>
            </a:pPr>
            <a:r>
              <a:rPr lang="en-US" sz="1375" b="1" dirty="0">
                <a:solidFill>
                  <a:srgbClr val="C0392B"/>
                </a:solidFill>
                <a:latin typeface="Calibri" pitchFamily="34" charset="0"/>
                <a:ea typeface="Calibri" pitchFamily="34" charset="-122"/>
                <a:cs typeface="Calibri" pitchFamily="34" charset="-120"/>
              </a:rPr>
              <a:t>FALSE</a:t>
            </a:r>
            <a:endParaRPr lang="en-US" sz="1100" dirty="0"/>
          </a:p>
        </p:txBody>
      </p:sp>
      <p:sp>
        <p:nvSpPr>
          <p:cNvPr id="16" name="Shape 13"/>
          <p:cNvSpPr/>
          <p:nvPr/>
        </p:nvSpPr>
        <p:spPr>
          <a:xfrm>
            <a:off x="502920" y="3703320"/>
            <a:ext cx="5349240" cy="1645920"/>
          </a:xfrm>
          <a:prstGeom prst="roundRect">
            <a:avLst>
              <a:gd name="adj" fmla="val 5556"/>
            </a:avLst>
          </a:prstGeom>
          <a:solidFill>
            <a:srgbClr val="E9EEF5"/>
          </a:solidFill>
          <a:ln/>
        </p:spPr>
        <p:txBody>
          <a:bodyPr/>
          <a:lstStyle/>
          <a:p>
            <a:endParaRPr/>
          </a:p>
        </p:txBody>
      </p:sp>
      <p:sp>
        <p:nvSpPr>
          <p:cNvPr id="17" name="Shape 14"/>
          <p:cNvSpPr/>
          <p:nvPr/>
        </p:nvSpPr>
        <p:spPr>
          <a:xfrm>
            <a:off x="731520" y="3931920"/>
            <a:ext cx="502920" cy="502920"/>
          </a:xfrm>
          <a:prstGeom prst="ellipse">
            <a:avLst/>
          </a:prstGeom>
          <a:solidFill>
            <a:srgbClr val="E85D4C"/>
          </a:solidFill>
          <a:ln/>
        </p:spPr>
        <p:txBody>
          <a:bodyPr/>
          <a:lstStyle/>
          <a:p>
            <a:endParaRPr/>
          </a:p>
        </p:txBody>
      </p:sp>
      <p:sp>
        <p:nvSpPr>
          <p:cNvPr id="18" name="Text 15"/>
          <p:cNvSpPr/>
          <p:nvPr/>
        </p:nvSpPr>
        <p:spPr>
          <a:xfrm>
            <a:off x="731520" y="3931920"/>
            <a:ext cx="502920" cy="502920"/>
          </a:xfrm>
          <a:prstGeom prst="rect">
            <a:avLst/>
          </a:prstGeom>
          <a:noFill/>
          <a:ln/>
        </p:spPr>
        <p:txBody>
          <a:bodyPr wrap="square" lIns="0" tIns="0" rIns="0" bIns="0" rtlCol="0" anchor="ctr"/>
          <a:lstStyle/>
          <a:p>
            <a:pPr marL="0" indent="0" algn="ctr">
              <a:buNone/>
            </a:pPr>
            <a:r>
              <a:rPr lang="en-US" sz="2250" b="1" dirty="0">
                <a:solidFill>
                  <a:srgbClr val="FFFFFF"/>
                </a:solidFill>
                <a:latin typeface="Calibri" pitchFamily="34" charset="0"/>
                <a:ea typeface="Calibri" pitchFamily="34" charset="-122"/>
                <a:cs typeface="Calibri" pitchFamily="34" charset="-120"/>
              </a:rPr>
              <a:t>✕</a:t>
            </a:r>
            <a:endParaRPr lang="en-US" sz="1800" dirty="0"/>
          </a:p>
        </p:txBody>
      </p:sp>
      <p:sp>
        <p:nvSpPr>
          <p:cNvPr id="19" name="Text 16"/>
          <p:cNvSpPr/>
          <p:nvPr/>
        </p:nvSpPr>
        <p:spPr>
          <a:xfrm>
            <a:off x="1371600" y="3840480"/>
            <a:ext cx="4297680" cy="640080"/>
          </a:xfrm>
          <a:prstGeom prst="rect">
            <a:avLst/>
          </a:prstGeom>
          <a:noFill/>
          <a:ln/>
        </p:spPr>
        <p:txBody>
          <a:bodyPr wrap="square" lIns="0" tIns="0" rIns="0" bIns="0" rtlCol="0" anchor="t"/>
          <a:lstStyle/>
          <a:p>
            <a:pPr marL="0" indent="0">
              <a:buNone/>
            </a:pPr>
            <a:r>
              <a:rPr lang="en-US" sz="1687" b="1" dirty="0">
                <a:solidFill>
                  <a:srgbClr val="16233F"/>
                </a:solidFill>
                <a:latin typeface="Calibri" pitchFamily="34" charset="0"/>
                <a:ea typeface="Calibri" pitchFamily="34" charset="-122"/>
                <a:cs typeface="Calibri" pitchFamily="34" charset="-120"/>
              </a:rPr>
              <a:t>Parallelism has no cost</a:t>
            </a:r>
            <a:endParaRPr lang="en-US" sz="1350" dirty="0"/>
          </a:p>
        </p:txBody>
      </p:sp>
      <p:sp>
        <p:nvSpPr>
          <p:cNvPr id="20" name="Text 17"/>
          <p:cNvSpPr/>
          <p:nvPr/>
        </p:nvSpPr>
        <p:spPr>
          <a:xfrm>
            <a:off x="1371600" y="4754880"/>
            <a:ext cx="4297680" cy="365760"/>
          </a:xfrm>
          <a:prstGeom prst="rect">
            <a:avLst/>
          </a:prstGeom>
          <a:noFill/>
          <a:ln/>
        </p:spPr>
        <p:txBody>
          <a:bodyPr wrap="square" lIns="0" tIns="0" rIns="0" bIns="0" rtlCol="0" anchor="ctr"/>
          <a:lstStyle/>
          <a:p>
            <a:pPr marL="0" indent="0">
              <a:buNone/>
            </a:pPr>
            <a:r>
              <a:rPr lang="en-US" sz="1375" b="1" dirty="0">
                <a:solidFill>
                  <a:srgbClr val="C0392B"/>
                </a:solidFill>
                <a:latin typeface="Calibri" pitchFamily="34" charset="0"/>
                <a:ea typeface="Calibri" pitchFamily="34" charset="-122"/>
                <a:cs typeface="Calibri" pitchFamily="34" charset="-120"/>
              </a:rPr>
              <a:t>FALSE</a:t>
            </a:r>
            <a:endParaRPr lang="en-US" sz="1100" dirty="0"/>
          </a:p>
        </p:txBody>
      </p:sp>
      <p:sp>
        <p:nvSpPr>
          <p:cNvPr id="21" name="Shape 18"/>
          <p:cNvSpPr/>
          <p:nvPr/>
        </p:nvSpPr>
        <p:spPr>
          <a:xfrm>
            <a:off x="6126480" y="3703320"/>
            <a:ext cx="5349240" cy="1645920"/>
          </a:xfrm>
          <a:prstGeom prst="roundRect">
            <a:avLst>
              <a:gd name="adj" fmla="val 5556"/>
            </a:avLst>
          </a:prstGeom>
          <a:solidFill>
            <a:srgbClr val="E9EEF5"/>
          </a:solidFill>
          <a:ln/>
        </p:spPr>
        <p:txBody>
          <a:bodyPr/>
          <a:lstStyle/>
          <a:p>
            <a:endParaRPr/>
          </a:p>
        </p:txBody>
      </p:sp>
      <p:sp>
        <p:nvSpPr>
          <p:cNvPr id="22" name="Shape 19"/>
          <p:cNvSpPr/>
          <p:nvPr/>
        </p:nvSpPr>
        <p:spPr>
          <a:xfrm>
            <a:off x="6355080" y="3931920"/>
            <a:ext cx="502920" cy="502920"/>
          </a:xfrm>
          <a:prstGeom prst="ellipse">
            <a:avLst/>
          </a:prstGeom>
          <a:solidFill>
            <a:srgbClr val="E85D4C"/>
          </a:solidFill>
          <a:ln/>
        </p:spPr>
        <p:txBody>
          <a:bodyPr/>
          <a:lstStyle/>
          <a:p>
            <a:endParaRPr/>
          </a:p>
        </p:txBody>
      </p:sp>
      <p:sp>
        <p:nvSpPr>
          <p:cNvPr id="23" name="Text 20"/>
          <p:cNvSpPr/>
          <p:nvPr/>
        </p:nvSpPr>
        <p:spPr>
          <a:xfrm>
            <a:off x="6355080" y="3931920"/>
            <a:ext cx="502920" cy="502920"/>
          </a:xfrm>
          <a:prstGeom prst="rect">
            <a:avLst/>
          </a:prstGeom>
          <a:noFill/>
          <a:ln/>
        </p:spPr>
        <p:txBody>
          <a:bodyPr wrap="square" lIns="0" tIns="0" rIns="0" bIns="0" rtlCol="0" anchor="ctr"/>
          <a:lstStyle/>
          <a:p>
            <a:pPr marL="0" indent="0" algn="ctr">
              <a:buNone/>
            </a:pPr>
            <a:r>
              <a:rPr lang="en-US" sz="2250" b="1" dirty="0">
                <a:solidFill>
                  <a:srgbClr val="FFFFFF"/>
                </a:solidFill>
                <a:latin typeface="Calibri" pitchFamily="34" charset="0"/>
                <a:ea typeface="Calibri" pitchFamily="34" charset="-122"/>
                <a:cs typeface="Calibri" pitchFamily="34" charset="-120"/>
              </a:rPr>
              <a:t>✕</a:t>
            </a:r>
            <a:endParaRPr lang="en-US" sz="1800" dirty="0"/>
          </a:p>
        </p:txBody>
      </p:sp>
      <p:sp>
        <p:nvSpPr>
          <p:cNvPr id="24" name="Text 21"/>
          <p:cNvSpPr/>
          <p:nvPr/>
        </p:nvSpPr>
        <p:spPr>
          <a:xfrm>
            <a:off x="6995160" y="3840480"/>
            <a:ext cx="4297680" cy="640080"/>
          </a:xfrm>
          <a:prstGeom prst="rect">
            <a:avLst/>
          </a:prstGeom>
          <a:noFill/>
          <a:ln/>
        </p:spPr>
        <p:txBody>
          <a:bodyPr wrap="square" lIns="0" tIns="0" rIns="0" bIns="0" rtlCol="0" anchor="t"/>
          <a:lstStyle/>
          <a:p>
            <a:pPr marL="0" indent="0">
              <a:buNone/>
            </a:pPr>
            <a:r>
              <a:rPr lang="en-US" sz="1687" b="1" dirty="0">
                <a:solidFill>
                  <a:srgbClr val="16233F"/>
                </a:solidFill>
                <a:latin typeface="Calibri" pitchFamily="34" charset="0"/>
                <a:ea typeface="Calibri" pitchFamily="34" charset="-122"/>
                <a:cs typeface="Calibri" pitchFamily="34" charset="-120"/>
              </a:rPr>
              <a:t>GHz and CPI are independent of each other</a:t>
            </a:r>
            <a:endParaRPr lang="en-US" sz="1350" dirty="0"/>
          </a:p>
        </p:txBody>
      </p:sp>
      <p:sp>
        <p:nvSpPr>
          <p:cNvPr id="25" name="Text 22"/>
          <p:cNvSpPr/>
          <p:nvPr/>
        </p:nvSpPr>
        <p:spPr>
          <a:xfrm>
            <a:off x="6995160" y="4754880"/>
            <a:ext cx="4297680" cy="365760"/>
          </a:xfrm>
          <a:prstGeom prst="rect">
            <a:avLst/>
          </a:prstGeom>
          <a:noFill/>
          <a:ln/>
        </p:spPr>
        <p:txBody>
          <a:bodyPr wrap="square" lIns="0" tIns="0" rIns="0" bIns="0" rtlCol="0" anchor="ctr"/>
          <a:lstStyle/>
          <a:p>
            <a:pPr marL="0" indent="0">
              <a:buNone/>
            </a:pPr>
            <a:r>
              <a:rPr lang="en-US" sz="1375" b="1" dirty="0">
                <a:solidFill>
                  <a:srgbClr val="C0392B"/>
                </a:solidFill>
                <a:latin typeface="Calibri" pitchFamily="34" charset="0"/>
                <a:ea typeface="Calibri" pitchFamily="34" charset="-122"/>
                <a:cs typeface="Calibri" pitchFamily="34" charset="-120"/>
              </a:rPr>
              <a:t>FALSE</a:t>
            </a:r>
            <a:endParaRPr lang="en-US" sz="1100" dirty="0"/>
          </a:p>
        </p:txBody>
      </p:sp>
      <p:sp>
        <p:nvSpPr>
          <p:cNvPr id="26" name="Text 23"/>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MINI ACTIVITY</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Quick Check 1 — Think, Pair, Share</a:t>
            </a:r>
            <a:endParaRPr lang="en-US" sz="3000" dirty="0"/>
          </a:p>
        </p:txBody>
      </p:sp>
      <p:sp>
        <p:nvSpPr>
          <p:cNvPr id="4" name="Shape 2"/>
          <p:cNvSpPr/>
          <p:nvPr/>
        </p:nvSpPr>
        <p:spPr>
          <a:xfrm>
            <a:off x="10954512" y="457200"/>
            <a:ext cx="868680" cy="868680"/>
          </a:xfrm>
          <a:prstGeom prst="ellipse">
            <a:avLst/>
          </a:prstGeom>
          <a:solidFill>
            <a:srgbClr val="E8A33D"/>
          </a:solidFill>
          <a:ln/>
        </p:spPr>
        <p:txBody>
          <a:bodyPr/>
          <a:lstStyle/>
          <a:p>
            <a:endParaRPr/>
          </a:p>
        </p:txBody>
      </p:sp>
      <p:pic>
        <p:nvPicPr>
          <p:cNvPr id="5" name="Image 0" descr="/home/claude/coa_ppt/icons/users_navy.png"/>
          <p:cNvPicPr>
            <a:picLocks noChangeAspect="1"/>
          </p:cNvPicPr>
          <p:nvPr/>
        </p:nvPicPr>
        <p:blipFill>
          <a:blip r:embed="rId3"/>
          <a:stretch>
            <a:fillRect/>
          </a:stretch>
        </p:blipFill>
        <p:spPr>
          <a:xfrm>
            <a:off x="11162995" y="665683"/>
            <a:ext cx="451714" cy="451714"/>
          </a:xfrm>
          <a:prstGeom prst="rect">
            <a:avLst/>
          </a:prstGeom>
        </p:spPr>
      </p:pic>
      <p:sp>
        <p:nvSpPr>
          <p:cNvPr id="6" name="Shape 3"/>
          <p:cNvSpPr/>
          <p:nvPr/>
        </p:nvSpPr>
        <p:spPr>
          <a:xfrm>
            <a:off x="502920" y="1828800"/>
            <a:ext cx="11155680" cy="2011680"/>
          </a:xfrm>
          <a:prstGeom prst="roundRect">
            <a:avLst>
              <a:gd name="adj" fmla="val 5455"/>
            </a:avLst>
          </a:prstGeom>
          <a:solidFill>
            <a:srgbClr val="E9EEF5"/>
          </a:solidFill>
          <a:ln/>
        </p:spPr>
        <p:txBody>
          <a:bodyPr/>
          <a:lstStyle/>
          <a:p>
            <a:endParaRPr/>
          </a:p>
        </p:txBody>
      </p:sp>
      <p:sp>
        <p:nvSpPr>
          <p:cNvPr id="7" name="Text 4"/>
          <p:cNvSpPr/>
          <p:nvPr/>
        </p:nvSpPr>
        <p:spPr>
          <a:xfrm>
            <a:off x="868680" y="1828800"/>
            <a:ext cx="10424160" cy="2011680"/>
          </a:xfrm>
          <a:prstGeom prst="rect">
            <a:avLst/>
          </a:prstGeom>
          <a:noFill/>
          <a:ln/>
        </p:spPr>
        <p:txBody>
          <a:bodyPr wrap="square" lIns="0" tIns="0" rIns="0" bIns="0" rtlCol="0" anchor="ctr"/>
          <a:lstStyle/>
          <a:p>
            <a:pPr marL="0" indent="0">
              <a:lnSpc>
                <a:spcPct val="130000"/>
              </a:lnSpc>
              <a:buNone/>
            </a:pPr>
            <a:r>
              <a:rPr lang="en-US" sz="2500" dirty="0">
                <a:solidFill>
                  <a:srgbClr val="16233F"/>
                </a:solidFill>
                <a:latin typeface="Cambria" pitchFamily="34" charset="0"/>
                <a:ea typeface="Cambria" pitchFamily="34" charset="-122"/>
                <a:cs typeface="Cambria" pitchFamily="34" charset="-120"/>
              </a:rPr>
              <a:t>Processor X: 5 GHz.  Processor Y: 3 GHz but HALF the CPI of X.</a:t>
            </a:r>
            <a:endParaRPr lang="en-US" sz="2000" dirty="0"/>
          </a:p>
          <a:p>
            <a:pPr marL="0" indent="0">
              <a:lnSpc>
                <a:spcPct val="130000"/>
              </a:lnSpc>
              <a:buNone/>
            </a:pPr>
            <a:r>
              <a:rPr lang="en-US" sz="2500" dirty="0">
                <a:solidFill>
                  <a:srgbClr val="16233F"/>
                </a:solidFill>
                <a:latin typeface="Cambria" pitchFamily="34" charset="0"/>
                <a:ea typeface="Cambria" pitchFamily="34" charset="-122"/>
                <a:cs typeface="Cambria" pitchFamily="34" charset="-120"/>
              </a:rPr>
              <a:t>Which processor executes a given program faster?</a:t>
            </a:r>
            <a:endParaRPr lang="en-US" sz="2000" dirty="0"/>
          </a:p>
        </p:txBody>
      </p:sp>
      <p:sp>
        <p:nvSpPr>
          <p:cNvPr id="8" name="Shape 5"/>
          <p:cNvSpPr/>
          <p:nvPr/>
        </p:nvSpPr>
        <p:spPr>
          <a:xfrm>
            <a:off x="502920" y="4160520"/>
            <a:ext cx="2926080" cy="731520"/>
          </a:xfrm>
          <a:prstGeom prst="roundRect">
            <a:avLst>
              <a:gd name="adj" fmla="val 50000"/>
            </a:avLst>
          </a:prstGeom>
          <a:solidFill>
            <a:srgbClr val="16233F"/>
          </a:solidFill>
          <a:ln/>
        </p:spPr>
        <p:txBody>
          <a:bodyPr/>
          <a:lstStyle/>
          <a:p>
            <a:endParaRPr/>
          </a:p>
        </p:txBody>
      </p:sp>
      <p:sp>
        <p:nvSpPr>
          <p:cNvPr id="9" name="Text 6"/>
          <p:cNvSpPr/>
          <p:nvPr/>
        </p:nvSpPr>
        <p:spPr>
          <a:xfrm>
            <a:off x="502920" y="4160520"/>
            <a:ext cx="2926080" cy="731520"/>
          </a:xfrm>
          <a:prstGeom prst="rect">
            <a:avLst/>
          </a:prstGeom>
          <a:noFill/>
          <a:ln/>
        </p:spPr>
        <p:txBody>
          <a:bodyPr wrap="square" lIns="0" tIns="0" rIns="0" bIns="0" rtlCol="0" anchor="ctr"/>
          <a:lstStyle/>
          <a:p>
            <a:pPr marL="0" indent="0" algn="ctr">
              <a:buNone/>
            </a:pPr>
            <a:r>
              <a:rPr lang="en-US" sz="1875" b="1" dirty="0">
                <a:solidFill>
                  <a:srgbClr val="2FD1C6"/>
                </a:solidFill>
                <a:latin typeface="Calibri" pitchFamily="34" charset="0"/>
                <a:ea typeface="Calibri" pitchFamily="34" charset="-122"/>
                <a:cs typeface="Calibri" pitchFamily="34" charset="-120"/>
              </a:rPr>
              <a:t>⏱  1 Minute</a:t>
            </a:r>
            <a:endParaRPr lang="en-US" sz="1500" dirty="0"/>
          </a:p>
        </p:txBody>
      </p:sp>
      <p:sp>
        <p:nvSpPr>
          <p:cNvPr id="10" name="Text 7"/>
          <p:cNvSpPr/>
          <p:nvPr/>
        </p:nvSpPr>
        <p:spPr>
          <a:xfrm>
            <a:off x="3703320" y="4160520"/>
            <a:ext cx="5486400" cy="731520"/>
          </a:xfrm>
          <a:prstGeom prst="rect">
            <a:avLst/>
          </a:prstGeom>
          <a:noFill/>
          <a:ln/>
        </p:spPr>
        <p:txBody>
          <a:bodyPr wrap="square" lIns="0" tIns="0" rIns="0" bIns="0" rtlCol="0" anchor="ctr"/>
          <a:lstStyle/>
          <a:p>
            <a:pPr marL="0" indent="0">
              <a:buNone/>
            </a:pPr>
            <a:r>
              <a:rPr lang="en-US" sz="1625" i="1" dirty="0">
                <a:solidFill>
                  <a:srgbClr val="6B7A90"/>
                </a:solidFill>
                <a:latin typeface="Calibri" pitchFamily="34" charset="0"/>
                <a:ea typeface="Calibri" pitchFamily="34" charset="-122"/>
                <a:cs typeface="Calibri" pitchFamily="34" charset="-120"/>
              </a:rPr>
              <a:t>Turn to a neighbor and work through it together.</a:t>
            </a:r>
            <a:endParaRPr lang="en-US" sz="1300" dirty="0"/>
          </a:p>
        </p:txBody>
      </p:sp>
      <p:sp>
        <p:nvSpPr>
          <p:cNvPr id="11" name="Text 8"/>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MINI ACTIVITY</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Quick Check 1 — Discussion</a:t>
            </a:r>
            <a:endParaRPr lang="en-US" sz="3000" dirty="0"/>
          </a:p>
        </p:txBody>
      </p:sp>
      <p:sp>
        <p:nvSpPr>
          <p:cNvPr id="4" name="Shape 2"/>
          <p:cNvSpPr/>
          <p:nvPr/>
        </p:nvSpPr>
        <p:spPr>
          <a:xfrm>
            <a:off x="10954512" y="457200"/>
            <a:ext cx="868680" cy="868680"/>
          </a:xfrm>
          <a:prstGeom prst="ellipse">
            <a:avLst/>
          </a:prstGeom>
          <a:solidFill>
            <a:srgbClr val="3EA66E"/>
          </a:solidFill>
          <a:ln/>
        </p:spPr>
        <p:txBody>
          <a:bodyPr/>
          <a:lstStyle/>
          <a:p>
            <a:endParaRPr/>
          </a:p>
        </p:txBody>
      </p:sp>
      <p:pic>
        <p:nvPicPr>
          <p:cNvPr id="5" name="Image 0" descr="/home/claude/coa_ppt/icons/checkCircle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685800" y="1874520"/>
            <a:ext cx="10515600" cy="548640"/>
          </a:xfrm>
          <a:prstGeom prst="rect">
            <a:avLst/>
          </a:prstGeom>
          <a:noFill/>
          <a:ln/>
        </p:spPr>
        <p:txBody>
          <a:bodyPr wrap="square" lIns="0" tIns="0" rIns="0" bIns="0" rtlCol="0" anchor="ctr"/>
          <a:lstStyle/>
          <a:p>
            <a:pPr marL="0" indent="0">
              <a:buNone/>
            </a:pPr>
            <a:r>
              <a:rPr lang="en-US" sz="2125" dirty="0">
                <a:solidFill>
                  <a:srgbClr val="3E4C63"/>
                </a:solidFill>
                <a:latin typeface="Cambria" pitchFamily="34" charset="0"/>
                <a:ea typeface="Cambria" pitchFamily="34" charset="-122"/>
                <a:cs typeface="Cambria" pitchFamily="34" charset="-120"/>
              </a:rPr>
              <a:t>Let CPI of X = C, so CPI of Y = C / 2</a:t>
            </a:r>
            <a:endParaRPr lang="en-US" sz="1700" dirty="0"/>
          </a:p>
        </p:txBody>
      </p:sp>
      <p:sp>
        <p:nvSpPr>
          <p:cNvPr id="7" name="Text 4"/>
          <p:cNvSpPr/>
          <p:nvPr/>
        </p:nvSpPr>
        <p:spPr>
          <a:xfrm>
            <a:off x="685800" y="2560320"/>
            <a:ext cx="10515600" cy="548640"/>
          </a:xfrm>
          <a:prstGeom prst="rect">
            <a:avLst/>
          </a:prstGeom>
          <a:noFill/>
          <a:ln/>
        </p:spPr>
        <p:txBody>
          <a:bodyPr wrap="square" lIns="0" tIns="0" rIns="0" bIns="0" rtlCol="0" anchor="ctr"/>
          <a:lstStyle/>
          <a:p>
            <a:pPr marL="0" indent="0">
              <a:buNone/>
            </a:pPr>
            <a:r>
              <a:rPr lang="en-US" sz="2125" dirty="0">
                <a:solidFill>
                  <a:srgbClr val="3E4C63"/>
                </a:solidFill>
                <a:latin typeface="Cambria" pitchFamily="34" charset="0"/>
                <a:ea typeface="Cambria" pitchFamily="34" charset="-122"/>
                <a:cs typeface="Cambria" pitchFamily="34" charset="-120"/>
              </a:rPr>
              <a:t>Time is proportional to CPI / Clock Rate</a:t>
            </a:r>
            <a:endParaRPr lang="en-US" sz="1700" dirty="0"/>
          </a:p>
        </p:txBody>
      </p:sp>
      <p:sp>
        <p:nvSpPr>
          <p:cNvPr id="8" name="Text 5"/>
          <p:cNvSpPr/>
          <p:nvPr/>
        </p:nvSpPr>
        <p:spPr>
          <a:xfrm>
            <a:off x="685800" y="3246120"/>
            <a:ext cx="10515600" cy="548640"/>
          </a:xfrm>
          <a:prstGeom prst="rect">
            <a:avLst/>
          </a:prstGeom>
          <a:noFill/>
          <a:ln/>
        </p:spPr>
        <p:txBody>
          <a:bodyPr wrap="square" lIns="0" tIns="0" rIns="0" bIns="0" rtlCol="0" anchor="ctr"/>
          <a:lstStyle/>
          <a:p>
            <a:pPr marL="0" indent="0">
              <a:buNone/>
            </a:pPr>
            <a:r>
              <a:rPr lang="en-US" sz="2125" dirty="0">
                <a:solidFill>
                  <a:srgbClr val="3E4C63"/>
                </a:solidFill>
                <a:latin typeface="Cambria" pitchFamily="34" charset="0"/>
                <a:ea typeface="Cambria" pitchFamily="34" charset="-122"/>
                <a:cs typeface="Cambria" pitchFamily="34" charset="-120"/>
              </a:rPr>
              <a:t>X:  C / 5  =  0.200 C</a:t>
            </a:r>
            <a:endParaRPr lang="en-US" sz="1700" dirty="0"/>
          </a:p>
        </p:txBody>
      </p:sp>
      <p:sp>
        <p:nvSpPr>
          <p:cNvPr id="9" name="Text 6"/>
          <p:cNvSpPr/>
          <p:nvPr/>
        </p:nvSpPr>
        <p:spPr>
          <a:xfrm>
            <a:off x="685800" y="3931920"/>
            <a:ext cx="10515600" cy="548640"/>
          </a:xfrm>
          <a:prstGeom prst="rect">
            <a:avLst/>
          </a:prstGeom>
          <a:noFill/>
          <a:ln/>
        </p:spPr>
        <p:txBody>
          <a:bodyPr wrap="square" lIns="0" tIns="0" rIns="0" bIns="0" rtlCol="0" anchor="ctr"/>
          <a:lstStyle/>
          <a:p>
            <a:pPr marL="0" indent="0">
              <a:buNone/>
            </a:pPr>
            <a:r>
              <a:rPr lang="en-US" sz="2125" dirty="0">
                <a:solidFill>
                  <a:srgbClr val="3E4C63"/>
                </a:solidFill>
                <a:latin typeface="Cambria" pitchFamily="34" charset="0"/>
                <a:ea typeface="Cambria" pitchFamily="34" charset="-122"/>
                <a:cs typeface="Cambria" pitchFamily="34" charset="-120"/>
              </a:rPr>
              <a:t>Y:  (C/2) / 3  ≈  0.167 C</a:t>
            </a:r>
            <a:endParaRPr lang="en-US" sz="1700" dirty="0"/>
          </a:p>
        </p:txBody>
      </p:sp>
      <p:sp>
        <p:nvSpPr>
          <p:cNvPr id="10" name="Shape 7"/>
          <p:cNvSpPr/>
          <p:nvPr/>
        </p:nvSpPr>
        <p:spPr>
          <a:xfrm>
            <a:off x="502920" y="4892040"/>
            <a:ext cx="11155680" cy="777240"/>
          </a:xfrm>
          <a:prstGeom prst="roundRect">
            <a:avLst>
              <a:gd name="adj" fmla="val 11765"/>
            </a:avLst>
          </a:prstGeom>
          <a:solidFill>
            <a:srgbClr val="E7F6EE"/>
          </a:solidFill>
          <a:ln/>
        </p:spPr>
        <p:txBody>
          <a:bodyPr/>
          <a:lstStyle/>
          <a:p>
            <a:endParaRPr/>
          </a:p>
        </p:txBody>
      </p:sp>
      <p:sp>
        <p:nvSpPr>
          <p:cNvPr id="11" name="Text 8"/>
          <p:cNvSpPr/>
          <p:nvPr/>
        </p:nvSpPr>
        <p:spPr>
          <a:xfrm>
            <a:off x="777240" y="4892040"/>
            <a:ext cx="10607040" cy="777240"/>
          </a:xfrm>
          <a:prstGeom prst="rect">
            <a:avLst/>
          </a:prstGeom>
          <a:noFill/>
          <a:ln/>
        </p:spPr>
        <p:txBody>
          <a:bodyPr wrap="square" lIns="0" tIns="0" rIns="0" bIns="0" rtlCol="0" anchor="ctr"/>
          <a:lstStyle/>
          <a:p>
            <a:pPr marL="0" indent="0">
              <a:buNone/>
            </a:pPr>
            <a:r>
              <a:rPr lang="en-US" sz="2000" b="1" dirty="0">
                <a:solidFill>
                  <a:srgbClr val="1F7A44"/>
                </a:solidFill>
                <a:latin typeface="Calibri" pitchFamily="34" charset="0"/>
                <a:ea typeface="Calibri" pitchFamily="34" charset="-122"/>
                <a:cs typeface="Calibri" pitchFamily="34" charset="-120"/>
              </a:rPr>
              <a:t>Answer: Processor Y is faster — despite the lower clock speed.</a:t>
            </a:r>
            <a:endParaRPr lang="en-US" sz="1600" dirty="0"/>
          </a:p>
        </p:txBody>
      </p:sp>
      <p:sp>
        <p:nvSpPr>
          <p:cNvPr id="12" name="Text 9"/>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MINI ACTIVITY</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Quick Check 2</a:t>
            </a:r>
            <a:endParaRPr lang="en-US" sz="3000" dirty="0"/>
          </a:p>
        </p:txBody>
      </p:sp>
      <p:sp>
        <p:nvSpPr>
          <p:cNvPr id="4" name="Shape 2"/>
          <p:cNvSpPr/>
          <p:nvPr/>
        </p:nvSpPr>
        <p:spPr>
          <a:xfrm>
            <a:off x="10954512" y="457200"/>
            <a:ext cx="868680" cy="868680"/>
          </a:xfrm>
          <a:prstGeom prst="ellipse">
            <a:avLst/>
          </a:prstGeom>
          <a:solidFill>
            <a:srgbClr val="E8A33D"/>
          </a:solidFill>
          <a:ln/>
        </p:spPr>
        <p:txBody>
          <a:bodyPr/>
          <a:lstStyle/>
          <a:p>
            <a:endParaRPr/>
          </a:p>
        </p:txBody>
      </p:sp>
      <p:pic>
        <p:nvPicPr>
          <p:cNvPr id="5" name="Image 0" descr="/home/claude/coa_ppt/icons/infinity_navy.png"/>
          <p:cNvPicPr>
            <a:picLocks noChangeAspect="1"/>
          </p:cNvPicPr>
          <p:nvPr/>
        </p:nvPicPr>
        <p:blipFill>
          <a:blip r:embed="rId3"/>
          <a:stretch>
            <a:fillRect/>
          </a:stretch>
        </p:blipFill>
        <p:spPr>
          <a:xfrm>
            <a:off x="11162995" y="665683"/>
            <a:ext cx="451714" cy="451714"/>
          </a:xfrm>
          <a:prstGeom prst="rect">
            <a:avLst/>
          </a:prstGeom>
        </p:spPr>
      </p:pic>
      <p:sp>
        <p:nvSpPr>
          <p:cNvPr id="6" name="Shape 3"/>
          <p:cNvSpPr/>
          <p:nvPr/>
        </p:nvSpPr>
        <p:spPr>
          <a:xfrm>
            <a:off x="502920" y="1828800"/>
            <a:ext cx="11155680" cy="1737360"/>
          </a:xfrm>
          <a:prstGeom prst="roundRect">
            <a:avLst>
              <a:gd name="adj" fmla="val 6316"/>
            </a:avLst>
          </a:prstGeom>
          <a:solidFill>
            <a:srgbClr val="E9EEF5"/>
          </a:solidFill>
          <a:ln/>
        </p:spPr>
        <p:txBody>
          <a:bodyPr/>
          <a:lstStyle/>
          <a:p>
            <a:endParaRPr/>
          </a:p>
        </p:txBody>
      </p:sp>
      <p:sp>
        <p:nvSpPr>
          <p:cNvPr id="7" name="Text 4"/>
          <p:cNvSpPr/>
          <p:nvPr/>
        </p:nvSpPr>
        <p:spPr>
          <a:xfrm>
            <a:off x="868680" y="1828800"/>
            <a:ext cx="10424160" cy="1737360"/>
          </a:xfrm>
          <a:prstGeom prst="rect">
            <a:avLst/>
          </a:prstGeom>
          <a:noFill/>
          <a:ln/>
        </p:spPr>
        <p:txBody>
          <a:bodyPr wrap="square" lIns="0" tIns="0" rIns="0" bIns="0" rtlCol="0" anchor="ctr"/>
          <a:lstStyle/>
          <a:p>
            <a:pPr marL="0" indent="0">
              <a:lnSpc>
                <a:spcPct val="125000"/>
              </a:lnSpc>
              <a:buNone/>
            </a:pPr>
            <a:r>
              <a:rPr lang="en-US" sz="2375" dirty="0">
                <a:solidFill>
                  <a:srgbClr val="16233F"/>
                </a:solidFill>
                <a:latin typeface="Cambria" pitchFamily="34" charset="0"/>
                <a:ea typeface="Cambria" pitchFamily="34" charset="-122"/>
                <a:cs typeface="Cambria" pitchFamily="34" charset="-120"/>
              </a:rPr>
              <a:t>If 95% of a program can be parallelized, what is the maximum possible</a:t>
            </a:r>
            <a:endParaRPr lang="en-US" sz="1900" dirty="0"/>
          </a:p>
          <a:p>
            <a:pPr marL="0" indent="0">
              <a:lnSpc>
                <a:spcPct val="125000"/>
              </a:lnSpc>
              <a:buNone/>
            </a:pPr>
            <a:r>
              <a:rPr lang="en-US" sz="2375" dirty="0">
                <a:solidFill>
                  <a:srgbClr val="16233F"/>
                </a:solidFill>
                <a:latin typeface="Cambria" pitchFamily="34" charset="0"/>
                <a:ea typeface="Cambria" pitchFamily="34" charset="-122"/>
                <a:cs typeface="Cambria" pitchFamily="34" charset="-120"/>
              </a:rPr>
              <a:t>speedup with UNLIMITED processors?</a:t>
            </a:r>
            <a:endParaRPr lang="en-US" sz="1900" dirty="0"/>
          </a:p>
        </p:txBody>
      </p:sp>
      <p:sp>
        <p:nvSpPr>
          <p:cNvPr id="8" name="Shape 5"/>
          <p:cNvSpPr/>
          <p:nvPr/>
        </p:nvSpPr>
        <p:spPr>
          <a:xfrm>
            <a:off x="502920" y="3840480"/>
            <a:ext cx="5486400" cy="777240"/>
          </a:xfrm>
          <a:prstGeom prst="roundRect">
            <a:avLst>
              <a:gd name="adj" fmla="val 11765"/>
            </a:avLst>
          </a:prstGeom>
          <a:solidFill>
            <a:srgbClr val="16233F"/>
          </a:solidFill>
          <a:ln/>
        </p:spPr>
        <p:txBody>
          <a:bodyPr/>
          <a:lstStyle/>
          <a:p>
            <a:endParaRPr/>
          </a:p>
        </p:txBody>
      </p:sp>
      <p:sp>
        <p:nvSpPr>
          <p:cNvPr id="9" name="Text 6"/>
          <p:cNvSpPr/>
          <p:nvPr/>
        </p:nvSpPr>
        <p:spPr>
          <a:xfrm>
            <a:off x="502920" y="3840480"/>
            <a:ext cx="5486400" cy="777240"/>
          </a:xfrm>
          <a:prstGeom prst="rect">
            <a:avLst/>
          </a:prstGeom>
          <a:noFill/>
          <a:ln/>
        </p:spPr>
        <p:txBody>
          <a:bodyPr wrap="square" lIns="0" tIns="0" rIns="0" bIns="0" rtlCol="0" anchor="ctr"/>
          <a:lstStyle/>
          <a:p>
            <a:pPr marL="0" indent="0" algn="ctr">
              <a:buNone/>
            </a:pPr>
            <a:r>
              <a:rPr lang="en-US" sz="2000" b="1" dirty="0">
                <a:solidFill>
                  <a:srgbClr val="2FD1C6"/>
                </a:solidFill>
                <a:latin typeface="Cambria" pitchFamily="34" charset="0"/>
                <a:ea typeface="Cambria" pitchFamily="34" charset="-122"/>
                <a:cs typeface="Cambria" pitchFamily="34" charset="-120"/>
              </a:rPr>
              <a:t>Hint:  Max Speedup = 1 / (1 − P)</a:t>
            </a:r>
            <a:endParaRPr lang="en-US" sz="1600" dirty="0"/>
          </a:p>
        </p:txBody>
      </p:sp>
      <p:sp>
        <p:nvSpPr>
          <p:cNvPr id="10" name="Text 7"/>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WRAP-UP</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Summary of Key Points</a:t>
            </a:r>
            <a:endParaRPr lang="en-US" sz="3000" dirty="0"/>
          </a:p>
        </p:txBody>
      </p:sp>
      <p:sp>
        <p:nvSpPr>
          <p:cNvPr id="4" name="Shape 2"/>
          <p:cNvSpPr/>
          <p:nvPr/>
        </p:nvSpPr>
        <p:spPr>
          <a:xfrm>
            <a:off x="10954512" y="457200"/>
            <a:ext cx="868680" cy="868680"/>
          </a:xfrm>
          <a:prstGeom prst="ellipse">
            <a:avLst/>
          </a:prstGeom>
          <a:solidFill>
            <a:srgbClr val="3EA66E"/>
          </a:solidFill>
          <a:ln/>
        </p:spPr>
        <p:txBody>
          <a:bodyPr/>
          <a:lstStyle/>
          <a:p>
            <a:endParaRPr/>
          </a:p>
        </p:txBody>
      </p:sp>
      <p:pic>
        <p:nvPicPr>
          <p:cNvPr id="5" name="Image 0" descr="/home/claude/coa_ppt/icons/checkCircle_navy.png"/>
          <p:cNvPicPr>
            <a:picLocks noChangeAspect="1"/>
          </p:cNvPicPr>
          <p:nvPr/>
        </p:nvPicPr>
        <p:blipFill>
          <a:blip r:embed="rId3"/>
          <a:stretch>
            <a:fillRect/>
          </a:stretch>
        </p:blipFill>
        <p:spPr>
          <a:xfrm>
            <a:off x="11162995" y="665683"/>
            <a:ext cx="451714" cy="451714"/>
          </a:xfrm>
          <a:prstGeom prst="rect">
            <a:avLst/>
          </a:prstGeom>
        </p:spPr>
      </p:pic>
      <p:sp>
        <p:nvSpPr>
          <p:cNvPr id="6" name="Shape 3"/>
          <p:cNvSpPr/>
          <p:nvPr/>
        </p:nvSpPr>
        <p:spPr>
          <a:xfrm>
            <a:off x="502920" y="1828800"/>
            <a:ext cx="5349240" cy="1188720"/>
          </a:xfrm>
          <a:prstGeom prst="roundRect">
            <a:avLst>
              <a:gd name="adj" fmla="val 7692"/>
            </a:avLst>
          </a:prstGeom>
          <a:solidFill>
            <a:srgbClr val="E9EEF5"/>
          </a:solidFill>
          <a:ln/>
        </p:spPr>
        <p:txBody>
          <a:bodyPr/>
          <a:lstStyle/>
          <a:p>
            <a:endParaRPr/>
          </a:p>
        </p:txBody>
      </p:sp>
      <p:sp>
        <p:nvSpPr>
          <p:cNvPr id="7" name="Shape 4"/>
          <p:cNvSpPr/>
          <p:nvPr/>
        </p:nvSpPr>
        <p:spPr>
          <a:xfrm>
            <a:off x="731520" y="2240280"/>
            <a:ext cx="365760" cy="365760"/>
          </a:xfrm>
          <a:prstGeom prst="ellipse">
            <a:avLst/>
          </a:prstGeom>
          <a:solidFill>
            <a:srgbClr val="3EA66E"/>
          </a:solidFill>
          <a:ln/>
        </p:spPr>
        <p:txBody>
          <a:bodyPr/>
          <a:lstStyle/>
          <a:p>
            <a:endParaRPr/>
          </a:p>
        </p:txBody>
      </p:sp>
      <p:sp>
        <p:nvSpPr>
          <p:cNvPr id="8" name="Text 5"/>
          <p:cNvSpPr/>
          <p:nvPr/>
        </p:nvSpPr>
        <p:spPr>
          <a:xfrm>
            <a:off x="731520" y="2240280"/>
            <a:ext cx="365760" cy="36576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a:t>
            </a:r>
            <a:endParaRPr lang="en-US" sz="1400" dirty="0"/>
          </a:p>
        </p:txBody>
      </p:sp>
      <p:sp>
        <p:nvSpPr>
          <p:cNvPr id="9" name="Text 6"/>
          <p:cNvSpPr/>
          <p:nvPr/>
        </p:nvSpPr>
        <p:spPr>
          <a:xfrm>
            <a:off x="1280160" y="1965960"/>
            <a:ext cx="4389120" cy="914400"/>
          </a:xfrm>
          <a:prstGeom prst="rect">
            <a:avLst/>
          </a:prstGeom>
          <a:noFill/>
          <a:ln/>
        </p:spPr>
        <p:txBody>
          <a:bodyPr wrap="square" lIns="0" tIns="0" rIns="0" bIns="0" rtlCol="0" anchor="ctr"/>
          <a:lstStyle/>
          <a:p>
            <a:pPr marL="0" indent="0">
              <a:buNone/>
            </a:pPr>
            <a:r>
              <a:rPr lang="en-US" sz="1625" dirty="0">
                <a:solidFill>
                  <a:srgbClr val="16233F"/>
                </a:solidFill>
                <a:latin typeface="Calibri" pitchFamily="34" charset="0"/>
                <a:ea typeface="Calibri" pitchFamily="34" charset="-122"/>
                <a:cs typeface="Calibri" pitchFamily="34" charset="-120"/>
              </a:rPr>
              <a:t>Performance = Execution Time &amp; Throughput</a:t>
            </a:r>
            <a:endParaRPr lang="en-US" sz="1300" dirty="0"/>
          </a:p>
        </p:txBody>
      </p:sp>
      <p:sp>
        <p:nvSpPr>
          <p:cNvPr id="10" name="Shape 7"/>
          <p:cNvSpPr/>
          <p:nvPr/>
        </p:nvSpPr>
        <p:spPr>
          <a:xfrm>
            <a:off x="6126480" y="1828800"/>
            <a:ext cx="5349240" cy="1188720"/>
          </a:xfrm>
          <a:prstGeom prst="roundRect">
            <a:avLst>
              <a:gd name="adj" fmla="val 7692"/>
            </a:avLst>
          </a:prstGeom>
          <a:solidFill>
            <a:srgbClr val="E9EEF5"/>
          </a:solidFill>
          <a:ln/>
        </p:spPr>
        <p:txBody>
          <a:bodyPr/>
          <a:lstStyle/>
          <a:p>
            <a:endParaRPr/>
          </a:p>
        </p:txBody>
      </p:sp>
      <p:sp>
        <p:nvSpPr>
          <p:cNvPr id="11" name="Shape 8"/>
          <p:cNvSpPr/>
          <p:nvPr/>
        </p:nvSpPr>
        <p:spPr>
          <a:xfrm>
            <a:off x="6355080" y="2240280"/>
            <a:ext cx="365760" cy="365760"/>
          </a:xfrm>
          <a:prstGeom prst="ellipse">
            <a:avLst/>
          </a:prstGeom>
          <a:solidFill>
            <a:srgbClr val="3EA66E"/>
          </a:solidFill>
          <a:ln/>
        </p:spPr>
        <p:txBody>
          <a:bodyPr/>
          <a:lstStyle/>
          <a:p>
            <a:endParaRPr/>
          </a:p>
        </p:txBody>
      </p:sp>
      <p:sp>
        <p:nvSpPr>
          <p:cNvPr id="12" name="Text 9"/>
          <p:cNvSpPr/>
          <p:nvPr/>
        </p:nvSpPr>
        <p:spPr>
          <a:xfrm>
            <a:off x="6355080" y="2240280"/>
            <a:ext cx="365760" cy="36576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0"/>
          <p:cNvSpPr/>
          <p:nvPr/>
        </p:nvSpPr>
        <p:spPr>
          <a:xfrm>
            <a:off x="6903720" y="1965960"/>
            <a:ext cx="4389120" cy="914400"/>
          </a:xfrm>
          <a:prstGeom prst="rect">
            <a:avLst/>
          </a:prstGeom>
          <a:noFill/>
          <a:ln/>
        </p:spPr>
        <p:txBody>
          <a:bodyPr wrap="square" lIns="0" tIns="0" rIns="0" bIns="0" rtlCol="0" anchor="ctr"/>
          <a:lstStyle/>
          <a:p>
            <a:pPr marL="0" indent="0">
              <a:buNone/>
            </a:pPr>
            <a:r>
              <a:rPr lang="en-US" sz="1625" dirty="0">
                <a:solidFill>
                  <a:srgbClr val="16233F"/>
                </a:solidFill>
                <a:latin typeface="Calibri" pitchFamily="34" charset="0"/>
                <a:ea typeface="Calibri" pitchFamily="34" charset="-122"/>
                <a:cs typeface="Calibri" pitchFamily="34" charset="-120"/>
              </a:rPr>
              <a:t>CPU Time = IC × CPI × Clock Cycle Time</a:t>
            </a:r>
            <a:endParaRPr lang="en-US" sz="1300" dirty="0"/>
          </a:p>
        </p:txBody>
      </p:sp>
      <p:sp>
        <p:nvSpPr>
          <p:cNvPr id="14" name="Shape 11"/>
          <p:cNvSpPr/>
          <p:nvPr/>
        </p:nvSpPr>
        <p:spPr>
          <a:xfrm>
            <a:off x="502920" y="3246120"/>
            <a:ext cx="5349240" cy="1188720"/>
          </a:xfrm>
          <a:prstGeom prst="roundRect">
            <a:avLst>
              <a:gd name="adj" fmla="val 7692"/>
            </a:avLst>
          </a:prstGeom>
          <a:solidFill>
            <a:srgbClr val="E9EEF5"/>
          </a:solidFill>
          <a:ln/>
        </p:spPr>
        <p:txBody>
          <a:bodyPr/>
          <a:lstStyle/>
          <a:p>
            <a:endParaRPr/>
          </a:p>
        </p:txBody>
      </p:sp>
      <p:sp>
        <p:nvSpPr>
          <p:cNvPr id="15" name="Shape 12"/>
          <p:cNvSpPr/>
          <p:nvPr/>
        </p:nvSpPr>
        <p:spPr>
          <a:xfrm>
            <a:off x="731520" y="3657600"/>
            <a:ext cx="365760" cy="365760"/>
          </a:xfrm>
          <a:prstGeom prst="ellipse">
            <a:avLst/>
          </a:prstGeom>
          <a:solidFill>
            <a:srgbClr val="3EA66E"/>
          </a:solidFill>
          <a:ln/>
        </p:spPr>
        <p:txBody>
          <a:bodyPr/>
          <a:lstStyle/>
          <a:p>
            <a:endParaRPr/>
          </a:p>
        </p:txBody>
      </p:sp>
      <p:sp>
        <p:nvSpPr>
          <p:cNvPr id="16" name="Text 13"/>
          <p:cNvSpPr/>
          <p:nvPr/>
        </p:nvSpPr>
        <p:spPr>
          <a:xfrm>
            <a:off x="731520" y="3657600"/>
            <a:ext cx="365760" cy="36576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a:t>
            </a:r>
            <a:endParaRPr lang="en-US" sz="1400" dirty="0"/>
          </a:p>
        </p:txBody>
      </p:sp>
      <p:sp>
        <p:nvSpPr>
          <p:cNvPr id="17" name="Text 14"/>
          <p:cNvSpPr/>
          <p:nvPr/>
        </p:nvSpPr>
        <p:spPr>
          <a:xfrm>
            <a:off x="1280160" y="3383280"/>
            <a:ext cx="4389120" cy="914400"/>
          </a:xfrm>
          <a:prstGeom prst="rect">
            <a:avLst/>
          </a:prstGeom>
          <a:noFill/>
          <a:ln/>
        </p:spPr>
        <p:txBody>
          <a:bodyPr wrap="square" lIns="0" tIns="0" rIns="0" bIns="0" rtlCol="0" anchor="ctr"/>
          <a:lstStyle/>
          <a:p>
            <a:pPr marL="0" indent="0">
              <a:buNone/>
            </a:pPr>
            <a:r>
              <a:rPr lang="en-US" sz="1625" dirty="0">
                <a:solidFill>
                  <a:srgbClr val="16233F"/>
                </a:solidFill>
                <a:latin typeface="Calibri" pitchFamily="34" charset="0"/>
                <a:ea typeface="Calibri" pitchFamily="34" charset="-122"/>
                <a:cs typeface="Calibri" pitchFamily="34" charset="-120"/>
              </a:rPr>
              <a:t>Clock Rate ≠ Performance alone — CPI matters just as much</a:t>
            </a:r>
            <a:endParaRPr lang="en-US" sz="1300" dirty="0"/>
          </a:p>
        </p:txBody>
      </p:sp>
      <p:sp>
        <p:nvSpPr>
          <p:cNvPr id="18" name="Shape 15"/>
          <p:cNvSpPr/>
          <p:nvPr/>
        </p:nvSpPr>
        <p:spPr>
          <a:xfrm>
            <a:off x="6126480" y="3246120"/>
            <a:ext cx="5349240" cy="1188720"/>
          </a:xfrm>
          <a:prstGeom prst="roundRect">
            <a:avLst>
              <a:gd name="adj" fmla="val 7692"/>
            </a:avLst>
          </a:prstGeom>
          <a:solidFill>
            <a:srgbClr val="E9EEF5"/>
          </a:solidFill>
          <a:ln/>
        </p:spPr>
        <p:txBody>
          <a:bodyPr/>
          <a:lstStyle/>
          <a:p>
            <a:endParaRPr/>
          </a:p>
        </p:txBody>
      </p:sp>
      <p:sp>
        <p:nvSpPr>
          <p:cNvPr id="19" name="Shape 16"/>
          <p:cNvSpPr/>
          <p:nvPr/>
        </p:nvSpPr>
        <p:spPr>
          <a:xfrm>
            <a:off x="6355080" y="3657600"/>
            <a:ext cx="365760" cy="365760"/>
          </a:xfrm>
          <a:prstGeom prst="ellipse">
            <a:avLst/>
          </a:prstGeom>
          <a:solidFill>
            <a:srgbClr val="3EA66E"/>
          </a:solidFill>
          <a:ln/>
        </p:spPr>
        <p:txBody>
          <a:bodyPr/>
          <a:lstStyle/>
          <a:p>
            <a:endParaRPr/>
          </a:p>
        </p:txBody>
      </p:sp>
      <p:sp>
        <p:nvSpPr>
          <p:cNvPr id="20" name="Text 17"/>
          <p:cNvSpPr/>
          <p:nvPr/>
        </p:nvSpPr>
        <p:spPr>
          <a:xfrm>
            <a:off x="6355080" y="3657600"/>
            <a:ext cx="365760" cy="36576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a:t>
            </a:r>
            <a:endParaRPr lang="en-US" sz="1400" dirty="0"/>
          </a:p>
        </p:txBody>
      </p:sp>
      <p:sp>
        <p:nvSpPr>
          <p:cNvPr id="21" name="Text 18"/>
          <p:cNvSpPr/>
          <p:nvPr/>
        </p:nvSpPr>
        <p:spPr>
          <a:xfrm>
            <a:off x="6903720" y="3383280"/>
            <a:ext cx="4389120" cy="914400"/>
          </a:xfrm>
          <a:prstGeom prst="rect">
            <a:avLst/>
          </a:prstGeom>
          <a:noFill/>
          <a:ln/>
        </p:spPr>
        <p:txBody>
          <a:bodyPr wrap="square" lIns="0" tIns="0" rIns="0" bIns="0" rtlCol="0" anchor="ctr"/>
          <a:lstStyle/>
          <a:p>
            <a:pPr marL="0" indent="0">
              <a:buNone/>
            </a:pPr>
            <a:r>
              <a:rPr lang="en-US" sz="1625" dirty="0">
                <a:solidFill>
                  <a:srgbClr val="16233F"/>
                </a:solidFill>
                <a:latin typeface="Calibri" pitchFamily="34" charset="0"/>
                <a:ea typeface="Calibri" pitchFamily="34" charset="-122"/>
                <a:cs typeface="Calibri" pitchFamily="34" charset="-120"/>
              </a:rPr>
              <a:t>Moore's Law hit the Power Wall around 2005</a:t>
            </a:r>
            <a:endParaRPr lang="en-US" sz="1300" dirty="0"/>
          </a:p>
        </p:txBody>
      </p:sp>
      <p:sp>
        <p:nvSpPr>
          <p:cNvPr id="22" name="Shape 19"/>
          <p:cNvSpPr/>
          <p:nvPr/>
        </p:nvSpPr>
        <p:spPr>
          <a:xfrm>
            <a:off x="502920" y="4663440"/>
            <a:ext cx="5349240" cy="1188720"/>
          </a:xfrm>
          <a:prstGeom prst="roundRect">
            <a:avLst>
              <a:gd name="adj" fmla="val 7692"/>
            </a:avLst>
          </a:prstGeom>
          <a:solidFill>
            <a:srgbClr val="E9EEF5"/>
          </a:solidFill>
          <a:ln/>
        </p:spPr>
        <p:txBody>
          <a:bodyPr/>
          <a:lstStyle/>
          <a:p>
            <a:endParaRPr/>
          </a:p>
        </p:txBody>
      </p:sp>
      <p:sp>
        <p:nvSpPr>
          <p:cNvPr id="23" name="Shape 20"/>
          <p:cNvSpPr/>
          <p:nvPr/>
        </p:nvSpPr>
        <p:spPr>
          <a:xfrm>
            <a:off x="731520" y="5074920"/>
            <a:ext cx="365760" cy="365760"/>
          </a:xfrm>
          <a:prstGeom prst="ellipse">
            <a:avLst/>
          </a:prstGeom>
          <a:solidFill>
            <a:srgbClr val="3EA66E"/>
          </a:solidFill>
          <a:ln/>
        </p:spPr>
        <p:txBody>
          <a:bodyPr/>
          <a:lstStyle/>
          <a:p>
            <a:endParaRPr/>
          </a:p>
        </p:txBody>
      </p:sp>
      <p:sp>
        <p:nvSpPr>
          <p:cNvPr id="24" name="Text 21"/>
          <p:cNvSpPr/>
          <p:nvPr/>
        </p:nvSpPr>
        <p:spPr>
          <a:xfrm>
            <a:off x="731520" y="5074920"/>
            <a:ext cx="365760" cy="36576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a:t>
            </a:r>
            <a:endParaRPr lang="en-US" sz="1400" dirty="0"/>
          </a:p>
        </p:txBody>
      </p:sp>
      <p:sp>
        <p:nvSpPr>
          <p:cNvPr id="25" name="Text 22"/>
          <p:cNvSpPr/>
          <p:nvPr/>
        </p:nvSpPr>
        <p:spPr>
          <a:xfrm>
            <a:off x="1280160" y="4800600"/>
            <a:ext cx="4389120" cy="914400"/>
          </a:xfrm>
          <a:prstGeom prst="rect">
            <a:avLst/>
          </a:prstGeom>
          <a:noFill/>
          <a:ln/>
        </p:spPr>
        <p:txBody>
          <a:bodyPr wrap="square" lIns="0" tIns="0" rIns="0" bIns="0" rtlCol="0" anchor="ctr"/>
          <a:lstStyle/>
          <a:p>
            <a:pPr marL="0" indent="0">
              <a:buNone/>
            </a:pPr>
            <a:r>
              <a:rPr lang="en-US" sz="1625" dirty="0">
                <a:solidFill>
                  <a:srgbClr val="16233F"/>
                </a:solidFill>
                <a:latin typeface="Calibri" pitchFamily="34" charset="0"/>
                <a:ea typeface="Calibri" pitchFamily="34" charset="-122"/>
                <a:cs typeface="Calibri" pitchFamily="34" charset="-120"/>
              </a:rPr>
              <a:t>Parallelism (ILP, DLP, TLP) became the new path to speed</a:t>
            </a:r>
            <a:endParaRPr lang="en-US" sz="1300" dirty="0"/>
          </a:p>
        </p:txBody>
      </p:sp>
      <p:sp>
        <p:nvSpPr>
          <p:cNvPr id="26" name="Shape 23"/>
          <p:cNvSpPr/>
          <p:nvPr/>
        </p:nvSpPr>
        <p:spPr>
          <a:xfrm>
            <a:off x="6126480" y="4663440"/>
            <a:ext cx="5349240" cy="1188720"/>
          </a:xfrm>
          <a:prstGeom prst="roundRect">
            <a:avLst>
              <a:gd name="adj" fmla="val 7692"/>
            </a:avLst>
          </a:prstGeom>
          <a:solidFill>
            <a:srgbClr val="E9EEF5"/>
          </a:solidFill>
          <a:ln/>
        </p:spPr>
        <p:txBody>
          <a:bodyPr/>
          <a:lstStyle/>
          <a:p>
            <a:endParaRPr/>
          </a:p>
        </p:txBody>
      </p:sp>
      <p:sp>
        <p:nvSpPr>
          <p:cNvPr id="27" name="Shape 24"/>
          <p:cNvSpPr/>
          <p:nvPr/>
        </p:nvSpPr>
        <p:spPr>
          <a:xfrm>
            <a:off x="6355080" y="5074920"/>
            <a:ext cx="365760" cy="365760"/>
          </a:xfrm>
          <a:prstGeom prst="ellipse">
            <a:avLst/>
          </a:prstGeom>
          <a:solidFill>
            <a:srgbClr val="3EA66E"/>
          </a:solidFill>
          <a:ln/>
        </p:spPr>
        <p:txBody>
          <a:bodyPr/>
          <a:lstStyle/>
          <a:p>
            <a:endParaRPr/>
          </a:p>
        </p:txBody>
      </p:sp>
      <p:sp>
        <p:nvSpPr>
          <p:cNvPr id="28" name="Text 25"/>
          <p:cNvSpPr/>
          <p:nvPr/>
        </p:nvSpPr>
        <p:spPr>
          <a:xfrm>
            <a:off x="6355080" y="5074920"/>
            <a:ext cx="365760" cy="36576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a:t>
            </a:r>
            <a:endParaRPr lang="en-US" sz="1400" dirty="0"/>
          </a:p>
        </p:txBody>
      </p:sp>
      <p:sp>
        <p:nvSpPr>
          <p:cNvPr id="29" name="Text 26"/>
          <p:cNvSpPr/>
          <p:nvPr/>
        </p:nvSpPr>
        <p:spPr>
          <a:xfrm>
            <a:off x="6903720" y="4800600"/>
            <a:ext cx="4389120" cy="914400"/>
          </a:xfrm>
          <a:prstGeom prst="rect">
            <a:avLst/>
          </a:prstGeom>
          <a:noFill/>
          <a:ln/>
        </p:spPr>
        <p:txBody>
          <a:bodyPr wrap="square" lIns="0" tIns="0" rIns="0" bIns="0" rtlCol="0" anchor="ctr"/>
          <a:lstStyle/>
          <a:p>
            <a:pPr marL="0" indent="0">
              <a:buNone/>
            </a:pPr>
            <a:r>
              <a:rPr lang="en-US" sz="1625" dirty="0">
                <a:solidFill>
                  <a:srgbClr val="16233F"/>
                </a:solidFill>
                <a:latin typeface="Calibri" pitchFamily="34" charset="0"/>
                <a:ea typeface="Calibri" pitchFamily="34" charset="-122"/>
                <a:cs typeface="Calibri" pitchFamily="34" charset="-120"/>
              </a:rPr>
              <a:t>Amdahl's Law: sequential portions cap maximum speedup</a:t>
            </a:r>
            <a:endParaRPr lang="en-US" sz="1300" dirty="0"/>
          </a:p>
        </p:txBody>
      </p:sp>
      <p:sp>
        <p:nvSpPr>
          <p:cNvPr id="30" name="Text 27"/>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QUIZ TIME</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Quiz — CSS2257 Performance &amp; Parallelism</a:t>
            </a:r>
            <a:endParaRPr lang="en-US" sz="3000" dirty="0"/>
          </a:p>
        </p:txBody>
      </p:sp>
      <p:sp>
        <p:nvSpPr>
          <p:cNvPr id="4" name="Shape 2"/>
          <p:cNvSpPr/>
          <p:nvPr/>
        </p:nvSpPr>
        <p:spPr>
          <a:xfrm>
            <a:off x="10954512" y="457200"/>
            <a:ext cx="868680" cy="868680"/>
          </a:xfrm>
          <a:prstGeom prst="ellipse">
            <a:avLst/>
          </a:prstGeom>
          <a:solidFill>
            <a:srgbClr val="E8A33D"/>
          </a:solidFill>
          <a:ln/>
        </p:spPr>
        <p:txBody>
          <a:bodyPr/>
          <a:lstStyle/>
          <a:p>
            <a:endParaRPr/>
          </a:p>
        </p:txBody>
      </p:sp>
      <p:pic>
        <p:nvPicPr>
          <p:cNvPr id="5" name="Image 0" descr="/home/claude/coa_ppt/icons/questionCircle_navy.png"/>
          <p:cNvPicPr>
            <a:picLocks noChangeAspect="1"/>
          </p:cNvPicPr>
          <p:nvPr/>
        </p:nvPicPr>
        <p:blipFill>
          <a:blip r:embed="rId3"/>
          <a:stretch>
            <a:fillRect/>
          </a:stretch>
        </p:blipFill>
        <p:spPr>
          <a:xfrm>
            <a:off x="11162995" y="665683"/>
            <a:ext cx="451714" cy="451714"/>
          </a:xfrm>
          <a:prstGeom prst="rect">
            <a:avLst/>
          </a:prstGeom>
        </p:spPr>
      </p:pic>
      <p:sp>
        <p:nvSpPr>
          <p:cNvPr id="6" name="Text 3"/>
          <p:cNvSpPr/>
          <p:nvPr/>
        </p:nvSpPr>
        <p:spPr>
          <a:xfrm>
            <a:off x="502920" y="1691640"/>
            <a:ext cx="5394960" cy="914400"/>
          </a:xfrm>
          <a:prstGeom prst="rect">
            <a:avLst/>
          </a:prstGeom>
          <a:noFill/>
          <a:ln/>
        </p:spPr>
        <p:txBody>
          <a:bodyPr wrap="square" lIns="0" tIns="0" rIns="0" bIns="0" rtlCol="0" anchor="t"/>
          <a:lstStyle/>
          <a:p>
            <a:pPr marL="0" indent="0">
              <a:lnSpc>
                <a:spcPct val="110000"/>
              </a:lnSpc>
              <a:buNone/>
            </a:pPr>
            <a:r>
              <a:rPr lang="en-US" sz="1687" dirty="0">
                <a:solidFill>
                  <a:srgbClr val="16233F"/>
                </a:solidFill>
                <a:latin typeface="Calibri" pitchFamily="34" charset="0"/>
                <a:ea typeface="Calibri" pitchFamily="34" charset="-122"/>
                <a:cs typeface="Calibri" pitchFamily="34" charset="-120"/>
              </a:rPr>
              <a:t>Q1. Which formula correctly represents CPU Time?</a:t>
            </a:r>
            <a:endParaRPr lang="en-US" sz="1350" dirty="0"/>
          </a:p>
        </p:txBody>
      </p:sp>
      <p:sp>
        <p:nvSpPr>
          <p:cNvPr id="7" name="Text 4"/>
          <p:cNvSpPr/>
          <p:nvPr/>
        </p:nvSpPr>
        <p:spPr>
          <a:xfrm>
            <a:off x="502920" y="2743200"/>
            <a:ext cx="5394960" cy="914400"/>
          </a:xfrm>
          <a:prstGeom prst="rect">
            <a:avLst/>
          </a:prstGeom>
          <a:noFill/>
          <a:ln/>
        </p:spPr>
        <p:txBody>
          <a:bodyPr wrap="square" lIns="0" tIns="0" rIns="0" bIns="0" rtlCol="0" anchor="t"/>
          <a:lstStyle/>
          <a:p>
            <a:pPr marL="0" indent="0">
              <a:lnSpc>
                <a:spcPct val="110000"/>
              </a:lnSpc>
              <a:buNone/>
            </a:pPr>
            <a:r>
              <a:rPr lang="en-US" sz="1687" dirty="0">
                <a:solidFill>
                  <a:srgbClr val="16233F"/>
                </a:solidFill>
                <a:latin typeface="Calibri" pitchFamily="34" charset="0"/>
                <a:ea typeface="Calibri" pitchFamily="34" charset="-122"/>
                <a:cs typeface="Calibri" pitchFamily="34" charset="-120"/>
              </a:rPr>
              <a:t>Q2. T/F: A higher clock rate is always faster than a lower one.</a:t>
            </a:r>
            <a:endParaRPr lang="en-US" sz="1350" dirty="0"/>
          </a:p>
        </p:txBody>
      </p:sp>
      <p:sp>
        <p:nvSpPr>
          <p:cNvPr id="8" name="Text 5"/>
          <p:cNvSpPr/>
          <p:nvPr/>
        </p:nvSpPr>
        <p:spPr>
          <a:xfrm>
            <a:off x="502920" y="3794760"/>
            <a:ext cx="5394960" cy="914400"/>
          </a:xfrm>
          <a:prstGeom prst="rect">
            <a:avLst/>
          </a:prstGeom>
          <a:noFill/>
          <a:ln/>
        </p:spPr>
        <p:txBody>
          <a:bodyPr wrap="square" lIns="0" tIns="0" rIns="0" bIns="0" rtlCol="0" anchor="t"/>
          <a:lstStyle/>
          <a:p>
            <a:pPr marL="0" indent="0">
              <a:lnSpc>
                <a:spcPct val="110000"/>
              </a:lnSpc>
              <a:buNone/>
            </a:pPr>
            <a:r>
              <a:rPr lang="en-US" sz="1687" dirty="0">
                <a:solidFill>
                  <a:srgbClr val="16233F"/>
                </a:solidFill>
                <a:latin typeface="Calibri" pitchFamily="34" charset="0"/>
                <a:ea typeface="Calibri" pitchFamily="34" charset="-122"/>
                <a:cs typeface="Calibri" pitchFamily="34" charset="-120"/>
              </a:rPr>
              <a:t>Q3. SIMD is an example of which type of parallelism?</a:t>
            </a:r>
            <a:endParaRPr lang="en-US" sz="1350" dirty="0"/>
          </a:p>
        </p:txBody>
      </p:sp>
      <p:sp>
        <p:nvSpPr>
          <p:cNvPr id="9" name="Text 6"/>
          <p:cNvSpPr/>
          <p:nvPr/>
        </p:nvSpPr>
        <p:spPr>
          <a:xfrm>
            <a:off x="502920" y="4846320"/>
            <a:ext cx="5394960" cy="914400"/>
          </a:xfrm>
          <a:prstGeom prst="rect">
            <a:avLst/>
          </a:prstGeom>
          <a:noFill/>
          <a:ln/>
        </p:spPr>
        <p:txBody>
          <a:bodyPr wrap="square" lIns="0" tIns="0" rIns="0" bIns="0" rtlCol="0" anchor="t"/>
          <a:lstStyle/>
          <a:p>
            <a:pPr marL="0" indent="0">
              <a:lnSpc>
                <a:spcPct val="110000"/>
              </a:lnSpc>
              <a:buNone/>
            </a:pPr>
            <a:r>
              <a:rPr lang="en-US" sz="1687" dirty="0">
                <a:solidFill>
                  <a:srgbClr val="16233F"/>
                </a:solidFill>
                <a:latin typeface="Calibri" pitchFamily="34" charset="0"/>
                <a:ea typeface="Calibri" pitchFamily="34" charset="-122"/>
                <a:cs typeface="Calibri" pitchFamily="34" charset="-120"/>
              </a:rPr>
              <a:t>Q4. What forced the shift from clock speed to parallelism?</a:t>
            </a:r>
            <a:endParaRPr lang="en-US" sz="1350" dirty="0"/>
          </a:p>
        </p:txBody>
      </p:sp>
      <p:sp>
        <p:nvSpPr>
          <p:cNvPr id="10" name="Text 7"/>
          <p:cNvSpPr/>
          <p:nvPr/>
        </p:nvSpPr>
        <p:spPr>
          <a:xfrm>
            <a:off x="6172200" y="1691640"/>
            <a:ext cx="5394960" cy="914400"/>
          </a:xfrm>
          <a:prstGeom prst="rect">
            <a:avLst/>
          </a:prstGeom>
          <a:noFill/>
          <a:ln/>
        </p:spPr>
        <p:txBody>
          <a:bodyPr wrap="square" lIns="0" tIns="0" rIns="0" bIns="0" rtlCol="0" anchor="t"/>
          <a:lstStyle/>
          <a:p>
            <a:pPr marL="0" indent="0">
              <a:lnSpc>
                <a:spcPct val="110000"/>
              </a:lnSpc>
              <a:buNone/>
            </a:pPr>
            <a:r>
              <a:rPr lang="en-US" sz="1687" dirty="0">
                <a:solidFill>
                  <a:srgbClr val="16233F"/>
                </a:solidFill>
                <a:latin typeface="Calibri" pitchFamily="34" charset="0"/>
                <a:ea typeface="Calibri" pitchFamily="34" charset="-122"/>
                <a:cs typeface="Calibri" pitchFamily="34" charset="-120"/>
              </a:rPr>
              <a:t>Q5. What limits max speedup in Amdahl's Law?</a:t>
            </a:r>
            <a:endParaRPr lang="en-US" sz="1350" dirty="0"/>
          </a:p>
        </p:txBody>
      </p:sp>
      <p:sp>
        <p:nvSpPr>
          <p:cNvPr id="11" name="Text 8"/>
          <p:cNvSpPr/>
          <p:nvPr/>
        </p:nvSpPr>
        <p:spPr>
          <a:xfrm>
            <a:off x="6172200" y="2743200"/>
            <a:ext cx="5394960" cy="914400"/>
          </a:xfrm>
          <a:prstGeom prst="rect">
            <a:avLst/>
          </a:prstGeom>
          <a:noFill/>
          <a:ln/>
        </p:spPr>
        <p:txBody>
          <a:bodyPr wrap="square" lIns="0" tIns="0" rIns="0" bIns="0" rtlCol="0" anchor="t"/>
          <a:lstStyle/>
          <a:p>
            <a:pPr marL="0" indent="0">
              <a:lnSpc>
                <a:spcPct val="110000"/>
              </a:lnSpc>
              <a:buNone/>
            </a:pPr>
            <a:r>
              <a:rPr lang="en-US" sz="1687" dirty="0">
                <a:solidFill>
                  <a:srgbClr val="16233F"/>
                </a:solidFill>
                <a:latin typeface="Calibri" pitchFamily="34" charset="0"/>
                <a:ea typeface="Calibri" pitchFamily="34" charset="-122"/>
                <a:cs typeface="Calibri" pitchFamily="34" charset="-120"/>
              </a:rPr>
              <a:t>Q6. T/F: Pipelining overlaps instructions across stages.</a:t>
            </a:r>
            <a:endParaRPr lang="en-US" sz="1350" dirty="0"/>
          </a:p>
        </p:txBody>
      </p:sp>
      <p:sp>
        <p:nvSpPr>
          <p:cNvPr id="12" name="Text 9"/>
          <p:cNvSpPr/>
          <p:nvPr/>
        </p:nvSpPr>
        <p:spPr>
          <a:xfrm>
            <a:off x="6172200" y="3794760"/>
            <a:ext cx="5394960" cy="914400"/>
          </a:xfrm>
          <a:prstGeom prst="rect">
            <a:avLst/>
          </a:prstGeom>
          <a:noFill/>
          <a:ln/>
        </p:spPr>
        <p:txBody>
          <a:bodyPr wrap="square" lIns="0" tIns="0" rIns="0" bIns="0" rtlCol="0" anchor="t"/>
          <a:lstStyle/>
          <a:p>
            <a:pPr marL="0" indent="0">
              <a:lnSpc>
                <a:spcPct val="110000"/>
              </a:lnSpc>
              <a:buNone/>
            </a:pPr>
            <a:r>
              <a:rPr lang="en-US" sz="1687" dirty="0">
                <a:solidFill>
                  <a:srgbClr val="16233F"/>
                </a:solidFill>
                <a:latin typeface="Calibri" pitchFamily="34" charset="0"/>
                <a:ea typeface="Calibri" pitchFamily="34" charset="-122"/>
                <a:cs typeface="Calibri" pitchFamily="34" charset="-120"/>
              </a:rPr>
              <a:t>Q7. Name the three types of parallelism discussed today.</a:t>
            </a:r>
            <a:endParaRPr lang="en-US" sz="1350" dirty="0"/>
          </a:p>
        </p:txBody>
      </p:sp>
      <p:sp>
        <p:nvSpPr>
          <p:cNvPr id="13" name="Text 10"/>
          <p:cNvSpPr/>
          <p:nvPr/>
        </p:nvSpPr>
        <p:spPr>
          <a:xfrm>
            <a:off x="502920" y="6172200"/>
            <a:ext cx="10972800" cy="320040"/>
          </a:xfrm>
          <a:prstGeom prst="rect">
            <a:avLst/>
          </a:prstGeom>
          <a:noFill/>
          <a:ln/>
        </p:spPr>
        <p:txBody>
          <a:bodyPr wrap="square" lIns="0" tIns="0" rIns="0" bIns="0" rtlCol="0" anchor="ctr"/>
          <a:lstStyle/>
          <a:p>
            <a:pPr marL="0" indent="0">
              <a:buNone/>
            </a:pPr>
            <a:r>
              <a:rPr lang="en-US" sz="1437" i="1" dirty="0">
                <a:solidFill>
                  <a:srgbClr val="6B7A90"/>
                </a:solidFill>
                <a:latin typeface="Calibri" pitchFamily="34" charset="0"/>
                <a:ea typeface="Calibri" pitchFamily="34" charset="-122"/>
                <a:cs typeface="Calibri" pitchFamily="34" charset="-120"/>
              </a:rPr>
              <a:t>4 minutes  ·  Individually or with a neighbor  ·  Not for grading</a:t>
            </a:r>
            <a:endParaRPr lang="en-US" sz="1150" dirty="0"/>
          </a:p>
        </p:txBody>
      </p:sp>
      <p:sp>
        <p:nvSpPr>
          <p:cNvPr id="14" name="Text 11"/>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6B7A90"/>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02920" y="384048"/>
            <a:ext cx="8961120" cy="274320"/>
          </a:xfrm>
          <a:prstGeom prst="rect">
            <a:avLst/>
          </a:prstGeom>
          <a:noFill/>
          <a:ln/>
        </p:spPr>
        <p:txBody>
          <a:bodyPr wrap="square" lIns="0" tIns="0" rIns="0" bIns="0" rtlCol="0" anchor="ctr"/>
          <a:lstStyle/>
          <a:p>
            <a:pPr marL="0" indent="0">
              <a:buNone/>
            </a:pPr>
            <a:r>
              <a:rPr lang="en-US" sz="1625" b="1" kern="0" spc="200" dirty="0">
                <a:solidFill>
                  <a:srgbClr val="3B5A77"/>
                </a:solidFill>
                <a:latin typeface="Calibri" pitchFamily="34" charset="0"/>
                <a:ea typeface="Calibri" pitchFamily="34" charset="-122"/>
                <a:cs typeface="Calibri" pitchFamily="34" charset="-120"/>
              </a:rPr>
              <a:t>QUIZ TIME</a:t>
            </a:r>
            <a:endParaRPr lang="en-US" sz="1300" dirty="0"/>
          </a:p>
        </p:txBody>
      </p:sp>
      <p:sp>
        <p:nvSpPr>
          <p:cNvPr id="3" name="Text 1"/>
          <p:cNvSpPr/>
          <p:nvPr/>
        </p:nvSpPr>
        <p:spPr>
          <a:xfrm>
            <a:off x="502920" y="658368"/>
            <a:ext cx="8961120" cy="777240"/>
          </a:xfrm>
          <a:prstGeom prst="rect">
            <a:avLst/>
          </a:prstGeom>
          <a:noFill/>
          <a:ln/>
        </p:spPr>
        <p:txBody>
          <a:bodyPr wrap="square" lIns="0" tIns="0" rIns="0" bIns="0" rtlCol="0" anchor="t"/>
          <a:lstStyle/>
          <a:p>
            <a:pPr marL="0" indent="0">
              <a:buNone/>
            </a:pPr>
            <a:r>
              <a:rPr lang="en-US" sz="3750" b="1" dirty="0">
                <a:solidFill>
                  <a:srgbClr val="16233F"/>
                </a:solidFill>
                <a:latin typeface="Cambria" pitchFamily="34" charset="0"/>
                <a:ea typeface="Cambria" pitchFamily="34" charset="-122"/>
                <a:cs typeface="Cambria" pitchFamily="34" charset="-120"/>
              </a:rPr>
              <a:t>Quiz Answers</a:t>
            </a:r>
            <a:endParaRPr lang="en-US" sz="3000" dirty="0"/>
          </a:p>
        </p:txBody>
      </p:sp>
      <p:sp>
        <p:nvSpPr>
          <p:cNvPr id="4" name="Text 2"/>
          <p:cNvSpPr/>
          <p:nvPr/>
        </p:nvSpPr>
        <p:spPr>
          <a:xfrm>
            <a:off x="502920" y="384048"/>
            <a:ext cx="8229600" cy="274320"/>
          </a:xfrm>
          <a:prstGeom prst="rect">
            <a:avLst/>
          </a:prstGeom>
          <a:noFill/>
          <a:ln/>
        </p:spPr>
        <p:txBody>
          <a:bodyPr wrap="square" lIns="0" tIns="0" rIns="0" bIns="0" rtlCol="0" anchor="ctr"/>
          <a:lstStyle/>
          <a:p>
            <a:pPr marL="0" indent="0">
              <a:buNone/>
            </a:pPr>
            <a:r>
              <a:rPr lang="en-US" sz="1625" b="1" kern="0" spc="200" dirty="0">
                <a:solidFill>
                  <a:srgbClr val="2FD1C6"/>
                </a:solidFill>
                <a:latin typeface="Calibri" pitchFamily="34" charset="0"/>
                <a:ea typeface="Calibri" pitchFamily="34" charset="-122"/>
                <a:cs typeface="Calibri" pitchFamily="34" charset="-120"/>
              </a:rPr>
              <a:t>QUIZ TIME</a:t>
            </a:r>
            <a:endParaRPr lang="en-US" sz="1300" dirty="0"/>
          </a:p>
        </p:txBody>
      </p:sp>
      <p:sp>
        <p:nvSpPr>
          <p:cNvPr id="5" name="Text 3"/>
          <p:cNvSpPr/>
          <p:nvPr/>
        </p:nvSpPr>
        <p:spPr>
          <a:xfrm>
            <a:off x="502920" y="658368"/>
            <a:ext cx="8229600" cy="640080"/>
          </a:xfrm>
          <a:prstGeom prst="rect">
            <a:avLst/>
          </a:prstGeom>
          <a:noFill/>
          <a:ln/>
        </p:spPr>
        <p:txBody>
          <a:bodyPr wrap="square" lIns="0" tIns="0" rIns="0" bIns="0" rtlCol="0" anchor="ctr"/>
          <a:lstStyle/>
          <a:p>
            <a:pPr marL="0" indent="0">
              <a:buNone/>
            </a:pPr>
            <a:r>
              <a:rPr lang="en-US" sz="3750" b="1" dirty="0">
                <a:solidFill>
                  <a:srgbClr val="FFFFFF"/>
                </a:solidFill>
                <a:latin typeface="Cambria" pitchFamily="34" charset="0"/>
                <a:ea typeface="Cambria" pitchFamily="34" charset="-122"/>
                <a:cs typeface="Cambria" pitchFamily="34" charset="-120"/>
              </a:rPr>
              <a:t>Quiz Answers</a:t>
            </a:r>
            <a:endParaRPr lang="en-US" sz="3000" dirty="0"/>
          </a:p>
        </p:txBody>
      </p:sp>
      <p:sp>
        <p:nvSpPr>
          <p:cNvPr id="6" name="Shape 4"/>
          <p:cNvSpPr/>
          <p:nvPr/>
        </p:nvSpPr>
        <p:spPr>
          <a:xfrm>
            <a:off x="10954512" y="457200"/>
            <a:ext cx="868680" cy="868680"/>
          </a:xfrm>
          <a:prstGeom prst="ellipse">
            <a:avLst/>
          </a:prstGeom>
          <a:solidFill>
            <a:srgbClr val="3EA66E"/>
          </a:solidFill>
          <a:ln/>
        </p:spPr>
        <p:txBody>
          <a:bodyPr/>
          <a:lstStyle/>
          <a:p>
            <a:endParaRPr/>
          </a:p>
        </p:txBody>
      </p:sp>
      <p:pic>
        <p:nvPicPr>
          <p:cNvPr id="7" name="Image 0" descr="/home/claude/coa_ppt/icons/checkCircle_white.png"/>
          <p:cNvPicPr>
            <a:picLocks noChangeAspect="1"/>
          </p:cNvPicPr>
          <p:nvPr/>
        </p:nvPicPr>
        <p:blipFill>
          <a:blip r:embed="rId3"/>
          <a:stretch>
            <a:fillRect/>
          </a:stretch>
        </p:blipFill>
        <p:spPr>
          <a:xfrm>
            <a:off x="11162995" y="665683"/>
            <a:ext cx="451714" cy="451714"/>
          </a:xfrm>
          <a:prstGeom prst="rect">
            <a:avLst/>
          </a:prstGeom>
        </p:spPr>
      </p:pic>
      <p:sp>
        <p:nvSpPr>
          <p:cNvPr id="8" name="Text 5"/>
          <p:cNvSpPr/>
          <p:nvPr/>
        </p:nvSpPr>
        <p:spPr>
          <a:xfrm>
            <a:off x="502920" y="1737360"/>
            <a:ext cx="5394960" cy="914400"/>
          </a:xfrm>
          <a:prstGeom prst="rect">
            <a:avLst/>
          </a:prstGeom>
          <a:noFill/>
          <a:ln/>
        </p:spPr>
        <p:txBody>
          <a:bodyPr wrap="square" lIns="0" tIns="0" rIns="0" bIns="0" rtlCol="0" anchor="t"/>
          <a:lstStyle/>
          <a:p>
            <a:pPr marL="0" indent="0">
              <a:lnSpc>
                <a:spcPct val="110000"/>
              </a:lnSpc>
              <a:buNone/>
            </a:pPr>
            <a:r>
              <a:rPr lang="en-US" sz="1625" dirty="0">
                <a:solidFill>
                  <a:srgbClr val="D7E1EE"/>
                </a:solidFill>
                <a:latin typeface="Calibri" pitchFamily="34" charset="0"/>
                <a:ea typeface="Calibri" pitchFamily="34" charset="-122"/>
                <a:cs typeface="Calibri" pitchFamily="34" charset="-120"/>
              </a:rPr>
              <a:t>A1: (b) IC × CPI × Clock Cycle Time</a:t>
            </a:r>
            <a:endParaRPr lang="en-US" sz="1300" dirty="0"/>
          </a:p>
        </p:txBody>
      </p:sp>
      <p:sp>
        <p:nvSpPr>
          <p:cNvPr id="9" name="Text 6"/>
          <p:cNvSpPr/>
          <p:nvPr/>
        </p:nvSpPr>
        <p:spPr>
          <a:xfrm>
            <a:off x="502920" y="2788920"/>
            <a:ext cx="5394960" cy="914400"/>
          </a:xfrm>
          <a:prstGeom prst="rect">
            <a:avLst/>
          </a:prstGeom>
          <a:noFill/>
          <a:ln/>
        </p:spPr>
        <p:txBody>
          <a:bodyPr wrap="square" lIns="0" tIns="0" rIns="0" bIns="0" rtlCol="0" anchor="t"/>
          <a:lstStyle/>
          <a:p>
            <a:pPr marL="0" indent="0">
              <a:lnSpc>
                <a:spcPct val="110000"/>
              </a:lnSpc>
              <a:buNone/>
            </a:pPr>
            <a:r>
              <a:rPr lang="en-US" sz="1625" dirty="0">
                <a:solidFill>
                  <a:srgbClr val="D7E1EE"/>
                </a:solidFill>
                <a:latin typeface="Calibri" pitchFamily="34" charset="0"/>
                <a:ea typeface="Calibri" pitchFamily="34" charset="-122"/>
                <a:cs typeface="Calibri" pitchFamily="34" charset="-120"/>
              </a:rPr>
              <a:t>A2: False — CPI also determines actual performance</a:t>
            </a:r>
            <a:endParaRPr lang="en-US" sz="1300" dirty="0"/>
          </a:p>
        </p:txBody>
      </p:sp>
      <p:sp>
        <p:nvSpPr>
          <p:cNvPr id="10" name="Text 7"/>
          <p:cNvSpPr/>
          <p:nvPr/>
        </p:nvSpPr>
        <p:spPr>
          <a:xfrm>
            <a:off x="502920" y="3840480"/>
            <a:ext cx="5394960" cy="914400"/>
          </a:xfrm>
          <a:prstGeom prst="rect">
            <a:avLst/>
          </a:prstGeom>
          <a:noFill/>
          <a:ln/>
        </p:spPr>
        <p:txBody>
          <a:bodyPr wrap="square" lIns="0" tIns="0" rIns="0" bIns="0" rtlCol="0" anchor="t"/>
          <a:lstStyle/>
          <a:p>
            <a:pPr marL="0" indent="0">
              <a:lnSpc>
                <a:spcPct val="110000"/>
              </a:lnSpc>
              <a:buNone/>
            </a:pPr>
            <a:r>
              <a:rPr lang="en-US" sz="1625" dirty="0">
                <a:solidFill>
                  <a:srgbClr val="D7E1EE"/>
                </a:solidFill>
                <a:latin typeface="Calibri" pitchFamily="34" charset="0"/>
                <a:ea typeface="Calibri" pitchFamily="34" charset="-122"/>
                <a:cs typeface="Calibri" pitchFamily="34" charset="-120"/>
              </a:rPr>
              <a:t>A3: (c) Data-Level Parallelism</a:t>
            </a:r>
            <a:endParaRPr lang="en-US" sz="1300" dirty="0"/>
          </a:p>
        </p:txBody>
      </p:sp>
      <p:sp>
        <p:nvSpPr>
          <p:cNvPr id="11" name="Text 8"/>
          <p:cNvSpPr/>
          <p:nvPr/>
        </p:nvSpPr>
        <p:spPr>
          <a:xfrm>
            <a:off x="502920" y="4892040"/>
            <a:ext cx="5394960" cy="914400"/>
          </a:xfrm>
          <a:prstGeom prst="rect">
            <a:avLst/>
          </a:prstGeom>
          <a:noFill/>
          <a:ln/>
        </p:spPr>
        <p:txBody>
          <a:bodyPr wrap="square" lIns="0" tIns="0" rIns="0" bIns="0" rtlCol="0" anchor="t"/>
          <a:lstStyle/>
          <a:p>
            <a:pPr marL="0" indent="0">
              <a:lnSpc>
                <a:spcPct val="110000"/>
              </a:lnSpc>
              <a:buNone/>
            </a:pPr>
            <a:r>
              <a:rPr lang="en-US" sz="1625" dirty="0">
                <a:solidFill>
                  <a:srgbClr val="D7E1EE"/>
                </a:solidFill>
                <a:latin typeface="Calibri" pitchFamily="34" charset="0"/>
                <a:ea typeface="Calibri" pitchFamily="34" charset="-122"/>
                <a:cs typeface="Calibri" pitchFamily="34" charset="-120"/>
              </a:rPr>
              <a:t>A4: The Power Wall — rising power &amp; heat at higher clock speeds</a:t>
            </a:r>
            <a:endParaRPr lang="en-US" sz="1300" dirty="0"/>
          </a:p>
        </p:txBody>
      </p:sp>
      <p:sp>
        <p:nvSpPr>
          <p:cNvPr id="12" name="Text 9"/>
          <p:cNvSpPr/>
          <p:nvPr/>
        </p:nvSpPr>
        <p:spPr>
          <a:xfrm>
            <a:off x="6172200" y="1737360"/>
            <a:ext cx="5394960" cy="914400"/>
          </a:xfrm>
          <a:prstGeom prst="rect">
            <a:avLst/>
          </a:prstGeom>
          <a:noFill/>
          <a:ln/>
        </p:spPr>
        <p:txBody>
          <a:bodyPr wrap="square" lIns="0" tIns="0" rIns="0" bIns="0" rtlCol="0" anchor="t"/>
          <a:lstStyle/>
          <a:p>
            <a:pPr marL="0" indent="0">
              <a:lnSpc>
                <a:spcPct val="110000"/>
              </a:lnSpc>
              <a:buNone/>
            </a:pPr>
            <a:r>
              <a:rPr lang="en-US" sz="1625" dirty="0">
                <a:solidFill>
                  <a:srgbClr val="D7E1EE"/>
                </a:solidFill>
                <a:latin typeface="Calibri" pitchFamily="34" charset="0"/>
                <a:ea typeface="Calibri" pitchFamily="34" charset="-122"/>
                <a:cs typeface="Calibri" pitchFamily="34" charset="-120"/>
              </a:rPr>
              <a:t>A5: (c) The sequential fraction of the task</a:t>
            </a:r>
            <a:endParaRPr lang="en-US" sz="1300" dirty="0"/>
          </a:p>
        </p:txBody>
      </p:sp>
      <p:sp>
        <p:nvSpPr>
          <p:cNvPr id="13" name="Text 10"/>
          <p:cNvSpPr/>
          <p:nvPr/>
        </p:nvSpPr>
        <p:spPr>
          <a:xfrm>
            <a:off x="6172200" y="2788920"/>
            <a:ext cx="5394960" cy="914400"/>
          </a:xfrm>
          <a:prstGeom prst="rect">
            <a:avLst/>
          </a:prstGeom>
          <a:noFill/>
          <a:ln/>
        </p:spPr>
        <p:txBody>
          <a:bodyPr wrap="square" lIns="0" tIns="0" rIns="0" bIns="0" rtlCol="0" anchor="t"/>
          <a:lstStyle/>
          <a:p>
            <a:pPr marL="0" indent="0">
              <a:lnSpc>
                <a:spcPct val="110000"/>
              </a:lnSpc>
              <a:buNone/>
            </a:pPr>
            <a:r>
              <a:rPr lang="en-US" sz="1625" dirty="0">
                <a:solidFill>
                  <a:srgbClr val="D7E1EE"/>
                </a:solidFill>
                <a:latin typeface="Calibri" pitchFamily="34" charset="0"/>
                <a:ea typeface="Calibri" pitchFamily="34" charset="-122"/>
                <a:cs typeface="Calibri" pitchFamily="34" charset="-120"/>
              </a:rPr>
              <a:t>A6: True — the core idea of pipelining</a:t>
            </a:r>
            <a:endParaRPr lang="en-US" sz="1300" dirty="0"/>
          </a:p>
        </p:txBody>
      </p:sp>
      <p:sp>
        <p:nvSpPr>
          <p:cNvPr id="14" name="Text 11"/>
          <p:cNvSpPr/>
          <p:nvPr/>
        </p:nvSpPr>
        <p:spPr>
          <a:xfrm>
            <a:off x="6172200" y="3840480"/>
            <a:ext cx="5394960" cy="914400"/>
          </a:xfrm>
          <a:prstGeom prst="rect">
            <a:avLst/>
          </a:prstGeom>
          <a:noFill/>
          <a:ln/>
        </p:spPr>
        <p:txBody>
          <a:bodyPr wrap="square" lIns="0" tIns="0" rIns="0" bIns="0" rtlCol="0" anchor="t"/>
          <a:lstStyle/>
          <a:p>
            <a:pPr marL="0" indent="0">
              <a:lnSpc>
                <a:spcPct val="110000"/>
              </a:lnSpc>
              <a:buNone/>
            </a:pPr>
            <a:r>
              <a:rPr lang="en-US" sz="1625" dirty="0">
                <a:solidFill>
                  <a:srgbClr val="D7E1EE"/>
                </a:solidFill>
                <a:latin typeface="Calibri" pitchFamily="34" charset="0"/>
                <a:ea typeface="Calibri" pitchFamily="34" charset="-122"/>
                <a:cs typeface="Calibri" pitchFamily="34" charset="-120"/>
              </a:rPr>
              <a:t>A7: ILP, DLP, and TLP</a:t>
            </a:r>
            <a:endParaRPr lang="en-US" sz="1300" dirty="0"/>
          </a:p>
        </p:txBody>
      </p:sp>
      <p:sp>
        <p:nvSpPr>
          <p:cNvPr id="15" name="Text 12"/>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9FB3CC"/>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16233F"/>
        </a:solidFill>
        <a:effectLst/>
      </p:bgPr>
    </p:bg>
    <p:spTree>
      <p:nvGrpSpPr>
        <p:cNvPr id="1" name=""/>
        <p:cNvGrpSpPr/>
        <p:nvPr/>
      </p:nvGrpSpPr>
      <p:grpSpPr>
        <a:xfrm>
          <a:off x="0" y="0"/>
          <a:ext cx="0" cy="0"/>
          <a:chOff x="0" y="0"/>
          <a:chExt cx="0" cy="0"/>
        </a:xfrm>
      </p:grpSpPr>
      <p:sp>
        <p:nvSpPr>
          <p:cNvPr id="2" name="Shape 0"/>
          <p:cNvSpPr/>
          <p:nvPr/>
        </p:nvSpPr>
        <p:spPr>
          <a:xfrm>
            <a:off x="9601200" y="-1188720"/>
            <a:ext cx="4114800" cy="4114800"/>
          </a:xfrm>
          <a:prstGeom prst="ellipse">
            <a:avLst/>
          </a:prstGeom>
          <a:solidFill>
            <a:srgbClr val="3B5A77">
              <a:alpha val="30000"/>
            </a:srgbClr>
          </a:solidFill>
          <a:ln/>
        </p:spPr>
        <p:txBody>
          <a:bodyPr/>
          <a:lstStyle/>
          <a:p>
            <a:endParaRPr/>
          </a:p>
        </p:txBody>
      </p:sp>
      <p:sp>
        <p:nvSpPr>
          <p:cNvPr id="3" name="Shape 1"/>
          <p:cNvSpPr/>
          <p:nvPr/>
        </p:nvSpPr>
        <p:spPr>
          <a:xfrm>
            <a:off x="5637276" y="731520"/>
            <a:ext cx="914400" cy="914400"/>
          </a:xfrm>
          <a:prstGeom prst="ellipse">
            <a:avLst/>
          </a:prstGeom>
          <a:solidFill>
            <a:srgbClr val="2FD1C6"/>
          </a:solidFill>
          <a:ln/>
        </p:spPr>
        <p:txBody>
          <a:bodyPr/>
          <a:lstStyle/>
          <a:p>
            <a:endParaRPr/>
          </a:p>
        </p:txBody>
      </p:sp>
      <p:pic>
        <p:nvPicPr>
          <p:cNvPr id="4" name="Image 0" descr="/home/claude/coa_ppt/icons/book_navy.png"/>
          <p:cNvPicPr>
            <a:picLocks noChangeAspect="1"/>
          </p:cNvPicPr>
          <p:nvPr/>
        </p:nvPicPr>
        <p:blipFill>
          <a:blip r:embed="rId3"/>
          <a:stretch>
            <a:fillRect/>
          </a:stretch>
        </p:blipFill>
        <p:spPr>
          <a:xfrm>
            <a:off x="5856732" y="950976"/>
            <a:ext cx="475488" cy="475488"/>
          </a:xfrm>
          <a:prstGeom prst="rect">
            <a:avLst/>
          </a:prstGeom>
        </p:spPr>
      </p:pic>
      <p:sp>
        <p:nvSpPr>
          <p:cNvPr id="5" name="Text 2"/>
          <p:cNvSpPr/>
          <p:nvPr/>
        </p:nvSpPr>
        <p:spPr>
          <a:xfrm>
            <a:off x="0" y="1874520"/>
            <a:ext cx="12188952" cy="548640"/>
          </a:xfrm>
          <a:prstGeom prst="rect">
            <a:avLst/>
          </a:prstGeom>
          <a:noFill/>
          <a:ln/>
        </p:spPr>
        <p:txBody>
          <a:bodyPr wrap="square" lIns="0" tIns="0" rIns="0" bIns="0" rtlCol="0" anchor="ctr"/>
          <a:lstStyle/>
          <a:p>
            <a:pPr marL="0" indent="0" algn="ctr">
              <a:buNone/>
            </a:pPr>
            <a:r>
              <a:rPr lang="en-US" sz="3500" b="1" dirty="0">
                <a:solidFill>
                  <a:srgbClr val="FFFFFF"/>
                </a:solidFill>
                <a:latin typeface="Cambria" pitchFamily="34" charset="0"/>
                <a:ea typeface="Cambria" pitchFamily="34" charset="-122"/>
                <a:cs typeface="Cambria" pitchFamily="34" charset="-120"/>
              </a:rPr>
              <a:t>Further Reading &amp; What's Next</a:t>
            </a:r>
            <a:endParaRPr lang="en-US" sz="2800" dirty="0"/>
          </a:p>
        </p:txBody>
      </p:sp>
      <p:sp>
        <p:nvSpPr>
          <p:cNvPr id="6" name="Text 3"/>
          <p:cNvSpPr/>
          <p:nvPr/>
        </p:nvSpPr>
        <p:spPr>
          <a:xfrm>
            <a:off x="1463040" y="2697480"/>
            <a:ext cx="9235440" cy="457200"/>
          </a:xfrm>
          <a:prstGeom prst="rect">
            <a:avLst/>
          </a:prstGeom>
          <a:noFill/>
          <a:ln/>
        </p:spPr>
        <p:txBody>
          <a:bodyPr wrap="square" lIns="0" tIns="0" rIns="0" bIns="0" rtlCol="0" anchor="ctr"/>
          <a:lstStyle/>
          <a:p>
            <a:pPr marL="0" indent="0">
              <a:buNone/>
            </a:pPr>
            <a:r>
              <a:rPr lang="en-US" sz="1875" dirty="0">
                <a:solidFill>
                  <a:srgbClr val="D7E1EE"/>
                </a:solidFill>
                <a:latin typeface="Calibri" pitchFamily="34" charset="0"/>
                <a:ea typeface="Calibri" pitchFamily="34" charset="-122"/>
                <a:cs typeface="Calibri" pitchFamily="34" charset="-120"/>
              </a:rPr>
              <a:t>•  Reading: Hennessy &amp; Patterson, “Computer Organization and Design” — Performance chapter</a:t>
            </a:r>
            <a:endParaRPr lang="en-US" sz="1500" dirty="0"/>
          </a:p>
        </p:txBody>
      </p:sp>
      <p:sp>
        <p:nvSpPr>
          <p:cNvPr id="7" name="Text 4"/>
          <p:cNvSpPr/>
          <p:nvPr/>
        </p:nvSpPr>
        <p:spPr>
          <a:xfrm>
            <a:off x="1463040" y="3200400"/>
            <a:ext cx="9235440" cy="457200"/>
          </a:xfrm>
          <a:prstGeom prst="rect">
            <a:avLst/>
          </a:prstGeom>
          <a:noFill/>
          <a:ln/>
        </p:spPr>
        <p:txBody>
          <a:bodyPr wrap="square" lIns="0" tIns="0" rIns="0" bIns="0" rtlCol="0" anchor="ctr"/>
          <a:lstStyle/>
          <a:p>
            <a:pPr marL="0" indent="0">
              <a:buNone/>
            </a:pPr>
            <a:r>
              <a:rPr lang="en-US" sz="1875" dirty="0">
                <a:solidFill>
                  <a:srgbClr val="D7E1EE"/>
                </a:solidFill>
                <a:latin typeface="Calibri" pitchFamily="34" charset="0"/>
                <a:ea typeface="Calibri" pitchFamily="34" charset="-122"/>
                <a:cs typeface="Calibri" pitchFamily="34" charset="-120"/>
              </a:rPr>
              <a:t>•  Assignment: 3 CPU performance equation problems (posted on LMS)</a:t>
            </a:r>
            <a:endParaRPr lang="en-US" sz="1500" dirty="0"/>
          </a:p>
        </p:txBody>
      </p:sp>
      <p:sp>
        <p:nvSpPr>
          <p:cNvPr id="8" name="Text 5"/>
          <p:cNvSpPr/>
          <p:nvPr/>
        </p:nvSpPr>
        <p:spPr>
          <a:xfrm>
            <a:off x="1463040" y="3703320"/>
            <a:ext cx="9235440" cy="457200"/>
          </a:xfrm>
          <a:prstGeom prst="rect">
            <a:avLst/>
          </a:prstGeom>
          <a:noFill/>
          <a:ln/>
        </p:spPr>
        <p:txBody>
          <a:bodyPr wrap="square" lIns="0" tIns="0" rIns="0" bIns="0" rtlCol="0" anchor="ctr"/>
          <a:lstStyle/>
          <a:p>
            <a:pPr marL="0" indent="0">
              <a:buNone/>
            </a:pPr>
            <a:r>
              <a:rPr lang="en-US" sz="1875" dirty="0">
                <a:solidFill>
                  <a:srgbClr val="D7E1EE"/>
                </a:solidFill>
                <a:latin typeface="Calibri" pitchFamily="34" charset="0"/>
                <a:ea typeface="Calibri" pitchFamily="34" charset="-122"/>
                <a:cs typeface="Calibri" pitchFamily="34" charset="-120"/>
              </a:rPr>
              <a:t>•  Next lecture: Instruction Set Architecture (ISA)</a:t>
            </a:r>
            <a:endParaRPr lang="en-US" sz="1500" dirty="0"/>
          </a:p>
        </p:txBody>
      </p:sp>
      <p:sp>
        <p:nvSpPr>
          <p:cNvPr id="9" name="Text 6"/>
          <p:cNvSpPr/>
          <p:nvPr/>
        </p:nvSpPr>
        <p:spPr>
          <a:xfrm>
            <a:off x="1463040" y="4206240"/>
            <a:ext cx="9235440" cy="457200"/>
          </a:xfrm>
          <a:prstGeom prst="rect">
            <a:avLst/>
          </a:prstGeom>
          <a:noFill/>
          <a:ln/>
        </p:spPr>
        <p:txBody>
          <a:bodyPr wrap="square" lIns="0" tIns="0" rIns="0" bIns="0" rtlCol="0" anchor="ctr"/>
          <a:lstStyle/>
          <a:p>
            <a:pPr marL="0" indent="0">
              <a:buNone/>
            </a:pPr>
            <a:r>
              <a:rPr lang="en-US" sz="1875" dirty="0">
                <a:solidFill>
                  <a:srgbClr val="D7E1EE"/>
                </a:solidFill>
                <a:latin typeface="Calibri" pitchFamily="34" charset="0"/>
                <a:ea typeface="Calibri" pitchFamily="34" charset="-122"/>
                <a:cs typeface="Calibri" pitchFamily="34" charset="-120"/>
              </a:rPr>
              <a:t>•  Office hours: [Insert faculty office hours / contact]</a:t>
            </a:r>
            <a:endParaRPr lang="en-US" sz="1500" dirty="0"/>
          </a:p>
        </p:txBody>
      </p:sp>
      <p:sp>
        <p:nvSpPr>
          <p:cNvPr id="10" name="Text 7"/>
          <p:cNvSpPr/>
          <p:nvPr/>
        </p:nvSpPr>
        <p:spPr>
          <a:xfrm>
            <a:off x="0" y="5120640"/>
            <a:ext cx="12188952" cy="457200"/>
          </a:xfrm>
          <a:prstGeom prst="rect">
            <a:avLst/>
          </a:prstGeom>
          <a:noFill/>
          <a:ln/>
        </p:spPr>
        <p:txBody>
          <a:bodyPr wrap="square" lIns="0" tIns="0" rIns="0" bIns="0" rtlCol="0" anchor="ctr"/>
          <a:lstStyle/>
          <a:p>
            <a:pPr marL="0" indent="0" algn="ctr">
              <a:buNone/>
            </a:pPr>
            <a:r>
              <a:rPr lang="en-US" sz="2250" b="1" i="1" dirty="0">
                <a:solidFill>
                  <a:srgbClr val="2FD1C6"/>
                </a:solidFill>
                <a:latin typeface="Cambria" pitchFamily="34" charset="0"/>
                <a:ea typeface="Cambria" pitchFamily="34" charset="-122"/>
                <a:cs typeface="Cambria" pitchFamily="34" charset="-120"/>
              </a:rPr>
              <a:t>Thank you! See you next class.</a:t>
            </a:r>
            <a:endParaRPr lang="en-US" sz="1800" dirty="0"/>
          </a:p>
        </p:txBody>
      </p:sp>
      <p:sp>
        <p:nvSpPr>
          <p:cNvPr id="11" name="Text 8"/>
          <p:cNvSpPr/>
          <p:nvPr/>
        </p:nvSpPr>
        <p:spPr>
          <a:xfrm>
            <a:off x="502920" y="6473952"/>
            <a:ext cx="10634472" cy="274320"/>
          </a:xfrm>
          <a:prstGeom prst="rect">
            <a:avLst/>
          </a:prstGeom>
          <a:noFill/>
          <a:ln/>
        </p:spPr>
        <p:txBody>
          <a:bodyPr wrap="square" lIns="0" tIns="0" rIns="0" bIns="0" rtlCol="0" anchor="ctr"/>
          <a:lstStyle/>
          <a:p>
            <a:pPr marL="0" indent="0" algn="l">
              <a:buNone/>
            </a:pPr>
            <a:r>
              <a:rPr lang="en-US" sz="1125" dirty="0">
                <a:solidFill>
                  <a:srgbClr val="9FB3CC"/>
                </a:solidFill>
                <a:latin typeface="Calibri" pitchFamily="34" charset="0"/>
                <a:ea typeface="Calibri" pitchFamily="34" charset="-122"/>
                <a:cs typeface="Calibri" pitchFamily="34" charset="-120"/>
              </a:rPr>
              <a:t>Presidency University  |  School: PSAIAC  |  Department of AI and Robotics  |  CSS2257 — Computer Organization and Architecture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TotalTime>
  <Words>5650</Words>
  <Application>Microsoft Office PowerPoint</Application>
  <PresentationFormat>Custom</PresentationFormat>
  <Paragraphs>450</Paragraphs>
  <Slides>33</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venkatesan damodaran</cp:lastModifiedBy>
  <cp:revision>3</cp:revision>
  <dcterms:created xsi:type="dcterms:W3CDTF">2026-08-11T06:30:04Z</dcterms:created>
  <dcterms:modified xsi:type="dcterms:W3CDTF">2026-08-17T05:34:01Z</dcterms:modified>
</cp:coreProperties>
</file>