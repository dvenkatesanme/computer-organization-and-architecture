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7" r:id="rId24"/>
    <p:sldId id="278" r:id="rId25"/>
    <p:sldId id="279" r:id="rId26"/>
    <p:sldId id="296" r:id="rId27"/>
    <p:sldId id="687" r:id="rId28"/>
    <p:sldId id="689" r:id="rId29"/>
    <p:sldId id="690" r:id="rId30"/>
    <p:sldId id="711" r:id="rId31"/>
    <p:sldId id="691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7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8DB47E2-6795-7ADD-F9E0-4E8CA453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FF538-FBBE-4C09-81C1-B7E51A5DAD39}" type="datetime1">
              <a:rPr lang="en-US"/>
              <a:pPr>
                <a:defRPr/>
              </a:pPr>
              <a:t>8/10/2026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8A11A8F-69C4-843C-2666-9F72940A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4FBA39C-F64A-6945-333F-6CF628DA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2B3CF-E45B-4FB1-8969-D6F0893FC0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782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246888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0" y="356616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6350">
            <a:solidFill>
              <a:srgbClr val="1331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2960" y="6858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685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87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&amp;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Computer System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Types  •  Input Unit  •  Memory Unit  •  ALU  •  Output Unit  •  Control Unit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4160520"/>
            <a:ext cx="109728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2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III  |  B.Tech Computer Science
Duration: 50 minutes  |  Lecture Session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92640" y="2468880"/>
            <a:ext cx="1920240" cy="1920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0" descr="/home/claude/coa_deck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0" y="2948940"/>
            <a:ext cx="960120" cy="9601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12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  |  School of Artificial Intelligence &amp; Advanced Computing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594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coa_deck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no wrong answers.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106984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88720" y="233172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your smartphone were a full-sized computer, what would each part be the size of?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39776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87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your neighbour: name one part of your phone (screen, chip, battery, speaker) and guess what desktop-computer part it matches. We'll compare answers with today's topics.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4779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Computers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9900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Analog, digital &amp; hybrid; micro to super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/home/claude/coa_deck/icons/key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4779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Unit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29900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enters the system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638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09244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home/claude/coa_deck/icons/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4779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92440" y="26060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Unit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92440" y="29900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secondary &amp; cache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/home/claude/coa_deck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99" y="4242359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Logic Unit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724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computation happens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062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443484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4" descr="/home/claude/coa_deck/icons/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399" y="4242359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348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Unit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results reach us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863840" y="38862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5"/>
          <p:cNvSpPr/>
          <p:nvPr/>
        </p:nvSpPr>
        <p:spPr>
          <a:xfrm>
            <a:off x="8092440" y="411480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5" descr="/home/claude/coa_deck/icons/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9999" y="4242359"/>
            <a:ext cx="311810" cy="31181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092440" y="4800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092440" y="51846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 conductor of the CPU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Lecture, You Will Be Able To...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589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computers by type, size, and purpose, and justify the classification with real examples.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 of the five functional units of a computer system.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how a single keystroke travels from Input → Memory → ALU → Control Unit → Output.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functional unit to a real, everyday device you already use.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2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viva/exam questions on the fetch-decode-execute cycle with confidence.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0" y="21945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7889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a "Computer"?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refresher before we classify and dissect 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Computer, in One Sentence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device that accepts data (Input), stores and processes it under a set of instructions (Memory, ALU, Control Unit), and produces meaningful results (Output).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4809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washing machine controller is a tiny "computer" — sensors (input) feed a chip (CU+ALU+memory) that drives the motor (output).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Functional Units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23774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675120" y="2377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84080" y="23774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784080" y="2377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UNIT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39776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75120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84080" y="397764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784080" y="39776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318211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46720" y="318211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UNIT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063240"/>
            <a:ext cx="9144" cy="11887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561320" y="3063240"/>
            <a:ext cx="9144" cy="11887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452360" y="3867912"/>
            <a:ext cx="9144" cy="109728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561320" y="3867912"/>
            <a:ext cx="9144" cy="109728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5212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12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= ALU + Control Unit + Registers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Computers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machines by how they process data, and by size &amp; power.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BY DATA HANDLING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Analog, Digital &amp; Hybrid 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2099691"/>
            <a:ext cx="326898" cy="326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 Computer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continuous physical signals (voltage, temperature, speed) rather than discrete numbers.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52628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77240" y="4617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7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fuel gauge or an old speedometer needle.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434840" y="1965960"/>
            <a:ext cx="594360" cy="59436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coa_dec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571" y="2099691"/>
            <a:ext cx="326898" cy="3268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Computer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as discrete binary values (0s and 1s). Nearly all modern computers.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52628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434840" y="4617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7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laptop, smartphone, and this projector's PC.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8092440" y="19659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/home/claude/coa_deck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171" y="2099691"/>
            <a:ext cx="326898" cy="32689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Computer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1089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analog input sensing with digital processing for precision.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52628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8092440" y="4617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7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patient monitors — sense analog vitals, display digital readouts.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BY SIZE &amp; POWER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Micro to Super: The Digital Computer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31620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99" y="2598039"/>
            <a:ext cx="427482" cy="4274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Microcomputer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75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single-user</a:t>
            </a:r>
            <a:endParaRPr lang="en-US" sz="1100" dirty="0"/>
          </a:p>
        </p:txBody>
      </p:sp>
      <p:pic>
        <p:nvPicPr>
          <p:cNvPr id="11" name="Image 1" descr="/home/claude/coa_deck/icons/arrowRight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3172968" y="311810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47288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4293108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/home/claude/coa_dec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987" y="2598039"/>
            <a:ext cx="427482" cy="4274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8728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Minicomputer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38728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75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mid-range</a:t>
            </a:r>
            <a:endParaRPr lang="en-US" sz="1100" dirty="0"/>
          </a:p>
        </p:txBody>
      </p:sp>
      <p:pic>
        <p:nvPicPr>
          <p:cNvPr id="17" name="Image 3" descr="/home/claude/coa_deck/icons/arrowRight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934456" y="311810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08776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7054596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4" descr="/home/claude/coa_deck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475" y="2598039"/>
            <a:ext cx="427482" cy="4274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00216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300216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75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enterprise</a:t>
            </a:r>
            <a:endParaRPr lang="en-US" sz="1100" dirty="0"/>
          </a:p>
        </p:txBody>
      </p:sp>
      <p:pic>
        <p:nvPicPr>
          <p:cNvPr id="23" name="Image 5" descr="/home/claude/coa_deck/icons/arrowRight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695944" y="3118104"/>
            <a:ext cx="256032" cy="25603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970264" y="219456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B2545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7"/>
          <p:cNvSpPr/>
          <p:nvPr/>
        </p:nvSpPr>
        <p:spPr>
          <a:xfrm>
            <a:off x="9816084" y="242316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6" descr="/home/claude/coa_dec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0963" y="2598039"/>
            <a:ext cx="427482" cy="42748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61704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Supercomputer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061704" y="3730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Extreme-speed scientific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8580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7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processing power &amp; cost, decreasing user count per machine   →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coa_deck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and most common category — built around a single microprocessor chip, designed for one user at a time.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affordable, general-purpose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desktops, laptops, tablets &amp; smartphones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Sub-types: Desktop, Laptop/Notebook, Tablet, Smartphone, Wearable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or phone in your bag right now is a microcomputer.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coa_dec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systems more powerful than microcomputers, supporting multiple users simultaneously through terminals.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Multi-user, multi-tasking capability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small-to-medium businesses &amp; labs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micro and mainframe scale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department server handling attendance for 50 lab terminals at once.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 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coa_deck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powerful systems that process massive volumes of data for hundreds of users, prized for reliability and uptime.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throughput, strong data security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mission-critical business applications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thousands of transactions per second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use IBM Z mainframes to process millions of ATM &amp; UPI transactions daily.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188720" cy="11887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coa_deck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" y="1959102"/>
            <a:ext cx="653796" cy="6537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69164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fastest, most powerful computers on Earth — thousands of processors working in parallel on massive scientific problems.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246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FLOPS (floating point ops/sec)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simulation, modelling &amp; forecasting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7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cost, power &amp; cooling needs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784848" y="329184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"PARAM Siddhi-AI" supercomputer forecasts monsoon weather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Types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computing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MacBook, iPhone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Department-level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ProLiant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Hundreds/thousands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Z16 (banking)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Supercomputer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 Siddhi-AI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594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coa_deck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1170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 — raise your hand.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106984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88720" y="233172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computer type do you personally interact with the most before 9 AM?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39776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87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phone alarm (micro), campus Wi-Fi login (mini/server), UPI payment for breakfast (mainframe at the bank), or none? Let's tally hands by show.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outside world talks to a computer.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Input Unit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Unit converts data and instructions from a human-readable / physical form into machine-readable binary form, and sends it to memory for processing.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2735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data from the user or environment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840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it into binary (0s &amp; 1s)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4425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4074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it to main memory for processing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167128"/>
            <a:ext cx="603504" cy="603504"/>
          </a:xfrm>
          <a:prstGeom prst="rect">
            <a:avLst/>
          </a:prstGeom>
        </p:spPr>
      </p:pic>
      <p:pic>
        <p:nvPicPr>
          <p:cNvPr id="18" name="Image 1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304288"/>
            <a:ext cx="365760" cy="3657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229600" y="20574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8229600" y="20574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01001101</a:t>
            </a:r>
            <a:endParaRPr lang="en-US" sz="1300" dirty="0"/>
          </a:p>
        </p:txBody>
      </p:sp>
      <p:pic>
        <p:nvPicPr>
          <p:cNvPr id="21" name="Image 2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304288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41280" y="1920240"/>
            <a:ext cx="1097280" cy="109728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/home/claude/coa_deck/icons/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16712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80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4672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Code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05840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92240" y="379476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/>
          <p:nvPr/>
        </p:nvSpPr>
        <p:spPr>
          <a:xfrm>
            <a:off x="6693408" y="3794760"/>
            <a:ext cx="4626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"hi" on your phone converts each letter into ASCII/Unicode binary before it ever reaches the messaging app.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 — MANUAL ENTRY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You Operate By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935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characters, numbers &amp; commands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this code on a laptop keyboard.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43484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coa_deck/icons/m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9351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/ Touchpad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clicks &amp; drags on screen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4348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file icon on your desktop.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8092440" y="1965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/home/claude/coa_deck/icons/gamep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9351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Joystick / Gamepad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&amp; button-based control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80924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a character in a racing game.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 — SENSING &amp; CAPTURE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Devices That Read the Physical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sc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935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Scanner / Barcode Reader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printed images or codes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counter scanning a product barcode.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434840" y="19659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coa_deck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9351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Microphone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sound and converts to signal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4348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"Hey Google" to a smart speaker.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8092440" y="19659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/home/claude/coa_deck/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9351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/ Webcam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still or moving images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80924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Face-unlock scanning your face at login.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Unit in Action: An ATM Transaction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0574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coa_deck/icons/h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66" y="23797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Swipe / Chip Read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794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stripe or chip data is read as input</a:t>
            </a:r>
            <a:endParaRPr lang="en-US" sz="1100" dirty="0"/>
          </a:p>
        </p:txBody>
      </p:sp>
      <p:pic>
        <p:nvPicPr>
          <p:cNvPr id="10" name="Image 1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664" y="329184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805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57150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/home/claude/coa_deck/icons/key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166" y="2379726"/>
            <a:ext cx="452628" cy="4526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Entry via Keypad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63440" y="3794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keypad sends the 4-digit PIN as input</a:t>
            </a:r>
            <a:endParaRPr lang="en-US" sz="1100" dirty="0"/>
          </a:p>
        </p:txBody>
      </p:sp>
      <p:pic>
        <p:nvPicPr>
          <p:cNvPr id="16" name="Image 3" descr="/home/claude/coa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329184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93726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4" descr="/home/claude/coa_deck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766" y="2379726"/>
            <a:ext cx="452628" cy="4526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210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Camera Capture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321040" y="3794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your image for fraud verification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inputs are converted to binary and sent to the bank's system before a single rupee moves.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and instructions live while they wait their turn.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HIERARCHY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vs. Capacity Trade-off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49140" y="16916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9140" y="16916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1764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12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tiniest — inside the CPU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91280" y="2560320"/>
            <a:ext cx="30073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91280" y="2560320"/>
            <a:ext cx="300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26334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12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buffer between CPU &amp; RAM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45460" y="3429000"/>
            <a:ext cx="4699000" cy="6858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045460" y="3429000"/>
            <a:ext cx="469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 (RAM)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52560" y="350215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12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volatile working memory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11680" y="4297680"/>
            <a:ext cx="6766560" cy="68580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011680" y="42976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Memory (SSD/HDD)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52560" y="43708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12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permanent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11680" y="5212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75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Faster &amp; costlier per byte        ↓ Slower &amp; cheaper per byte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774BCAD-7AE1-2F9E-9F32-61D265DC4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88" y="0"/>
            <a:ext cx="1213812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823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vs. 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1556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(Random Access Memory)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— data lost when power is off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write; holds running programs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RAM = smoother multitasking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06984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 unsaved Word file loses changes — they were only in RAM.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coa_deck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215569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 (Read-Only Memory)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— retains data without power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read-only; stores firmware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startup instructions (bootloader)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53796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673912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BIOS/UEFI that boots your laptop before Windows loads.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MEMORY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Permanent, Non-Volatile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h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093519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Disk Drive (HDD)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platters, high capacity, cheaper per GB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772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TB external drive storing your photo library.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434840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coa_deck/icons/s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093519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State Drive (SSD)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348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memory, no moving parts, much faster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4348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laptops booting Windows in under 15 seconds.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863840" y="17373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8092440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/home/claude/coa_deck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09351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9244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092440" y="3035808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servers accessed via internet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092440" y="420624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8092440" y="4343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12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lecture notes to Google Drive from anywhere.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C02CEB1-FAB0-60D7-916D-7885D69E3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915477"/>
            <a:ext cx="6089777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07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1">
            <a:extLst>
              <a:ext uri="{FF2B5EF4-FFF2-40B4-BE49-F238E27FC236}">
                <a16:creationId xmlns:a16="http://schemas.microsoft.com/office/drawing/2014/main" id="{4C4E2CA0-92E2-CE7B-39E0-7D765CBE98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553E9F9-59F3-4A0E-B040-275568D90847}" type="slidenum">
              <a:rPr lang="en-US" altLang="en-US" sz="1200">
                <a:solidFill>
                  <a:srgbClr val="898989"/>
                </a:solidFill>
                <a:latin typeface="Garamond" panose="02020404030301010803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  <a:latin typeface="Garamond" panose="02020404030301010803" pitchFamily="18" charset="0"/>
            </a:endParaRPr>
          </a:p>
        </p:txBody>
      </p:sp>
      <p:pic>
        <p:nvPicPr>
          <p:cNvPr id="57347" name="Picture 2">
            <a:extLst>
              <a:ext uri="{FF2B5EF4-FFF2-40B4-BE49-F238E27FC236}">
                <a16:creationId xmlns:a16="http://schemas.microsoft.com/office/drawing/2014/main" id="{4EBE0F10-7E59-F6C5-DDF7-FFCCC62D8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9225"/>
            <a:ext cx="9144000" cy="48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1">
            <a:extLst>
              <a:ext uri="{FF2B5EF4-FFF2-40B4-BE49-F238E27FC236}">
                <a16:creationId xmlns:a16="http://schemas.microsoft.com/office/drawing/2014/main" id="{F1D340CF-B128-8008-7CC5-0BC480B65A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B5F5737-8485-4623-9FEA-16BED936190C}" type="slidenum">
              <a:rPr lang="en-US" altLang="en-US" sz="1200">
                <a:solidFill>
                  <a:srgbClr val="898989"/>
                </a:solidFill>
                <a:latin typeface="Garamond" panose="02020404030301010803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Garamond" panose="02020404030301010803" pitchFamily="18" charset="0"/>
            </a:endParaRPr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FD1ED8BF-8589-1373-C1C0-6B27B2379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8" y="0"/>
            <a:ext cx="9144000" cy="522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1">
            <a:extLst>
              <a:ext uri="{FF2B5EF4-FFF2-40B4-BE49-F238E27FC236}">
                <a16:creationId xmlns:a16="http://schemas.microsoft.com/office/drawing/2014/main" id="{6ECF9861-A9E5-8FF2-0D52-27E15A715A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F19558-0856-4ADC-BFE0-4D3DA3182369}" type="slidenum">
              <a:rPr lang="en-US" altLang="en-US" sz="1200">
                <a:solidFill>
                  <a:srgbClr val="898989"/>
                </a:solidFill>
                <a:latin typeface="Garamond" panose="02020404030301010803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Garamond" panose="02020404030301010803" pitchFamily="18" charset="0"/>
            </a:endParaRPr>
          </a:p>
        </p:txBody>
      </p:sp>
      <p:pic>
        <p:nvPicPr>
          <p:cNvPr id="59395" name="Picture 2">
            <a:extLst>
              <a:ext uri="{FF2B5EF4-FFF2-40B4-BE49-F238E27FC236}">
                <a16:creationId xmlns:a16="http://schemas.microsoft.com/office/drawing/2014/main" id="{09799DF6-B8D2-8C6B-6EB9-FACB4066C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838" y="136525"/>
            <a:ext cx="9144001" cy="387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1">
            <a:extLst>
              <a:ext uri="{FF2B5EF4-FFF2-40B4-BE49-F238E27FC236}">
                <a16:creationId xmlns:a16="http://schemas.microsoft.com/office/drawing/2014/main" id="{F4CD2E9D-3818-04E3-7511-961CEE8EA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AC49E7D-6808-451C-B3DD-EB10FAFE0C67}" type="slidenum">
              <a:rPr lang="en-US" altLang="en-US" sz="1200">
                <a:solidFill>
                  <a:srgbClr val="898989"/>
                </a:solidFill>
                <a:latin typeface="Garamond" panose="02020404030301010803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Garamond" panose="02020404030301010803" pitchFamily="18" charset="0"/>
            </a:endParaRPr>
          </a:p>
        </p:txBody>
      </p:sp>
      <p:pic>
        <p:nvPicPr>
          <p:cNvPr id="60419" name="Picture 3">
            <a:extLst>
              <a:ext uri="{FF2B5EF4-FFF2-40B4-BE49-F238E27FC236}">
                <a16:creationId xmlns:a16="http://schemas.microsoft.com/office/drawing/2014/main" id="{2C31FBA7-18EF-6BB4-8C3E-2BD6678E9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9525"/>
            <a:ext cx="9144000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1">
            <a:extLst>
              <a:ext uri="{FF2B5EF4-FFF2-40B4-BE49-F238E27FC236}">
                <a16:creationId xmlns:a16="http://schemas.microsoft.com/office/drawing/2014/main" id="{E7E7D720-DB56-C000-9266-0834A2DB56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E1C9D01-3617-414F-8A73-817FDC11095A}" type="slidenum">
              <a:rPr lang="en-US" altLang="en-US" sz="1200">
                <a:solidFill>
                  <a:srgbClr val="898989"/>
                </a:solidFill>
                <a:latin typeface="Garamond" panose="02020404030301010803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  <a:latin typeface="Garamond" panose="02020404030301010803" pitchFamily="18" charset="0"/>
            </a:endParaRPr>
          </a:p>
        </p:txBody>
      </p:sp>
      <p:pic>
        <p:nvPicPr>
          <p:cNvPr id="61443" name="Picture 4">
            <a:extLst>
              <a:ext uri="{FF2B5EF4-FFF2-40B4-BE49-F238E27FC236}">
                <a16:creationId xmlns:a16="http://schemas.microsoft.com/office/drawing/2014/main" id="{20F59763-2327-73C2-126E-FA832551F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136526"/>
            <a:ext cx="9144000" cy="387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Memory in Action: Why Apps Feel Instant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 stores frequently-used data close to the CPU so it doesn't have to fetch it from slower RAM every time.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a recently closed app loads almost instantly — its data was still in cache.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caches images of a website so a revisit loads faster.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pre-buffers (caches) the next few seconds of video while you watch.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08026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338328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1780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41148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58368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RAM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Logic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computational heart of the CPU.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Jobs of the ALU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15569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6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6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Multiplication, division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6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/ decrement operations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06984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 app computing 245 + 879 = 1124.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1206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/home/claude/coa_dec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215569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Operations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37960" y="324612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6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NOT, XOR comparisons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6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Greater-than / less-than decisions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56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branching (if/else) in programs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37960" y="4617720"/>
            <a:ext cx="4663440" cy="6858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6739128" y="4617720"/>
            <a:ext cx="42611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"if age &gt;= 18" on an online age-verification form.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 in Action: UPI Payment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three friends split a ₹900 dinner bill equally using a UPI app: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ALU divides ₹900 ÷ 3 = ₹300 per person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Logical: ALU checks IF (balance &gt;= ₹300) before allowing payment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 ALU subtracts ₹300 from payer's balance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62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"smart" decision an app makes is really just ALU arithmetic + logic underneath.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processed binary back into something humans understand.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&amp; DEVICES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the Processed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12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Unit converts binary results from the CPU back into human-readable form — text, images, sound, or physical motion.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/home/claude/coa_dec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277931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337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/ Display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721608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text, images &amp; video output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425196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7724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projected on the classroom screen.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06240" y="24231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43484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/home/claude/coa_deck/icons/pr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399" y="2779319"/>
            <a:ext cx="311810" cy="31181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34840" y="3337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434840" y="3721608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hard-copy on paper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434840" y="425196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443484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your semester hall ticket.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863840" y="242316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09244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2" descr="/home/claude/coa_deck/icons/spea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999" y="2779319"/>
            <a:ext cx="311810" cy="31181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92440" y="3337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092440" y="3721608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37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092440" y="4251960"/>
            <a:ext cx="297180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8092440" y="43434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50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assistant reading out the weather.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in Action: Google Maps Navigation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0574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coa_deck/icons/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66" y="23797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map &amp; route line on screen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7150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home/claude/coa_deck/icons/spea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166" y="237972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left in 200 metres" voice prompt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9202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1A3A6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9372600" y="21945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home/claude/coa_deck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766" y="2379726"/>
            <a:ext cx="452628" cy="4526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Haptic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21040" y="3611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75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alert when you go off-route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2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navigation instruction — three simultaneous output channels, all driven by the same processed data.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9728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1732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3736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057400" y="4572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5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– Topic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Unit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conductor that directs every other unit — without doing the computing itself.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/home/claude/coa_deck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035" y="2750515"/>
            <a:ext cx="808330" cy="808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Control Unit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75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(CU) does not process data itself. It directs and coordinates the activities of the input, memory, ALU, and output units by generating timing and control signals.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600200" y="2971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/home/claude/coa_deck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505" y="3126105"/>
            <a:ext cx="377190" cy="3771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instructions from memory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2900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389120" y="297180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/home/claude/coa_deck/icons/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5" y="312610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what the instruction means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178040" y="297180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home/claude/coa_deck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2345" y="31261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the ALU / memory / I/O to execute it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269748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blurRad="101600" dist="38100" dir="54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9966960" y="2971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coa_deck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1265" y="312610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8404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everything in correct order &amp; timing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5349240"/>
            <a:ext cx="7315200" cy="566928"/>
          </a:xfrm>
          <a:prstGeom prst="roundRect">
            <a:avLst>
              <a:gd name="adj" fmla="val 1935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18"/>
          <p:cNvSpPr/>
          <p:nvPr/>
        </p:nvSpPr>
        <p:spPr>
          <a:xfrm>
            <a:off x="841248" y="5349240"/>
            <a:ext cx="6912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traffic police officer at a junction — doesn't drive any car, just directs the flow.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 → Decode → Execute →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6459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846320" y="17830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477" y="189623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0" y="1755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23042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retrieves the next instruction from memory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09560" y="3474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8046720" y="36118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/home/claude/coa_deck/icons/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877" y="372503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41080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04672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interprets what operation is required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09160" y="54406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846320" y="55778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/home/claude/coa_deck/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477" y="569099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5550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6099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/ relevant unit performs the operation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423160" y="34747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2560320" y="36118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/home/claude/coa_deck/icons/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3477" y="3725037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154680" y="3584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256032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written back to memory / register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577840" y="35204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4" descr="/home/claude/coa_deck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3580" y="372618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repeats</a:t>
            </a:r>
            <a:endParaRPr lang="en-US" sz="100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times per second.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 in Action: Opening a Camera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8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CU retrieves the "open camera" instruction triggered by your tap.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8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DECODE: CU recognises this means "launch camera application".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255264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278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8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CU signals ALU + memory + camera sensor (input) to activate.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968496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3968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4106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8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OUTPUT: Live preview is sent to the display (output unit).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62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happens in milliseconds — faster than your finger leaves the screen.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0" y="338328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0352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457200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03520" y="4572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3383280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  <a:p>
            <a:pPr marL="0" indent="0" algn="ctr">
              <a:buNone/>
            </a:pPr>
            <a:r>
              <a:rPr lang="en-US" sz="156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pic>
        <p:nvPicPr>
          <p:cNvPr id="16" name="Image 0" descr="/home/claude/coa_deck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611880"/>
            <a:ext cx="457200" cy="457200"/>
          </a:xfrm>
          <a:prstGeom prst="rect">
            <a:avLst/>
          </a:prstGeom>
        </p:spPr>
      </p:pic>
      <p:pic>
        <p:nvPicPr>
          <p:cNvPr id="17" name="Image 1" descr="/home/claude/coa_deck/icons/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11880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23360" y="2606040"/>
            <a:ext cx="0" cy="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4023360" y="3429000"/>
            <a:ext cx="128016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6126480" y="3429000"/>
            <a:ext cx="0" cy="123444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120640" y="5532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5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= Control Unit + ALU + Registers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22960" y="5742432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1024128" y="5742432"/>
            <a:ext cx="10021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EXAMPLE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WhatsApp voice note: Mic (input) → RAM (memory) → CU directs ALU to compress audio → speaker/network (output).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Smartphone: All Five Units in One Device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coa_dec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8150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0" y="1691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Touchscreen, mic, camera, fingerprint sensor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/home/claude/coa_deck/icons/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2656332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5328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253288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for active apps + flash storage for files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33741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/home/claude/coa_deck/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497580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374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337413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Snapdragon/Exynos chip crunches every calculation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3" descr="/home/claude/coa_deck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338828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2153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474720" y="421538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app switching, notifications, calls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50566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/home/claude/coa_deck/icons/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5180076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50566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474720" y="505663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AMOLED screen, speaker, haptic vibration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5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937" b="1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classified by data type (analog/digital/hybrid) and by size &amp; power (micro to super).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9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Unit converts real-world data into binary for the machine to use.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9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Unit stores data/instructions — a hierarchy trading speed for capacity.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9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performs all arithmetic and logical computation.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9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Unit converts binary results back into human-usable form.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937" dirty="0">
                <a:solidFill>
                  <a:srgbClr val="17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directs and synchronises all other units via the fetch-decode-execute cycle.</a:t>
            </a:r>
            <a:endParaRPr lang="en-US" sz="15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A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206240" cy="4206240"/>
          </a:xfrm>
          <a:prstGeom prst="ellipse">
            <a:avLst/>
          </a:prstGeom>
          <a:solidFill>
            <a:srgbClr val="E89A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59436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home/claude/coa_deck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779526"/>
            <a:ext cx="452628" cy="45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71323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QUIZ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106984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88720" y="192024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37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Which topic we seen converts binary output into human-readable form?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37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Name one non-volatile memory type used to store firmware.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88720" y="365760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37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Which unit performs "if age &gt;= 18" style comparisons?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88720" y="452628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37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are the four stages of the instruction cycle?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554480"/>
            <a:ext cx="2103120" cy="21031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home/claude/coa_dec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080260"/>
            <a:ext cx="105156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see you in the next session on Basic Operational Concepts and  Bus Structures.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2408</Words>
  <Application>Microsoft Office PowerPoint</Application>
  <PresentationFormat>Widescreen</PresentationFormat>
  <Paragraphs>424</Paragraphs>
  <Slides>47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Cambria</vt:lpstr>
      <vt:lpstr>Courier New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venkatesan damodaran</cp:lastModifiedBy>
  <cp:revision>7</cp:revision>
  <dcterms:created xsi:type="dcterms:W3CDTF">2026-08-05T09:24:34Z</dcterms:created>
  <dcterms:modified xsi:type="dcterms:W3CDTF">2026-08-10T06:44:19Z</dcterms:modified>
</cp:coreProperties>
</file>